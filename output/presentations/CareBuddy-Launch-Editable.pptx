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cf89f90b24044" /><Relationship Type="http://schemas.openxmlformats.org/officeDocument/2006/relationships/extended-properties" Target="/docProps/app.xml" Id="Rd6d27accca0e4e16" /><Relationship Type="http://schemas.openxmlformats.org/officeDocument/2006/relationships/officeDocument" Target="/ppt/presentation.xml" Id="R4455e9a4a7fd4c7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b6bfeab45284ec1"/>
  </p:sldMasterIdLst>
  <p:notesMasterIdLst>
    <p:notesMasterId xmlns:r="http://schemas.openxmlformats.org/officeDocument/2006/relationships" r:id="R195ec37793504e08"/>
  </p:notesMasterIdLst>
  <p:sldIdLst>
    <p:sldId xmlns:r="http://schemas.openxmlformats.org/officeDocument/2006/relationships" id="256" r:id="R17e415b2dd4344fb"/>
    <p:sldId xmlns:r="http://schemas.openxmlformats.org/officeDocument/2006/relationships" id="257" r:id="Rbe237b08e9d8474a"/>
    <p:sldId xmlns:r="http://schemas.openxmlformats.org/officeDocument/2006/relationships" id="258" r:id="R6ed1a2c9298e4357"/>
    <p:sldId xmlns:r="http://schemas.openxmlformats.org/officeDocument/2006/relationships" id="259" r:id="R4551d78f8db843c2"/>
    <p:sldId xmlns:r="http://schemas.openxmlformats.org/officeDocument/2006/relationships" id="260" r:id="R86652ce140404e77"/>
    <p:sldId xmlns:r="http://schemas.openxmlformats.org/officeDocument/2006/relationships" id="261" r:id="R286744ecf6d44f48"/>
    <p:sldId xmlns:r="http://schemas.openxmlformats.org/officeDocument/2006/relationships" id="262" r:id="Rc63c6b483bbf4807"/>
    <p:sldId xmlns:r="http://schemas.openxmlformats.org/officeDocument/2006/relationships" id="263" r:id="R55f2cfaaa50e46c9"/>
    <p:sldId xmlns:r="http://schemas.openxmlformats.org/officeDocument/2006/relationships" id="264" r:id="R2aefbf89d3634ce8"/>
    <p:sldId xmlns:r="http://schemas.openxmlformats.org/officeDocument/2006/relationships" id="265" r:id="Ra0e95da3fe344afe"/>
    <p:sldId xmlns:r="http://schemas.openxmlformats.org/officeDocument/2006/relationships" id="266" r:id="Rb4366ce766df459d"/>
    <p:sldId xmlns:r="http://schemas.openxmlformats.org/officeDocument/2006/relationships" id="267" r:id="R7c060f691eb749d4"/>
    <p:sldId xmlns:r="http://schemas.openxmlformats.org/officeDocument/2006/relationships" id="268" r:id="Rcdeda54ff3c04772"/>
    <p:sldId xmlns:r="http://schemas.openxmlformats.org/officeDocument/2006/relationships" id="269" r:id="Rf4501771b1944427"/>
    <p:sldId xmlns:r="http://schemas.openxmlformats.org/officeDocument/2006/relationships" id="270" r:id="R498336910133439a"/>
    <p:sldId xmlns:r="http://schemas.openxmlformats.org/officeDocument/2006/relationships" id="271" r:id="R7bfd94e16a4844d8"/>
    <p:sldId xmlns:r="http://schemas.openxmlformats.org/officeDocument/2006/relationships" id="272" r:id="R956be7d998ae4639"/>
    <p:sldId xmlns:r="http://schemas.openxmlformats.org/officeDocument/2006/relationships" id="273" r:id="Re4e44611c550455a"/>
    <p:sldId xmlns:r="http://schemas.openxmlformats.org/officeDocument/2006/relationships" id="274" r:id="R329b595a4b4340ea"/>
    <p:sldId xmlns:r="http://schemas.openxmlformats.org/officeDocument/2006/relationships" id="275" r:id="R1afa323975cc4243"/>
    <p:sldId xmlns:r="http://schemas.openxmlformats.org/officeDocument/2006/relationships" id="276" r:id="Rfe0f117cf3984182"/>
  </p:sldIdLst>
  <p:sldSz cx="18288000" cy="10287000"/>
  <p:notesSz cx="6858000" cy="9144000"/>
  <p:embeddedFontLst>
    <p:embeddedFont>
      <p:font typeface="Deck-Semi-Bold" pitchFamily="34" charset="0"/>
      <p:regular xmlns:ns0="http://schemas.openxmlformats.org/officeDocument/2006/relationships" ns0:id="rIdEmbeddedFont1"/>
    </p:embeddedFont>
    <p:embeddedFont>
      <p:font typeface="Deck" pitchFamily="34" charset="0"/>
      <p:regular xmlns:ns1="http://schemas.openxmlformats.org/officeDocument/2006/relationships" ns1:id="rIdEmbeddedFont2"/>
    </p:embeddedFont>
    <p:embeddedFont>
      <p:font typeface="Deck-Medium" pitchFamily="34" charset="0"/>
      <p:regular xmlns:ns2="http://schemas.openxmlformats.org/officeDocument/2006/relationships" ns2:id="rIdEmbeddedFont3"/>
    </p:embeddedFont>
    <p:embeddedFont>
      <p:font typeface="Deck-Bold" pitchFamily="34" charset="0"/>
      <p:regular xmlns:ns3="http://schemas.openxmlformats.org/officeDocument/2006/relationships" ns3:id="rIdEmbeddedFont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7f56dba73854e86"/><Relationship Type="http://schemas.openxmlformats.org/officeDocument/2006/relationships/slideMaster" Target="/ppt/slideMasters/slideMaster1.xml" Id="Rcb6bfeab45284ec1"/><Relationship Type="http://schemas.openxmlformats.org/officeDocument/2006/relationships/notesMaster" Target="/ppt/notesMasters/notesMaster1.xml" Id="R195ec37793504e08"/><Relationship Type="http://schemas.openxmlformats.org/officeDocument/2006/relationships/presProps" Target="/ppt/presProps.xml" Id="Rcc15855d5bae46bb"/><Relationship Type="http://schemas.openxmlformats.org/officeDocument/2006/relationships/tableStyles" Target="/ppt/tableStyles.xml" Id="R8bc5622e333b4c50"/><Relationship Type="http://schemas.openxmlformats.org/officeDocument/2006/relationships/slide" Target="/ppt/slides/slide1.xml" Id="R17e415b2dd4344fb"/><Relationship Type="http://schemas.openxmlformats.org/officeDocument/2006/relationships/slide" Target="/ppt/slides/slide2.xml" Id="Rbe237b08e9d8474a"/><Relationship Type="http://schemas.openxmlformats.org/officeDocument/2006/relationships/slide" Target="/ppt/slides/slide3.xml" Id="R6ed1a2c9298e4357"/><Relationship Type="http://schemas.openxmlformats.org/officeDocument/2006/relationships/slide" Target="/ppt/slides/slide4.xml" Id="R4551d78f8db843c2"/><Relationship Type="http://schemas.openxmlformats.org/officeDocument/2006/relationships/slide" Target="/ppt/slides/slide5.xml" Id="R86652ce140404e77"/><Relationship Type="http://schemas.openxmlformats.org/officeDocument/2006/relationships/slide" Target="/ppt/slides/slide6.xml" Id="R286744ecf6d44f48"/><Relationship Type="http://schemas.openxmlformats.org/officeDocument/2006/relationships/slide" Target="/ppt/slides/slide7.xml" Id="Rc63c6b483bbf4807"/><Relationship Type="http://schemas.openxmlformats.org/officeDocument/2006/relationships/slide" Target="/ppt/slides/slide8.xml" Id="R55f2cfaaa50e46c9"/><Relationship Type="http://schemas.openxmlformats.org/officeDocument/2006/relationships/slide" Target="/ppt/slides/slide9.xml" Id="R2aefbf89d3634ce8"/><Relationship Type="http://schemas.openxmlformats.org/officeDocument/2006/relationships/slide" Target="/ppt/slides/slide10.xml" Id="Ra0e95da3fe344afe"/><Relationship Type="http://schemas.openxmlformats.org/officeDocument/2006/relationships/slide" Target="/ppt/slides/slide11.xml" Id="Rb4366ce766df459d"/><Relationship Type="http://schemas.openxmlformats.org/officeDocument/2006/relationships/slide" Target="/ppt/slides/slide12.xml" Id="R7c060f691eb749d4"/><Relationship Type="http://schemas.openxmlformats.org/officeDocument/2006/relationships/slide" Target="/ppt/slides/slide13.xml" Id="Rcdeda54ff3c04772"/><Relationship Type="http://schemas.openxmlformats.org/officeDocument/2006/relationships/slide" Target="/ppt/slides/slide14.xml" Id="Rf4501771b1944427"/><Relationship Type="http://schemas.openxmlformats.org/officeDocument/2006/relationships/slide" Target="/ppt/slides/slide15.xml" Id="R498336910133439a"/><Relationship Type="http://schemas.openxmlformats.org/officeDocument/2006/relationships/slide" Target="/ppt/slides/slide16.xml" Id="R7bfd94e16a4844d8"/><Relationship Type="http://schemas.openxmlformats.org/officeDocument/2006/relationships/slide" Target="/ppt/slides/slide17.xml" Id="R956be7d998ae4639"/><Relationship Type="http://schemas.openxmlformats.org/officeDocument/2006/relationships/slide" Target="/ppt/slides/slide18.xml" Id="Re4e44611c550455a"/><Relationship Type="http://schemas.openxmlformats.org/officeDocument/2006/relationships/slide" Target="/ppt/slides/slide19.xml" Id="R329b595a4b4340ea"/><Relationship Type="http://schemas.openxmlformats.org/officeDocument/2006/relationships/slide" Target="/ppt/slides/slide20.xml" Id="R1afa323975cc4243"/><Relationship Type="http://schemas.openxmlformats.org/officeDocument/2006/relationships/slide" Target="/ppt/slides/slide21.xml" Id="Rfe0f117cf3984182"/><Relationship Id="rIdEmbeddedFont1" Type="http://schemas.openxmlformats.org/officeDocument/2006/relationships/font" Target="fonts/font1.fntdata"/><Relationship Id="rIdEmbeddedFont2" Type="http://schemas.openxmlformats.org/officeDocument/2006/relationships/font" Target="fonts/font2.fntdata"/><Relationship Id="rIdEmbeddedFont3" Type="http://schemas.openxmlformats.org/officeDocument/2006/relationships/font" Target="fonts/font3.fntdata"/><Relationship Id="rIdEmbeddedFont4" Type="http://schemas.openxmlformats.org/officeDocument/2006/relationships/font" Target="fonts/font4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915c693a3a4e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73993d52744a4" /><Relationship Type="http://schemas.openxmlformats.org/officeDocument/2006/relationships/notesMaster" Target="/ppt/notesMasters/notesMaster1.xml" Id="R4d8842a952d0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d11e592de4ea3" /><Relationship Type="http://schemas.openxmlformats.org/officeDocument/2006/relationships/notesMaster" Target="/ppt/notesMasters/notesMaster1.xml" Id="R795fb54f7a89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2905abe2354ad4" /><Relationship Type="http://schemas.openxmlformats.org/officeDocument/2006/relationships/notesMaster" Target="/ppt/notesMasters/notesMaster1.xml" Id="R742dfa5e24b54c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dfe4a92fa64a64" /><Relationship Type="http://schemas.openxmlformats.org/officeDocument/2006/relationships/notesMaster" Target="/ppt/notesMasters/notesMaster1.xml" Id="R6b5b738ce6b448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c556505c094666" /><Relationship Type="http://schemas.openxmlformats.org/officeDocument/2006/relationships/notesMaster" Target="/ppt/notesMasters/notesMaster1.xml" Id="R347d6b0f0c1644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1c707e1434df6" /><Relationship Type="http://schemas.openxmlformats.org/officeDocument/2006/relationships/notesMaster" Target="/ppt/notesMasters/notesMaster1.xml" Id="R25684102b2774e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db9dc984f24038" /><Relationship Type="http://schemas.openxmlformats.org/officeDocument/2006/relationships/notesMaster" Target="/ppt/notesMasters/notesMaster1.xml" Id="R2b6f0757a7f249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9eeaa820943e2" /><Relationship Type="http://schemas.openxmlformats.org/officeDocument/2006/relationships/notesMaster" Target="/ppt/notesMasters/notesMaster1.xml" Id="Ra89fcd3ceb1f42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4066fa8f8e41f7" /><Relationship Type="http://schemas.openxmlformats.org/officeDocument/2006/relationships/notesMaster" Target="/ppt/notesMasters/notesMaster1.xml" Id="Re21afd57e09748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fe13f94a694b42" /><Relationship Type="http://schemas.openxmlformats.org/officeDocument/2006/relationships/notesMaster" Target="/ppt/notesMasters/notesMaster1.xml" Id="R79420a82b1dd43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fa2b79ba5a453e" /><Relationship Type="http://schemas.openxmlformats.org/officeDocument/2006/relationships/notesMaster" Target="/ppt/notesMasters/notesMaster1.xml" Id="Rb851dcfded4646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65cfa6db844654" /><Relationship Type="http://schemas.openxmlformats.org/officeDocument/2006/relationships/notesMaster" Target="/ppt/notesMasters/notesMaster1.xml" Id="Rfcd2556a046745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dccc38fde143ff" /><Relationship Type="http://schemas.openxmlformats.org/officeDocument/2006/relationships/notesMaster" Target="/ppt/notesMasters/notesMaster1.xml" Id="R1962967598654e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30155930564166" /><Relationship Type="http://schemas.openxmlformats.org/officeDocument/2006/relationships/notesMaster" Target="/ppt/notesMasters/notesMaster1.xml" Id="R2cca62fd2d034d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3697b89b4949d2" /><Relationship Type="http://schemas.openxmlformats.org/officeDocument/2006/relationships/notesMaster" Target="/ppt/notesMasters/notesMaster1.xml" Id="R50d48bf1d73541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cd35779a6049d0" /><Relationship Type="http://schemas.openxmlformats.org/officeDocument/2006/relationships/notesMaster" Target="/ppt/notesMasters/notesMaster1.xml" Id="Rf6b9b476ce984c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7ef589ff6041a1" /><Relationship Type="http://schemas.openxmlformats.org/officeDocument/2006/relationships/notesMaster" Target="/ppt/notesMasters/notesMaster1.xml" Id="Rbff28dcbc2d542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98c9475fb54231" /><Relationship Type="http://schemas.openxmlformats.org/officeDocument/2006/relationships/notesMaster" Target="/ppt/notesMasters/notesMaster1.xml" Id="R66a51435b26f49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6c7113767449ad" /><Relationship Type="http://schemas.openxmlformats.org/officeDocument/2006/relationships/notesMaster" Target="/ppt/notesMasters/notesMaster1.xml" Id="R0189b79f9ed842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0121da2a814fa7" /><Relationship Type="http://schemas.openxmlformats.org/officeDocument/2006/relationships/notesMaster" Target="/ppt/notesMasters/notesMaster1.xml" Id="R00e8183076af48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c84fed93a64d5d" /><Relationship Type="http://schemas.openxmlformats.org/officeDocument/2006/relationships/notesMaster" Target="/ppt/notesMasters/notesMaster1.xml" Id="R1bffad3a90cd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19</a:t>
            </a:r>
          </a:p>
          <a:p xmlns:a="http://schemas.openxmlformats.org/drawingml/2006/main">
            <a:r>
              <a:t>https://carebuddy.life/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CareBuddy-Launch.pdf, page 21</a:t>
            </a:r>
          </a:p>
          <a:p xmlns:a="http://schemas.openxmlformats.org/drawingml/2006/main">
            <a:r>
              <a:t>https://carebuddy.life/</a:t>
            </a:r>
          </a:p>
          <a:p xmlns:a="http://schemas.openxmlformats.org/drawingml/2006/main">
            <a:r>
              <a:t>https://carebuddy.life/today</a:t>
            </a:r>
          </a:p>
          <a:p xmlns:a="http://schemas.openxmlformats.org/drawingml/2006/main">
            <a:r>
              <a:t>https://intl.cloud.tencent.com/document/product/1300/78933?lang=en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027e6754d43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b6b990f56a4c2b" /><Relationship Type="http://schemas.openxmlformats.org/officeDocument/2006/relationships/slideLayout" Target="/ppt/slideLayouts/slideLayout1.xml" Id="R4e2fbb1fc77b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fbb1fc77b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d763a55554a64" /><Relationship Type="http://schemas.openxmlformats.org/officeDocument/2006/relationships/image" Target="/ppt/media/image.png" Id="R28c83a2b09354fe6" /><Relationship Type="http://schemas.openxmlformats.org/officeDocument/2006/relationships/notesSlide" Target="/ppt/notesSlides/notesSlide1.xml" Id="Rbb5f6ebf6a1445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12643a69a4f65" /><Relationship Type="http://schemas.openxmlformats.org/officeDocument/2006/relationships/image" Target="/ppt/media/image2.png" Id="R36dce04c54164cd1" /><Relationship Type="http://schemas.openxmlformats.org/officeDocument/2006/relationships/notesSlide" Target="/ppt/notesSlides/notesSlide2.xml" Id="R310c4d49d41944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a52b34cf84004" /><Relationship Type="http://schemas.openxmlformats.org/officeDocument/2006/relationships/image" Target="/ppt/media/image3.png" Id="Rf8803bba04e64e15" /><Relationship Type="http://schemas.openxmlformats.org/officeDocument/2006/relationships/notesSlide" Target="/ppt/notesSlides/notesSlide3.xml" Id="R15d1f89d7287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80612a76f4dfb" /><Relationship Type="http://schemas.openxmlformats.org/officeDocument/2006/relationships/image" Target="/ppt/media/image4.png" Id="Rc4719cd45515438b" /><Relationship Type="http://schemas.openxmlformats.org/officeDocument/2006/relationships/notesSlide" Target="/ppt/notesSlides/notesSlide4.xml" Id="R6ab57ce2e66d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a753d7da145b4" /><Relationship Type="http://schemas.openxmlformats.org/officeDocument/2006/relationships/notesSlide" Target="/ppt/notesSlides/notesSlide5.xml" Id="R065c2fd2e3464b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87a99562c43e8" /><Relationship Type="http://schemas.openxmlformats.org/officeDocument/2006/relationships/image" Target="/ppt/media/image5.png" Id="Rdf79a5966f4749a5" /><Relationship Type="http://schemas.openxmlformats.org/officeDocument/2006/relationships/notesSlide" Target="/ppt/notesSlides/notesSlide6.xml" Id="R38cfc951df214e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e02213f1546c3" /><Relationship Type="http://schemas.openxmlformats.org/officeDocument/2006/relationships/image" Target="/ppt/media/image6.png" Id="R4d402f03b5104f48" /><Relationship Type="http://schemas.openxmlformats.org/officeDocument/2006/relationships/notesSlide" Target="/ppt/notesSlides/notesSlide7.xml" Id="R33b2c5eb6dee45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982a76daf47af" /><Relationship Type="http://schemas.openxmlformats.org/officeDocument/2006/relationships/image" Target="/ppt/media/image7.png" Id="Rfed9e18073744c74" /><Relationship Type="http://schemas.openxmlformats.org/officeDocument/2006/relationships/notesSlide" Target="/ppt/notesSlides/notesSlide8.xml" Id="Rfbc984899a8f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86339feb64ef3" /><Relationship Type="http://schemas.openxmlformats.org/officeDocument/2006/relationships/image" Target="/ppt/media/image8.png" Id="R0854cba54df648ad" /><Relationship Type="http://schemas.openxmlformats.org/officeDocument/2006/relationships/notesSlide" Target="/ppt/notesSlides/notesSlide9.xml" Id="Rf96641fc3c5c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f165fafe14bdb" /><Relationship Type="http://schemas.openxmlformats.org/officeDocument/2006/relationships/image" Target="/ppt/media/image9.png" Id="Rbe7b6bbdcbae46a7" /><Relationship Type="http://schemas.openxmlformats.org/officeDocument/2006/relationships/notesSlide" Target="/ppt/notesSlides/notesSlide10.xml" Id="R2dd2dc5db2684e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2f6e54f9c40f1" /><Relationship Type="http://schemas.openxmlformats.org/officeDocument/2006/relationships/image" Target="/ppt/media/image10.png" Id="R32ee00079b7d4c28" /><Relationship Type="http://schemas.openxmlformats.org/officeDocument/2006/relationships/notesSlide" Target="/ppt/notesSlides/notesSlide11.xml" Id="R75359b8537a94c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8f2df4f744c29" /><Relationship Type="http://schemas.openxmlformats.org/officeDocument/2006/relationships/image" Target="/ppt/media/image11.png" Id="R56971ba0e6e947d7" /><Relationship Type="http://schemas.openxmlformats.org/officeDocument/2006/relationships/notesSlide" Target="/ppt/notesSlides/notesSlide12.xml" Id="R2d1eeb27a4a549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b73f4c3ba4a26" /><Relationship Type="http://schemas.openxmlformats.org/officeDocument/2006/relationships/image" Target="/ppt/media/image12.png" Id="R1120f86fb2a44481" /><Relationship Type="http://schemas.openxmlformats.org/officeDocument/2006/relationships/notesSlide" Target="/ppt/notesSlides/notesSlide13.xml" Id="R4de6a4b94cef4e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6b836b0404f22" /><Relationship Type="http://schemas.openxmlformats.org/officeDocument/2006/relationships/image" Target="/ppt/media/image13.png" Id="R6a6ab759a4e6434a" /><Relationship Type="http://schemas.openxmlformats.org/officeDocument/2006/relationships/notesSlide" Target="/ppt/notesSlides/notesSlide14.xml" Id="Rc65647dd63634b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2c750924349b9" /><Relationship Type="http://schemas.openxmlformats.org/officeDocument/2006/relationships/image" Target="/ppt/media/image14.png" Id="R0a78a69c6c734d71" /><Relationship Type="http://schemas.openxmlformats.org/officeDocument/2006/relationships/notesSlide" Target="/ppt/notesSlides/notesSlide15.xml" Id="Re6833d09a8fa4e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3000f0d2c40eb" /><Relationship Type="http://schemas.openxmlformats.org/officeDocument/2006/relationships/notesSlide" Target="/ppt/notesSlides/notesSlide16.xml" Id="R647103f6663140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9e157861e4e94" /><Relationship Type="http://schemas.openxmlformats.org/officeDocument/2006/relationships/notesSlide" Target="/ppt/notesSlides/notesSlide17.xml" Id="R4daf1c6ff29f4c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7225c43234cd0" /><Relationship Type="http://schemas.openxmlformats.org/officeDocument/2006/relationships/notesSlide" Target="/ppt/notesSlides/notesSlide18.xml" Id="R33519c68e3284d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cdb70db3b49cd" /><Relationship Type="http://schemas.openxmlformats.org/officeDocument/2006/relationships/image" Target="/ppt/media/image15.png" Id="R384df58a9b0c4977" /><Relationship Type="http://schemas.openxmlformats.org/officeDocument/2006/relationships/hyperlink" Target="https://carebuddy.life/" TargetMode="External" Id="Rea0d6863fbef4d5d" /><Relationship Type="http://schemas.openxmlformats.org/officeDocument/2006/relationships/notesSlide" Target="/ppt/notesSlides/notesSlide19.xml" Id="Re2712be221fe40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b4b6f177487c" /><Relationship Type="http://schemas.openxmlformats.org/officeDocument/2006/relationships/notesSlide" Target="/ppt/notesSlides/notesSlide20.xml" Id="R4c04b3880f3740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a90a2863449e" /><Relationship Type="http://schemas.openxmlformats.org/officeDocument/2006/relationships/hyperlink" Target="https://carebuddy.life/" TargetMode="External" Id="R23e81c7488d84ca2" /><Relationship Type="http://schemas.openxmlformats.org/officeDocument/2006/relationships/hyperlink" Target="https://carebuddy.life/today" TargetMode="External" Id="R977ab59221c74515" /><Relationship Type="http://schemas.openxmlformats.org/officeDocument/2006/relationships/hyperlink" Target="https://intl.cloud.tencent.com/document/product/1300/78933?lang=en" TargetMode="External" Id="R3ed6cdc3ef654af7" /><Relationship Type="http://schemas.openxmlformats.org/officeDocument/2006/relationships/notesSlide" Target="/ppt/notesSlides/notesSlide21.xml" Id="R624e4ce26a98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83a2b09354fe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01-t000">
            <a:extLst xmlns:a="http://schemas.openxmlformats.org/drawingml/2006/main">
              <a:ext uri="{FF2B5EF4-FFF2-40B4-BE49-F238E27FC236}">
                <a16:creationId xmlns:a16="http://schemas.microsoft.com/office/drawing/2014/main" id="{6F22218B-3258-4ABC-A51A-9900F926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79958"/>
            <a:ext cx="1272283" cy="620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spc="-215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3975" b="0" i="0" kern="400000" spc="-215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Care</a:t>
            </a:r>
            <a:endParaRPr lang="en-US" sz="3975" spc="-215" kern="400000">
              <a:latin typeface="Deck-Semi-Bold"/>
            </a:endParaRPr>
          </a:p>
        </p:txBody>
      </p:sp>
      <p:sp>
        <p:nvSpPr>
          <p:cNvPr id="3" name="s01-t001">
            <a:extLst xmlns:a="http://schemas.openxmlformats.org/drawingml/2006/main">
              <a:ext uri="{FF2B5EF4-FFF2-40B4-BE49-F238E27FC236}">
                <a16:creationId xmlns:a16="http://schemas.microsoft.com/office/drawing/2014/main" id="{9B584D41-842D-4764-9402-56CB8FD5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10" y="779958"/>
            <a:ext cx="1656378" cy="620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spc="-187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3975" b="0" i="0" kern="400000" spc="-187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Buddy</a:t>
            </a:r>
            <a:endParaRPr lang="en-US" sz="3975" spc="-187" kern="400000">
              <a:latin typeface="Deck-Semi-Bold"/>
            </a:endParaRPr>
          </a:p>
        </p:txBody>
      </p:sp>
      <p:sp>
        <p:nvSpPr>
          <p:cNvPr id="4" name="s01-t002">
            <a:extLst xmlns:a="http://schemas.openxmlformats.org/drawingml/2006/main">
              <a:ext uri="{FF2B5EF4-FFF2-40B4-BE49-F238E27FC236}">
                <a16:creationId xmlns:a16="http://schemas.microsoft.com/office/drawing/2014/main" id="{FED8F25E-EB3B-4856-88CD-AF64ADC0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6"/>
            <a:ext cx="4704998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spc="6" kern="400000">
                <a:solidFill>
                  <a:srgbClr val="D0DDD4"/>
                </a:solidFill>
                <a:latin typeface="Deck"/>
                <a:ea typeface="Deck"/>
                <a:cs typeface="Deck"/>
              </a:defRPr>
            </a:pPr>
            <a:r>
              <a:rPr sz="2025" b="0" i="0" kern="400000" spc="6">
                <a:solidFill>
                  <a:srgbClr val="D0DDD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From the WhiteCoat Innovation Team</a:t>
            </a:r>
            <a:endParaRPr lang="en-US" sz="2025" spc="6" kern="400000">
              <a:latin typeface="Deck"/>
            </a:endParaRPr>
          </a:p>
        </p:txBody>
      </p:sp>
      <p:sp>
        <p:nvSpPr>
          <p:cNvPr id="5" name="s01-t003">
            <a:extLst xmlns:a="http://schemas.openxmlformats.org/drawingml/2006/main">
              <a:ext uri="{FF2B5EF4-FFF2-40B4-BE49-F238E27FC236}">
                <a16:creationId xmlns:a16="http://schemas.microsoft.com/office/drawing/2014/main" id="{5F66880E-7A90-4DE0-8D36-6352248F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2138"/>
            <a:ext cx="9633985" cy="147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0" spc="-517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9450" b="0" i="0" kern="400000" spc="-517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Less to remember.</a:t>
            </a:r>
            <a:endParaRPr lang="en-US" sz="9450" spc="-517" kern="400000">
              <a:latin typeface="Deck-Semi-Bold"/>
            </a:endParaRPr>
          </a:p>
        </p:txBody>
      </p:sp>
      <p:sp>
        <p:nvSpPr>
          <p:cNvPr id="6" name="s01-t004">
            <a:extLst xmlns:a="http://schemas.openxmlformats.org/drawingml/2006/main">
              <a:ext uri="{FF2B5EF4-FFF2-40B4-BE49-F238E27FC236}">
                <a16:creationId xmlns:a16="http://schemas.microsoft.com/office/drawing/2014/main" id="{964930D1-29BC-4B06-B99C-59B56B1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4293"/>
            <a:ext cx="5879973" cy="147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0" spc="-508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450" b="0" i="0" kern="400000" spc="-508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More room</a:t>
            </a:r>
            <a:endParaRPr lang="en-US" sz="9450" spc="-508" kern="400000">
              <a:latin typeface="Deck-Semi-Bold"/>
            </a:endParaRPr>
          </a:p>
        </p:txBody>
      </p:sp>
      <p:sp>
        <p:nvSpPr>
          <p:cNvPr id="7" name="s01-t005">
            <a:extLst xmlns:a="http://schemas.openxmlformats.org/drawingml/2006/main">
              <a:ext uri="{FF2B5EF4-FFF2-40B4-BE49-F238E27FC236}">
                <a16:creationId xmlns:a16="http://schemas.microsoft.com/office/drawing/2014/main" id="{E6B5FFAD-B1D6-4C4D-8DDA-BD0FE46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6448"/>
            <a:ext cx="3992594" cy="147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0" spc="-510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450" b="0" i="0" kern="400000" spc="-510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to care.</a:t>
            </a:r>
            <a:endParaRPr lang="en-US" sz="9450" spc="-510" kern="400000">
              <a:latin typeface="Deck-Semi-Bold"/>
            </a:endParaRPr>
          </a:p>
        </p:txBody>
      </p:sp>
      <p:sp>
        <p:nvSpPr>
          <p:cNvPr id="8" name="s01-t006">
            <a:extLst xmlns:a="http://schemas.openxmlformats.org/drawingml/2006/main">
              <a:ext uri="{FF2B5EF4-FFF2-40B4-BE49-F238E27FC236}">
                <a16:creationId xmlns:a16="http://schemas.microsoft.com/office/drawing/2014/main" id="{D7ABC6BF-6101-439C-B10A-058BC63A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58077"/>
            <a:ext cx="4654801" cy="246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spc="133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575" b="0" i="0" kern="400000" spc="133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HEALTHCARE · LONG-TERM SELF-CARE</a:t>
            </a:r>
            <a:endParaRPr lang="en-US" sz="1575" spc="133" kern="400000">
              <a:latin typeface="Deck"/>
            </a:endParaRPr>
          </a:p>
        </p:txBody>
      </p:sp>
      <p:sp>
        <p:nvSpPr>
          <p:cNvPr id="9" name="s01-t007">
            <a:extLst xmlns:a="http://schemas.openxmlformats.org/drawingml/2006/main">
              <a:ext uri="{FF2B5EF4-FFF2-40B4-BE49-F238E27FC236}">
                <a16:creationId xmlns:a16="http://schemas.microsoft.com/office/drawing/2014/main" id="{0828D0F6-011F-4D08-ACA0-749AC2FC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0997"/>
            <a:ext cx="6123889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8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8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Tencent Cloud AI CAN DO IT Hackathon Singapore 2026</a:t>
            </a:r>
            <a:endParaRPr lang="en-US" sz="1800" spc="-8" kern="400000">
              <a:latin typeface="Deck"/>
            </a:endParaRPr>
          </a:p>
        </p:txBody>
      </p:sp>
      <p:sp>
        <p:nvSpPr>
          <p:cNvPr id="10" name="s01-t008">
            <a:extLst xmlns:a="http://schemas.openxmlformats.org/drawingml/2006/main">
              <a:ext uri="{FF2B5EF4-FFF2-40B4-BE49-F238E27FC236}">
                <a16:creationId xmlns:a16="http://schemas.microsoft.com/office/drawing/2014/main" id="{36D04FC8-AB6B-49D0-8B0E-5AB117A9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05823"/>
            <a:ext cx="5342338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spc="75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875" b="0" i="0" kern="400000" spc="75">
                <a:solidFill>
                  <a:srgbClr val="A8A6A2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Alex Lew · Shao Quan Chew · Yau Boon Tan</a:t>
            </a:r>
            <a:endParaRPr lang="en-US" sz="1875" spc="75" kern="400000">
              <a:latin typeface="Deck"/>
            </a:endParaRPr>
          </a:p>
        </p:txBody>
      </p:sp>
      <p:sp>
        <p:nvSpPr>
          <p:cNvPr id="11" name="s01-t009">
            <a:extLst xmlns:a="http://schemas.openxmlformats.org/drawingml/2006/main">
              <a:ext uri="{FF2B5EF4-FFF2-40B4-BE49-F238E27FC236}">
                <a16:creationId xmlns:a16="http://schemas.microsoft.com/office/drawing/2014/main" id="{8C144EC9-838C-4F52-BA78-D14431DF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3181" y="9730387"/>
            <a:ext cx="40937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A19E9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01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30392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ce04c54164cd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02-t000">
            <a:extLst xmlns:a="http://schemas.openxmlformats.org/drawingml/2006/main">
              <a:ext uri="{FF2B5EF4-FFF2-40B4-BE49-F238E27FC236}">
                <a16:creationId xmlns:a16="http://schemas.microsoft.com/office/drawing/2014/main" id="{5BA81B77-BD98-4EA7-A0D1-4A705FB2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26527"/>
            <a:ext cx="7682951" cy="1441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5" spc="-394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9225" b="0" i="0" kern="400000" spc="-394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AI everywhere.</a:t>
            </a:r>
            <a:endParaRPr lang="en-US" sz="9225" spc="-394" kern="400000">
              <a:latin typeface="Deck-Semi-Bold"/>
            </a:endParaRPr>
          </a:p>
        </p:txBody>
      </p:sp>
      <p:sp>
        <p:nvSpPr>
          <p:cNvPr id="3" name="s02-t001">
            <a:extLst xmlns:a="http://schemas.openxmlformats.org/drawingml/2006/main">
              <a:ext uri="{FF2B5EF4-FFF2-40B4-BE49-F238E27FC236}">
                <a16:creationId xmlns:a16="http://schemas.microsoft.com/office/drawing/2014/main" id="{12985A1E-5C4D-47A0-ADC9-4CE702DD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68396"/>
            <a:ext cx="3447183" cy="1441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5" spc="-397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9225" b="0" i="0" kern="400000" spc="-397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Life at</a:t>
            </a:r>
            <a:endParaRPr lang="en-US" sz="9225" spc="-397" kern="400000">
              <a:latin typeface="Deck-Semi-Bold"/>
            </a:endParaRPr>
          </a:p>
        </p:txBody>
      </p:sp>
      <p:sp>
        <p:nvSpPr>
          <p:cNvPr id="4" name="s02-t002">
            <a:extLst xmlns:a="http://schemas.openxmlformats.org/drawingml/2006/main">
              <a:ext uri="{FF2B5EF4-FFF2-40B4-BE49-F238E27FC236}">
                <a16:creationId xmlns:a16="http://schemas.microsoft.com/office/drawing/2014/main" id="{61CA92B4-1E54-4DE0-9B5B-FED8014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10266"/>
            <a:ext cx="5358489" cy="1441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5" spc="-369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225" b="0" i="0" kern="400000" spc="-369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full speed.</a:t>
            </a:r>
            <a:endParaRPr lang="en-US" sz="9225" spc="-369" kern="400000">
              <a:latin typeface="Deck-Semi-Bold"/>
            </a:endParaRPr>
          </a:p>
        </p:txBody>
      </p:sp>
      <p:sp>
        <p:nvSpPr>
          <p:cNvPr id="5" name="s02-t003">
            <a:extLst xmlns:a="http://schemas.openxmlformats.org/drawingml/2006/main">
              <a:ext uri="{FF2B5EF4-FFF2-40B4-BE49-F238E27FC236}">
                <a16:creationId xmlns:a16="http://schemas.microsoft.com/office/drawing/2014/main" id="{403BC5CD-F596-4EE5-8878-F55E4569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259558"/>
            <a:ext cx="4519041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spc="-10" kern="400000">
                <a:solidFill>
                  <a:srgbClr val="E4E7DF"/>
                </a:solidFill>
                <a:latin typeface="Deck"/>
                <a:ea typeface="Deck"/>
                <a:cs typeface="Deck"/>
              </a:defRPr>
            </a:pPr>
            <a:r>
              <a:rPr sz="2400" b="0" i="0" kern="400000" spc="-10">
                <a:solidFill>
                  <a:srgbClr val="E4E7D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More messages. More screens.</a:t>
            </a:r>
            <a:endParaRPr lang="en-US" sz="2400" spc="-10" kern="400000">
              <a:latin typeface="Deck"/>
            </a:endParaRPr>
          </a:p>
        </p:txBody>
      </p:sp>
      <p:sp>
        <p:nvSpPr>
          <p:cNvPr id="6" name="s02-t004">
            <a:extLst xmlns:a="http://schemas.openxmlformats.org/drawingml/2006/main">
              <a:ext uri="{FF2B5EF4-FFF2-40B4-BE49-F238E27FC236}">
                <a16:creationId xmlns:a16="http://schemas.microsoft.com/office/drawing/2014/main" id="{330B8644-ACCC-44B8-86CF-17356D3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710662"/>
            <a:ext cx="4951247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spc="-10" kern="400000">
                <a:solidFill>
                  <a:srgbClr val="E4E7DF"/>
                </a:solidFill>
                <a:latin typeface="Deck"/>
                <a:ea typeface="Deck"/>
                <a:cs typeface="Deck"/>
              </a:defRPr>
            </a:pPr>
            <a:r>
              <a:rPr sz="2400" b="0" i="0" kern="400000" spc="-10">
                <a:solidFill>
                  <a:srgbClr val="E4E7D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More competing for our attention.</a:t>
            </a:r>
            <a:endParaRPr lang="en-US" sz="2400" spc="-10" kern="400000">
              <a:latin typeface="Deck"/>
            </a:endParaRPr>
          </a:p>
        </p:txBody>
      </p:sp>
      <p:sp>
        <p:nvSpPr>
          <p:cNvPr id="7" name="s02-t005">
            <a:extLst xmlns:a="http://schemas.openxmlformats.org/drawingml/2006/main">
              <a:ext uri="{FF2B5EF4-FFF2-40B4-BE49-F238E27FC236}">
                <a16:creationId xmlns:a16="http://schemas.microsoft.com/office/drawing/2014/main" id="{DFDE96F2-7828-464B-A12D-9D8FEEA0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80"/>
            <a:ext cx="3553778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4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4">
                <a:solidFill>
                  <a:srgbClr val="BAB8B4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THE WORLD AROUND US</a:t>
            </a:r>
            <a:endParaRPr lang="en-US" sz="1725" spc="294" kern="400000">
              <a:latin typeface="Deck-Medium"/>
            </a:endParaRPr>
          </a:p>
        </p:txBody>
      </p:sp>
      <p:sp>
        <p:nvSpPr>
          <p:cNvPr id="8" name="s02-t006">
            <a:extLst xmlns:a="http://schemas.openxmlformats.org/drawingml/2006/main">
              <a:ext uri="{FF2B5EF4-FFF2-40B4-BE49-F238E27FC236}">
                <a16:creationId xmlns:a16="http://schemas.microsoft.com/office/drawing/2014/main" id="{619A72CA-2435-48D8-9165-79D1E164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4942" y="9730387"/>
            <a:ext cx="447608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A29F9C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02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671065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03bba04e64e1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03-t000">
            <a:extLst xmlns:a="http://schemas.openxmlformats.org/drawingml/2006/main">
              <a:ext uri="{FF2B5EF4-FFF2-40B4-BE49-F238E27FC236}">
                <a16:creationId xmlns:a16="http://schemas.microsoft.com/office/drawing/2014/main" id="{1931840B-10B9-440D-B153-E1B06022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26527"/>
            <a:ext cx="6652727" cy="1441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5" spc="-385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9225" b="0" i="0" kern="400000" spc="-385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Care can slip</a:t>
            </a:r>
            <a:endParaRPr lang="en-US" sz="9225" spc="-385" kern="400000">
              <a:latin typeface="Deck-Semi-Bold"/>
            </a:endParaRPr>
          </a:p>
        </p:txBody>
      </p:sp>
      <p:sp>
        <p:nvSpPr>
          <p:cNvPr id="3" name="s03-t001">
            <a:extLst xmlns:a="http://schemas.openxmlformats.org/drawingml/2006/main">
              <a:ext uri="{FF2B5EF4-FFF2-40B4-BE49-F238E27FC236}">
                <a16:creationId xmlns:a16="http://schemas.microsoft.com/office/drawing/2014/main" id="{26C224CE-1D6F-4A31-B3AB-930FA609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68396"/>
            <a:ext cx="4274315" cy="1441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5" spc="-407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9225" b="0" i="0" kern="400000" spc="-407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through</a:t>
            </a:r>
            <a:endParaRPr lang="en-US" sz="9225" spc="-407" kern="400000">
              <a:latin typeface="Deck-Semi-Bold"/>
            </a:endParaRPr>
          </a:p>
        </p:txBody>
      </p:sp>
      <p:sp>
        <p:nvSpPr>
          <p:cNvPr id="4" name="s03-t002">
            <a:extLst xmlns:a="http://schemas.openxmlformats.org/drawingml/2006/main">
              <a:ext uri="{FF2B5EF4-FFF2-40B4-BE49-F238E27FC236}">
                <a16:creationId xmlns:a16="http://schemas.microsoft.com/office/drawing/2014/main" id="{0BCDC547-C876-4B7D-B0C3-B20A7712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10266"/>
            <a:ext cx="5736908" cy="1441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5" spc="-463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225" b="0" i="0" kern="400000" spc="-463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 busy day.</a:t>
            </a:r>
            <a:endParaRPr lang="en-US" sz="9225" spc="-463" kern="400000">
              <a:latin typeface="Deck-Semi-Bold"/>
            </a:endParaRPr>
          </a:p>
        </p:txBody>
      </p:sp>
      <p:sp>
        <p:nvSpPr>
          <p:cNvPr id="5" name="s03-t003">
            <a:extLst xmlns:a="http://schemas.openxmlformats.org/drawingml/2006/main">
              <a:ext uri="{FF2B5EF4-FFF2-40B4-BE49-F238E27FC236}">
                <a16:creationId xmlns:a16="http://schemas.microsoft.com/office/drawing/2014/main" id="{73493DD8-BE4E-491A-895E-41D8837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259558"/>
            <a:ext cx="363725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spc="-10" kern="400000">
                <a:solidFill>
                  <a:srgbClr val="E4E7DF"/>
                </a:solidFill>
                <a:latin typeface="Deck"/>
                <a:ea typeface="Deck"/>
                <a:cs typeface="Deck"/>
              </a:defRPr>
            </a:pPr>
            <a:r>
              <a:rPr sz="2400" b="0" i="0" kern="400000" spc="-10">
                <a:solidFill>
                  <a:srgbClr val="E4E7D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Our routines. Our health.</a:t>
            </a:r>
            <a:endParaRPr lang="en-US" sz="2400" spc="-10" kern="400000">
              <a:latin typeface="Deck"/>
            </a:endParaRPr>
          </a:p>
        </p:txBody>
      </p:sp>
      <p:sp>
        <p:nvSpPr>
          <p:cNvPr id="6" name="s03-t004">
            <a:extLst xmlns:a="http://schemas.openxmlformats.org/drawingml/2006/main">
              <a:ext uri="{FF2B5EF4-FFF2-40B4-BE49-F238E27FC236}">
                <a16:creationId xmlns:a16="http://schemas.microsoft.com/office/drawing/2014/main" id="{508EEC7C-8E7A-4F26-8E6E-681F5EA8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710662"/>
            <a:ext cx="4866208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spc="-5" kern="400000">
                <a:solidFill>
                  <a:srgbClr val="E4E7DF"/>
                </a:solidFill>
                <a:latin typeface="Deck"/>
                <a:ea typeface="Deck"/>
                <a:cs typeface="Deck"/>
              </a:defRPr>
            </a:pPr>
            <a:r>
              <a:rPr sz="2400" b="0" i="0" kern="400000" spc="-5">
                <a:solidFill>
                  <a:srgbClr val="E4E7D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The people we mean to check on.</a:t>
            </a:r>
            <a:endParaRPr lang="en-US" sz="2400" spc="-5" kern="400000">
              <a:latin typeface="Deck"/>
            </a:endParaRPr>
          </a:p>
        </p:txBody>
      </p:sp>
      <p:sp>
        <p:nvSpPr>
          <p:cNvPr id="7" name="s03-t005">
            <a:extLst xmlns:a="http://schemas.openxmlformats.org/drawingml/2006/main">
              <a:ext uri="{FF2B5EF4-FFF2-40B4-BE49-F238E27FC236}">
                <a16:creationId xmlns:a16="http://schemas.microsoft.com/office/drawing/2014/main" id="{6E34F105-C20C-4F13-8ACE-796BC77E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80"/>
            <a:ext cx="2256349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7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7">
                <a:solidFill>
                  <a:srgbClr val="BBB9B4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THE CARE GAP</a:t>
            </a:r>
            <a:endParaRPr lang="en-US" sz="1725" spc="297" kern="400000">
              <a:latin typeface="Deck-Medium"/>
            </a:endParaRPr>
          </a:p>
        </p:txBody>
      </p:sp>
      <p:sp>
        <p:nvSpPr>
          <p:cNvPr id="8" name="s03-t006">
            <a:extLst xmlns:a="http://schemas.openxmlformats.org/drawingml/2006/main">
              <a:ext uri="{FF2B5EF4-FFF2-40B4-BE49-F238E27FC236}">
                <a16:creationId xmlns:a16="http://schemas.microsoft.com/office/drawing/2014/main" id="{84636688-D2A7-4E20-AC3E-DA4913F9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542" y="9730387"/>
            <a:ext cx="45000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A09E99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03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892685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19cd45515438b"/>
          <a:stretch xmlns:a="http://schemas.openxmlformats.org/drawingml/2006/main"/>
        </p:blipFill>
        <p:spPr>
          <a:xfrm xmlns:a="http://schemas.openxmlformats.org/drawingml/2006/main">
            <a:off x="6810375" y="1619250"/>
            <a:ext cx="4714875" cy="3333750"/>
          </a:xfrm>
          <a:prstGeom xmlns:a="http://schemas.openxmlformats.org/drawingml/2006/main" prst="rect">
            <a:avLst/>
          </a:prstGeom>
        </p:spPr>
      </p:pic>
      <p:sp>
        <p:nvSpPr>
          <p:cNvPr id="2" name="s04-t000">
            <a:extLst xmlns:a="http://schemas.openxmlformats.org/drawingml/2006/main">
              <a:ext uri="{FF2B5EF4-FFF2-40B4-BE49-F238E27FC236}">
                <a16:creationId xmlns:a16="http://schemas.microsoft.com/office/drawing/2014/main" id="{B2601FED-81BF-4C17-8D77-CF2E9233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19" y="781051"/>
            <a:ext cx="2503780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spc="375" kern="400000">
                <a:solidFill>
                  <a:srgbClr val="4F7A66"/>
                </a:solidFill>
                <a:latin typeface="Deck"/>
                <a:ea typeface="Deck"/>
                <a:cs typeface="Deck"/>
              </a:defRPr>
            </a:pPr>
            <a:r>
              <a:rPr sz="2025" b="0" i="0" kern="400000" spc="375">
                <a:solidFill>
                  <a:srgbClr val="4F7A6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INTRODUCING</a:t>
            </a:r>
            <a:endParaRPr lang="en-US" sz="2025" spc="375" kern="400000">
              <a:latin typeface="Deck"/>
            </a:endParaRPr>
          </a:p>
        </p:txBody>
      </p:sp>
      <p:sp>
        <p:nvSpPr>
          <p:cNvPr id="3" name="s04-t001">
            <a:extLst xmlns:a="http://schemas.openxmlformats.org/drawingml/2006/main">
              <a:ext uri="{FF2B5EF4-FFF2-40B4-BE49-F238E27FC236}">
                <a16:creationId xmlns:a16="http://schemas.microsoft.com/office/drawing/2014/main" id="{08D5CDA6-B710-4BCA-83B8-ADFEE29C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9" y="5080300"/>
            <a:ext cx="7278472" cy="142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0" spc="-487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9150" b="0" i="0" kern="400000" spc="-487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Your everyday</a:t>
            </a:r>
            <a:endParaRPr lang="en-US" sz="9150" spc="-487" kern="400000">
              <a:latin typeface="Deck-Semi-Bold"/>
            </a:endParaRPr>
          </a:p>
        </p:txBody>
      </p:sp>
      <p:sp>
        <p:nvSpPr>
          <p:cNvPr id="4" name="s04-t002">
            <a:extLst xmlns:a="http://schemas.openxmlformats.org/drawingml/2006/main">
              <a:ext uri="{FF2B5EF4-FFF2-40B4-BE49-F238E27FC236}">
                <a16:creationId xmlns:a16="http://schemas.microsoft.com/office/drawing/2014/main" id="{EC40D81C-1BA8-4A1E-BF2F-E8BB112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920" y="6265591"/>
            <a:ext cx="6978663" cy="1429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0" spc="-424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150" b="0" i="0" kern="400000" spc="-424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health buddy.</a:t>
            </a:r>
            <a:endParaRPr lang="en-US" sz="9150" spc="-424" kern="400000">
              <a:latin typeface="Deck-Semi-Bold"/>
            </a:endParaRPr>
          </a:p>
        </p:txBody>
      </p:sp>
      <p:sp>
        <p:nvSpPr>
          <p:cNvPr id="5" name="s04-t003">
            <a:extLst xmlns:a="http://schemas.openxmlformats.org/drawingml/2006/main">
              <a:ext uri="{FF2B5EF4-FFF2-40B4-BE49-F238E27FC236}">
                <a16:creationId xmlns:a16="http://schemas.microsoft.com/office/drawing/2014/main" id="{81725350-97C4-45C8-804B-5E8BA8C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6" y="7926392"/>
            <a:ext cx="5655164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10" kern="400000">
                <a:solidFill>
                  <a:srgbClr val="696570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10">
                <a:solidFill>
                  <a:srgbClr val="69657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 little more attention to your health.</a:t>
            </a:r>
            <a:endParaRPr lang="en-US" sz="2550" spc="-10" kern="400000">
              <a:latin typeface="Deck"/>
            </a:endParaRPr>
          </a:p>
        </p:txBody>
      </p:sp>
      <p:sp>
        <p:nvSpPr>
          <p:cNvPr id="6" name="s04-t004">
            <a:extLst xmlns:a="http://schemas.openxmlformats.org/drawingml/2006/main">
              <a:ext uri="{FF2B5EF4-FFF2-40B4-BE49-F238E27FC236}">
                <a16:creationId xmlns:a16="http://schemas.microsoft.com/office/drawing/2014/main" id="{4BBB242C-504E-4726-B2B9-1437E6D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132" y="8395975"/>
            <a:ext cx="6246838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11" kern="400000">
                <a:solidFill>
                  <a:srgbClr val="696570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11">
                <a:solidFill>
                  <a:srgbClr val="69657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 little more care for the people you love.</a:t>
            </a:r>
            <a:endParaRPr lang="en-US" sz="2550" spc="-11" kern="400000">
              <a:latin typeface="Deck"/>
            </a:endParaRPr>
          </a:p>
        </p:txBody>
      </p:sp>
      <p:sp>
        <p:nvSpPr>
          <p:cNvPr id="7" name="s04-t005">
            <a:extLst xmlns:a="http://schemas.openxmlformats.org/drawingml/2006/main">
              <a:ext uri="{FF2B5EF4-FFF2-40B4-BE49-F238E27FC236}">
                <a16:creationId xmlns:a16="http://schemas.microsoft.com/office/drawing/2014/main" id="{CEDE4CBD-9C30-40FC-84F7-9862C577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68" y="9048249"/>
            <a:ext cx="5037382" cy="246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spc="230" kern="400000">
                <a:solidFill>
                  <a:srgbClr val="4F7A66"/>
                </a:solidFill>
                <a:latin typeface="Deck"/>
                <a:ea typeface="Deck"/>
                <a:cs typeface="Deck"/>
              </a:defRPr>
            </a:pPr>
            <a:r>
              <a:rPr sz="1575" b="0" i="0" kern="400000" spc="230">
                <a:solidFill>
                  <a:srgbClr val="4F7A6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HEALTHCARE · LONG-TERM SELF-CARE</a:t>
            </a:r>
            <a:endParaRPr lang="en-US" sz="1575" spc="230" kern="400000">
              <a:latin typeface="Deck"/>
            </a:endParaRPr>
          </a:p>
        </p:txBody>
      </p:sp>
      <p:sp>
        <p:nvSpPr>
          <p:cNvPr id="8" name="s04-t006">
            <a:extLst xmlns:a="http://schemas.openxmlformats.org/drawingml/2006/main">
              <a:ext uri="{FF2B5EF4-FFF2-40B4-BE49-F238E27FC236}">
                <a16:creationId xmlns:a16="http://schemas.microsoft.com/office/drawing/2014/main" id="{B0053BF4-2389-4C3D-903D-760C853C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542" y="9730387"/>
            <a:ext cx="45600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83818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04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934011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5-source-rule-0">
            <a:extLst xmlns:a="http://schemas.openxmlformats.org/drawingml/2006/main">
              <a:ext uri="{FF2B5EF4-FFF2-40B4-BE49-F238E27FC236}">
                <a16:creationId xmlns:a16="http://schemas.microsoft.com/office/drawing/2014/main" id="{776DE79A-1486-4F4F-B47B-4C2F70A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6714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148"/>
          </a:solidFill>
          <a:ln xmlns:a="http://schemas.openxmlformats.org/drawingml/2006/main" w="0">
            <a:noFill/>
          </a:ln>
        </p:spPr>
      </p:sp>
      <p:sp>
        <p:nvSpPr>
          <p:cNvPr id="2" name="s5-source-rule-1">
            <a:extLst xmlns:a="http://schemas.openxmlformats.org/drawingml/2006/main">
              <a:ext uri="{FF2B5EF4-FFF2-40B4-BE49-F238E27FC236}">
                <a16:creationId xmlns:a16="http://schemas.microsoft.com/office/drawing/2014/main" id="{0FE26290-226E-40D3-A4E4-AE8337E3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1203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148"/>
          </a:solidFill>
          <a:ln xmlns:a="http://schemas.openxmlformats.org/drawingml/2006/main" w="0">
            <a:noFill/>
          </a:ln>
        </p:spPr>
      </p:sp>
      <p:sp>
        <p:nvSpPr>
          <p:cNvPr id="3" name="s5-source-rule-2">
            <a:extLst xmlns:a="http://schemas.openxmlformats.org/drawingml/2006/main">
              <a:ext uri="{FF2B5EF4-FFF2-40B4-BE49-F238E27FC236}">
                <a16:creationId xmlns:a16="http://schemas.microsoft.com/office/drawing/2014/main" id="{C9FA7821-BA1A-4FE8-9DFB-344DA82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965692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148"/>
          </a:solidFill>
          <a:ln xmlns:a="http://schemas.openxmlformats.org/drawingml/2006/main" w="0">
            <a:noFill/>
          </a:ln>
        </p:spPr>
      </p:sp>
      <p:sp>
        <p:nvSpPr>
          <p:cNvPr id="4" name="s5-source-rule-3">
            <a:extLst xmlns:a="http://schemas.openxmlformats.org/drawingml/2006/main">
              <a:ext uri="{FF2B5EF4-FFF2-40B4-BE49-F238E27FC236}">
                <a16:creationId xmlns:a16="http://schemas.microsoft.com/office/drawing/2014/main" id="{D9C0841F-325F-4B76-81DE-42F41891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100181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148"/>
          </a:solidFill>
          <a:ln xmlns:a="http://schemas.openxmlformats.org/drawingml/2006/main" w="0">
            <a:noFill/>
          </a:ln>
        </p:spPr>
      </p:sp>
      <p:sp>
        <p:nvSpPr>
          <p:cNvPr id="5" name="s05-t000">
            <a:extLst xmlns:a="http://schemas.openxmlformats.org/drawingml/2006/main">
              <a:ext uri="{FF2B5EF4-FFF2-40B4-BE49-F238E27FC236}">
                <a16:creationId xmlns:a16="http://schemas.microsoft.com/office/drawing/2014/main" id="{4A753834-D455-4C4E-9E02-0992AB25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72910"/>
            <a:ext cx="5882478" cy="1394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925" spc="-386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8925" b="0" i="0" kern="400000" spc="-386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Care has its</a:t>
            </a:r>
            <a:endParaRPr lang="en-US" sz="8925" spc="-386" kern="400000">
              <a:latin typeface="Deck-Semi-Bold"/>
            </a:endParaRPr>
          </a:p>
        </p:txBody>
      </p:sp>
      <p:sp>
        <p:nvSpPr>
          <p:cNvPr id="6" name="s05-t001">
            <a:extLst xmlns:a="http://schemas.openxmlformats.org/drawingml/2006/main">
              <a:ext uri="{FF2B5EF4-FFF2-40B4-BE49-F238E27FC236}">
                <a16:creationId xmlns:a16="http://schemas.microsoft.com/office/drawing/2014/main" id="{A9929967-AF8A-4BD6-B423-7E7DBE8A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57392"/>
            <a:ext cx="5672128" cy="1394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925" spc="-388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925" b="0" i="0" kern="400000" spc="-388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own space.</a:t>
            </a:r>
            <a:endParaRPr lang="en-US" sz="8925" spc="-388" kern="400000">
              <a:latin typeface="Deck-Semi-Bold"/>
            </a:endParaRPr>
          </a:p>
        </p:txBody>
      </p:sp>
      <p:sp>
        <p:nvSpPr>
          <p:cNvPr id="7" name="s05-t002">
            <a:extLst xmlns:a="http://schemas.openxmlformats.org/drawingml/2006/main">
              <a:ext uri="{FF2B5EF4-FFF2-40B4-BE49-F238E27FC236}">
                <a16:creationId xmlns:a16="http://schemas.microsoft.com/office/drawing/2014/main" id="{F0C7F957-DE80-4F85-AE45-A5186EB6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190630"/>
            <a:ext cx="3224279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5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5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A DELIBERATE FOCUS</a:t>
            </a:r>
            <a:endParaRPr lang="en-US" sz="1725" spc="285" kern="400000">
              <a:latin typeface="Deck-Medium"/>
            </a:endParaRPr>
          </a:p>
        </p:txBody>
      </p:sp>
      <p:sp>
        <p:nvSpPr>
          <p:cNvPr id="8" name="s05-t003">
            <a:extLst xmlns:a="http://schemas.openxmlformats.org/drawingml/2006/main">
              <a:ext uri="{FF2B5EF4-FFF2-40B4-BE49-F238E27FC236}">
                <a16:creationId xmlns:a16="http://schemas.microsoft.com/office/drawing/2014/main" id="{40FA3470-1C66-4720-9332-2BB563A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1445"/>
            <a:ext cx="465601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151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151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01</a:t>
            </a:r>
            <a:endParaRPr lang="en-US" sz="1650" spc="151" kern="400000">
              <a:latin typeface="Deck"/>
            </a:endParaRPr>
          </a:p>
        </p:txBody>
      </p:sp>
      <p:sp>
        <p:nvSpPr>
          <p:cNvPr id="9" name="s05-t004">
            <a:extLst xmlns:a="http://schemas.openxmlformats.org/drawingml/2006/main">
              <a:ext uri="{FF2B5EF4-FFF2-40B4-BE49-F238E27FC236}">
                <a16:creationId xmlns:a16="http://schemas.microsoft.com/office/drawing/2014/main" id="{AA6CA704-F392-466A-BF52-839D8D8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519" y="2895604"/>
            <a:ext cx="4968507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spc="-88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3150" b="0" i="0" kern="400000" spc="-88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Daily routines &amp; medication</a:t>
            </a:r>
            <a:endParaRPr lang="en-US" sz="3150" spc="-88" kern="400000">
              <a:latin typeface="Deck"/>
            </a:endParaRPr>
          </a:p>
        </p:txBody>
      </p:sp>
      <p:sp>
        <p:nvSpPr>
          <p:cNvPr id="10" name="s05-t005">
            <a:extLst xmlns:a="http://schemas.openxmlformats.org/drawingml/2006/main">
              <a:ext uri="{FF2B5EF4-FFF2-40B4-BE49-F238E27FC236}">
                <a16:creationId xmlns:a16="http://schemas.microsoft.com/office/drawing/2014/main" id="{DF73EB83-B200-44DE-81B1-2D98A3B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5934"/>
            <a:ext cx="512331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151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151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02</a:t>
            </a:r>
            <a:endParaRPr lang="en-US" sz="1650" spc="151" kern="400000">
              <a:latin typeface="Deck"/>
            </a:endParaRPr>
          </a:p>
        </p:txBody>
      </p:sp>
      <p:sp>
        <p:nvSpPr>
          <p:cNvPr id="11" name="s05-t006">
            <a:extLst xmlns:a="http://schemas.openxmlformats.org/drawingml/2006/main">
              <a:ext uri="{FF2B5EF4-FFF2-40B4-BE49-F238E27FC236}">
                <a16:creationId xmlns:a16="http://schemas.microsoft.com/office/drawing/2014/main" id="{02804C35-D556-405A-80E1-D9CB6FB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1" y="4030092"/>
            <a:ext cx="5337591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spc="-89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3150" b="0" i="0" kern="400000" spc="-89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Dental &amp; screening reminders</a:t>
            </a:r>
            <a:endParaRPr lang="en-US" sz="3150" spc="-89" kern="400000">
              <a:latin typeface="Deck"/>
            </a:endParaRPr>
          </a:p>
        </p:txBody>
      </p:sp>
      <p:sp>
        <p:nvSpPr>
          <p:cNvPr id="12" name="s05-t007">
            <a:extLst xmlns:a="http://schemas.openxmlformats.org/drawingml/2006/main">
              <a:ext uri="{FF2B5EF4-FFF2-40B4-BE49-F238E27FC236}">
                <a16:creationId xmlns:a16="http://schemas.microsoft.com/office/drawing/2014/main" id="{070584FF-2B21-415A-B25D-67A0CF8F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20423"/>
            <a:ext cx="515264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151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151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03</a:t>
            </a:r>
            <a:endParaRPr lang="en-US" sz="1650" spc="151" kern="400000">
              <a:latin typeface="Deck"/>
            </a:endParaRPr>
          </a:p>
        </p:txBody>
      </p:sp>
      <p:sp>
        <p:nvSpPr>
          <p:cNvPr id="13" name="s05-t008">
            <a:extLst xmlns:a="http://schemas.openxmlformats.org/drawingml/2006/main">
              <a:ext uri="{FF2B5EF4-FFF2-40B4-BE49-F238E27FC236}">
                <a16:creationId xmlns:a16="http://schemas.microsoft.com/office/drawing/2014/main" id="{070CFF0F-E999-4C6D-B0D8-C1399518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81" y="5164581"/>
            <a:ext cx="4835452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spc="-85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3150" b="0" i="0" kern="400000" spc="-85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Sleep &amp; health information</a:t>
            </a:r>
            <a:endParaRPr lang="en-US" sz="3150" spc="-85" kern="400000">
              <a:latin typeface="Deck"/>
            </a:endParaRPr>
          </a:p>
        </p:txBody>
      </p:sp>
      <p:sp>
        <p:nvSpPr>
          <p:cNvPr id="14" name="s05-t009">
            <a:extLst xmlns:a="http://schemas.openxmlformats.org/drawingml/2006/main">
              <a:ext uri="{FF2B5EF4-FFF2-40B4-BE49-F238E27FC236}">
                <a16:creationId xmlns:a16="http://schemas.microsoft.com/office/drawing/2014/main" id="{9801B0EB-16B6-4754-9796-C7F5DD3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54912"/>
            <a:ext cx="522599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151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151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04</a:t>
            </a:r>
            <a:endParaRPr lang="en-US" sz="1650" spc="151" kern="400000">
              <a:latin typeface="Deck"/>
            </a:endParaRPr>
          </a:p>
        </p:txBody>
      </p:sp>
      <p:sp>
        <p:nvSpPr>
          <p:cNvPr id="15" name="s05-t010">
            <a:extLst xmlns:a="http://schemas.openxmlformats.org/drawingml/2006/main">
              <a:ext uri="{FF2B5EF4-FFF2-40B4-BE49-F238E27FC236}">
                <a16:creationId xmlns:a16="http://schemas.microsoft.com/office/drawing/2014/main" id="{0ACF82E8-AEEB-4C74-ABB1-E609CB71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520" y="6299070"/>
            <a:ext cx="5284060" cy="492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spc="-94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3150" b="0" i="0" kern="400000" spc="-94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Health chat &amp; your care circle</a:t>
            </a:r>
            <a:endParaRPr lang="en-US" sz="3150" spc="-94" kern="400000">
              <a:latin typeface="Deck"/>
            </a:endParaRPr>
          </a:p>
        </p:txBody>
      </p:sp>
      <p:sp>
        <p:nvSpPr>
          <p:cNvPr id="16" name="s05-t011">
            <a:extLst xmlns:a="http://schemas.openxmlformats.org/drawingml/2006/main">
              <a:ext uri="{FF2B5EF4-FFF2-40B4-BE49-F238E27FC236}">
                <a16:creationId xmlns:a16="http://schemas.microsoft.com/office/drawing/2014/main" id="{5261CDE1-9A51-41B5-9FDF-D6DDAFA6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00397"/>
            <a:ext cx="4737230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4" kern="400000">
                <a:solidFill>
                  <a:srgbClr val="BAC4BA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4">
                <a:solidFill>
                  <a:srgbClr val="BAC4B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Designed around everyday health</a:t>
            </a:r>
            <a:endParaRPr lang="en-US" sz="2325" spc="-4" kern="400000">
              <a:latin typeface="Deck"/>
            </a:endParaRPr>
          </a:p>
        </p:txBody>
      </p:sp>
      <p:sp>
        <p:nvSpPr>
          <p:cNvPr id="17" name="s05-t012">
            <a:extLst xmlns:a="http://schemas.openxmlformats.org/drawingml/2006/main">
              <a:ext uri="{FF2B5EF4-FFF2-40B4-BE49-F238E27FC236}">
                <a16:creationId xmlns:a16="http://schemas.microsoft.com/office/drawing/2014/main" id="{D1090D32-5FE0-441B-8D14-71A8E95D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37404"/>
            <a:ext cx="3954161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15" kern="400000">
                <a:solidFill>
                  <a:srgbClr val="BAC4BA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15">
                <a:solidFill>
                  <a:srgbClr val="BAC4B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and the people you care for.</a:t>
            </a:r>
            <a:endParaRPr lang="en-US" sz="2325" spc="-15" kern="400000">
              <a:latin typeface="Deck"/>
            </a:endParaRPr>
          </a:p>
        </p:txBody>
      </p:sp>
      <p:sp>
        <p:nvSpPr>
          <p:cNvPr id="18" name="s05-t013">
            <a:extLst xmlns:a="http://schemas.openxmlformats.org/drawingml/2006/main">
              <a:ext uri="{FF2B5EF4-FFF2-40B4-BE49-F238E27FC236}">
                <a16:creationId xmlns:a16="http://schemas.microsoft.com/office/drawing/2014/main" id="{FABA74DB-74C8-4883-8928-CDF2ACA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136520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4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4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Product vision</a:t>
            </a:r>
            <a:endParaRPr lang="en-US" sz="1350" spc="4" kern="400000">
              <a:latin typeface="Deck"/>
            </a:endParaRPr>
          </a:p>
        </p:txBody>
      </p:sp>
      <p:sp>
        <p:nvSpPr>
          <p:cNvPr id="19" name="s05-t014">
            <a:extLst xmlns:a="http://schemas.openxmlformats.org/drawingml/2006/main">
              <a:ext uri="{FF2B5EF4-FFF2-40B4-BE49-F238E27FC236}">
                <a16:creationId xmlns:a16="http://schemas.microsoft.com/office/drawing/2014/main" id="{39D6A292-671C-4682-8F3D-5B20338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542" y="9730387"/>
            <a:ext cx="45000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05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617654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9a5966f4749a5"/>
          <a:stretch xmlns:a="http://schemas.openxmlformats.org/drawingml/2006/main"/>
        </p:blipFill>
        <p:spPr>
          <a:xfrm xmlns:a="http://schemas.openxmlformats.org/drawingml/2006/main">
            <a:off x="9906000" y="333375"/>
            <a:ext cx="6572250" cy="9763125"/>
          </a:xfrm>
          <a:prstGeom xmlns:a="http://schemas.openxmlformats.org/drawingml/2006/main" prst="rect">
            <a:avLst/>
          </a:prstGeom>
        </p:spPr>
      </p:pic>
      <p:sp>
        <p:nvSpPr>
          <p:cNvPr id="2" name="s06-t000">
            <a:extLst xmlns:a="http://schemas.openxmlformats.org/drawingml/2006/main">
              <a:ext uri="{FF2B5EF4-FFF2-40B4-BE49-F238E27FC236}">
                <a16:creationId xmlns:a16="http://schemas.microsoft.com/office/drawing/2014/main" id="{C7892F39-4D10-4AED-BE43-FED5593F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7618"/>
            <a:ext cx="4510240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385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385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Start with</a:t>
            </a:r>
            <a:endParaRPr lang="en-US" sz="8025" spc="-385" kern="400000">
              <a:latin typeface="Deck-Semi-Bold"/>
            </a:endParaRPr>
          </a:p>
        </p:txBody>
      </p:sp>
      <p:sp>
        <p:nvSpPr>
          <p:cNvPr id="3" name="s06-t001">
            <a:extLst xmlns:a="http://schemas.openxmlformats.org/drawingml/2006/main">
              <a:ext uri="{FF2B5EF4-FFF2-40B4-BE49-F238E27FC236}">
                <a16:creationId xmlns:a16="http://schemas.microsoft.com/office/drawing/2014/main" id="{04F618C8-A16B-4DBA-ADDF-A010099F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2655"/>
            <a:ext cx="4439917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34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34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your care.</a:t>
            </a:r>
            <a:endParaRPr lang="en-US" sz="8025" spc="-434" kern="400000">
              <a:latin typeface="Deck-Semi-Bold"/>
            </a:endParaRPr>
          </a:p>
        </p:txBody>
      </p:sp>
      <p:sp>
        <p:nvSpPr>
          <p:cNvPr id="4" name="s06-t002">
            <a:extLst xmlns:a="http://schemas.openxmlformats.org/drawingml/2006/main">
              <a:ext uri="{FF2B5EF4-FFF2-40B4-BE49-F238E27FC236}">
                <a16:creationId xmlns:a16="http://schemas.microsoft.com/office/drawing/2014/main" id="{B4B84917-C84D-4078-8F14-F9C0C27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258"/>
            <a:ext cx="2039055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28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28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For yourself.</a:t>
            </a:r>
            <a:endParaRPr lang="en-US" sz="2550" spc="-28" kern="400000">
              <a:latin typeface="Deck"/>
            </a:endParaRPr>
          </a:p>
        </p:txBody>
      </p:sp>
      <p:sp>
        <p:nvSpPr>
          <p:cNvPr id="5" name="s06-t003">
            <a:extLst xmlns:a="http://schemas.openxmlformats.org/drawingml/2006/main">
              <a:ext uri="{FF2B5EF4-FFF2-40B4-BE49-F238E27FC236}">
                <a16:creationId xmlns:a16="http://schemas.microsoft.com/office/drawing/2014/main" id="{033B9BA9-9381-4309-B130-DD9F762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6556"/>
            <a:ext cx="4033647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22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22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For someone you care for.</a:t>
            </a:r>
            <a:endParaRPr lang="en-US" sz="2550" spc="-22" kern="400000">
              <a:latin typeface="Deck"/>
            </a:endParaRPr>
          </a:p>
        </p:txBody>
      </p:sp>
      <p:sp>
        <p:nvSpPr>
          <p:cNvPr id="6" name="s06-t004">
            <a:extLst xmlns:a="http://schemas.openxmlformats.org/drawingml/2006/main">
              <a:ext uri="{FF2B5EF4-FFF2-40B4-BE49-F238E27FC236}">
                <a16:creationId xmlns:a16="http://schemas.microsoft.com/office/drawing/2014/main" id="{F462FA5D-DE7B-4E16-A98E-F2BC267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66880"/>
            <a:ext cx="4037752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3" kern="400000">
                <a:solidFill>
                  <a:srgbClr val="3A3745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3">
                <a:solidFill>
                  <a:srgbClr val="6C6971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THE PROTOTYPE, UP CLOSE</a:t>
            </a:r>
            <a:endParaRPr lang="en-US" sz="1725" spc="283" kern="400000">
              <a:latin typeface="Deck-Medium"/>
            </a:endParaRPr>
          </a:p>
        </p:txBody>
      </p:sp>
      <p:sp>
        <p:nvSpPr>
          <p:cNvPr id="7" name="s06-t005">
            <a:extLst xmlns:a="http://schemas.openxmlformats.org/drawingml/2006/main">
              <a:ext uri="{FF2B5EF4-FFF2-40B4-BE49-F238E27FC236}">
                <a16:creationId xmlns:a16="http://schemas.microsoft.com/office/drawing/2014/main" id="{6E772692-3E12-4562-AEEB-C31DD5A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78256"/>
            <a:ext cx="205801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4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4">
                <a:solidFill>
                  <a:srgbClr val="79767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Choose a routine.</a:t>
            </a:r>
            <a:endParaRPr lang="en-US" sz="1800" spc="-4" kern="400000">
              <a:latin typeface="Deck"/>
            </a:endParaRPr>
          </a:p>
        </p:txBody>
      </p:sp>
      <p:sp>
        <p:nvSpPr>
          <p:cNvPr id="8" name="s06-t006">
            <a:extLst xmlns:a="http://schemas.openxmlformats.org/drawingml/2006/main">
              <a:ext uri="{FF2B5EF4-FFF2-40B4-BE49-F238E27FC236}">
                <a16:creationId xmlns:a16="http://schemas.microsoft.com/office/drawing/2014/main" id="{2134625A-0AB4-4711-9C5A-AE967B38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25728"/>
            <a:ext cx="3587115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7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7">
                <a:solidFill>
                  <a:srgbClr val="79767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Make room for a small first step.</a:t>
            </a:r>
            <a:endParaRPr lang="en-US" sz="1800" spc="-7" kern="400000">
              <a:latin typeface="Deck"/>
            </a:endParaRPr>
          </a:p>
        </p:txBody>
      </p:sp>
      <p:sp>
        <p:nvSpPr>
          <p:cNvPr id="9" name="s06-t007">
            <a:extLst xmlns:a="http://schemas.openxmlformats.org/drawingml/2006/main">
              <a:ext uri="{FF2B5EF4-FFF2-40B4-BE49-F238E27FC236}">
                <a16:creationId xmlns:a16="http://schemas.microsoft.com/office/drawing/2014/main" id="{8C23D3D2-C8B8-4B43-A19F-B2FAD504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383817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Fictional data</a:t>
            </a:r>
            <a:endParaRPr lang="en-US" sz="1350" spc="3" kern="400000">
              <a:latin typeface="Deck"/>
            </a:endParaRPr>
          </a:p>
        </p:txBody>
      </p:sp>
      <p:sp>
        <p:nvSpPr>
          <p:cNvPr id="10" name="s06-t008">
            <a:extLst xmlns:a="http://schemas.openxmlformats.org/drawingml/2006/main">
              <a:ext uri="{FF2B5EF4-FFF2-40B4-BE49-F238E27FC236}">
                <a16:creationId xmlns:a16="http://schemas.microsoft.com/office/drawing/2014/main" id="{D775A6D3-D468-49B7-B7DD-88875EC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7231" y="9730387"/>
            <a:ext cx="455324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06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224744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02f03b5104f48"/>
          <a:stretch xmlns:a="http://schemas.openxmlformats.org/drawingml/2006/main"/>
        </p:blipFill>
        <p:spPr>
          <a:xfrm xmlns:a="http://schemas.openxmlformats.org/drawingml/2006/main">
            <a:off x="7239000" y="238125"/>
            <a:ext cx="10001250" cy="9667875"/>
          </a:xfrm>
          <a:prstGeom xmlns:a="http://schemas.openxmlformats.org/drawingml/2006/main" prst="rect">
            <a:avLst/>
          </a:prstGeom>
        </p:spPr>
      </p:pic>
      <p:sp>
        <p:nvSpPr>
          <p:cNvPr id="2" name="s07-t000">
            <a:extLst xmlns:a="http://schemas.openxmlformats.org/drawingml/2006/main">
              <a:ext uri="{FF2B5EF4-FFF2-40B4-BE49-F238E27FC236}">
                <a16:creationId xmlns:a16="http://schemas.microsoft.com/office/drawing/2014/main" id="{FA0E3193-7D3E-4D1F-BE9C-633F24A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7618"/>
            <a:ext cx="5519957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74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74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Your people.</a:t>
            </a:r>
            <a:endParaRPr lang="en-US" sz="8025" spc="-474" kern="400000">
              <a:latin typeface="Deck-Semi-Bold"/>
            </a:endParaRPr>
          </a:p>
        </p:txBody>
      </p:sp>
      <p:sp>
        <p:nvSpPr>
          <p:cNvPr id="3" name="s07-t001">
            <a:extLst xmlns:a="http://schemas.openxmlformats.org/drawingml/2006/main">
              <a:ext uri="{FF2B5EF4-FFF2-40B4-BE49-F238E27FC236}">
                <a16:creationId xmlns:a16="http://schemas.microsoft.com/office/drawing/2014/main" id="{82111FBC-48C1-41B5-9FC7-305026D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2655"/>
            <a:ext cx="3402682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41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41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In view.</a:t>
            </a:r>
            <a:endParaRPr lang="en-US" sz="8025" spc="-441" kern="400000">
              <a:latin typeface="Deck-Semi-Bold"/>
            </a:endParaRPr>
          </a:p>
        </p:txBody>
      </p:sp>
      <p:sp>
        <p:nvSpPr>
          <p:cNvPr id="4" name="s07-t002">
            <a:extLst xmlns:a="http://schemas.openxmlformats.org/drawingml/2006/main">
              <a:ext uri="{FF2B5EF4-FFF2-40B4-BE49-F238E27FC236}">
                <a16:creationId xmlns:a16="http://schemas.microsoft.com/office/drawing/2014/main" id="{FF41002A-2DD1-4051-B7FC-776BDD5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258"/>
            <a:ext cx="4252570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12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12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Keep a loved one’s routines</a:t>
            </a:r>
            <a:endParaRPr lang="en-US" sz="2550" spc="-12" kern="400000">
              <a:latin typeface="Deck"/>
            </a:endParaRPr>
          </a:p>
        </p:txBody>
      </p:sp>
      <p:sp>
        <p:nvSpPr>
          <p:cNvPr id="5" name="s07-t003">
            <a:extLst xmlns:a="http://schemas.openxmlformats.org/drawingml/2006/main">
              <a:ext uri="{FF2B5EF4-FFF2-40B4-BE49-F238E27FC236}">
                <a16:creationId xmlns:a16="http://schemas.microsoft.com/office/drawing/2014/main" id="{72BAD483-26F9-4517-AB97-B4A2CE6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6556"/>
            <a:ext cx="3869779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3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3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and appointments close.</a:t>
            </a:r>
            <a:endParaRPr lang="en-US" sz="2550" spc="-3" kern="400000">
              <a:latin typeface="Deck"/>
            </a:endParaRPr>
          </a:p>
        </p:txBody>
      </p:sp>
      <p:sp>
        <p:nvSpPr>
          <p:cNvPr id="6" name="s07-t004">
            <a:extLst xmlns:a="http://schemas.openxmlformats.org/drawingml/2006/main">
              <a:ext uri="{FF2B5EF4-FFF2-40B4-BE49-F238E27FC236}">
                <a16:creationId xmlns:a16="http://schemas.microsoft.com/office/drawing/2014/main" id="{9B4CF4E8-0CB4-4677-ACC0-CD424EF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66880"/>
            <a:ext cx="2909668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2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2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YOUR CARE CIRCLE</a:t>
            </a:r>
            <a:endParaRPr lang="en-US" sz="1725" spc="292" kern="400000">
              <a:latin typeface="Deck-Medium"/>
            </a:endParaRPr>
          </a:p>
        </p:txBody>
      </p:sp>
      <p:sp>
        <p:nvSpPr>
          <p:cNvPr id="7" name="s07-t005">
            <a:extLst xmlns:a="http://schemas.openxmlformats.org/drawingml/2006/main">
              <a:ext uri="{FF2B5EF4-FFF2-40B4-BE49-F238E27FC236}">
                <a16:creationId xmlns:a16="http://schemas.microsoft.com/office/drawing/2014/main" id="{30453CA3-6CE1-4878-95D5-3F7ADCC0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78256"/>
            <a:ext cx="2585618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6">
                <a:solidFill>
                  <a:srgbClr val="AAAAA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 personal care space,</a:t>
            </a:r>
            <a:endParaRPr lang="en-US" sz="1800" spc="-6" kern="400000">
              <a:latin typeface="Deck"/>
            </a:endParaRPr>
          </a:p>
        </p:txBody>
      </p:sp>
      <p:sp>
        <p:nvSpPr>
          <p:cNvPr id="8" name="s07-t006">
            <a:extLst xmlns:a="http://schemas.openxmlformats.org/drawingml/2006/main">
              <a:ext uri="{FF2B5EF4-FFF2-40B4-BE49-F238E27FC236}">
                <a16:creationId xmlns:a16="http://schemas.microsoft.com/office/drawing/2014/main" id="{556C5900-45BD-4946-A6AD-18AEE68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25728"/>
            <a:ext cx="3379318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2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2">
                <a:solidFill>
                  <a:srgbClr val="AAAAA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with permission-aware access</a:t>
            </a:r>
            <a:endParaRPr lang="en-US" sz="1800" spc="-2" kern="400000">
              <a:latin typeface="Deck"/>
            </a:endParaRPr>
          </a:p>
        </p:txBody>
      </p:sp>
      <p:sp>
        <p:nvSpPr>
          <p:cNvPr id="9" name="s07-t007">
            <a:extLst xmlns:a="http://schemas.openxmlformats.org/drawingml/2006/main">
              <a:ext uri="{FF2B5EF4-FFF2-40B4-BE49-F238E27FC236}">
                <a16:creationId xmlns:a16="http://schemas.microsoft.com/office/drawing/2014/main" id="{A759DA5C-7AB8-4917-8946-32CDEF55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73200"/>
            <a:ext cx="2612822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3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3">
                <a:solidFill>
                  <a:srgbClr val="AAAAA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as the intended model.</a:t>
            </a:r>
            <a:endParaRPr lang="en-US" sz="1800" spc="-3" kern="400000">
              <a:latin typeface="Deck"/>
            </a:endParaRPr>
          </a:p>
        </p:txBody>
      </p:sp>
      <p:sp>
        <p:nvSpPr>
          <p:cNvPr id="10" name="s07-t008">
            <a:extLst xmlns:a="http://schemas.openxmlformats.org/drawingml/2006/main">
              <a:ext uri="{FF2B5EF4-FFF2-40B4-BE49-F238E27FC236}">
                <a16:creationId xmlns:a16="http://schemas.microsoft.com/office/drawing/2014/main" id="{DB2013AE-213C-4489-A2B2-0567F0A8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6867068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Fictional profiles; production sharing to be validated</a:t>
            </a:r>
            <a:endParaRPr lang="en-US" sz="1350" spc="3" kern="400000">
              <a:latin typeface="Deck"/>
            </a:endParaRPr>
          </a:p>
        </p:txBody>
      </p:sp>
      <p:sp>
        <p:nvSpPr>
          <p:cNvPr id="11" name="s07-t009">
            <a:extLst xmlns:a="http://schemas.openxmlformats.org/drawingml/2006/main">
              <a:ext uri="{FF2B5EF4-FFF2-40B4-BE49-F238E27FC236}">
                <a16:creationId xmlns:a16="http://schemas.microsoft.com/office/drawing/2014/main" id="{959A32CC-E9BC-4B3C-88C8-0CC96DE4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2485" y="9730387"/>
            <a:ext cx="44006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07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539260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9e18073744c74"/>
          <a:stretch xmlns:a="http://schemas.openxmlformats.org/drawingml/2006/main"/>
        </p:blipFill>
        <p:spPr>
          <a:xfrm xmlns:a="http://schemas.openxmlformats.org/drawingml/2006/main">
            <a:off x="9906000" y="238125"/>
            <a:ext cx="6572250" cy="9858375"/>
          </a:xfrm>
          <a:prstGeom xmlns:a="http://schemas.openxmlformats.org/drawingml/2006/main" prst="rect">
            <a:avLst/>
          </a:prstGeom>
        </p:spPr>
      </p:pic>
      <p:sp>
        <p:nvSpPr>
          <p:cNvPr id="2" name="s08-t000">
            <a:extLst xmlns:a="http://schemas.openxmlformats.org/drawingml/2006/main">
              <a:ext uri="{FF2B5EF4-FFF2-40B4-BE49-F238E27FC236}">
                <a16:creationId xmlns:a16="http://schemas.microsoft.com/office/drawing/2014/main" id="{A1385997-C158-4AF5-9D28-30DA0377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44351"/>
            <a:ext cx="4349696" cy="132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475" spc="-589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8475" b="0" i="0" kern="400000" spc="-589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Your day.</a:t>
            </a:r>
            <a:endParaRPr lang="en-US" sz="8475" spc="-589" kern="400000">
              <a:latin typeface="Deck-Semi-Bold"/>
            </a:endParaRPr>
          </a:p>
        </p:txBody>
      </p:sp>
      <p:sp>
        <p:nvSpPr>
          <p:cNvPr id="3" name="s08-t001">
            <a:extLst xmlns:a="http://schemas.openxmlformats.org/drawingml/2006/main">
              <a:ext uri="{FF2B5EF4-FFF2-40B4-BE49-F238E27FC236}">
                <a16:creationId xmlns:a16="http://schemas.microsoft.com/office/drawing/2014/main" id="{E0F3264E-65FE-4708-B2C2-59D3350D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9110"/>
            <a:ext cx="6438852" cy="132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475" spc="-438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475" b="0" i="0" kern="400000" spc="-438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 little lighter.</a:t>
            </a:r>
            <a:endParaRPr lang="en-US" sz="8475" spc="-438" kern="400000">
              <a:latin typeface="Deck-Semi-Bold"/>
            </a:endParaRPr>
          </a:p>
        </p:txBody>
      </p:sp>
      <p:sp>
        <p:nvSpPr>
          <p:cNvPr id="4" name="s08-t002">
            <a:extLst xmlns:a="http://schemas.openxmlformats.org/drawingml/2006/main">
              <a:ext uri="{FF2B5EF4-FFF2-40B4-BE49-F238E27FC236}">
                <a16:creationId xmlns:a16="http://schemas.microsoft.com/office/drawing/2014/main" id="{B563693E-2802-42A4-A614-0C5748BC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81047"/>
            <a:ext cx="4946285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7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7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One place to see the next care task</a:t>
            </a:r>
            <a:endParaRPr lang="en-US" sz="2325" spc="-7" kern="400000">
              <a:latin typeface="Deck"/>
            </a:endParaRPr>
          </a:p>
        </p:txBody>
      </p:sp>
      <p:sp>
        <p:nvSpPr>
          <p:cNvPr id="5" name="s08-t003">
            <a:extLst xmlns:a="http://schemas.openxmlformats.org/drawingml/2006/main">
              <a:ext uri="{FF2B5EF4-FFF2-40B4-BE49-F238E27FC236}">
                <a16:creationId xmlns:a16="http://schemas.microsoft.com/office/drawing/2014/main" id="{31DFA5BB-2C33-41F9-939B-8CAA7CC4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18054"/>
            <a:ext cx="4976993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9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9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and keep everyday routines in view.</a:t>
            </a:r>
            <a:endParaRPr lang="en-US" sz="2325" spc="-9" kern="400000">
              <a:latin typeface="Deck"/>
            </a:endParaRPr>
          </a:p>
        </p:txBody>
      </p:sp>
      <p:sp>
        <p:nvSpPr>
          <p:cNvPr id="6" name="s08-t004">
            <a:extLst xmlns:a="http://schemas.openxmlformats.org/drawingml/2006/main">
              <a:ext uri="{FF2B5EF4-FFF2-40B4-BE49-F238E27FC236}">
                <a16:creationId xmlns:a16="http://schemas.microsoft.com/office/drawing/2014/main" id="{45DC4E7E-71B5-444F-95BC-05C0978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948261"/>
            <a:ext cx="1737027" cy="456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spc="-3" kern="400000">
                <a:solidFill>
                  <a:srgbClr val="7E8A7F"/>
                </a:solidFill>
                <a:latin typeface="Deck"/>
                <a:ea typeface="Deck"/>
                <a:cs typeface="Deck"/>
              </a:defRPr>
            </a:pPr>
            <a:r>
              <a:rPr sz="2925" b="0" i="0" kern="400000" spc="-3">
                <a:solidFill>
                  <a:srgbClr val="7E8A7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Routines</a:t>
            </a:r>
            <a:endParaRPr lang="en-US" sz="2925" spc="-3" kern="400000">
              <a:latin typeface="Deck"/>
            </a:endParaRPr>
          </a:p>
        </p:txBody>
      </p:sp>
      <p:sp>
        <p:nvSpPr>
          <p:cNvPr id="7" name="s08-t005">
            <a:extLst xmlns:a="http://schemas.openxmlformats.org/drawingml/2006/main">
              <a:ext uri="{FF2B5EF4-FFF2-40B4-BE49-F238E27FC236}">
                <a16:creationId xmlns:a16="http://schemas.microsoft.com/office/drawing/2014/main" id="{69F68420-12B1-4B41-A224-3D09008D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438608"/>
            <a:ext cx="1009679" cy="456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spc="-8" kern="400000">
                <a:solidFill>
                  <a:srgbClr val="7E8A7F"/>
                </a:solidFill>
                <a:latin typeface="Deck"/>
                <a:ea typeface="Deck"/>
                <a:cs typeface="Deck"/>
              </a:defRPr>
            </a:pPr>
            <a:r>
              <a:rPr sz="2925" b="0" i="0" kern="400000" spc="-8">
                <a:solidFill>
                  <a:srgbClr val="7E8A7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Rest</a:t>
            </a:r>
            <a:endParaRPr lang="en-US" sz="2925" spc="-8" kern="400000">
              <a:latin typeface="Deck"/>
            </a:endParaRPr>
          </a:p>
        </p:txBody>
      </p:sp>
      <p:sp>
        <p:nvSpPr>
          <p:cNvPr id="8" name="s08-t006">
            <a:extLst xmlns:a="http://schemas.openxmlformats.org/drawingml/2006/main">
              <a:ext uri="{FF2B5EF4-FFF2-40B4-BE49-F238E27FC236}">
                <a16:creationId xmlns:a16="http://schemas.microsoft.com/office/drawing/2014/main" id="{A0D821DA-3457-4864-A65B-14932E1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928955"/>
            <a:ext cx="1819494" cy="456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spc="-3" kern="400000">
                <a:solidFill>
                  <a:srgbClr val="7E8A7F"/>
                </a:solidFill>
                <a:latin typeface="Deck"/>
                <a:ea typeface="Deck"/>
                <a:cs typeface="Deck"/>
              </a:defRPr>
            </a:pPr>
            <a:r>
              <a:rPr sz="2925" b="0" i="0" kern="400000" spc="-3">
                <a:solidFill>
                  <a:srgbClr val="7E8A7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Readings</a:t>
            </a:r>
            <a:endParaRPr lang="en-US" sz="2925" spc="-3" kern="400000">
              <a:latin typeface="Deck"/>
            </a:endParaRPr>
          </a:p>
        </p:txBody>
      </p:sp>
      <p:sp>
        <p:nvSpPr>
          <p:cNvPr id="9" name="s08-t007">
            <a:extLst xmlns:a="http://schemas.openxmlformats.org/drawingml/2006/main">
              <a:ext uri="{FF2B5EF4-FFF2-40B4-BE49-F238E27FC236}">
                <a16:creationId xmlns:a16="http://schemas.microsoft.com/office/drawing/2014/main" id="{901A120A-5528-465E-B422-01E43BEB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383817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Fictional data</a:t>
            </a:r>
            <a:endParaRPr lang="en-US" sz="1350" spc="3" kern="400000">
              <a:latin typeface="Deck"/>
            </a:endParaRPr>
          </a:p>
        </p:txBody>
      </p:sp>
      <p:sp>
        <p:nvSpPr>
          <p:cNvPr id="10" name="s08-t008">
            <a:extLst xmlns:a="http://schemas.openxmlformats.org/drawingml/2006/main">
              <a:ext uri="{FF2B5EF4-FFF2-40B4-BE49-F238E27FC236}">
                <a16:creationId xmlns:a16="http://schemas.microsoft.com/office/drawing/2014/main" id="{4CBE7E55-62F9-4173-AF65-17CBC131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9975" y="9730387"/>
            <a:ext cx="452580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08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154939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E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4cba54df648ad"/>
          <a:stretch xmlns:a="http://schemas.openxmlformats.org/drawingml/2006/main"/>
        </p:blipFill>
        <p:spPr>
          <a:xfrm xmlns:a="http://schemas.openxmlformats.org/drawingml/2006/main">
            <a:off x="7429500" y="238125"/>
            <a:ext cx="10096500" cy="9667875"/>
          </a:xfrm>
          <a:prstGeom xmlns:a="http://schemas.openxmlformats.org/drawingml/2006/main" prst="rect">
            <a:avLst/>
          </a:prstGeom>
        </p:spPr>
      </p:pic>
      <p:sp>
        <p:nvSpPr>
          <p:cNvPr id="2" name="s09-t000">
            <a:extLst xmlns:a="http://schemas.openxmlformats.org/drawingml/2006/main">
              <a:ext uri="{FF2B5EF4-FFF2-40B4-BE49-F238E27FC236}">
                <a16:creationId xmlns:a16="http://schemas.microsoft.com/office/drawing/2014/main" id="{9E8FDE48-7494-4EFC-B86D-F84E6DD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7618"/>
            <a:ext cx="5165712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23" kern="400000">
                <a:solidFill>
                  <a:srgbClr val="3C354B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23">
                <a:solidFill>
                  <a:srgbClr val="3C354B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Make room</a:t>
            </a:r>
            <a:endParaRPr lang="en-US" sz="8025" spc="-423" kern="400000">
              <a:latin typeface="Deck-Semi-Bold"/>
            </a:endParaRPr>
          </a:p>
        </p:txBody>
      </p:sp>
      <p:sp>
        <p:nvSpPr>
          <p:cNvPr id="3" name="s09-t001">
            <a:extLst xmlns:a="http://schemas.openxmlformats.org/drawingml/2006/main">
              <a:ext uri="{FF2B5EF4-FFF2-40B4-BE49-F238E27FC236}">
                <a16:creationId xmlns:a16="http://schemas.microsoft.com/office/drawing/2014/main" id="{4C8D9D93-A4D5-4106-8AA9-8F772B99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2655"/>
            <a:ext cx="2188254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42" kern="400000">
                <a:solidFill>
                  <a:srgbClr val="3C354B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42">
                <a:solidFill>
                  <a:srgbClr val="3C354B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for a</a:t>
            </a:r>
            <a:endParaRPr lang="en-US" sz="8025" spc="-442" kern="400000">
              <a:latin typeface="Deck-Semi-Bold"/>
            </a:endParaRPr>
          </a:p>
        </p:txBody>
      </p:sp>
      <p:sp>
        <p:nvSpPr>
          <p:cNvPr id="4" name="s09-t002">
            <a:extLst xmlns:a="http://schemas.openxmlformats.org/drawingml/2006/main">
              <a:ext uri="{FF2B5EF4-FFF2-40B4-BE49-F238E27FC236}">
                <a16:creationId xmlns:a16="http://schemas.microsoft.com/office/drawing/2014/main" id="{10425F0F-E352-4F14-82AE-1BD07935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7693"/>
            <a:ext cx="5550389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02" kern="400000">
                <a:solidFill>
                  <a:srgbClr val="73618B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02">
                <a:solidFill>
                  <a:srgbClr val="73618B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better night.</a:t>
            </a:r>
            <a:endParaRPr lang="en-US" sz="8025" spc="-402" kern="400000">
              <a:latin typeface="Deck-Semi-Bold"/>
            </a:endParaRPr>
          </a:p>
        </p:txBody>
      </p:sp>
      <p:sp>
        <p:nvSpPr>
          <p:cNvPr id="5" name="s09-t003">
            <a:extLst xmlns:a="http://schemas.openxmlformats.org/drawingml/2006/main">
              <a:ext uri="{FF2B5EF4-FFF2-40B4-BE49-F238E27FC236}">
                <a16:creationId xmlns:a16="http://schemas.microsoft.com/office/drawing/2014/main" id="{F81DBBC9-7629-4FD0-8944-3437C6A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22296"/>
            <a:ext cx="2020272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12" kern="400000">
                <a:solidFill>
                  <a:srgbClr val="3C354B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12">
                <a:solidFill>
                  <a:srgbClr val="3C354B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Review rest.</a:t>
            </a:r>
            <a:endParaRPr lang="en-US" sz="2550" spc="-12" kern="400000">
              <a:latin typeface="Deck"/>
            </a:endParaRPr>
          </a:p>
        </p:txBody>
      </p:sp>
      <p:sp>
        <p:nvSpPr>
          <p:cNvPr id="6" name="s09-t004">
            <a:extLst xmlns:a="http://schemas.openxmlformats.org/drawingml/2006/main">
              <a:ext uri="{FF2B5EF4-FFF2-40B4-BE49-F238E27FC236}">
                <a16:creationId xmlns:a16="http://schemas.microsoft.com/office/drawing/2014/main" id="{F2A0C23B-78A5-40B2-B4E6-251829C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01594"/>
            <a:ext cx="4534643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6" kern="400000">
                <a:solidFill>
                  <a:srgbClr val="3C354B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6">
                <a:solidFill>
                  <a:srgbClr val="3C354B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Choose a wind-down routine.</a:t>
            </a:r>
            <a:endParaRPr lang="en-US" sz="2550" spc="-6" kern="400000">
              <a:latin typeface="Deck"/>
            </a:endParaRPr>
          </a:p>
        </p:txBody>
      </p:sp>
      <p:sp>
        <p:nvSpPr>
          <p:cNvPr id="7" name="s09-t005">
            <a:extLst xmlns:a="http://schemas.openxmlformats.org/drawingml/2006/main">
              <a:ext uri="{FF2B5EF4-FFF2-40B4-BE49-F238E27FC236}">
                <a16:creationId xmlns:a16="http://schemas.microsoft.com/office/drawing/2014/main" id="{41BA1CCB-3508-4F48-ABC0-8F7B1D63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66880"/>
            <a:ext cx="1087079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9" kern="400000">
                <a:solidFill>
                  <a:srgbClr val="3C354B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9">
                <a:solidFill>
                  <a:srgbClr val="696377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SLEEP</a:t>
            </a:r>
            <a:endParaRPr lang="en-US" sz="1725" spc="299" kern="400000">
              <a:latin typeface="Deck-Medium"/>
            </a:endParaRPr>
          </a:p>
        </p:txBody>
      </p:sp>
      <p:sp>
        <p:nvSpPr>
          <p:cNvPr id="8" name="s09-t006">
            <a:extLst xmlns:a="http://schemas.openxmlformats.org/drawingml/2006/main">
              <a:ext uri="{FF2B5EF4-FFF2-40B4-BE49-F238E27FC236}">
                <a16:creationId xmlns:a16="http://schemas.microsoft.com/office/drawing/2014/main" id="{D3403994-0C05-477D-A455-1DD1261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443294"/>
            <a:ext cx="2516581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3" kern="400000">
                <a:solidFill>
                  <a:srgbClr val="3C354B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3">
                <a:solidFill>
                  <a:srgbClr val="756F83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Illustrative sleep data.</a:t>
            </a:r>
            <a:endParaRPr lang="en-US" sz="1800" spc="-3" kern="400000">
              <a:latin typeface="Deck"/>
            </a:endParaRPr>
          </a:p>
        </p:txBody>
      </p:sp>
      <p:sp>
        <p:nvSpPr>
          <p:cNvPr id="9" name="s09-t007">
            <a:extLst xmlns:a="http://schemas.openxmlformats.org/drawingml/2006/main">
              <a:ext uri="{FF2B5EF4-FFF2-40B4-BE49-F238E27FC236}">
                <a16:creationId xmlns:a16="http://schemas.microsoft.com/office/drawing/2014/main" id="{F381AB16-DB87-4810-AE09-760A8E7B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90766"/>
            <a:ext cx="3616147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4" kern="400000">
                <a:solidFill>
                  <a:srgbClr val="3C354B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4">
                <a:solidFill>
                  <a:srgbClr val="756F83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Wearable connection is planned.</a:t>
            </a:r>
            <a:endParaRPr lang="en-US" sz="1800" spc="-4" kern="400000">
              <a:latin typeface="Deck"/>
            </a:endParaRPr>
          </a:p>
        </p:txBody>
      </p:sp>
      <p:sp>
        <p:nvSpPr>
          <p:cNvPr id="10" name="s09-t008">
            <a:extLst xmlns:a="http://schemas.openxmlformats.org/drawingml/2006/main">
              <a:ext uri="{FF2B5EF4-FFF2-40B4-BE49-F238E27FC236}">
                <a16:creationId xmlns:a16="http://schemas.microsoft.com/office/drawing/2014/main" id="{F8CF1C32-9AEA-4BF0-A4BA-284C508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560813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3C354B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7C768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Sleep is not measured from a device</a:t>
            </a:r>
            <a:endParaRPr lang="en-US" sz="1350" spc="3" kern="400000">
              <a:latin typeface="Deck"/>
            </a:endParaRPr>
          </a:p>
        </p:txBody>
      </p:sp>
      <p:sp>
        <p:nvSpPr>
          <p:cNvPr id="11" name="s09-t009">
            <a:extLst xmlns:a="http://schemas.openxmlformats.org/drawingml/2006/main">
              <a:ext uri="{FF2B5EF4-FFF2-40B4-BE49-F238E27FC236}">
                <a16:creationId xmlns:a16="http://schemas.microsoft.com/office/drawing/2014/main" id="{62D3AA2A-6CF1-410F-8B1F-CE7DC410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7054" y="9730387"/>
            <a:ext cx="45549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3C354B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7C768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09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310977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b6bbdcbae46a7"/>
          <a:stretch xmlns:a="http://schemas.openxmlformats.org/drawingml/2006/main"/>
        </p:blipFill>
        <p:spPr>
          <a:xfrm xmlns:a="http://schemas.openxmlformats.org/drawingml/2006/main">
            <a:off x="10001250" y="238125"/>
            <a:ext cx="6286500" cy="9667875"/>
          </a:xfrm>
          <a:prstGeom xmlns:a="http://schemas.openxmlformats.org/drawingml/2006/main" prst="rect">
            <a:avLst/>
          </a:prstGeom>
        </p:spPr>
      </p:pic>
      <p:sp>
        <p:nvSpPr>
          <p:cNvPr id="2" name="s10-t000">
            <a:extLst xmlns:a="http://schemas.openxmlformats.org/drawingml/2006/main">
              <a:ext uri="{FF2B5EF4-FFF2-40B4-BE49-F238E27FC236}">
                <a16:creationId xmlns:a16="http://schemas.microsoft.com/office/drawing/2014/main" id="{2712A73F-0A3D-43C9-B70C-B7D3979C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2128"/>
            <a:ext cx="5148910" cy="121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spc="-463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7800" b="0" i="0" kern="400000" spc="-463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Your health,</a:t>
            </a:r>
            <a:endParaRPr lang="en-US" sz="7800" spc="-463" kern="400000">
              <a:latin typeface="Deck-Semi-Bold"/>
            </a:endParaRPr>
          </a:p>
        </p:txBody>
      </p:sp>
      <p:sp>
        <p:nvSpPr>
          <p:cNvPr id="3" name="s10-t001">
            <a:extLst xmlns:a="http://schemas.openxmlformats.org/drawingml/2006/main">
              <a:ext uri="{FF2B5EF4-FFF2-40B4-BE49-F238E27FC236}">
                <a16:creationId xmlns:a16="http://schemas.microsoft.com/office/drawing/2014/main" id="{AB7483AA-D9E3-4B62-AF77-2A2A00D3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47305"/>
            <a:ext cx="4969612" cy="121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spc="-386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7800" b="0" i="0" kern="400000" spc="-386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at a glance.</a:t>
            </a:r>
            <a:endParaRPr lang="en-US" sz="7800" spc="-386" kern="400000">
              <a:latin typeface="Deck-Semi-Bold"/>
            </a:endParaRPr>
          </a:p>
        </p:txBody>
      </p:sp>
      <p:sp>
        <p:nvSpPr>
          <p:cNvPr id="4" name="s10-t002">
            <a:extLst xmlns:a="http://schemas.openxmlformats.org/drawingml/2006/main">
              <a:ext uri="{FF2B5EF4-FFF2-40B4-BE49-F238E27FC236}">
                <a16:creationId xmlns:a16="http://schemas.microsoft.com/office/drawing/2014/main" id="{8E45AE31-6F59-4E4B-81C0-0786D62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5898"/>
            <a:ext cx="5098447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spc="-8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2250" b="0" i="0" kern="400000" spc="-8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Rest, routines and recorded readings.</a:t>
            </a:r>
            <a:endParaRPr lang="en-US" sz="2250" spc="-8" kern="400000">
              <a:latin typeface="Deck"/>
            </a:endParaRPr>
          </a:p>
        </p:txBody>
      </p:sp>
      <p:sp>
        <p:nvSpPr>
          <p:cNvPr id="5" name="s10-t003">
            <a:extLst xmlns:a="http://schemas.openxmlformats.org/drawingml/2006/main">
              <a:ext uri="{FF2B5EF4-FFF2-40B4-BE49-F238E27FC236}">
                <a16:creationId xmlns:a16="http://schemas.microsoft.com/office/drawing/2014/main" id="{B8D1854D-57BD-471A-AEC4-2CFD6853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04523"/>
            <a:ext cx="5705380" cy="35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spc="-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2250" b="0" i="0" kern="400000" spc="-6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 place to notice what deserves attention.</a:t>
            </a:r>
            <a:endParaRPr lang="en-US" sz="2250" spc="-6" kern="400000">
              <a:latin typeface="Deck"/>
            </a:endParaRPr>
          </a:p>
        </p:txBody>
      </p:sp>
      <p:sp>
        <p:nvSpPr>
          <p:cNvPr id="6" name="s10-t004">
            <a:extLst xmlns:a="http://schemas.openxmlformats.org/drawingml/2006/main">
              <a:ext uri="{FF2B5EF4-FFF2-40B4-BE49-F238E27FC236}">
                <a16:creationId xmlns:a16="http://schemas.microsoft.com/office/drawing/2014/main" id="{3C98CE3E-5643-4B8B-82DD-ED51510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19280"/>
            <a:ext cx="3328559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73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73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HEALTH INFORMATION</a:t>
            </a:r>
            <a:endParaRPr lang="en-US" sz="1725" spc="273" kern="400000">
              <a:latin typeface="Deck-Medium"/>
            </a:endParaRPr>
          </a:p>
        </p:txBody>
      </p:sp>
      <p:sp>
        <p:nvSpPr>
          <p:cNvPr id="7" name="s10-t005">
            <a:extLst xmlns:a="http://schemas.openxmlformats.org/drawingml/2006/main">
              <a:ext uri="{FF2B5EF4-FFF2-40B4-BE49-F238E27FC236}">
                <a16:creationId xmlns:a16="http://schemas.microsoft.com/office/drawing/2014/main" id="{5F32FFD0-F427-4D63-BB68-6C3B3553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6063253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Illustrative readings; no live wearable data</a:t>
            </a:r>
            <a:endParaRPr lang="en-US" sz="1350" spc="3" kern="400000">
              <a:latin typeface="Deck"/>
            </a:endParaRPr>
          </a:p>
        </p:txBody>
      </p:sp>
      <p:sp>
        <p:nvSpPr>
          <p:cNvPr id="8" name="s10-t006">
            <a:extLst xmlns:a="http://schemas.openxmlformats.org/drawingml/2006/main">
              <a:ext uri="{FF2B5EF4-FFF2-40B4-BE49-F238E27FC236}">
                <a16:creationId xmlns:a16="http://schemas.microsoft.com/office/drawing/2014/main" id="{10CC4306-896A-440B-A08B-B321311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3181" y="9730387"/>
            <a:ext cx="40937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10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2060592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e00079b7d4c28"/>
          <a:stretch xmlns:a="http://schemas.openxmlformats.org/drawingml/2006/main"/>
        </p:blipFill>
        <p:spPr>
          <a:xfrm xmlns:a="http://schemas.openxmlformats.org/drawingml/2006/main">
            <a:off x="1571625" y="238125"/>
            <a:ext cx="6191250" cy="9858375"/>
          </a:xfrm>
          <a:prstGeom xmlns:a="http://schemas.openxmlformats.org/drawingml/2006/main" prst="rect">
            <a:avLst/>
          </a:prstGeom>
        </p:spPr>
      </p:pic>
      <p:sp>
        <p:nvSpPr>
          <p:cNvPr id="2" name="s11-t000">
            <a:extLst xmlns:a="http://schemas.openxmlformats.org/drawingml/2006/main">
              <a:ext uri="{FF2B5EF4-FFF2-40B4-BE49-F238E27FC236}">
                <a16:creationId xmlns:a16="http://schemas.microsoft.com/office/drawing/2014/main" id="{964B687D-F7B9-49EE-842F-041691F1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4478"/>
            <a:ext cx="6938162" cy="121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spc="-391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7800" b="0" i="0" kern="400000" spc="-391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Keep the details</a:t>
            </a:r>
            <a:endParaRPr lang="en-US" sz="7800" spc="-391" kern="400000">
              <a:latin typeface="Deck-Semi-Bold"/>
            </a:endParaRPr>
          </a:p>
        </p:txBody>
      </p:sp>
      <p:sp>
        <p:nvSpPr>
          <p:cNvPr id="3" name="s11-t001">
            <a:extLst xmlns:a="http://schemas.openxmlformats.org/drawingml/2006/main">
              <a:ext uri="{FF2B5EF4-FFF2-40B4-BE49-F238E27FC236}">
                <a16:creationId xmlns:a16="http://schemas.microsoft.com/office/drawing/2014/main" id="{1FFB951A-8203-4CCE-8141-D75642CD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9655"/>
            <a:ext cx="2648788" cy="121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spc="-392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7800" b="0" i="0" kern="400000" spc="-392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close.</a:t>
            </a:r>
            <a:endParaRPr lang="en-US" sz="7800" spc="-392" kern="400000">
              <a:latin typeface="Deck-Semi-Bold"/>
            </a:endParaRPr>
          </a:p>
        </p:txBody>
      </p:sp>
      <p:sp>
        <p:nvSpPr>
          <p:cNvPr id="4" name="s11-t002">
            <a:extLst xmlns:a="http://schemas.openxmlformats.org/drawingml/2006/main">
              <a:ext uri="{FF2B5EF4-FFF2-40B4-BE49-F238E27FC236}">
                <a16:creationId xmlns:a16="http://schemas.microsoft.com/office/drawing/2014/main" id="{2C389178-9C56-4512-AA63-15B4B6E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32638"/>
            <a:ext cx="4088292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spc="-3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475" b="0" i="0" kern="400000" spc="-3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Bring important plan notes</a:t>
            </a:r>
            <a:endParaRPr lang="en-US" sz="2475" spc="-3" kern="400000">
              <a:latin typeface="Deck"/>
            </a:endParaRPr>
          </a:p>
        </p:txBody>
      </p:sp>
      <p:sp>
        <p:nvSpPr>
          <p:cNvPr id="5" name="s11-t003">
            <a:extLst xmlns:a="http://schemas.openxmlformats.org/drawingml/2006/main">
              <a:ext uri="{FF2B5EF4-FFF2-40B4-BE49-F238E27FC236}">
                <a16:creationId xmlns:a16="http://schemas.microsoft.com/office/drawing/2014/main" id="{4D83B152-8FA2-4B90-80F5-5FB97A0E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04126"/>
            <a:ext cx="3190894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spc="-13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475" b="0" i="0" kern="400000" spc="-13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into your care space.</a:t>
            </a:r>
            <a:endParaRPr lang="en-US" sz="2475" spc="-13" kern="400000">
              <a:latin typeface="Deck"/>
            </a:endParaRPr>
          </a:p>
        </p:txBody>
      </p:sp>
      <p:sp>
        <p:nvSpPr>
          <p:cNvPr id="6" name="s11-t004">
            <a:extLst xmlns:a="http://schemas.openxmlformats.org/drawingml/2006/main">
              <a:ext uri="{FF2B5EF4-FFF2-40B4-BE49-F238E27FC236}">
                <a16:creationId xmlns:a16="http://schemas.microsoft.com/office/drawing/2014/main" id="{F3995CF2-56FF-4224-BBDE-D829D409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75613"/>
            <a:ext cx="4636475" cy="386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spc="-11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475" b="0" i="0" kern="400000" spc="-11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Confirm cover with the insurer.</a:t>
            </a:r>
            <a:endParaRPr lang="en-US" sz="2475" spc="-11" kern="400000">
              <a:latin typeface="Deck"/>
            </a:endParaRPr>
          </a:p>
        </p:txBody>
      </p:sp>
      <p:sp>
        <p:nvSpPr>
          <p:cNvPr id="7" name="s11-t005">
            <a:extLst xmlns:a="http://schemas.openxmlformats.org/drawingml/2006/main">
              <a:ext uri="{FF2B5EF4-FFF2-40B4-BE49-F238E27FC236}">
                <a16:creationId xmlns:a16="http://schemas.microsoft.com/office/drawing/2014/main" id="{0153E421-D4A9-4034-8E1B-8AE895D4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733720"/>
            <a:ext cx="2787339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spc="-8" kern="400000">
                <a:solidFill>
                  <a:srgbClr val="4F7A66"/>
                </a:solidFill>
                <a:latin typeface="Deck"/>
                <a:ea typeface="Deck"/>
                <a:cs typeface="Deck"/>
              </a:defRPr>
            </a:pPr>
            <a:r>
              <a:rPr sz="2850" b="0" i="0" kern="400000" spc="-8">
                <a:solidFill>
                  <a:srgbClr val="4F7A6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Less searching.</a:t>
            </a:r>
            <a:endParaRPr lang="en-US" sz="2850" spc="-8" kern="400000">
              <a:latin typeface="Deck"/>
            </a:endParaRPr>
          </a:p>
        </p:txBody>
      </p:sp>
      <p:sp>
        <p:nvSpPr>
          <p:cNvPr id="8" name="s11-t006">
            <a:extLst xmlns:a="http://schemas.openxmlformats.org/drawingml/2006/main">
              <a:ext uri="{FF2B5EF4-FFF2-40B4-BE49-F238E27FC236}">
                <a16:creationId xmlns:a16="http://schemas.microsoft.com/office/drawing/2014/main" id="{190C4038-50AC-4EDE-8E44-B8A84E3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197016"/>
            <a:ext cx="2282057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spc="-23" kern="400000">
                <a:solidFill>
                  <a:srgbClr val="4F7A66"/>
                </a:solidFill>
                <a:latin typeface="Deck"/>
                <a:ea typeface="Deck"/>
                <a:cs typeface="Deck"/>
              </a:defRPr>
            </a:pPr>
            <a:r>
              <a:rPr sz="2850" b="0" i="0" kern="400000" spc="-23">
                <a:solidFill>
                  <a:srgbClr val="4F7A6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More clarity.</a:t>
            </a:r>
            <a:endParaRPr lang="en-US" sz="2850" spc="-23" kern="400000">
              <a:latin typeface="Deck"/>
            </a:endParaRPr>
          </a:p>
        </p:txBody>
      </p:sp>
      <p:sp>
        <p:nvSpPr>
          <p:cNvPr id="9" name="s11-t007">
            <a:extLst xmlns:a="http://schemas.openxmlformats.org/drawingml/2006/main">
              <a:ext uri="{FF2B5EF4-FFF2-40B4-BE49-F238E27FC236}">
                <a16:creationId xmlns:a16="http://schemas.microsoft.com/office/drawing/2014/main" id="{EE89CAC9-93D9-4E30-B8D1-1C3F13D1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30"/>
            <a:ext cx="1561624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3" kern="400000">
                <a:solidFill>
                  <a:srgbClr val="3A3745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3">
                <a:solidFill>
                  <a:srgbClr val="6C6971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BENEFITS</a:t>
            </a:r>
            <a:endParaRPr lang="en-US" sz="1725" spc="293" kern="400000">
              <a:latin typeface="Deck-Medium"/>
            </a:endParaRPr>
          </a:p>
        </p:txBody>
      </p:sp>
      <p:sp>
        <p:nvSpPr>
          <p:cNvPr id="10" name="s11-t008">
            <a:extLst xmlns:a="http://schemas.openxmlformats.org/drawingml/2006/main">
              <a:ext uri="{FF2B5EF4-FFF2-40B4-BE49-F238E27FC236}">
                <a16:creationId xmlns:a16="http://schemas.microsoft.com/office/drawing/2014/main" id="{CB599372-D921-47AF-9A38-02FE53E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5698407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7F7C83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Plan notes, not a live insurance check</a:t>
            </a:r>
            <a:endParaRPr lang="en-US" sz="1350" spc="3" kern="400000">
              <a:latin typeface="Deck"/>
            </a:endParaRPr>
          </a:p>
        </p:txBody>
      </p:sp>
      <p:sp>
        <p:nvSpPr>
          <p:cNvPr id="11" name="s11-t009">
            <a:extLst xmlns:a="http://schemas.openxmlformats.org/drawingml/2006/main">
              <a:ext uri="{FF2B5EF4-FFF2-40B4-BE49-F238E27FC236}">
                <a16:creationId xmlns:a16="http://schemas.microsoft.com/office/drawing/2014/main" id="{22536FA7-2BA2-40D7-ABBE-AA120671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7364" y="9730387"/>
            <a:ext cx="355197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11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9911555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F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71ba0e6e947d7"/>
          <a:stretch xmlns:a="http://schemas.openxmlformats.org/drawingml/2006/main"/>
        </p:blipFill>
        <p:spPr>
          <a:xfrm xmlns:a="http://schemas.openxmlformats.org/drawingml/2006/main">
            <a:off x="9810750" y="238125"/>
            <a:ext cx="6572250" cy="9858375"/>
          </a:xfrm>
          <a:prstGeom xmlns:a="http://schemas.openxmlformats.org/drawingml/2006/main" prst="rect">
            <a:avLst/>
          </a:prstGeom>
        </p:spPr>
      </p:pic>
      <p:sp>
        <p:nvSpPr>
          <p:cNvPr id="2" name="s12-t000">
            <a:extLst xmlns:a="http://schemas.openxmlformats.org/drawingml/2006/main">
              <a:ext uri="{FF2B5EF4-FFF2-40B4-BE49-F238E27FC236}">
                <a16:creationId xmlns:a16="http://schemas.microsoft.com/office/drawing/2014/main" id="{117AAD6A-1732-4692-95A5-539B58D2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52818"/>
            <a:ext cx="6527635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393" kern="400000">
                <a:solidFill>
                  <a:srgbClr val="233B30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393">
                <a:solidFill>
                  <a:srgbClr val="233B3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 small nudge.</a:t>
            </a:r>
            <a:endParaRPr lang="en-US" sz="8025" spc="-393" kern="400000">
              <a:latin typeface="Deck-Semi-Bold"/>
            </a:endParaRPr>
          </a:p>
        </p:txBody>
      </p:sp>
      <p:sp>
        <p:nvSpPr>
          <p:cNvPr id="3" name="s12-t001">
            <a:extLst xmlns:a="http://schemas.openxmlformats.org/drawingml/2006/main">
              <a:ext uri="{FF2B5EF4-FFF2-40B4-BE49-F238E27FC236}">
                <a16:creationId xmlns:a16="http://schemas.microsoft.com/office/drawing/2014/main" id="{775F1D3A-5084-4BCA-9FA7-A737EC8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7855"/>
            <a:ext cx="3226508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02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02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 clear</a:t>
            </a:r>
            <a:endParaRPr lang="en-US" sz="8025" spc="-402" kern="400000">
              <a:latin typeface="Deck-Semi-Bold"/>
            </a:endParaRPr>
          </a:p>
        </p:txBody>
      </p:sp>
      <p:sp>
        <p:nvSpPr>
          <p:cNvPr id="4" name="s12-t002">
            <a:extLst xmlns:a="http://schemas.openxmlformats.org/drawingml/2006/main">
              <a:ext uri="{FF2B5EF4-FFF2-40B4-BE49-F238E27FC236}">
                <a16:creationId xmlns:a16="http://schemas.microsoft.com/office/drawing/2014/main" id="{E73E5D9C-C551-4EB5-A4EC-84CF1B2E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2893"/>
            <a:ext cx="4439917" cy="12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025" spc="-419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025" b="0" i="0" kern="400000" spc="-419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next step.</a:t>
            </a:r>
            <a:endParaRPr lang="en-US" sz="8025" spc="-419" kern="400000">
              <a:latin typeface="Deck-Semi-Bold"/>
            </a:endParaRPr>
          </a:p>
        </p:txBody>
      </p:sp>
      <p:sp>
        <p:nvSpPr>
          <p:cNvPr id="5" name="s12-t003">
            <a:extLst xmlns:a="http://schemas.openxmlformats.org/drawingml/2006/main">
              <a:ext uri="{FF2B5EF4-FFF2-40B4-BE49-F238E27FC236}">
                <a16:creationId xmlns:a16="http://schemas.microsoft.com/office/drawing/2014/main" id="{4B03B06B-E1E9-43AF-82B7-062DE4A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7496"/>
            <a:ext cx="2536488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13" kern="400000">
                <a:solidFill>
                  <a:srgbClr val="233B30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13">
                <a:solidFill>
                  <a:srgbClr val="233B3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See what’s due.</a:t>
            </a:r>
            <a:endParaRPr lang="en-US" sz="2550" spc="-13" kern="400000">
              <a:latin typeface="Deck"/>
            </a:endParaRPr>
          </a:p>
        </p:txBody>
      </p:sp>
      <p:sp>
        <p:nvSpPr>
          <p:cNvPr id="6" name="s12-t004">
            <a:extLst xmlns:a="http://schemas.openxmlformats.org/drawingml/2006/main">
              <a:ext uri="{FF2B5EF4-FFF2-40B4-BE49-F238E27FC236}">
                <a16:creationId xmlns:a16="http://schemas.microsoft.com/office/drawing/2014/main" id="{23BA616D-590D-4C4C-936B-7B6236E5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794"/>
            <a:ext cx="4680052" cy="39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spc="-17" kern="400000">
                <a:solidFill>
                  <a:srgbClr val="233B30"/>
                </a:solidFill>
                <a:latin typeface="Deck"/>
                <a:ea typeface="Deck"/>
                <a:cs typeface="Deck"/>
              </a:defRPr>
            </a:pPr>
            <a:r>
              <a:rPr sz="2550" b="0" i="0" kern="400000" spc="-17">
                <a:solidFill>
                  <a:srgbClr val="233B3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Mark it taken, skipped or later.</a:t>
            </a:r>
            <a:endParaRPr lang="en-US" sz="2550" spc="-17" kern="400000">
              <a:latin typeface="Deck"/>
            </a:endParaRPr>
          </a:p>
        </p:txBody>
      </p:sp>
      <p:sp>
        <p:nvSpPr>
          <p:cNvPr id="7" name="s12-t005">
            <a:extLst xmlns:a="http://schemas.openxmlformats.org/drawingml/2006/main">
              <a:ext uri="{FF2B5EF4-FFF2-40B4-BE49-F238E27FC236}">
                <a16:creationId xmlns:a16="http://schemas.microsoft.com/office/drawing/2014/main" id="{E78DC140-0D03-4398-89B5-C9D27CA9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62080"/>
            <a:ext cx="3740448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9" kern="400000">
                <a:solidFill>
                  <a:srgbClr val="233B3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9">
                <a:solidFill>
                  <a:srgbClr val="54695E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ROUTINES &amp; MEDICATION</a:t>
            </a:r>
            <a:endParaRPr lang="en-US" sz="1725" spc="289" kern="400000">
              <a:latin typeface="Deck-Medium"/>
            </a:endParaRPr>
          </a:p>
        </p:txBody>
      </p:sp>
      <p:sp>
        <p:nvSpPr>
          <p:cNvPr id="8" name="s12-t006">
            <a:extLst xmlns:a="http://schemas.openxmlformats.org/drawingml/2006/main">
              <a:ext uri="{FF2B5EF4-FFF2-40B4-BE49-F238E27FC236}">
                <a16:creationId xmlns:a16="http://schemas.microsoft.com/office/drawing/2014/main" id="{602B480F-0E97-46CE-91C2-BC684024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38494"/>
            <a:ext cx="4356811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3" kern="400000">
                <a:solidFill>
                  <a:srgbClr val="233B30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3">
                <a:solidFill>
                  <a:srgbClr val="61756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Follow existing medication instructions.</a:t>
            </a:r>
            <a:endParaRPr lang="en-US" sz="1800" spc="-3" kern="400000">
              <a:latin typeface="Deck"/>
            </a:endParaRPr>
          </a:p>
        </p:txBody>
      </p:sp>
      <p:sp>
        <p:nvSpPr>
          <p:cNvPr id="9" name="s12-t007">
            <a:extLst xmlns:a="http://schemas.openxmlformats.org/drawingml/2006/main">
              <a:ext uri="{FF2B5EF4-FFF2-40B4-BE49-F238E27FC236}">
                <a16:creationId xmlns:a16="http://schemas.microsoft.com/office/drawing/2014/main" id="{76A3688C-8E71-4819-A968-8824DF80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485966"/>
            <a:ext cx="3220898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7" kern="400000">
                <a:solidFill>
                  <a:srgbClr val="233B30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7">
                <a:solidFill>
                  <a:srgbClr val="61756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Responses are self-reported.</a:t>
            </a:r>
            <a:endParaRPr lang="en-US" sz="1800" spc="-7" kern="400000">
              <a:latin typeface="Deck"/>
            </a:endParaRPr>
          </a:p>
        </p:txBody>
      </p:sp>
      <p:sp>
        <p:nvSpPr>
          <p:cNvPr id="10" name="s12-t008">
            <a:extLst xmlns:a="http://schemas.openxmlformats.org/drawingml/2006/main">
              <a:ext uri="{FF2B5EF4-FFF2-40B4-BE49-F238E27FC236}">
                <a16:creationId xmlns:a16="http://schemas.microsoft.com/office/drawing/2014/main" id="{12873EDF-0254-40D5-B63C-76E9571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5945524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4" kern="400000">
                <a:solidFill>
                  <a:srgbClr val="233B3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4">
                <a:solidFill>
                  <a:srgbClr val="697C71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In-app reminder; push delivery is not live</a:t>
            </a:r>
            <a:endParaRPr lang="en-US" sz="1350" spc="4" kern="400000">
              <a:latin typeface="Deck"/>
            </a:endParaRPr>
          </a:p>
        </p:txBody>
      </p:sp>
      <p:sp>
        <p:nvSpPr>
          <p:cNvPr id="11" name="s12-t009">
            <a:extLst xmlns:a="http://schemas.openxmlformats.org/drawingml/2006/main">
              <a:ext uri="{FF2B5EF4-FFF2-40B4-BE49-F238E27FC236}">
                <a16:creationId xmlns:a16="http://schemas.microsoft.com/office/drawing/2014/main" id="{FB8C6AFB-3764-4C87-B77B-C4EBDCA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9124" y="9730387"/>
            <a:ext cx="393430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233B3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697C71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12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204266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0f86fb2a44481"/>
          <a:stretch xmlns:a="http://schemas.openxmlformats.org/drawingml/2006/main"/>
        </p:blipFill>
        <p:spPr>
          <a:xfrm xmlns:a="http://schemas.openxmlformats.org/drawingml/2006/main">
            <a:off x="8810625" y="4524375"/>
            <a:ext cx="8477250" cy="4095750"/>
          </a:xfrm>
          <a:prstGeom xmlns:a="http://schemas.openxmlformats.org/drawingml/2006/main" prst="rect">
            <a:avLst/>
          </a:prstGeom>
        </p:spPr>
      </p:pic>
      <p:sp>
        <p:nvSpPr>
          <p:cNvPr id="2" name="s13-t000">
            <a:extLst xmlns:a="http://schemas.openxmlformats.org/drawingml/2006/main">
              <a:ext uri="{FF2B5EF4-FFF2-40B4-BE49-F238E27FC236}">
                <a16:creationId xmlns:a16="http://schemas.microsoft.com/office/drawing/2014/main" id="{B78117B3-635E-4BF6-A7FA-873C89E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71555"/>
            <a:ext cx="4765777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2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2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CARE, WHERE YOU ALREADY ARE</a:t>
            </a:r>
            <a:endParaRPr lang="en-US" sz="1725" spc="282" kern="400000">
              <a:latin typeface="Deck-Medium"/>
            </a:endParaRPr>
          </a:p>
        </p:txBody>
      </p:sp>
      <p:sp>
        <p:nvSpPr>
          <p:cNvPr id="3" name="s13-t001">
            <a:extLst xmlns:a="http://schemas.openxmlformats.org/drawingml/2006/main">
              <a:ext uri="{FF2B5EF4-FFF2-40B4-BE49-F238E27FC236}">
                <a16:creationId xmlns:a16="http://schemas.microsoft.com/office/drawing/2014/main" id="{0842070E-3E4F-4832-87C9-E770CDB9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26192"/>
            <a:ext cx="8265052" cy="1230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875" spc="-419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7875" b="0" i="0" kern="400000" spc="-419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A reminder beyond</a:t>
            </a:r>
            <a:endParaRPr lang="en-US" sz="7875" spc="-419" kern="400000">
              <a:latin typeface="Deck-Semi-Bold"/>
            </a:endParaRPr>
          </a:p>
        </p:txBody>
      </p:sp>
      <p:sp>
        <p:nvSpPr>
          <p:cNvPr id="4" name="s13-t002">
            <a:extLst xmlns:a="http://schemas.openxmlformats.org/drawingml/2006/main">
              <a:ext uri="{FF2B5EF4-FFF2-40B4-BE49-F238E27FC236}">
                <a16:creationId xmlns:a16="http://schemas.microsoft.com/office/drawing/2014/main" id="{FD02687B-0897-457A-8FA3-B00FCBD7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71323"/>
            <a:ext cx="5693750" cy="1230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875" spc="-399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7875" b="0" i="0" kern="400000" spc="-399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the care app.</a:t>
            </a:r>
            <a:endParaRPr lang="en-US" sz="7875" spc="-399" kern="400000">
              <a:latin typeface="Deck-Semi-Bold"/>
            </a:endParaRPr>
          </a:p>
        </p:txBody>
      </p:sp>
      <p:sp>
        <p:nvSpPr>
          <p:cNvPr id="5" name="s13-t003">
            <a:extLst xmlns:a="http://schemas.openxmlformats.org/drawingml/2006/main">
              <a:ext uri="{FF2B5EF4-FFF2-40B4-BE49-F238E27FC236}">
                <a16:creationId xmlns:a16="http://schemas.microsoft.com/office/drawing/2014/main" id="{C452AFB5-58F1-4879-8911-D028572C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2635"/>
            <a:ext cx="5481295" cy="5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spc="-88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3525" b="0" i="0" kern="400000" spc="-88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“Remind me to drink water</a:t>
            </a:r>
            <a:endParaRPr lang="en-US" sz="3525" spc="-88" kern="400000">
              <a:latin typeface="Deck"/>
            </a:endParaRPr>
          </a:p>
        </p:txBody>
      </p:sp>
      <p:sp>
        <p:nvSpPr>
          <p:cNvPr id="6" name="s13-t004">
            <a:extLst xmlns:a="http://schemas.openxmlformats.org/drawingml/2006/main">
              <a:ext uri="{FF2B5EF4-FFF2-40B4-BE49-F238E27FC236}">
                <a16:creationId xmlns:a16="http://schemas.microsoft.com/office/drawing/2014/main" id="{E49A74B2-0967-42AE-A136-4E698DD5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1183"/>
            <a:ext cx="3873246" cy="5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spc="-105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3525" b="0" i="0" kern="400000" spc="-105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while I’m working.”</a:t>
            </a:r>
            <a:endParaRPr lang="en-US" sz="3525" spc="-105" kern="400000">
              <a:latin typeface="Deck"/>
            </a:endParaRPr>
          </a:p>
        </p:txBody>
      </p:sp>
      <p:sp>
        <p:nvSpPr>
          <p:cNvPr id="7" name="s13-t005">
            <a:extLst xmlns:a="http://schemas.openxmlformats.org/drawingml/2006/main">
              <a:ext uri="{FF2B5EF4-FFF2-40B4-BE49-F238E27FC236}">
                <a16:creationId xmlns:a16="http://schemas.microsoft.com/office/drawing/2014/main" id="{7E5F79CD-4194-4C81-BDEF-01C0E4CC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70273"/>
            <a:ext cx="3241872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4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4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CareBuddy plugin concept</a:t>
            </a:r>
            <a:endParaRPr lang="en-US" sz="1950" spc="-4" kern="400000">
              <a:latin typeface="Deck"/>
            </a:endParaRPr>
          </a:p>
        </p:txBody>
      </p:sp>
      <p:sp>
        <p:nvSpPr>
          <p:cNvPr id="8" name="s13-t006">
            <a:extLst xmlns:a="http://schemas.openxmlformats.org/drawingml/2006/main">
              <a:ext uri="{FF2B5EF4-FFF2-40B4-BE49-F238E27FC236}">
                <a16:creationId xmlns:a16="http://schemas.microsoft.com/office/drawing/2014/main" id="{4E6B4317-D106-414D-B757-4E91A53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93717"/>
            <a:ext cx="2881922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-3" kern="400000">
                <a:solidFill>
                  <a:srgbClr val="A5B2A9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-3">
                <a:solidFill>
                  <a:srgbClr val="A5B2A9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Codex experience planned</a:t>
            </a:r>
            <a:endParaRPr lang="en-US" sz="1725" spc="-3" kern="400000">
              <a:latin typeface="Deck"/>
            </a:endParaRPr>
          </a:p>
        </p:txBody>
      </p:sp>
      <p:sp>
        <p:nvSpPr>
          <p:cNvPr id="9" name="s13-t007">
            <a:extLst xmlns:a="http://schemas.openxmlformats.org/drawingml/2006/main">
              <a:ext uri="{FF2B5EF4-FFF2-40B4-BE49-F238E27FC236}">
                <a16:creationId xmlns:a16="http://schemas.microsoft.com/office/drawing/2014/main" id="{366EF15D-F851-4687-BCFD-70E7EC2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8961380"/>
            <a:ext cx="4778445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-9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-9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Current prototype: manual WorkBuddy handoff.</a:t>
            </a:r>
            <a:endParaRPr lang="en-US" sz="1650" spc="-9" kern="400000">
              <a:latin typeface="Deck"/>
            </a:endParaRPr>
          </a:p>
        </p:txBody>
      </p:sp>
      <p:sp>
        <p:nvSpPr>
          <p:cNvPr id="10" name="s13-t008">
            <a:extLst xmlns:a="http://schemas.openxmlformats.org/drawingml/2006/main">
              <a:ext uri="{FF2B5EF4-FFF2-40B4-BE49-F238E27FC236}">
                <a16:creationId xmlns:a16="http://schemas.microsoft.com/office/drawing/2014/main" id="{A0A0893C-37D8-4E96-9756-7714A77F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9265227"/>
            <a:ext cx="5557133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-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-6">
                <a:solidFill>
                  <a:srgbClr val="FAF6F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Export context, import a proposal, review before saving.</a:t>
            </a:r>
            <a:endParaRPr lang="en-US" sz="1650" spc="-6" kern="400000">
              <a:latin typeface="Deck"/>
            </a:endParaRPr>
          </a:p>
        </p:txBody>
      </p:sp>
      <p:sp>
        <p:nvSpPr>
          <p:cNvPr id="11" name="s13-t009">
            <a:extLst xmlns:a="http://schemas.openxmlformats.org/drawingml/2006/main">
              <a:ext uri="{FF2B5EF4-FFF2-40B4-BE49-F238E27FC236}">
                <a16:creationId xmlns:a16="http://schemas.microsoft.com/office/drawing/2014/main" id="{6F14CBF8-D276-40FE-8256-D5B76FBA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7238971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Concept + actual prototype handoff · No live WorkBuddy connection or background push</a:t>
            </a:r>
            <a:endParaRPr lang="en-US" sz="1350" spc="3" kern="400000">
              <a:latin typeface="Deck"/>
            </a:endParaRPr>
          </a:p>
        </p:txBody>
      </p:sp>
      <p:sp>
        <p:nvSpPr>
          <p:cNvPr id="12" name="s13-t010">
            <a:extLst xmlns:a="http://schemas.openxmlformats.org/drawingml/2006/main">
              <a:ext uri="{FF2B5EF4-FFF2-40B4-BE49-F238E27FC236}">
                <a16:creationId xmlns:a16="http://schemas.microsoft.com/office/drawing/2014/main" id="{54E245A3-7823-4546-900B-B1EE083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6725" y="9730387"/>
            <a:ext cx="395830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13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365748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ab759a4e6434a"/>
          <a:stretch xmlns:a="http://schemas.openxmlformats.org/drawingml/2006/main"/>
        </p:blipFill>
        <p:spPr>
          <a:xfrm xmlns:a="http://schemas.openxmlformats.org/drawingml/2006/main">
            <a:off x="7334250" y="238125"/>
            <a:ext cx="10191750" cy="9858375"/>
          </a:xfrm>
          <a:prstGeom xmlns:a="http://schemas.openxmlformats.org/drawingml/2006/main" prst="rect">
            <a:avLst/>
          </a:prstGeom>
        </p:spPr>
      </p:pic>
      <p:sp>
        <p:nvSpPr>
          <p:cNvPr id="2" name="s14-t000">
            <a:extLst xmlns:a="http://schemas.openxmlformats.org/drawingml/2006/main">
              <a:ext uri="{FF2B5EF4-FFF2-40B4-BE49-F238E27FC236}">
                <a16:creationId xmlns:a16="http://schemas.microsoft.com/office/drawing/2014/main" id="{AC84F114-19F2-45A1-98BC-EF190217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22495"/>
            <a:ext cx="503080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spc="-455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7200" b="0" i="0" kern="400000" spc="-455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Talk through</a:t>
            </a:r>
            <a:endParaRPr lang="en-US" sz="7200" spc="-455" kern="400000">
              <a:latin typeface="Deck-Semi-Bold"/>
            </a:endParaRPr>
          </a:p>
        </p:txBody>
      </p:sp>
      <p:sp>
        <p:nvSpPr>
          <p:cNvPr id="3" name="s14-t001">
            <a:extLst xmlns:a="http://schemas.openxmlformats.org/drawingml/2006/main">
              <a:ext uri="{FF2B5EF4-FFF2-40B4-BE49-F238E27FC236}">
                <a16:creationId xmlns:a16="http://schemas.microsoft.com/office/drawing/2014/main" id="{282C1C58-F575-480F-9BE8-5F055854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78043"/>
            <a:ext cx="5394122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0" spc="-400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7200" b="0" i="0" kern="400000" spc="-400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the next step.</a:t>
            </a:r>
            <a:endParaRPr lang="en-US" sz="7200" spc="-400" kern="400000">
              <a:latin typeface="Deck-Semi-Bold"/>
            </a:endParaRPr>
          </a:p>
        </p:txBody>
      </p:sp>
      <p:sp>
        <p:nvSpPr>
          <p:cNvPr id="4" name="s14-t002">
            <a:extLst xmlns:a="http://schemas.openxmlformats.org/drawingml/2006/main">
              <a:ext uri="{FF2B5EF4-FFF2-40B4-BE49-F238E27FC236}">
                <a16:creationId xmlns:a16="http://schemas.microsoft.com/office/drawing/2014/main" id="{8A7723ED-636A-4679-9868-A5A3A72D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524005"/>
            <a:ext cx="3428248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5" kern="400000">
                <a:solidFill>
                  <a:srgbClr val="3A3745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5">
                <a:solidFill>
                  <a:srgbClr val="6C6971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BUDDY &amp; CARE ACCESS</a:t>
            </a:r>
            <a:endParaRPr lang="en-US" sz="1725" spc="285" kern="400000">
              <a:latin typeface="Deck-Medium"/>
            </a:endParaRPr>
          </a:p>
        </p:txBody>
      </p:sp>
      <p:sp>
        <p:nvSpPr>
          <p:cNvPr id="5" name="s14-t003">
            <a:extLst xmlns:a="http://schemas.openxmlformats.org/drawingml/2006/main">
              <a:ext uri="{FF2B5EF4-FFF2-40B4-BE49-F238E27FC236}">
                <a16:creationId xmlns:a16="http://schemas.microsoft.com/office/drawing/2014/main" id="{D79FDFAB-5824-4E8F-B5EE-9BB2A81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193"/>
            <a:ext cx="3829555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2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2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Routines and appointment</a:t>
            </a:r>
            <a:endParaRPr lang="en-US" sz="2325" spc="-2" kern="400000">
              <a:latin typeface="Deck"/>
            </a:endParaRPr>
          </a:p>
        </p:txBody>
      </p:sp>
      <p:sp>
        <p:nvSpPr>
          <p:cNvPr id="6" name="s14-t004">
            <a:extLst xmlns:a="http://schemas.openxmlformats.org/drawingml/2006/main">
              <a:ext uri="{FF2B5EF4-FFF2-40B4-BE49-F238E27FC236}">
                <a16:creationId xmlns:a16="http://schemas.microsoft.com/office/drawing/2014/main" id="{87AE1C9C-2435-4C61-94FA-B6CA6C70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95342"/>
            <a:ext cx="2695699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21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21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preparation today.</a:t>
            </a:r>
            <a:endParaRPr lang="en-US" sz="2325" spc="-21" kern="400000">
              <a:latin typeface="Deck"/>
            </a:endParaRPr>
          </a:p>
        </p:txBody>
      </p:sp>
      <p:sp>
        <p:nvSpPr>
          <p:cNvPr id="7" name="s14-t005">
            <a:extLst xmlns:a="http://schemas.openxmlformats.org/drawingml/2006/main">
              <a:ext uri="{FF2B5EF4-FFF2-40B4-BE49-F238E27FC236}">
                <a16:creationId xmlns:a16="http://schemas.microsoft.com/office/drawing/2014/main" id="{B97FE851-6EEB-412A-AA44-2317A5F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51639"/>
            <a:ext cx="4819021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4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4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WhiteCoat teleconsult connection</a:t>
            </a:r>
            <a:endParaRPr lang="en-US" sz="2325" spc="-4" kern="400000">
              <a:latin typeface="Deck"/>
            </a:endParaRPr>
          </a:p>
        </p:txBody>
      </p:sp>
      <p:sp>
        <p:nvSpPr>
          <p:cNvPr id="8" name="s14-t006">
            <a:extLst xmlns:a="http://schemas.openxmlformats.org/drawingml/2006/main">
              <a:ext uri="{FF2B5EF4-FFF2-40B4-BE49-F238E27FC236}">
                <a16:creationId xmlns:a16="http://schemas.microsoft.com/office/drawing/2014/main" id="{0066C4AB-3DC7-470B-9132-6807E17F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79788"/>
            <a:ext cx="2073554" cy="36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spc="-8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2325" b="0" i="0" kern="400000" spc="-8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is a next step.</a:t>
            </a:r>
            <a:endParaRPr lang="en-US" sz="2325" spc="-8" kern="400000">
              <a:latin typeface="Deck"/>
            </a:endParaRPr>
          </a:p>
        </p:txBody>
      </p:sp>
      <p:sp>
        <p:nvSpPr>
          <p:cNvPr id="9" name="s14-t007">
            <a:extLst xmlns:a="http://schemas.openxmlformats.org/drawingml/2006/main">
              <a:ext uri="{FF2B5EF4-FFF2-40B4-BE49-F238E27FC236}">
                <a16:creationId xmlns:a16="http://schemas.microsoft.com/office/drawing/2014/main" id="{996FD434-A6D6-4706-B781-123F8C9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7435796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3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3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Mobile prototype walkthrough · GP planning only; no verified WhiteCoat redirect or booking</a:t>
            </a:r>
            <a:endParaRPr lang="en-US" sz="1350" spc="3" kern="400000">
              <a:latin typeface="Deck"/>
            </a:endParaRPr>
          </a:p>
        </p:txBody>
      </p:sp>
      <p:sp>
        <p:nvSpPr>
          <p:cNvPr id="10" name="s14-t008">
            <a:extLst xmlns:a="http://schemas.openxmlformats.org/drawingml/2006/main">
              <a:ext uri="{FF2B5EF4-FFF2-40B4-BE49-F238E27FC236}">
                <a16:creationId xmlns:a16="http://schemas.microsoft.com/office/drawing/2014/main" id="{20EA9B2C-C398-411C-9D4B-CDC16E40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0725" y="9730387"/>
            <a:ext cx="401831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14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035804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8a69c6c734d7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15-t000">
            <a:extLst xmlns:a="http://schemas.openxmlformats.org/drawingml/2006/main">
              <a:ext uri="{FF2B5EF4-FFF2-40B4-BE49-F238E27FC236}">
                <a16:creationId xmlns:a16="http://schemas.microsoft.com/office/drawing/2014/main" id="{B5F8BDF3-A1DE-478C-B157-0791DC90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77291"/>
            <a:ext cx="3670516" cy="1382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spc="-421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8850" b="0" i="0" kern="400000" spc="-421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Notice.</a:t>
            </a:r>
            <a:endParaRPr lang="en-US" sz="8850" spc="-421" kern="400000">
              <a:latin typeface="Deck-Semi-Bold"/>
            </a:endParaRPr>
          </a:p>
        </p:txBody>
      </p:sp>
      <p:sp>
        <p:nvSpPr>
          <p:cNvPr id="3" name="s15-t001">
            <a:extLst xmlns:a="http://schemas.openxmlformats.org/drawingml/2006/main">
              <a:ext uri="{FF2B5EF4-FFF2-40B4-BE49-F238E27FC236}">
                <a16:creationId xmlns:a16="http://schemas.microsoft.com/office/drawing/2014/main" id="{51E135A5-C2B7-4744-BE02-92261CF0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68678"/>
            <a:ext cx="5825452" cy="1382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spc="-472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8850" b="0" i="0" kern="400000" spc="-472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Remember.</a:t>
            </a:r>
            <a:endParaRPr lang="en-US" sz="8850" spc="-472" kern="400000">
              <a:latin typeface="Deck-Semi-Bold"/>
            </a:endParaRPr>
          </a:p>
        </p:txBody>
      </p:sp>
      <p:sp>
        <p:nvSpPr>
          <p:cNvPr id="4" name="s15-t002">
            <a:extLst xmlns:a="http://schemas.openxmlformats.org/drawingml/2006/main">
              <a:ext uri="{FF2B5EF4-FFF2-40B4-BE49-F238E27FC236}">
                <a16:creationId xmlns:a16="http://schemas.microsoft.com/office/drawing/2014/main" id="{92B2867A-1E2D-4A6E-AADA-E177B63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0065"/>
            <a:ext cx="7686561" cy="1382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spc="-405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850" b="0" i="0" kern="400000" spc="-405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Follow through.</a:t>
            </a:r>
            <a:endParaRPr lang="en-US" sz="8850" spc="-405" kern="400000">
              <a:latin typeface="Deck-Semi-Bold"/>
            </a:endParaRPr>
          </a:p>
        </p:txBody>
      </p:sp>
      <p:sp>
        <p:nvSpPr>
          <p:cNvPr id="5" name="s15-t003">
            <a:extLst xmlns:a="http://schemas.openxmlformats.org/drawingml/2006/main">
              <a:ext uri="{FF2B5EF4-FFF2-40B4-BE49-F238E27FC236}">
                <a16:creationId xmlns:a16="http://schemas.microsoft.com/office/drawing/2014/main" id="{92D6395D-CE0D-4FB3-8796-A2D8A2C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89035"/>
            <a:ext cx="4480941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spc="-8" kern="400000">
                <a:solidFill>
                  <a:srgbClr val="E4E7DF"/>
                </a:solidFill>
                <a:latin typeface="Deck"/>
                <a:ea typeface="Deck"/>
                <a:cs typeface="Deck"/>
              </a:defRPr>
            </a:pPr>
            <a:r>
              <a:rPr sz="2400" b="0" i="0" kern="400000" spc="-8">
                <a:solidFill>
                  <a:srgbClr val="E4E7D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Make the next care step easier</a:t>
            </a:r>
            <a:endParaRPr lang="en-US" sz="2400" spc="-8" kern="400000">
              <a:latin typeface="Deck"/>
            </a:endParaRPr>
          </a:p>
        </p:txBody>
      </p:sp>
      <p:sp>
        <p:nvSpPr>
          <p:cNvPr id="6" name="s15-t004">
            <a:extLst xmlns:a="http://schemas.openxmlformats.org/drawingml/2006/main">
              <a:ext uri="{FF2B5EF4-FFF2-40B4-BE49-F238E27FC236}">
                <a16:creationId xmlns:a16="http://schemas.microsoft.com/office/drawing/2014/main" id="{08F66600-0106-426F-9845-3A656525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40139"/>
            <a:ext cx="4423943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spc="-13" kern="400000">
                <a:solidFill>
                  <a:srgbClr val="E4E7DF"/>
                </a:solidFill>
                <a:latin typeface="Deck"/>
                <a:ea typeface="Deck"/>
                <a:cs typeface="Deck"/>
              </a:defRPr>
            </a:pPr>
            <a:r>
              <a:rPr sz="2400" b="0" i="0" kern="400000" spc="-13">
                <a:solidFill>
                  <a:srgbClr val="E4E7D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to see, discuss and remember.</a:t>
            </a:r>
            <a:endParaRPr lang="en-US" sz="2400" spc="-13" kern="400000">
              <a:latin typeface="Deck"/>
            </a:endParaRPr>
          </a:p>
        </p:txBody>
      </p:sp>
      <p:sp>
        <p:nvSpPr>
          <p:cNvPr id="7" name="s15-t005">
            <a:extLst xmlns:a="http://schemas.openxmlformats.org/drawingml/2006/main">
              <a:ext uri="{FF2B5EF4-FFF2-40B4-BE49-F238E27FC236}">
                <a16:creationId xmlns:a16="http://schemas.microsoft.com/office/drawing/2014/main" id="{24342B14-62CB-49B8-9751-8ECD81CA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285880"/>
            <a:ext cx="3455203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5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5">
                <a:solidFill>
                  <a:srgbClr val="BCB9B4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KEEPING CARE IN VIEW</a:t>
            </a:r>
            <a:endParaRPr lang="en-US" sz="1725" spc="295" kern="400000">
              <a:latin typeface="Deck-Medium"/>
            </a:endParaRPr>
          </a:p>
        </p:txBody>
      </p:sp>
      <p:sp>
        <p:nvSpPr>
          <p:cNvPr id="8" name="s15-t006">
            <a:extLst xmlns:a="http://schemas.openxmlformats.org/drawingml/2006/main">
              <a:ext uri="{FF2B5EF4-FFF2-40B4-BE49-F238E27FC236}">
                <a16:creationId xmlns:a16="http://schemas.microsoft.com/office/drawing/2014/main" id="{CB81A6AE-907D-4128-A257-1D60478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491519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5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5">
                <a:solidFill>
                  <a:srgbClr val="A09F9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Intended value · Clinical outcomes have not been evaluated</a:t>
            </a:r>
            <a:endParaRPr lang="en-US" sz="1350" spc="5" kern="400000">
              <a:latin typeface="Deck"/>
            </a:endParaRPr>
          </a:p>
        </p:txBody>
      </p:sp>
      <p:sp>
        <p:nvSpPr>
          <p:cNvPr id="9" name="s15-t007">
            <a:extLst xmlns:a="http://schemas.openxmlformats.org/drawingml/2006/main">
              <a:ext uri="{FF2B5EF4-FFF2-40B4-BE49-F238E27FC236}">
                <a16:creationId xmlns:a16="http://schemas.microsoft.com/office/drawing/2014/main" id="{EE393BEC-88B9-41F3-874D-0161031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6725" y="9730387"/>
            <a:ext cx="395830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A8A29E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15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245392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16-source-rule-0">
            <a:extLst xmlns:a="http://schemas.openxmlformats.org/drawingml/2006/main">
              <a:ext uri="{FF2B5EF4-FFF2-40B4-BE49-F238E27FC236}">
                <a16:creationId xmlns:a16="http://schemas.microsoft.com/office/drawing/2014/main" id="{22960F29-F77A-4403-B497-36488B65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440" y="4400550"/>
            <a:ext cx="11096625" cy="2862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37968"/>
            </a:solidFill>
          </a:ln>
        </p:spPr>
      </p:sp>
      <p:sp>
        <p:nvSpPr>
          <p:cNvPr id="2" name="s16-source-rule-1">
            <a:extLst xmlns:a="http://schemas.openxmlformats.org/drawingml/2006/main">
              <a:ext uri="{FF2B5EF4-FFF2-40B4-BE49-F238E27FC236}">
                <a16:creationId xmlns:a16="http://schemas.microsoft.com/office/drawing/2014/main" id="{CA07A478-367C-493C-A390-A6A94545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9819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E41"/>
          </a:solidFill>
          <a:ln xmlns:a="http://schemas.openxmlformats.org/drawingml/2006/main" w="0">
            <a:noFill/>
          </a:ln>
        </p:spPr>
      </p:sp>
      <p:sp>
        <p:nvSpPr>
          <p:cNvPr id="3" name="s16-source-rule-2">
            <a:extLst xmlns:a="http://schemas.openxmlformats.org/drawingml/2006/main">
              <a:ext uri="{FF2B5EF4-FFF2-40B4-BE49-F238E27FC236}">
                <a16:creationId xmlns:a16="http://schemas.microsoft.com/office/drawing/2014/main" id="{53C6BA6D-6F3C-4D53-9D71-25B823C3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9819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E41"/>
          </a:solidFill>
          <a:ln xmlns:a="http://schemas.openxmlformats.org/drawingml/2006/main" w="0">
            <a:noFill/>
          </a:ln>
        </p:spPr>
      </p:sp>
      <p:sp>
        <p:nvSpPr>
          <p:cNvPr id="4" name="s16-source-rule-3">
            <a:extLst xmlns:a="http://schemas.openxmlformats.org/drawingml/2006/main">
              <a:ext uri="{FF2B5EF4-FFF2-40B4-BE49-F238E27FC236}">
                <a16:creationId xmlns:a16="http://schemas.microsoft.com/office/drawing/2014/main" id="{FA273BA4-98BE-48B0-97A9-57AC742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9819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E41"/>
          </a:solidFill>
          <a:ln xmlns:a="http://schemas.openxmlformats.org/drawingml/2006/main" w="0">
            <a:noFill/>
          </a:ln>
        </p:spPr>
      </p:sp>
      <p:sp>
        <p:nvSpPr>
          <p:cNvPr id="5" name="s16-t000">
            <a:extLst xmlns:a="http://schemas.openxmlformats.org/drawingml/2006/main">
              <a:ext uri="{FF2B5EF4-FFF2-40B4-BE49-F238E27FC236}">
                <a16:creationId xmlns:a16="http://schemas.microsoft.com/office/drawing/2014/main" id="{B4A81A28-0BB9-4E23-B304-73EBA874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5"/>
            <a:ext cx="3219231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1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1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TEAM ARCHITECTURE</a:t>
            </a:r>
            <a:endParaRPr lang="en-US" sz="1725" spc="291" kern="400000">
              <a:latin typeface="Deck-Medium"/>
            </a:endParaRPr>
          </a:p>
        </p:txBody>
      </p:sp>
      <p:sp>
        <p:nvSpPr>
          <p:cNvPr id="6" name="s16-t001">
            <a:extLst xmlns:a="http://schemas.openxmlformats.org/drawingml/2006/main">
              <a:ext uri="{FF2B5EF4-FFF2-40B4-BE49-F238E27FC236}">
                <a16:creationId xmlns:a16="http://schemas.microsoft.com/office/drawing/2014/main" id="{9DCFBEF4-98B0-4225-96D1-726C1D90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334987"/>
            <a:ext cx="5424164" cy="124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spc="-384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7950" b="0" i="0" kern="400000" spc="-384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Built around</a:t>
            </a:r>
            <a:endParaRPr lang="en-US" sz="7950" spc="-384" kern="400000">
              <a:latin typeface="Deck-Semi-Bold"/>
            </a:endParaRPr>
          </a:p>
        </p:txBody>
      </p:sp>
      <p:sp>
        <p:nvSpPr>
          <p:cNvPr id="7" name="s16-t002">
            <a:extLst xmlns:a="http://schemas.openxmlformats.org/drawingml/2006/main">
              <a:ext uri="{FF2B5EF4-FFF2-40B4-BE49-F238E27FC236}">
                <a16:creationId xmlns:a16="http://schemas.microsoft.com/office/drawing/2014/main" id="{E55438FD-E819-4A4E-8EB9-8E5DF460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071"/>
            <a:ext cx="3932187" cy="124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spc="-518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7950" b="0" i="0" kern="400000" spc="-518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Tencent.</a:t>
            </a:r>
            <a:endParaRPr lang="en-US" sz="7950" spc="-518" kern="400000">
              <a:latin typeface="Deck-Semi-Bold"/>
            </a:endParaRPr>
          </a:p>
        </p:txBody>
      </p:sp>
      <p:sp>
        <p:nvSpPr>
          <p:cNvPr id="8" name="s16-t003">
            <a:extLst xmlns:a="http://schemas.openxmlformats.org/drawingml/2006/main">
              <a:ext uri="{FF2B5EF4-FFF2-40B4-BE49-F238E27FC236}">
                <a16:creationId xmlns:a16="http://schemas.microsoft.com/office/drawing/2014/main" id="{ADACEBA6-6EC0-45DA-958A-CC59F39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49411"/>
            <a:ext cx="1614792" cy="222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spc="150" kern="400000">
                <a:solidFill>
                  <a:srgbClr val="8FA697"/>
                </a:solidFill>
                <a:latin typeface="Deck"/>
                <a:ea typeface="Deck"/>
                <a:cs typeface="Deck"/>
              </a:defRPr>
            </a:pPr>
            <a:r>
              <a:rPr sz="1425" b="0" i="0" kern="400000" spc="150">
                <a:solidFill>
                  <a:srgbClr val="8FA697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USER DEVICE</a:t>
            </a:r>
            <a:endParaRPr lang="en-US" sz="1425" spc="150" kern="400000">
              <a:latin typeface="Deck"/>
            </a:endParaRPr>
          </a:p>
        </p:txBody>
      </p:sp>
      <p:sp>
        <p:nvSpPr>
          <p:cNvPr id="9" name="s16-t004">
            <a:extLst xmlns:a="http://schemas.openxmlformats.org/drawingml/2006/main">
              <a:ext uri="{FF2B5EF4-FFF2-40B4-BE49-F238E27FC236}">
                <a16:creationId xmlns:a16="http://schemas.microsoft.com/office/drawing/2014/main" id="{532EBDAB-4FB1-4523-827D-3C64B355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57245"/>
            <a:ext cx="2287953" cy="503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spc="-99" kern="400000">
                <a:solidFill>
                  <a:srgbClr val="FAF6F0"/>
                </a:solidFill>
                <a:latin typeface="Deck-Bold"/>
                <a:ea typeface="Deck-Bold"/>
                <a:cs typeface="Deck-Bold"/>
              </a:defRPr>
            </a:pPr>
            <a:r>
              <a:rPr sz="3225" b="0" i="0" kern="400000" spc="-99">
                <a:solidFill>
                  <a:srgbClr val="FAF6F0">
                    <a:alpha val="100000"/>
                  </a:srgbClr>
                </a:solidFill>
                <a:latin typeface="Deck-Bold"/>
                <a:ea typeface="Deck-Bold"/>
                <a:cs typeface="Deck-Bold"/>
              </a:rPr>
              <a:t xml:space="preserve">CareBuddy</a:t>
            </a:r>
            <a:endParaRPr lang="en-US" sz="3225" spc="-99" kern="400000">
              <a:latin typeface="Deck-Bold"/>
            </a:endParaRPr>
          </a:p>
        </p:txBody>
      </p:sp>
      <p:sp>
        <p:nvSpPr>
          <p:cNvPr id="10" name="s16-t005">
            <a:extLst xmlns:a="http://schemas.openxmlformats.org/drawingml/2006/main">
              <a:ext uri="{FF2B5EF4-FFF2-40B4-BE49-F238E27FC236}">
                <a16:creationId xmlns:a16="http://schemas.microsoft.com/office/drawing/2014/main" id="{72EA4464-FE30-413D-B25C-5392811A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43398"/>
            <a:ext cx="3428524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spc="-4" kern="400000">
                <a:solidFill>
                  <a:srgbClr val="A9BAAF"/>
                </a:solidFill>
                <a:latin typeface="Deck"/>
                <a:ea typeface="Deck"/>
                <a:cs typeface="Deck"/>
              </a:defRPr>
            </a:pPr>
            <a:r>
              <a:rPr sz="1875" b="0" i="0" kern="400000" spc="-4">
                <a:solidFill>
                  <a:srgbClr val="A9BAA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Care circle · Routines · Health</a:t>
            </a:r>
            <a:endParaRPr lang="en-US" sz="1875" spc="-4" kern="400000">
              <a:latin typeface="Deck"/>
            </a:endParaRPr>
          </a:p>
        </p:txBody>
      </p:sp>
      <p:sp>
        <p:nvSpPr>
          <p:cNvPr id="11" name="s16-t006">
            <a:extLst xmlns:a="http://schemas.openxmlformats.org/drawingml/2006/main">
              <a:ext uri="{FF2B5EF4-FFF2-40B4-BE49-F238E27FC236}">
                <a16:creationId xmlns:a16="http://schemas.microsoft.com/office/drawing/2014/main" id="{78A4AD27-A54E-4365-A62D-B5B9BD6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395823"/>
            <a:ext cx="843201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spc="-3" kern="400000">
                <a:solidFill>
                  <a:srgbClr val="A9BAAF"/>
                </a:solidFill>
                <a:latin typeface="Deck"/>
                <a:ea typeface="Deck"/>
                <a:cs typeface="Deck"/>
              </a:defRPr>
            </a:pPr>
            <a:r>
              <a:rPr sz="1875" b="0" i="0" kern="400000" spc="-3">
                <a:solidFill>
                  <a:srgbClr val="A9BAAF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views</a:t>
            </a:r>
            <a:endParaRPr lang="en-US" sz="1875" spc="-3" kern="400000">
              <a:latin typeface="Deck"/>
            </a:endParaRPr>
          </a:p>
        </p:txBody>
      </p:sp>
      <p:sp>
        <p:nvSpPr>
          <p:cNvPr id="12" name="s16-t007">
            <a:extLst xmlns:a="http://schemas.openxmlformats.org/drawingml/2006/main">
              <a:ext uri="{FF2B5EF4-FFF2-40B4-BE49-F238E27FC236}">
                <a16:creationId xmlns:a16="http://schemas.microsoft.com/office/drawing/2014/main" id="{C6E0B514-B48F-44F5-8DE4-6C53316E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85165"/>
            <a:ext cx="726767" cy="714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spc="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4575" b="0" i="0" kern="400000" spc="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→</a:t>
            </a:r>
            <a:endParaRPr lang="en-US" sz="4575" spc="0" kern="400000">
              <a:latin typeface="Deck"/>
            </a:endParaRPr>
          </a:p>
        </p:txBody>
      </p:sp>
      <p:sp>
        <p:nvSpPr>
          <p:cNvPr id="13" name="s16-t008">
            <a:extLst xmlns:a="http://schemas.openxmlformats.org/drawingml/2006/main">
              <a:ext uri="{FF2B5EF4-FFF2-40B4-BE49-F238E27FC236}">
                <a16:creationId xmlns:a16="http://schemas.microsoft.com/office/drawing/2014/main" id="{0E17BAF0-8FC0-4A2B-8B1F-C3EF6817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52" y="4710110"/>
            <a:ext cx="5668137" cy="21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142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142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TENCENT CLOUD · INTENDED APPLICATION BOUNDARY</a:t>
            </a:r>
            <a:endParaRPr lang="en-US" sz="1350" spc="142" kern="400000">
              <a:latin typeface="Deck"/>
            </a:endParaRPr>
          </a:p>
        </p:txBody>
      </p:sp>
      <p:sp>
        <p:nvSpPr>
          <p:cNvPr id="14" name="s16-t009">
            <a:extLst xmlns:a="http://schemas.openxmlformats.org/drawingml/2006/main">
              <a:ext uri="{FF2B5EF4-FFF2-40B4-BE49-F238E27FC236}">
                <a16:creationId xmlns:a16="http://schemas.microsoft.com/office/drawing/2014/main" id="{97D40EAE-8425-4D92-8373-C4A6D5E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52" y="5249194"/>
            <a:ext cx="3150413" cy="410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spc="-96" kern="400000">
                <a:solidFill>
                  <a:srgbClr val="FAF6F0"/>
                </a:solidFill>
                <a:latin typeface="Deck-Bold"/>
                <a:ea typeface="Deck-Bold"/>
                <a:cs typeface="Deck-Bold"/>
              </a:defRPr>
            </a:pPr>
            <a:r>
              <a:rPr sz="2625" b="0" i="0" kern="400000" spc="-96">
                <a:solidFill>
                  <a:srgbClr val="FAF6F0">
                    <a:alpha val="100000"/>
                  </a:srgbClr>
                </a:solidFill>
                <a:latin typeface="Deck-Bold"/>
                <a:ea typeface="Deck-Bold"/>
                <a:cs typeface="Deck-Bold"/>
              </a:rPr>
              <a:t xml:space="preserve">CareBuddy services</a:t>
            </a:r>
            <a:endParaRPr lang="en-US" sz="2625" spc="-96" kern="400000">
              <a:latin typeface="Deck-Bold"/>
            </a:endParaRPr>
          </a:p>
        </p:txBody>
      </p:sp>
      <p:sp>
        <p:nvSpPr>
          <p:cNvPr id="15" name="s16-t010">
            <a:extLst xmlns:a="http://schemas.openxmlformats.org/drawingml/2006/main">
              <a:ext uri="{FF2B5EF4-FFF2-40B4-BE49-F238E27FC236}">
                <a16:creationId xmlns:a16="http://schemas.microsoft.com/office/drawing/2014/main" id="{60DADFBB-DE33-4EF3-B840-4D7A52F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52" y="5804700"/>
            <a:ext cx="2428342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14" kern="400000">
                <a:solidFill>
                  <a:srgbClr val="B8C7BD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14">
                <a:solidFill>
                  <a:srgbClr val="B8C7B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Identity, care records</a:t>
            </a:r>
            <a:endParaRPr lang="en-US" sz="1800" spc="-14" kern="400000">
              <a:latin typeface="Deck"/>
            </a:endParaRPr>
          </a:p>
        </p:txBody>
      </p:sp>
      <p:sp>
        <p:nvSpPr>
          <p:cNvPr id="16" name="s16-t011">
            <a:extLst xmlns:a="http://schemas.openxmlformats.org/drawingml/2006/main">
              <a:ext uri="{FF2B5EF4-FFF2-40B4-BE49-F238E27FC236}">
                <a16:creationId xmlns:a16="http://schemas.microsoft.com/office/drawing/2014/main" id="{E7F2DE51-77BF-4CB5-8C81-182628D0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52" y="6143028"/>
            <a:ext cx="2416226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1" kern="400000">
                <a:solidFill>
                  <a:srgbClr val="B8C7BD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1">
                <a:solidFill>
                  <a:srgbClr val="B8C7B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and action validation</a:t>
            </a:r>
            <a:endParaRPr lang="en-US" sz="1800" spc="-1" kern="400000">
              <a:latin typeface="Deck"/>
            </a:endParaRPr>
          </a:p>
        </p:txBody>
      </p:sp>
      <p:sp>
        <p:nvSpPr>
          <p:cNvPr id="17" name="s16-t012">
            <a:extLst xmlns:a="http://schemas.openxmlformats.org/drawingml/2006/main">
              <a:ext uri="{FF2B5EF4-FFF2-40B4-BE49-F238E27FC236}">
                <a16:creationId xmlns:a16="http://schemas.microsoft.com/office/drawing/2014/main" id="{6F35B3C2-100A-4813-8D31-46C7C101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503" y="5781276"/>
            <a:ext cx="614620" cy="5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spc="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3525" b="0" i="0" kern="400000" spc="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→</a:t>
            </a:r>
            <a:endParaRPr lang="en-US" sz="3525" spc="0" kern="400000">
              <a:latin typeface="Deck"/>
            </a:endParaRPr>
          </a:p>
        </p:txBody>
      </p:sp>
      <p:sp>
        <p:nvSpPr>
          <p:cNvPr id="18" name="s16-t013">
            <a:extLst xmlns:a="http://schemas.openxmlformats.org/drawingml/2006/main">
              <a:ext uri="{FF2B5EF4-FFF2-40B4-BE49-F238E27FC236}">
                <a16:creationId xmlns:a16="http://schemas.microsoft.com/office/drawing/2014/main" id="{45F539DE-8365-4A02-9EF6-5DA68FC8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726" y="5249194"/>
            <a:ext cx="2953083" cy="410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spc="-147" kern="400000">
                <a:solidFill>
                  <a:srgbClr val="FAF6F0"/>
                </a:solidFill>
                <a:latin typeface="Deck-Bold"/>
                <a:ea typeface="Deck-Bold"/>
                <a:cs typeface="Deck-Bold"/>
              </a:defRPr>
            </a:pPr>
            <a:r>
              <a:rPr sz="2625" b="0" i="0" kern="400000" spc="-147">
                <a:solidFill>
                  <a:srgbClr val="FAF6F0">
                    <a:alpha val="100000"/>
                  </a:srgbClr>
                </a:solidFill>
                <a:latin typeface="Deck-Bold"/>
                <a:ea typeface="Deck-Bold"/>
                <a:cs typeface="Deck-Bold"/>
              </a:rPr>
              <a:t xml:space="preserve">Tencent TokenHub</a:t>
            </a:r>
            <a:endParaRPr lang="en-US" sz="2625" spc="-147" kern="400000">
              <a:latin typeface="Deck-Bold"/>
            </a:endParaRPr>
          </a:p>
        </p:txBody>
      </p:sp>
      <p:sp>
        <p:nvSpPr>
          <p:cNvPr id="19" name="s16-t014">
            <a:extLst xmlns:a="http://schemas.openxmlformats.org/drawingml/2006/main">
              <a:ext uri="{FF2B5EF4-FFF2-40B4-BE49-F238E27FC236}">
                <a16:creationId xmlns:a16="http://schemas.microsoft.com/office/drawing/2014/main" id="{D02F9E11-1014-49CA-9D75-86257E9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726" y="5804700"/>
            <a:ext cx="1921993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6" kern="400000">
                <a:solidFill>
                  <a:srgbClr val="B8C7BD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6">
                <a:solidFill>
                  <a:srgbClr val="B8C7B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Model inference</a:t>
            </a:r>
            <a:endParaRPr lang="en-US" sz="1800" spc="-6" kern="400000">
              <a:latin typeface="Deck"/>
            </a:endParaRPr>
          </a:p>
        </p:txBody>
      </p:sp>
      <p:sp>
        <p:nvSpPr>
          <p:cNvPr id="20" name="s16-t015">
            <a:extLst xmlns:a="http://schemas.openxmlformats.org/drawingml/2006/main">
              <a:ext uri="{FF2B5EF4-FFF2-40B4-BE49-F238E27FC236}">
                <a16:creationId xmlns:a16="http://schemas.microsoft.com/office/drawing/2014/main" id="{A58A99A3-4781-4EC0-AD4D-605C2267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726" y="6143028"/>
            <a:ext cx="1258367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8" kern="400000">
                <a:solidFill>
                  <a:srgbClr val="B8C7BD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8">
                <a:solidFill>
                  <a:srgbClr val="B8C7B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for Buddy</a:t>
            </a:r>
            <a:endParaRPr lang="en-US" sz="1800" spc="-8" kern="400000">
              <a:latin typeface="Deck"/>
            </a:endParaRPr>
          </a:p>
        </p:txBody>
      </p:sp>
      <p:sp>
        <p:nvSpPr>
          <p:cNvPr id="21" name="s16-t016">
            <a:extLst xmlns:a="http://schemas.openxmlformats.org/drawingml/2006/main">
              <a:ext uri="{FF2B5EF4-FFF2-40B4-BE49-F238E27FC236}">
                <a16:creationId xmlns:a16="http://schemas.microsoft.com/office/drawing/2014/main" id="{ADA98C3B-8274-45CC-AC35-C5F19473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220076"/>
            <a:ext cx="2799074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spc="-2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025" b="0" i="0" kern="400000" spc="-2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Built with CodeBuddy</a:t>
            </a:r>
            <a:endParaRPr lang="en-US" sz="2025" spc="-2" kern="400000">
              <a:latin typeface="Deck-Medium"/>
            </a:endParaRPr>
          </a:p>
        </p:txBody>
      </p:sp>
      <p:sp>
        <p:nvSpPr>
          <p:cNvPr id="22" name="s16-t017">
            <a:extLst xmlns:a="http://schemas.openxmlformats.org/drawingml/2006/main">
              <a:ext uri="{FF2B5EF4-FFF2-40B4-BE49-F238E27FC236}">
                <a16:creationId xmlns:a16="http://schemas.microsoft.com/office/drawing/2014/main" id="{5098B34F-E52C-414E-B460-ADD2225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612612"/>
            <a:ext cx="2447411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0" kern="400000">
                <a:solidFill>
                  <a:srgbClr val="9EB0A4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0">
                <a:solidFill>
                  <a:srgbClr val="9EB0A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Development workflow</a:t>
            </a:r>
            <a:endParaRPr lang="en-US" sz="1650" spc="0" kern="400000">
              <a:latin typeface="Deck"/>
            </a:endParaRPr>
          </a:p>
        </p:txBody>
      </p:sp>
      <p:sp>
        <p:nvSpPr>
          <p:cNvPr id="23" name="s16-t018">
            <a:extLst xmlns:a="http://schemas.openxmlformats.org/drawingml/2006/main">
              <a:ext uri="{FF2B5EF4-FFF2-40B4-BE49-F238E27FC236}">
                <a16:creationId xmlns:a16="http://schemas.microsoft.com/office/drawing/2014/main" id="{7FD7A3A2-674C-4350-B933-52797AE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220076"/>
            <a:ext cx="3118742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spc="-9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025" b="0" i="0" kern="400000" spc="-9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Review before execution</a:t>
            </a:r>
            <a:endParaRPr lang="en-US" sz="2025" spc="-9" kern="400000">
              <a:latin typeface="Deck-Medium"/>
            </a:endParaRPr>
          </a:p>
        </p:txBody>
      </p:sp>
      <p:sp>
        <p:nvSpPr>
          <p:cNvPr id="24" name="s16-t019">
            <a:extLst xmlns:a="http://schemas.openxmlformats.org/drawingml/2006/main">
              <a:ext uri="{FF2B5EF4-FFF2-40B4-BE49-F238E27FC236}">
                <a16:creationId xmlns:a16="http://schemas.microsoft.com/office/drawing/2014/main" id="{ECEDE7B1-5A5E-4FF6-ACA9-D16F7E3E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612612"/>
            <a:ext cx="3755631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-2" kern="400000">
                <a:solidFill>
                  <a:srgbClr val="9EB0A4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-2">
                <a:solidFill>
                  <a:srgbClr val="9EB0A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AI proposals pass application checks</a:t>
            </a:r>
            <a:endParaRPr lang="en-US" sz="1650" spc="-2" kern="400000">
              <a:latin typeface="Deck"/>
            </a:endParaRPr>
          </a:p>
        </p:txBody>
      </p:sp>
      <p:sp>
        <p:nvSpPr>
          <p:cNvPr id="25" name="s16-t020">
            <a:extLst xmlns:a="http://schemas.openxmlformats.org/drawingml/2006/main">
              <a:ext uri="{FF2B5EF4-FFF2-40B4-BE49-F238E27FC236}">
                <a16:creationId xmlns:a16="http://schemas.microsoft.com/office/drawing/2014/main" id="{10D14627-966E-419D-AEDD-52FF14F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8220076"/>
            <a:ext cx="2968809" cy="31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spc="-6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025" b="0" i="0" kern="400000" spc="-6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External care providers</a:t>
            </a:r>
            <a:endParaRPr lang="en-US" sz="2025" spc="-6" kern="400000">
              <a:latin typeface="Deck-Medium"/>
            </a:endParaRPr>
          </a:p>
        </p:txBody>
      </p:sp>
      <p:sp>
        <p:nvSpPr>
          <p:cNvPr id="26" name="s16-t021">
            <a:extLst xmlns:a="http://schemas.openxmlformats.org/drawingml/2006/main">
              <a:ext uri="{FF2B5EF4-FFF2-40B4-BE49-F238E27FC236}">
                <a16:creationId xmlns:a16="http://schemas.microsoft.com/office/drawing/2014/main" id="{AD0C9F9F-F7F0-44CC-9396-33D59128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8612612"/>
            <a:ext cx="3661334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-4" kern="400000">
                <a:solidFill>
                  <a:srgbClr val="9EB0A4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-4">
                <a:solidFill>
                  <a:srgbClr val="9EB0A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Separate boundary; explicit handoff</a:t>
            </a:r>
            <a:endParaRPr lang="en-US" sz="1650" spc="-4" kern="400000">
              <a:latin typeface="Deck"/>
            </a:endParaRPr>
          </a:p>
        </p:txBody>
      </p:sp>
      <p:sp>
        <p:nvSpPr>
          <p:cNvPr id="27" name="s16-t022">
            <a:extLst xmlns:a="http://schemas.openxmlformats.org/drawingml/2006/main">
              <a:ext uri="{FF2B5EF4-FFF2-40B4-BE49-F238E27FC236}">
                <a16:creationId xmlns:a16="http://schemas.microsoft.com/office/drawing/2014/main" id="{56C098F4-AEB3-4409-9D0A-A6FD2D0F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09096"/>
            <a:ext cx="8431768" cy="222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spc="-5" kern="400000">
                <a:solidFill>
                  <a:srgbClr val="97A99D"/>
                </a:solidFill>
                <a:latin typeface="Deck"/>
                <a:ea typeface="Deck"/>
                <a:cs typeface="Deck"/>
              </a:defRPr>
            </a:pPr>
            <a:r>
              <a:rPr sz="1425" b="0" i="0" kern="400000" spc="-5">
                <a:solidFill>
                  <a:srgbClr val="97A9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Team-stated Tencent stack. Service-level deployment and data-flow evidence still need verification.</a:t>
            </a:r>
            <a:endParaRPr lang="en-US" sz="1425" spc="-5" kern="400000">
              <a:latin typeface="Deck"/>
            </a:endParaRPr>
          </a:p>
        </p:txBody>
      </p:sp>
      <p:sp>
        <p:nvSpPr>
          <p:cNvPr id="28" name="s16-t023">
            <a:extLst xmlns:a="http://schemas.openxmlformats.org/drawingml/2006/main">
              <a:ext uri="{FF2B5EF4-FFF2-40B4-BE49-F238E27FC236}">
                <a16:creationId xmlns:a16="http://schemas.microsoft.com/office/drawing/2014/main" id="{A264D294-17F8-4F9D-91A1-AB97B2EA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1413" y="9730387"/>
            <a:ext cx="40114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16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3760384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17-source-rule-0">
            <a:extLst xmlns:a="http://schemas.openxmlformats.org/drawingml/2006/main">
              <a:ext uri="{FF2B5EF4-FFF2-40B4-BE49-F238E27FC236}">
                <a16:creationId xmlns:a16="http://schemas.microsoft.com/office/drawing/2014/main" id="{D91A3D7C-2EB0-4B3D-8DA4-9354A517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4555"/>
            <a:ext cx="826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BC2"/>
          </a:solidFill>
          <a:ln xmlns:a="http://schemas.openxmlformats.org/drawingml/2006/main" w="0">
            <a:noFill/>
          </a:ln>
        </p:spPr>
      </p:sp>
      <p:sp>
        <p:nvSpPr>
          <p:cNvPr id="2" name="s17-source-rule-1">
            <a:extLst xmlns:a="http://schemas.openxmlformats.org/drawingml/2006/main">
              <a:ext uri="{FF2B5EF4-FFF2-40B4-BE49-F238E27FC236}">
                <a16:creationId xmlns:a16="http://schemas.microsoft.com/office/drawing/2014/main" id="{D3E4D45F-C8C3-4E3C-AF20-16959D98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02186"/>
            <a:ext cx="826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BC2"/>
          </a:solidFill>
          <a:ln xmlns:a="http://schemas.openxmlformats.org/drawingml/2006/main" w="0">
            <a:noFill/>
          </a:ln>
        </p:spPr>
      </p:sp>
      <p:sp>
        <p:nvSpPr>
          <p:cNvPr id="3" name="s17-source-rule-2">
            <a:extLst xmlns:a="http://schemas.openxmlformats.org/drawingml/2006/main">
              <a:ext uri="{FF2B5EF4-FFF2-40B4-BE49-F238E27FC236}">
                <a16:creationId xmlns:a16="http://schemas.microsoft.com/office/drawing/2014/main" id="{97D1BE0D-CE2C-4A2A-9DC0-B736F032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7164532"/>
            <a:ext cx="826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BC2"/>
          </a:solidFill>
          <a:ln xmlns:a="http://schemas.openxmlformats.org/drawingml/2006/main" w="0">
            <a:noFill/>
          </a:ln>
        </p:spPr>
      </p:sp>
      <p:sp>
        <p:nvSpPr>
          <p:cNvPr id="4" name="s17-t000">
            <a:extLst xmlns:a="http://schemas.openxmlformats.org/drawingml/2006/main">
              <a:ext uri="{FF2B5EF4-FFF2-40B4-BE49-F238E27FC236}">
                <a16:creationId xmlns:a16="http://schemas.microsoft.com/office/drawing/2014/main" id="{0EC86735-B379-4EF0-A253-D62EFF68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00130"/>
            <a:ext cx="2670867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6" kern="400000">
                <a:solidFill>
                  <a:srgbClr val="3A3745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6">
                <a:solidFill>
                  <a:srgbClr val="6C6971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TRUST BY DESIGN</a:t>
            </a:r>
            <a:endParaRPr lang="en-US" sz="1725" spc="286" kern="400000">
              <a:latin typeface="Deck-Medium"/>
            </a:endParaRPr>
          </a:p>
        </p:txBody>
      </p:sp>
      <p:sp>
        <p:nvSpPr>
          <p:cNvPr id="5" name="s17-t001">
            <a:extLst xmlns:a="http://schemas.openxmlformats.org/drawingml/2006/main">
              <a:ext uri="{FF2B5EF4-FFF2-40B4-BE49-F238E27FC236}">
                <a16:creationId xmlns:a16="http://schemas.microsoft.com/office/drawing/2014/main" id="{262B6CFC-07BD-427C-B7E9-87568B0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6966"/>
            <a:ext cx="5276164" cy="1288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spc="-388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8250" b="0" i="0" kern="400000" spc="-388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Care needs</a:t>
            </a:r>
            <a:endParaRPr lang="en-US" sz="8250" spc="-388" kern="400000">
              <a:latin typeface="Deck-Semi-Bold"/>
            </a:endParaRPr>
          </a:p>
        </p:txBody>
      </p:sp>
      <p:sp>
        <p:nvSpPr>
          <p:cNvPr id="6" name="s17-t002">
            <a:extLst xmlns:a="http://schemas.openxmlformats.org/drawingml/2006/main">
              <a:ext uri="{FF2B5EF4-FFF2-40B4-BE49-F238E27FC236}">
                <a16:creationId xmlns:a16="http://schemas.microsoft.com/office/drawing/2014/main" id="{CADC908E-4DE4-4E68-858D-05CF5671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1865"/>
            <a:ext cx="7822902" cy="1288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spc="-380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8250" b="0" i="0" kern="400000" spc="-380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clear boundaries.</a:t>
            </a:r>
            <a:endParaRPr lang="en-US" sz="8250" spc="-380" kern="400000">
              <a:latin typeface="Deck-Semi-Bold"/>
            </a:endParaRPr>
          </a:p>
        </p:txBody>
      </p:sp>
      <p:sp>
        <p:nvSpPr>
          <p:cNvPr id="7" name="s17-t003">
            <a:extLst xmlns:a="http://schemas.openxmlformats.org/drawingml/2006/main">
              <a:ext uri="{FF2B5EF4-FFF2-40B4-BE49-F238E27FC236}">
                <a16:creationId xmlns:a16="http://schemas.microsoft.com/office/drawing/2014/main" id="{E0BFB2D5-235B-4A17-B47C-2A326D9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2"/>
            <a:ext cx="3123428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spc="-81" kern="400000">
                <a:solidFill>
                  <a:srgbClr val="365E4B"/>
                </a:solidFill>
                <a:latin typeface="Deck-Bold"/>
                <a:ea typeface="Deck-Bold"/>
                <a:cs typeface="Deck-Bold"/>
              </a:defRPr>
            </a:pPr>
            <a:r>
              <a:rPr sz="2775" b="0" i="0" kern="400000" spc="-81">
                <a:solidFill>
                  <a:srgbClr val="365E4B">
                    <a:alpha val="100000"/>
                  </a:srgbClr>
                </a:solidFill>
                <a:latin typeface="Deck-Bold"/>
                <a:ea typeface="Deck-Bold"/>
                <a:cs typeface="Deck-Bold"/>
              </a:rPr>
              <a:t xml:space="preserve">Permissioned care</a:t>
            </a:r>
            <a:endParaRPr lang="en-US" sz="2775" spc="-81" kern="400000">
              <a:latin typeface="Deck-Bold"/>
            </a:endParaRPr>
          </a:p>
        </p:txBody>
      </p:sp>
      <p:sp>
        <p:nvSpPr>
          <p:cNvPr id="8" name="s17-t004">
            <a:extLst xmlns:a="http://schemas.openxmlformats.org/drawingml/2006/main">
              <a:ext uri="{FF2B5EF4-FFF2-40B4-BE49-F238E27FC236}">
                <a16:creationId xmlns:a16="http://schemas.microsoft.com/office/drawing/2014/main" id="{044297E5-FCB2-4127-8369-2E7989B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6162"/>
            <a:ext cx="6647459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spc="-5" kern="400000">
                <a:solidFill>
                  <a:srgbClr val="747079"/>
                </a:solidFill>
                <a:latin typeface="Deck"/>
                <a:ea typeface="Deck"/>
                <a:cs typeface="Deck"/>
              </a:defRPr>
            </a:pPr>
            <a:r>
              <a:rPr sz="2100" b="0" i="0" kern="400000" spc="-5">
                <a:solidFill>
                  <a:srgbClr val="747079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Family visibility should follow explicit access choices.</a:t>
            </a:r>
            <a:endParaRPr lang="en-US" sz="2100" spc="-5" kern="400000">
              <a:latin typeface="Deck"/>
            </a:endParaRPr>
          </a:p>
        </p:txBody>
      </p:sp>
      <p:sp>
        <p:nvSpPr>
          <p:cNvPr id="9" name="s17-t005">
            <a:extLst xmlns:a="http://schemas.openxmlformats.org/drawingml/2006/main">
              <a:ext uri="{FF2B5EF4-FFF2-40B4-BE49-F238E27FC236}">
                <a16:creationId xmlns:a16="http://schemas.microsoft.com/office/drawing/2014/main" id="{8CF8A536-F304-4111-9D10-95FDEDE7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01252"/>
            <a:ext cx="2524658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spc="-74" kern="400000">
                <a:solidFill>
                  <a:srgbClr val="365E4B"/>
                </a:solidFill>
                <a:latin typeface="Deck-Bold"/>
                <a:ea typeface="Deck-Bold"/>
                <a:cs typeface="Deck-Bold"/>
              </a:defRPr>
            </a:pPr>
            <a:r>
              <a:rPr sz="2775" b="0" i="0" kern="400000" spc="-74">
                <a:solidFill>
                  <a:srgbClr val="365E4B">
                    <a:alpha val="100000"/>
                  </a:srgbClr>
                </a:solidFill>
                <a:latin typeface="Deck-Bold"/>
                <a:ea typeface="Deck-Bold"/>
                <a:cs typeface="Deck-Bold"/>
              </a:rPr>
              <a:t xml:space="preserve">Visible actions</a:t>
            </a:r>
            <a:endParaRPr lang="en-US" sz="2775" spc="-74" kern="400000">
              <a:latin typeface="Deck-Bold"/>
            </a:endParaRPr>
          </a:p>
        </p:txBody>
      </p:sp>
      <p:sp>
        <p:nvSpPr>
          <p:cNvPr id="10" name="s17-t006">
            <a:extLst xmlns:a="http://schemas.openxmlformats.org/drawingml/2006/main">
              <a:ext uri="{FF2B5EF4-FFF2-40B4-BE49-F238E27FC236}">
                <a16:creationId xmlns:a16="http://schemas.microsoft.com/office/drawing/2014/main" id="{CB6AF82D-0399-408A-9400-705B0139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83792"/>
            <a:ext cx="8457286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spc="-5" kern="400000">
                <a:solidFill>
                  <a:srgbClr val="747079"/>
                </a:solidFill>
                <a:latin typeface="Deck"/>
                <a:ea typeface="Deck"/>
                <a:cs typeface="Deck"/>
              </a:defRPr>
            </a:pPr>
            <a:r>
              <a:rPr sz="2100" b="0" i="0" kern="400000" spc="-5">
                <a:solidFill>
                  <a:srgbClr val="747079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Let people review consequential proposals before saving or sharing.</a:t>
            </a:r>
            <a:endParaRPr lang="en-US" sz="2100" spc="-5" kern="400000">
              <a:latin typeface="Deck"/>
            </a:endParaRPr>
          </a:p>
        </p:txBody>
      </p:sp>
      <p:sp>
        <p:nvSpPr>
          <p:cNvPr id="11" name="s17-t007">
            <a:extLst xmlns:a="http://schemas.openxmlformats.org/drawingml/2006/main">
              <a:ext uri="{FF2B5EF4-FFF2-40B4-BE49-F238E27FC236}">
                <a16:creationId xmlns:a16="http://schemas.microsoft.com/office/drawing/2014/main" id="{757B3C16-086B-4DB4-8AFA-1B5CB793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68882"/>
            <a:ext cx="2332234" cy="43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spc="-75" kern="400000">
                <a:solidFill>
                  <a:srgbClr val="365E4B"/>
                </a:solidFill>
                <a:latin typeface="Deck-Bold"/>
                <a:ea typeface="Deck-Bold"/>
                <a:cs typeface="Deck-Bold"/>
              </a:defRPr>
            </a:pPr>
            <a:r>
              <a:rPr sz="2775" b="0" i="0" kern="400000" spc="-75">
                <a:solidFill>
                  <a:srgbClr val="365E4B">
                    <a:alpha val="100000"/>
                  </a:srgbClr>
                </a:solidFill>
                <a:latin typeface="Deck-Bold"/>
                <a:ea typeface="Deck-Bold"/>
                <a:cs typeface="Deck-Bold"/>
              </a:rPr>
              <a:t xml:space="preserve">Clinical limits</a:t>
            </a:r>
            <a:endParaRPr lang="en-US" sz="2775" spc="-75" kern="400000">
              <a:latin typeface="Deck-Bold"/>
            </a:endParaRPr>
          </a:p>
        </p:txBody>
      </p:sp>
      <p:sp>
        <p:nvSpPr>
          <p:cNvPr id="12" name="s17-t008">
            <a:extLst xmlns:a="http://schemas.openxmlformats.org/drawingml/2006/main">
              <a:ext uri="{FF2B5EF4-FFF2-40B4-BE49-F238E27FC236}">
                <a16:creationId xmlns:a16="http://schemas.microsoft.com/office/drawing/2014/main" id="{7A62F26A-AACB-410D-8E71-CACEB67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51423"/>
            <a:ext cx="7495832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spc="-6" kern="400000">
                <a:solidFill>
                  <a:srgbClr val="747079"/>
                </a:solidFill>
                <a:latin typeface="Deck"/>
                <a:ea typeface="Deck"/>
                <a:cs typeface="Deck"/>
              </a:defRPr>
            </a:pPr>
            <a:r>
              <a:rPr sz="2100" b="0" i="0" kern="400000" spc="-6">
                <a:solidFill>
                  <a:srgbClr val="747079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Support routines and preparation. Refer clinical decisions to</a:t>
            </a:r>
            <a:endParaRPr lang="en-US" sz="2100" spc="-6" kern="400000">
              <a:latin typeface="Deck"/>
            </a:endParaRPr>
          </a:p>
        </p:txBody>
      </p:sp>
      <p:sp>
        <p:nvSpPr>
          <p:cNvPr id="13" name="s17-t009">
            <a:extLst xmlns:a="http://schemas.openxmlformats.org/drawingml/2006/main">
              <a:ext uri="{FF2B5EF4-FFF2-40B4-BE49-F238E27FC236}">
                <a16:creationId xmlns:a16="http://schemas.microsoft.com/office/drawing/2014/main" id="{53FC93CC-FD21-4904-9D7B-2EB77895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46139"/>
            <a:ext cx="1951406" cy="328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spc="-1" kern="400000">
                <a:solidFill>
                  <a:srgbClr val="747079"/>
                </a:solidFill>
                <a:latin typeface="Deck"/>
                <a:ea typeface="Deck"/>
                <a:cs typeface="Deck"/>
              </a:defRPr>
            </a:pPr>
            <a:r>
              <a:rPr sz="2100" b="0" i="0" kern="400000" spc="-1">
                <a:solidFill>
                  <a:srgbClr val="747079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qualified care.</a:t>
            </a:r>
            <a:endParaRPr lang="en-US" sz="2100" spc="-1" kern="400000">
              <a:latin typeface="Deck"/>
            </a:endParaRPr>
          </a:p>
        </p:txBody>
      </p:sp>
      <p:sp>
        <p:nvSpPr>
          <p:cNvPr id="14" name="s17-t010">
            <a:extLst xmlns:a="http://schemas.openxmlformats.org/drawingml/2006/main">
              <a:ext uri="{FF2B5EF4-FFF2-40B4-BE49-F238E27FC236}">
                <a16:creationId xmlns:a16="http://schemas.microsoft.com/office/drawing/2014/main" id="{D60EACB9-007C-4CB4-A4AA-F1731100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885754"/>
            <a:ext cx="2161022" cy="246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spc="218" kern="400000">
                <a:solidFill>
                  <a:srgbClr val="858174"/>
                </a:solidFill>
                <a:latin typeface="Deck"/>
                <a:ea typeface="Deck"/>
                <a:cs typeface="Deck"/>
              </a:defRPr>
            </a:pPr>
            <a:r>
              <a:rPr sz="1575" b="0" i="0" kern="400000" spc="218">
                <a:solidFill>
                  <a:srgbClr val="85817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THE TRADE-OFF</a:t>
            </a:r>
            <a:endParaRPr lang="en-US" sz="1575" spc="218" kern="400000">
              <a:latin typeface="Deck"/>
            </a:endParaRPr>
          </a:p>
        </p:txBody>
      </p:sp>
      <p:sp>
        <p:nvSpPr>
          <p:cNvPr id="15" name="s17-t011">
            <a:extLst xmlns:a="http://schemas.openxmlformats.org/drawingml/2006/main">
              <a:ext uri="{FF2B5EF4-FFF2-40B4-BE49-F238E27FC236}">
                <a16:creationId xmlns:a16="http://schemas.microsoft.com/office/drawing/2014/main" id="{02B98E1B-F4C2-4726-8FEE-DB13AE15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368733"/>
            <a:ext cx="1956245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spc="-95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3000" b="0" i="0" kern="400000" spc="-95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Less silent</a:t>
            </a:r>
            <a:endParaRPr lang="en-US" sz="3000" spc="-95" kern="400000">
              <a:latin typeface="Deck"/>
            </a:endParaRPr>
          </a:p>
        </p:txBody>
      </p:sp>
      <p:sp>
        <p:nvSpPr>
          <p:cNvPr id="16" name="s17-t012">
            <a:extLst xmlns:a="http://schemas.openxmlformats.org/drawingml/2006/main">
              <a:ext uri="{FF2B5EF4-FFF2-40B4-BE49-F238E27FC236}">
                <a16:creationId xmlns:a16="http://schemas.microsoft.com/office/drawing/2014/main" id="{79F53716-6AF1-4B27-9090-19A5307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856413"/>
            <a:ext cx="2227898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spc="-94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3000" b="0" i="0" kern="400000" spc="-94">
                <a:solidFill>
                  <a:srgbClr val="3A3745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automation.</a:t>
            </a:r>
            <a:endParaRPr lang="en-US" sz="3000" spc="-94" kern="400000">
              <a:latin typeface="Deck"/>
            </a:endParaRPr>
          </a:p>
        </p:txBody>
      </p:sp>
      <p:sp>
        <p:nvSpPr>
          <p:cNvPr id="17" name="s17-t013">
            <a:extLst xmlns:a="http://schemas.openxmlformats.org/drawingml/2006/main">
              <a:ext uri="{FF2B5EF4-FFF2-40B4-BE49-F238E27FC236}">
                <a16:creationId xmlns:a16="http://schemas.microsoft.com/office/drawing/2014/main" id="{7C2F4DD5-65B3-4175-AC37-28C985D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344093"/>
            <a:ext cx="36769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spc="-98" kern="400000">
                <a:solidFill>
                  <a:srgbClr val="4F7A66"/>
                </a:solidFill>
                <a:latin typeface="Deck-Medium"/>
                <a:ea typeface="Deck-Medium"/>
                <a:cs typeface="Deck-Medium"/>
              </a:defRPr>
            </a:pPr>
            <a:r>
              <a:rPr sz="3000" b="0" i="0" kern="400000" spc="-98">
                <a:solidFill>
                  <a:srgbClr val="4F7A6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More human control.</a:t>
            </a:r>
            <a:endParaRPr lang="en-US" sz="3000" spc="-98" kern="400000">
              <a:latin typeface="Deck-Medium"/>
            </a:endParaRPr>
          </a:p>
        </p:txBody>
      </p:sp>
      <p:sp>
        <p:nvSpPr>
          <p:cNvPr id="18" name="s17-t014">
            <a:extLst xmlns:a="http://schemas.openxmlformats.org/drawingml/2006/main">
              <a:ext uri="{FF2B5EF4-FFF2-40B4-BE49-F238E27FC236}">
                <a16:creationId xmlns:a16="http://schemas.microsoft.com/office/drawing/2014/main" id="{73C946F1-0B8B-49E8-85AC-3E0226A6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4891735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2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2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Production design requirements · Validation remains ahead</a:t>
            </a:r>
            <a:endParaRPr lang="en-US" sz="1350" spc="2" kern="400000">
              <a:latin typeface="Deck"/>
            </a:endParaRPr>
          </a:p>
        </p:txBody>
      </p:sp>
      <p:sp>
        <p:nvSpPr>
          <p:cNvPr id="19" name="s17-t015">
            <a:extLst xmlns:a="http://schemas.openxmlformats.org/drawingml/2006/main">
              <a:ext uri="{FF2B5EF4-FFF2-40B4-BE49-F238E27FC236}">
                <a16:creationId xmlns:a16="http://schemas.microsoft.com/office/drawing/2014/main" id="{FE14FC15-0545-43FA-A760-645A42F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6668" y="9730387"/>
            <a:ext cx="385886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17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609523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18-source-rule-0">
            <a:extLst xmlns:a="http://schemas.openxmlformats.org/drawingml/2006/main">
              <a:ext uri="{FF2B5EF4-FFF2-40B4-BE49-F238E27FC236}">
                <a16:creationId xmlns:a16="http://schemas.microsoft.com/office/drawing/2014/main" id="{4478532B-DD9C-4575-8BA5-7CC3887A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7467"/>
            <a:ext cx="8391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E3E"/>
          </a:solidFill>
          <a:ln xmlns:a="http://schemas.openxmlformats.org/drawingml/2006/main" w="0">
            <a:noFill/>
          </a:ln>
        </p:spPr>
      </p:sp>
      <p:sp>
        <p:nvSpPr>
          <p:cNvPr id="2" name="s18-source-rule-1">
            <a:extLst xmlns:a="http://schemas.openxmlformats.org/drawingml/2006/main">
              <a:ext uri="{FF2B5EF4-FFF2-40B4-BE49-F238E27FC236}">
                <a16:creationId xmlns:a16="http://schemas.microsoft.com/office/drawing/2014/main" id="{A6D84AD9-DE92-414D-BB44-14D9B1C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73834"/>
            <a:ext cx="8391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E3E"/>
          </a:solidFill>
          <a:ln xmlns:a="http://schemas.openxmlformats.org/drawingml/2006/main" w="0">
            <a:noFill/>
          </a:ln>
        </p:spPr>
      </p:sp>
      <p:sp>
        <p:nvSpPr>
          <p:cNvPr id="3" name="s18-source-rule-2">
            <a:extLst xmlns:a="http://schemas.openxmlformats.org/drawingml/2006/main">
              <a:ext uri="{FF2B5EF4-FFF2-40B4-BE49-F238E27FC236}">
                <a16:creationId xmlns:a16="http://schemas.microsoft.com/office/drawing/2014/main" id="{0F19C7E4-BA89-49B4-A252-3D4EB2D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20201"/>
            <a:ext cx="8391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E3E"/>
          </a:solidFill>
          <a:ln xmlns:a="http://schemas.openxmlformats.org/drawingml/2006/main" w="0">
            <a:noFill/>
          </a:ln>
        </p:spPr>
      </p:sp>
      <p:sp>
        <p:nvSpPr>
          <p:cNvPr id="4" name="s18-source-rule-3">
            <a:extLst xmlns:a="http://schemas.openxmlformats.org/drawingml/2006/main">
              <a:ext uri="{FF2B5EF4-FFF2-40B4-BE49-F238E27FC236}">
                <a16:creationId xmlns:a16="http://schemas.microsoft.com/office/drawing/2014/main" id="{7AC58022-04CE-4BD2-9CE0-B0DF3D64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366568"/>
            <a:ext cx="8391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E3E"/>
          </a:solidFill>
          <a:ln xmlns:a="http://schemas.openxmlformats.org/drawingml/2006/main" w="0">
            <a:noFill/>
          </a:ln>
        </p:spPr>
      </p:sp>
      <p:sp>
        <p:nvSpPr>
          <p:cNvPr id="5" name="s18-t000">
            <a:extLst xmlns:a="http://schemas.openxmlformats.org/drawingml/2006/main">
              <a:ext uri="{FF2B5EF4-FFF2-40B4-BE49-F238E27FC236}">
                <a16:creationId xmlns:a16="http://schemas.microsoft.com/office/drawing/2014/main" id="{423AAC5A-7BE0-47FD-A9EA-A060964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5"/>
            <a:ext cx="2896295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4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4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WHAT COMES NEXT</a:t>
            </a:r>
            <a:endParaRPr lang="en-US" sz="1725" spc="284" kern="400000">
              <a:latin typeface="Deck-Medium"/>
            </a:endParaRPr>
          </a:p>
        </p:txBody>
      </p:sp>
      <p:sp>
        <p:nvSpPr>
          <p:cNvPr id="6" name="s18-t001">
            <a:extLst xmlns:a="http://schemas.openxmlformats.org/drawingml/2006/main">
              <a:ext uri="{FF2B5EF4-FFF2-40B4-BE49-F238E27FC236}">
                <a16:creationId xmlns:a16="http://schemas.microsoft.com/office/drawing/2014/main" id="{DB44E8FE-38A9-4F10-8E47-0211E62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02594"/>
            <a:ext cx="5791114" cy="146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375" spc="-450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9375" b="0" i="0" kern="400000" spc="-450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More ways</a:t>
            </a:r>
            <a:endParaRPr lang="en-US" sz="9375" spc="-450" kern="400000">
              <a:latin typeface="Deck-Semi-Bold"/>
            </a:endParaRPr>
          </a:p>
        </p:txBody>
      </p:sp>
      <p:sp>
        <p:nvSpPr>
          <p:cNvPr id="7" name="s18-t002">
            <a:extLst xmlns:a="http://schemas.openxmlformats.org/drawingml/2006/main">
              <a:ext uri="{FF2B5EF4-FFF2-40B4-BE49-F238E27FC236}">
                <a16:creationId xmlns:a16="http://schemas.microsoft.com/office/drawing/2014/main" id="{C4FFE51C-553F-4BAF-AFC3-5320247A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6797"/>
            <a:ext cx="4028256" cy="146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375" spc="-432" kern="400000">
                <a:solidFill>
                  <a:srgbClr val="9BDAB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375" b="0" i="0" kern="400000" spc="-432">
                <a:solidFill>
                  <a:srgbClr val="9BDAB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to care.</a:t>
            </a:r>
            <a:endParaRPr lang="en-US" sz="9375" spc="-432" kern="400000">
              <a:latin typeface="Deck-Semi-Bold"/>
            </a:endParaRPr>
          </a:p>
        </p:txBody>
      </p:sp>
      <p:sp>
        <p:nvSpPr>
          <p:cNvPr id="8" name="s18-t003">
            <a:extLst xmlns:a="http://schemas.openxmlformats.org/drawingml/2006/main">
              <a:ext uri="{FF2B5EF4-FFF2-40B4-BE49-F238E27FC236}">
                <a16:creationId xmlns:a16="http://schemas.microsoft.com/office/drawing/2014/main" id="{EA167684-C166-463E-A535-670E373B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85904"/>
            <a:ext cx="3215526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spc="-80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700" b="0" i="0" kern="400000" spc="-80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Benefits, connected</a:t>
            </a:r>
            <a:endParaRPr lang="en-US" sz="2700" spc="-80" kern="400000">
              <a:latin typeface="Deck-Medium"/>
            </a:endParaRPr>
          </a:p>
        </p:txBody>
      </p:sp>
      <p:sp>
        <p:nvSpPr>
          <p:cNvPr id="9" name="s18-t004">
            <a:extLst xmlns:a="http://schemas.openxmlformats.org/drawingml/2006/main">
              <a:ext uri="{FF2B5EF4-FFF2-40B4-BE49-F238E27FC236}">
                <a16:creationId xmlns:a16="http://schemas.microsoft.com/office/drawing/2014/main" id="{C69317AE-BE8C-49F6-A6D7-3AB437C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63490"/>
            <a:ext cx="6013571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3" kern="400000">
                <a:solidFill>
                  <a:srgbClr val="A8BCB0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3">
                <a:solidFill>
                  <a:srgbClr val="A8BCB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Insurance information and clearer benefit guidance</a:t>
            </a:r>
            <a:endParaRPr lang="en-US" sz="1950" spc="-3" kern="400000">
              <a:latin typeface="Deck"/>
            </a:endParaRPr>
          </a:p>
        </p:txBody>
      </p:sp>
      <p:sp>
        <p:nvSpPr>
          <p:cNvPr id="10" name="s18-t005">
            <a:extLst xmlns:a="http://schemas.openxmlformats.org/drawingml/2006/main">
              <a:ext uri="{FF2B5EF4-FFF2-40B4-BE49-F238E27FC236}">
                <a16:creationId xmlns:a16="http://schemas.microsoft.com/office/drawing/2014/main" id="{26BEF18C-E214-48ED-8DF6-35F358C2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71630"/>
            <a:ext cx="475059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01</a:t>
            </a:r>
            <a:endParaRPr lang="en-US" sz="1725" spc="150" kern="400000">
              <a:latin typeface="Deck"/>
            </a:endParaRPr>
          </a:p>
        </p:txBody>
      </p:sp>
      <p:sp>
        <p:nvSpPr>
          <p:cNvPr id="11" name="s18-t006">
            <a:extLst xmlns:a="http://schemas.openxmlformats.org/drawingml/2006/main">
              <a:ext uri="{FF2B5EF4-FFF2-40B4-BE49-F238E27FC236}">
                <a16:creationId xmlns:a16="http://schemas.microsoft.com/office/drawing/2014/main" id="{1B69D9F5-0F79-4FC5-92E0-CD730F4F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32271"/>
            <a:ext cx="290863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spc="-83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700" b="0" i="0" kern="400000" spc="-83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A more useful day</a:t>
            </a:r>
            <a:endParaRPr lang="en-US" sz="2700" spc="-83" kern="400000">
              <a:latin typeface="Deck-Medium"/>
            </a:endParaRPr>
          </a:p>
        </p:txBody>
      </p:sp>
      <p:sp>
        <p:nvSpPr>
          <p:cNvPr id="12" name="s18-t007">
            <a:extLst xmlns:a="http://schemas.openxmlformats.org/drawingml/2006/main">
              <a:ext uri="{FF2B5EF4-FFF2-40B4-BE49-F238E27FC236}">
                <a16:creationId xmlns:a16="http://schemas.microsoft.com/office/drawing/2014/main" id="{5DDD7535-9906-454C-922D-48A998DA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9857"/>
            <a:ext cx="5130203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7" kern="400000">
                <a:solidFill>
                  <a:srgbClr val="A8BCB0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7">
                <a:solidFill>
                  <a:srgbClr val="A8BCB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Relevant news, weather and timely routines</a:t>
            </a:r>
            <a:endParaRPr lang="en-US" sz="1950" spc="-7" kern="400000">
              <a:latin typeface="Deck"/>
            </a:endParaRPr>
          </a:p>
        </p:txBody>
      </p:sp>
      <p:sp>
        <p:nvSpPr>
          <p:cNvPr id="13" name="s18-t008">
            <a:extLst xmlns:a="http://schemas.openxmlformats.org/drawingml/2006/main">
              <a:ext uri="{FF2B5EF4-FFF2-40B4-BE49-F238E27FC236}">
                <a16:creationId xmlns:a16="http://schemas.microsoft.com/office/drawing/2014/main" id="{5EEB6AFE-2449-4389-8DE0-FE3E3029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17997"/>
            <a:ext cx="523913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02</a:t>
            </a:r>
            <a:endParaRPr lang="en-US" sz="1725" spc="150" kern="400000">
              <a:latin typeface="Deck"/>
            </a:endParaRPr>
          </a:p>
        </p:txBody>
      </p:sp>
      <p:sp>
        <p:nvSpPr>
          <p:cNvPr id="14" name="s18-t009">
            <a:extLst xmlns:a="http://schemas.openxmlformats.org/drawingml/2006/main">
              <a:ext uri="{FF2B5EF4-FFF2-40B4-BE49-F238E27FC236}">
                <a16:creationId xmlns:a16="http://schemas.microsoft.com/office/drawing/2014/main" id="{0F7CF28A-75E9-4B77-BD3D-8BB1328A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78638"/>
            <a:ext cx="284005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spc="-83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700" b="0" i="0" kern="400000" spc="-83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Care within reach</a:t>
            </a:r>
            <a:endParaRPr lang="en-US" sz="2700" spc="-83" kern="400000">
              <a:latin typeface="Deck-Medium"/>
            </a:endParaRPr>
          </a:p>
        </p:txBody>
      </p:sp>
      <p:sp>
        <p:nvSpPr>
          <p:cNvPr id="15" name="s18-t010">
            <a:extLst xmlns:a="http://schemas.openxmlformats.org/drawingml/2006/main">
              <a:ext uri="{FF2B5EF4-FFF2-40B4-BE49-F238E27FC236}">
                <a16:creationId xmlns:a16="http://schemas.microsoft.com/office/drawing/2014/main" id="{EDC82963-AA3A-4B10-AB26-55CE85E5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56224"/>
            <a:ext cx="6045765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5" kern="400000">
                <a:solidFill>
                  <a:srgbClr val="A8BCB0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5">
                <a:solidFill>
                  <a:srgbClr val="A8BCB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Doctor discovery and WhiteCoat teleconsult access</a:t>
            </a:r>
            <a:endParaRPr lang="en-US" sz="1950" spc="-5" kern="400000">
              <a:latin typeface="Deck"/>
            </a:endParaRPr>
          </a:p>
        </p:txBody>
      </p:sp>
      <p:sp>
        <p:nvSpPr>
          <p:cNvPr id="16" name="s18-t011">
            <a:extLst xmlns:a="http://schemas.openxmlformats.org/drawingml/2006/main">
              <a:ext uri="{FF2B5EF4-FFF2-40B4-BE49-F238E27FC236}">
                <a16:creationId xmlns:a16="http://schemas.microsoft.com/office/drawing/2014/main" id="{0601BCCE-C81D-4B90-AE18-327F0360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64364"/>
            <a:ext cx="526980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03</a:t>
            </a:r>
            <a:endParaRPr lang="en-US" sz="1725" spc="150" kern="400000">
              <a:latin typeface="Deck"/>
            </a:endParaRPr>
          </a:p>
        </p:txBody>
      </p:sp>
      <p:sp>
        <p:nvSpPr>
          <p:cNvPr id="17" name="s18-t012">
            <a:extLst xmlns:a="http://schemas.openxmlformats.org/drawingml/2006/main">
              <a:ext uri="{FF2B5EF4-FFF2-40B4-BE49-F238E27FC236}">
                <a16:creationId xmlns:a16="http://schemas.microsoft.com/office/drawing/2014/main" id="{5B9F15DD-52D0-4780-915B-D2F260AF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125005"/>
            <a:ext cx="4085120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spc="-91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2700" b="0" i="0" kern="400000" spc="-91">
                <a:solidFill>
                  <a:srgbClr val="FAF6F0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CareBuddy, alongside you</a:t>
            </a:r>
            <a:endParaRPr lang="en-US" sz="2700" spc="-91" kern="400000">
              <a:latin typeface="Deck-Medium"/>
            </a:endParaRPr>
          </a:p>
        </p:txBody>
      </p:sp>
      <p:sp>
        <p:nvSpPr>
          <p:cNvPr id="18" name="s18-t013">
            <a:extLst xmlns:a="http://schemas.openxmlformats.org/drawingml/2006/main">
              <a:ext uri="{FF2B5EF4-FFF2-40B4-BE49-F238E27FC236}">
                <a16:creationId xmlns:a16="http://schemas.microsoft.com/office/drawing/2014/main" id="{3C256608-EACE-4B5A-80A0-E10CE760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702591"/>
            <a:ext cx="6808527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6" kern="400000">
                <a:solidFill>
                  <a:srgbClr val="A8BCB0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6">
                <a:solidFill>
                  <a:srgbClr val="A8BCB0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 plugin experience, including hydration prompts in Codex</a:t>
            </a:r>
            <a:endParaRPr lang="en-US" sz="1950" spc="-6" kern="400000">
              <a:latin typeface="Deck"/>
            </a:endParaRPr>
          </a:p>
        </p:txBody>
      </p:sp>
      <p:sp>
        <p:nvSpPr>
          <p:cNvPr id="19" name="s18-t014">
            <a:extLst xmlns:a="http://schemas.openxmlformats.org/drawingml/2006/main">
              <a:ext uri="{FF2B5EF4-FFF2-40B4-BE49-F238E27FC236}">
                <a16:creationId xmlns:a16="http://schemas.microsoft.com/office/drawing/2014/main" id="{51EAC7E3-415F-423F-B2D0-5C08E025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10731"/>
            <a:ext cx="534648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1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1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04</a:t>
            </a:r>
            <a:endParaRPr lang="en-US" sz="1725" spc="151" kern="400000">
              <a:latin typeface="Deck"/>
            </a:endParaRPr>
          </a:p>
        </p:txBody>
      </p:sp>
      <p:sp>
        <p:nvSpPr>
          <p:cNvPr id="20" name="s18-t015">
            <a:extLst xmlns:a="http://schemas.openxmlformats.org/drawingml/2006/main">
              <a:ext uri="{FF2B5EF4-FFF2-40B4-BE49-F238E27FC236}">
                <a16:creationId xmlns:a16="http://schemas.microsoft.com/office/drawing/2014/main" id="{4B6B4496-CD46-4D9F-9E04-07D82DB8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477494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4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4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Roadmap · Integrations and clinical workflows are not live</a:t>
            </a:r>
            <a:endParaRPr lang="en-US" sz="1350" spc="4" kern="400000">
              <a:latin typeface="Deck"/>
            </a:endParaRPr>
          </a:p>
        </p:txBody>
      </p:sp>
      <p:sp>
        <p:nvSpPr>
          <p:cNvPr id="21" name="s18-t016">
            <a:extLst xmlns:a="http://schemas.openxmlformats.org/drawingml/2006/main">
              <a:ext uri="{FF2B5EF4-FFF2-40B4-BE49-F238E27FC236}">
                <a16:creationId xmlns:a16="http://schemas.microsoft.com/office/drawing/2014/main" id="{9A9AE364-FA1E-4177-9CA9-B70262ED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4157" y="9730387"/>
            <a:ext cx="398402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18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696436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df58a9b0c4977"/>
          <a:stretch xmlns:a="http://schemas.openxmlformats.org/drawingml/2006/main"/>
        </p:blipFill>
        <p:spPr>
          <a:xfrm xmlns:a="http://schemas.openxmlformats.org/drawingml/2006/main">
            <a:off x="7334250" y="666750"/>
            <a:ext cx="36195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s19-t000">
            <a:extLst xmlns:a="http://schemas.openxmlformats.org/drawingml/2006/main">
              <a:ext uri="{FF2B5EF4-FFF2-40B4-BE49-F238E27FC236}">
                <a16:creationId xmlns:a16="http://schemas.microsoft.com/office/drawing/2014/main" id="{9B3DF65E-B0D3-4035-BA29-F551366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288" y="3718170"/>
            <a:ext cx="10043331" cy="151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675" spc="-439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9675" b="0" i="0" kern="400000" spc="-439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Less to remember.</a:t>
            </a:r>
            <a:endParaRPr lang="en-US" sz="9675" spc="-439" kern="400000">
              <a:latin typeface="Deck-Semi-Bold"/>
            </a:endParaRPr>
          </a:p>
        </p:txBody>
      </p:sp>
      <p:sp>
        <p:nvSpPr>
          <p:cNvPr id="3" name="s19-t001">
            <a:extLst xmlns:a="http://schemas.openxmlformats.org/drawingml/2006/main">
              <a:ext uri="{FF2B5EF4-FFF2-40B4-BE49-F238E27FC236}">
                <a16:creationId xmlns:a16="http://schemas.microsoft.com/office/drawing/2014/main" id="{EB01245E-B25E-47E5-ABE4-92E2A21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294" y="5032906"/>
            <a:ext cx="10236394" cy="151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9675" spc="-417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9675" b="0" i="0" kern="400000" spc="-417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More room to care.</a:t>
            </a:r>
            <a:endParaRPr lang="en-US" sz="9675" spc="-417" kern="400000">
              <a:latin typeface="Deck-Semi-Bold"/>
            </a:endParaRPr>
          </a:p>
        </p:txBody>
      </p:sp>
      <p:sp>
        <p:nvSpPr>
          <p:cNvPr id="4" name="s19-t002">
            <a:hlinkClick xmlns:r="http://schemas.openxmlformats.org/officeDocument/2006/relationships" xmlns:a="http://schemas.openxmlformats.org/drawingml/2006/main" r:id="Rea0d6863fbef4d5d"/>
            <a:extLst xmlns:a="http://schemas.openxmlformats.org/drawingml/2006/main">
              <a:ext uri="{FF2B5EF4-FFF2-40B4-BE49-F238E27FC236}">
                <a16:creationId xmlns:a16="http://schemas.microsoft.com/office/drawing/2014/main" id="{CA998AFF-B2FE-4BC6-98B5-CA635C4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24" y="7099482"/>
            <a:ext cx="3085477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spc="71" kern="400000" u="none">
                <a:solidFill>
                  <a:srgbClr val="4F7A66"/>
                </a:solidFill>
                <a:latin typeface="Deck-Medium"/>
                <a:ea typeface="Deck-Medium"/>
                <a:cs typeface="Deck-Medium"/>
              </a:defRPr>
            </a:pPr>
            <a:r>
              <a:rPr sz="2850" b="0" i="0" kern="400000" spc="71" u="none">
                <a:solidFill>
                  <a:srgbClr val="4F7A6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carebuddy.life ↗</a:t>
            </a:r>
            <a:endParaRPr lang="en-US" sz="2850" spc="71" kern="400000">
              <a:latin typeface="Deck-Medium"/>
            </a:endParaRPr>
          </a:p>
        </p:txBody>
      </p:sp>
      <p:sp>
        <p:nvSpPr>
          <p:cNvPr id="5" name="s19-t003">
            <a:extLst xmlns:a="http://schemas.openxmlformats.org/drawingml/2006/main">
              <a:ext uri="{FF2B5EF4-FFF2-40B4-BE49-F238E27FC236}">
                <a16:creationId xmlns:a16="http://schemas.microsoft.com/office/drawing/2014/main" id="{F66517CE-8A34-4D58-8A71-0E370C4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561" y="8667582"/>
            <a:ext cx="5072253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17" kern="400000">
                <a:solidFill>
                  <a:srgbClr val="807C7B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17">
                <a:solidFill>
                  <a:srgbClr val="807C7B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Alex Lew · Shao Quan Chew · Yau Boon Tan</a:t>
            </a:r>
            <a:endParaRPr lang="en-US" sz="1950" spc="-17" kern="400000">
              <a:latin typeface="Deck"/>
            </a:endParaRPr>
          </a:p>
        </p:txBody>
      </p:sp>
      <p:sp>
        <p:nvSpPr>
          <p:cNvPr id="6" name="s19-t004">
            <a:extLst xmlns:a="http://schemas.openxmlformats.org/drawingml/2006/main">
              <a:ext uri="{FF2B5EF4-FFF2-40B4-BE49-F238E27FC236}">
                <a16:creationId xmlns:a16="http://schemas.microsoft.com/office/drawing/2014/main" id="{9F17FC99-94DF-4A5B-9D8C-7A54FC03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4694739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0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0">
                <a:solidFill>
                  <a:srgbClr val="83818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Tencent Cloud AI CAN DO IT Hackathon Singapore 2026</a:t>
            </a:r>
            <a:endParaRPr lang="en-US" sz="1350" spc="0" kern="400000">
              <a:latin typeface="Deck"/>
            </a:endParaRPr>
          </a:p>
        </p:txBody>
      </p:sp>
      <p:sp>
        <p:nvSpPr>
          <p:cNvPr id="7" name="s19-t005">
            <a:extLst xmlns:a="http://schemas.openxmlformats.org/drawingml/2006/main">
              <a:ext uri="{FF2B5EF4-FFF2-40B4-BE49-F238E27FC236}">
                <a16:creationId xmlns:a16="http://schemas.microsoft.com/office/drawing/2014/main" id="{26D4A3D3-AA90-42D7-8C52-F7ED78F8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1237" y="9730387"/>
            <a:ext cx="401317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7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7">
                <a:solidFill>
                  <a:srgbClr val="83818A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19</a:t>
            </a:r>
            <a:endParaRPr lang="en-US" sz="1350" spc="7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340657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20-source-rule-0">
            <a:extLst xmlns:a="http://schemas.openxmlformats.org/drawingml/2006/main">
              <a:ext uri="{FF2B5EF4-FFF2-40B4-BE49-F238E27FC236}">
                <a16:creationId xmlns:a16="http://schemas.microsoft.com/office/drawing/2014/main" id="{F1413B17-1780-43B0-AC75-DC679172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106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BF"/>
          </a:solidFill>
          <a:ln xmlns:a="http://schemas.openxmlformats.org/drawingml/2006/main" w="0">
            <a:noFill/>
          </a:ln>
        </p:spPr>
      </p:sp>
      <p:sp>
        <p:nvSpPr>
          <p:cNvPr id="2" name="s20-source-rule-1">
            <a:extLst xmlns:a="http://schemas.openxmlformats.org/drawingml/2006/main">
              <a:ext uri="{FF2B5EF4-FFF2-40B4-BE49-F238E27FC236}">
                <a16:creationId xmlns:a16="http://schemas.microsoft.com/office/drawing/2014/main" id="{F21BF2E6-B8EE-4668-8CC6-B351B7F5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5106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9BF"/>
          </a:solidFill>
          <a:ln xmlns:a="http://schemas.openxmlformats.org/drawingml/2006/main" w="0">
            <a:noFill/>
          </a:ln>
        </p:spPr>
      </p:sp>
      <p:sp>
        <p:nvSpPr>
          <p:cNvPr id="3" name="s20-t000">
            <a:extLst xmlns:a="http://schemas.openxmlformats.org/drawingml/2006/main">
              <a:ext uri="{FF2B5EF4-FFF2-40B4-BE49-F238E27FC236}">
                <a16:creationId xmlns:a16="http://schemas.microsoft.com/office/drawing/2014/main" id="{E5CF9150-4688-4C19-A094-D967612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5010"/>
            <a:ext cx="5991330" cy="1089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6975" spc="-369" kern="400000">
                <a:solidFill>
                  <a:srgbClr val="3A3745"/>
                </a:solidFill>
                <a:latin typeface="Deck-Semi-Bold"/>
                <a:ea typeface="Deck-Semi-Bold"/>
                <a:cs typeface="Deck-Semi-Bold"/>
              </a:defRPr>
            </a:pPr>
            <a:r>
              <a:rPr sz="6975" b="0" i="0" kern="400000" spc="-369">
                <a:solidFill>
                  <a:srgbClr val="3A3745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What the demo</a:t>
            </a:r>
            <a:endParaRPr lang="en-US" sz="6975" spc="-369" kern="400000">
              <a:latin typeface="Deck-Semi-Bold"/>
            </a:endParaRPr>
          </a:p>
        </p:txBody>
      </p:sp>
      <p:sp>
        <p:nvSpPr>
          <p:cNvPr id="4" name="s20-t001">
            <a:extLst xmlns:a="http://schemas.openxmlformats.org/drawingml/2006/main">
              <a:ext uri="{FF2B5EF4-FFF2-40B4-BE49-F238E27FC236}">
                <a16:creationId xmlns:a16="http://schemas.microsoft.com/office/drawing/2014/main" id="{3B454573-EB3B-4951-8445-E6FA4EBF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0697"/>
            <a:ext cx="5047945" cy="1089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6975" spc="-426" kern="400000">
                <a:solidFill>
                  <a:srgbClr val="4F7A66"/>
                </a:solidFill>
                <a:latin typeface="Deck-Semi-Bold"/>
                <a:ea typeface="Deck-Semi-Bold"/>
                <a:cs typeface="Deck-Semi-Bold"/>
              </a:defRPr>
            </a:pPr>
            <a:r>
              <a:rPr sz="6975" b="0" i="0" kern="400000" spc="-426">
                <a:solidFill>
                  <a:srgbClr val="4F7A66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shows today.</a:t>
            </a:r>
            <a:endParaRPr lang="en-US" sz="6975" spc="-426" kern="400000">
              <a:latin typeface="Deck-Semi-Bold"/>
            </a:endParaRPr>
          </a:p>
        </p:txBody>
      </p:sp>
      <p:sp>
        <p:nvSpPr>
          <p:cNvPr id="5" name="s20-t016">
            <a:extLst xmlns:a="http://schemas.openxmlformats.org/drawingml/2006/main">
              <a:ext uri="{FF2B5EF4-FFF2-40B4-BE49-F238E27FC236}">
                <a16:creationId xmlns:a16="http://schemas.microsoft.com/office/drawing/2014/main" id="{C2584EAA-4960-4441-97C6-D6133536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14405"/>
            <a:ext cx="2864310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85" kern="400000">
                <a:solidFill>
                  <a:srgbClr val="3A3745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85">
                <a:solidFill>
                  <a:srgbClr val="6C6971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PROTOTYPE SCOPE</a:t>
            </a:r>
            <a:endParaRPr lang="en-US" sz="1725" spc="285" kern="400000">
              <a:latin typeface="Deck-Medium"/>
            </a:endParaRPr>
          </a:p>
        </p:txBody>
      </p:sp>
      <p:sp>
        <p:nvSpPr>
          <p:cNvPr id="6" name="s20-t017">
            <a:extLst xmlns:a="http://schemas.openxmlformats.org/drawingml/2006/main">
              <a:ext uri="{FF2B5EF4-FFF2-40B4-BE49-F238E27FC236}">
                <a16:creationId xmlns:a16="http://schemas.microsoft.com/office/drawing/2014/main" id="{7CDAC01D-E43E-4FAB-BDDB-21A4F30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895624"/>
            <a:ext cx="11844147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spc="-7" kern="400000">
                <a:solidFill>
                  <a:srgbClr val="767177"/>
                </a:solidFill>
                <a:latin typeface="Deck"/>
                <a:ea typeface="Deck"/>
                <a:cs typeface="Deck"/>
              </a:defRPr>
            </a:pPr>
            <a:r>
              <a:rPr sz="1800" b="0" i="0" kern="400000" spc="-7">
                <a:solidFill>
                  <a:srgbClr val="767177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Screens are captured from carebuddy.life. Fictional records and illustrative flows are used throughout the demo.</a:t>
            </a:r>
            <a:endParaRPr lang="en-US" sz="1800" spc="-7" kern="400000">
              <a:latin typeface="Deck"/>
            </a:endParaRPr>
          </a:p>
        </p:txBody>
      </p:sp>
      <p:sp>
        <p:nvSpPr>
          <p:cNvPr id="7" name="s20-t018">
            <a:extLst xmlns:a="http://schemas.openxmlformats.org/drawingml/2006/main">
              <a:ext uri="{FF2B5EF4-FFF2-40B4-BE49-F238E27FC236}">
                <a16:creationId xmlns:a16="http://schemas.microsoft.com/office/drawing/2014/main" id="{8EB3590A-22BF-45A2-8ECD-CA4EC07E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730387"/>
            <a:ext cx="2290953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4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4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Observed 8 October 2026</a:t>
            </a:r>
            <a:endParaRPr lang="en-US" sz="1350" spc="4" kern="400000">
              <a:latin typeface="Deck"/>
            </a:endParaRPr>
          </a:p>
        </p:txBody>
      </p:sp>
      <p:sp>
        <p:nvSpPr>
          <p:cNvPr id="8" name="s20-t019">
            <a:extLst xmlns:a="http://schemas.openxmlformats.org/drawingml/2006/main">
              <a:ext uri="{FF2B5EF4-FFF2-40B4-BE49-F238E27FC236}">
                <a16:creationId xmlns:a16="http://schemas.microsoft.com/office/drawing/2014/main" id="{370BFC12-2830-4D87-ABE7-29C14EE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4942" y="9730387"/>
            <a:ext cx="447608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3A3745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817E8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20</a:t>
            </a:r>
            <a:endParaRPr lang="en-US" sz="1350" spc="6" kern="400000">
              <a:latin typeface="Deck"/>
            </a:endParaRP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009650" y="4209438"/>
          <a:ext xmlns:a="http://schemas.openxmlformats.org/drawingml/2006/main" cx="7524750" cy="3484247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 bandCol="0"/>
              <a:tblGrid>
                <a:gridCol w="7524750"/>
              </a:tblGrid>
              <a:tr h="749620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700" b="0" i="0" kern="400000" spc="-93">
                          <a:solidFill>
                            <a:srgbClr val="4F7A66">
                              <a:alpha val="100000"/>
                            </a:srgbClr>
                          </a:solidFill>
                          <a:latin typeface="Deck-Bold"/>
                          <a:ea typeface="Deck-Bold"/>
                          <a:cs typeface="Deck-Bold"/>
                        </a:defRPr>
                      </a:pPr>
                      <a:r>
                        <a:rPr sz="2700" b="0" i="0" kern="400000" spc="-93">
                          <a:solidFill>
                            <a:srgbClr val="4F7A66">
                              <a:alpha val="100000"/>
                            </a:srgbClr>
                          </a:solidFill>
                          <a:latin typeface="Deck-Bold"/>
                          <a:ea typeface="Deck-Bold"/>
                          <a:cs typeface="Deck-Bold"/>
                        </a:rPr>
                        <a:t xml:space="preserve">Visible in the prototype</a:t>
                      </a:r>
                      <a:endParaRPr lang="en-US" sz="2700" spc="-93" kern="400000">
                        <a:latin typeface="Deck-Bold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Onboarding and fictional family profiles</a:t>
                      </a:r>
                      <a:endParaRPr lang="en-US" sz="2175" spc="-3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Daily routines and medication actions</a:t>
                      </a:r>
                      <a:endParaRPr lang="en-US" sz="2175" spc="-3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Illustrative sleep and health views</a:t>
                      </a:r>
                      <a:endParaRPr lang="en-US" sz="2175" spc="-3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4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4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Benefit notes and Buddy entry screen</a:t>
                      </a:r>
                      <a:endParaRPr lang="en-US" sz="2175" spc="-4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4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4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GP appointment planning</a:t>
                      </a:r>
                      <a:endParaRPr lang="en-US" sz="2175" spc="-4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10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10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Manual WorkBuddy context handoff</a:t>
                      </a:r>
                      <a:endParaRPr lang="en-US" sz="2175" spc="-10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9677400" y="4209438"/>
          <a:ext xmlns:a="http://schemas.openxmlformats.org/drawingml/2006/main" cx="7524750" cy="3484247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 bandCol="0"/>
              <a:tblGrid>
                <a:gridCol w="7524750"/>
              </a:tblGrid>
              <a:tr h="749620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700" b="0" i="0" kern="400000" spc="-89">
                          <a:solidFill>
                            <a:srgbClr val="4F7A66">
                              <a:alpha val="100000"/>
                            </a:srgbClr>
                          </a:solidFill>
                          <a:latin typeface="Deck-Bold"/>
                          <a:ea typeface="Deck-Bold"/>
                          <a:cs typeface="Deck-Bold"/>
                        </a:defRPr>
                      </a:pPr>
                      <a:r>
                        <a:rPr sz="2700" b="0" i="0" kern="400000" spc="-89">
                          <a:solidFill>
                            <a:srgbClr val="4F7A66">
                              <a:alpha val="100000"/>
                            </a:srgbClr>
                          </a:solidFill>
                          <a:latin typeface="Deck-Bold"/>
                          <a:ea typeface="Deck-Bold"/>
                          <a:cs typeface="Deck-Bold"/>
                        </a:rPr>
                        <a:t xml:space="preserve">Still ahead</a:t>
                      </a:r>
                      <a:endParaRPr lang="en-US" sz="2700" spc="-89" kern="400000">
                        <a:latin typeface="Deck-Bold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Verified sign-up and authentication</a:t>
                      </a:r>
                      <a:endParaRPr lang="en-US" sz="2175" spc="-3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6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6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Connected wearable measurements</a:t>
                      </a:r>
                      <a:endParaRPr lang="en-US" sz="2175" spc="-6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Live insurance eligibility checks</a:t>
                      </a:r>
                      <a:endParaRPr lang="en-US" sz="2175" spc="-3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3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Push notifications and background sync</a:t>
                      </a:r>
                      <a:endParaRPr lang="en-US" sz="2175" spc="-3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8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8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Live WorkBuddy or Codex connection</a:t>
                      </a:r>
                      <a:endParaRPr lang="en-US" sz="2175" spc="-8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  <a:tr h="455771">
                <a:tc>
                  <a:txBody>
                    <a:bodyPr wrap="square" lIns="0" tIns="0" rIns="0" bIns="0" anchor="t" anchorCtr="0" horzOverflow="overflow" vertOverflow="overflow">
                      <a:noAutofit/>
                    </a:bodyPr>
                    <a:lstStyle/>
                    <a:p>
                      <a:pPr algn="l">
                        <a:defRPr sz="2175" b="0" i="0" kern="400000" spc="-5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defRPr>
                      </a:pPr>
                      <a:r>
                        <a:rPr sz="2175" b="0" i="0" kern="400000" spc="-5">
                          <a:solidFill>
                            <a:srgbClr val="3A3745">
                              <a:alpha val="100000"/>
                            </a:srgbClr>
                          </a:solidFill>
                          <a:latin typeface="Deck"/>
                          <a:ea typeface="Deck"/>
                          <a:cs typeface="Deck"/>
                        </a:rPr>
                        <a:t xml:space="preserve">WhiteCoat redirect and teleconsult booking</a:t>
                      </a:r>
                      <a:endParaRPr lang="en-US" sz="2175" spc="-5" kern="400000">
                        <a:latin typeface="Deck"/>
                      </a:endParaRPr>
                    </a:p>
                  </a:txBody>
                  <a:tcPr marL="0" marR="0" marT="0" marB="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8658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21-source-rule-0">
            <a:extLst xmlns:a="http://schemas.openxmlformats.org/drawingml/2006/main">
              <a:ext uri="{FF2B5EF4-FFF2-40B4-BE49-F238E27FC236}">
                <a16:creationId xmlns:a16="http://schemas.microsoft.com/office/drawing/2014/main" id="{B02EF675-037D-4066-BE58-FAD3412C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21648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83C"/>
          </a:solidFill>
          <a:ln xmlns:a="http://schemas.openxmlformats.org/drawingml/2006/main" w="0">
            <a:noFill/>
          </a:ln>
        </p:spPr>
      </p:sp>
      <p:sp>
        <p:nvSpPr>
          <p:cNvPr id="2" name="s21-source-rule-1">
            <a:extLst xmlns:a="http://schemas.openxmlformats.org/drawingml/2006/main">
              <a:ext uri="{FF2B5EF4-FFF2-40B4-BE49-F238E27FC236}">
                <a16:creationId xmlns:a16="http://schemas.microsoft.com/office/drawing/2014/main" id="{9D293504-6A77-435B-9B1C-0728A109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7720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83C"/>
          </a:solidFill>
          <a:ln xmlns:a="http://schemas.openxmlformats.org/drawingml/2006/main" w="0">
            <a:noFill/>
          </a:ln>
        </p:spPr>
      </p:sp>
      <p:sp>
        <p:nvSpPr>
          <p:cNvPr id="3" name="s21-source-rule-2">
            <a:extLst xmlns:a="http://schemas.openxmlformats.org/drawingml/2006/main">
              <a:ext uri="{FF2B5EF4-FFF2-40B4-BE49-F238E27FC236}">
                <a16:creationId xmlns:a16="http://schemas.microsoft.com/office/drawing/2014/main" id="{E3F42F8C-B4E5-4BC8-A620-10C63075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32754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83C"/>
          </a:solidFill>
          <a:ln xmlns:a="http://schemas.openxmlformats.org/drawingml/2006/main" w="0">
            <a:noFill/>
          </a:ln>
        </p:spPr>
      </p:sp>
      <p:sp>
        <p:nvSpPr>
          <p:cNvPr id="4" name="s21-t000">
            <a:extLst xmlns:a="http://schemas.openxmlformats.org/drawingml/2006/main">
              <a:ext uri="{FF2B5EF4-FFF2-40B4-BE49-F238E27FC236}">
                <a16:creationId xmlns:a16="http://schemas.microsoft.com/office/drawing/2014/main" id="{B6BCF772-D549-4B68-AB67-8C1EE085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3179"/>
            <a:ext cx="7202891" cy="1159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7425" spc="-421" kern="400000">
                <a:solidFill>
                  <a:srgbClr val="FAF6F0"/>
                </a:solidFill>
                <a:latin typeface="Deck-Semi-Bold"/>
                <a:ea typeface="Deck-Semi-Bold"/>
                <a:cs typeface="Deck-Semi-Bold"/>
              </a:defRPr>
            </a:pPr>
            <a:r>
              <a:rPr sz="7425" b="0" i="0" kern="400000" spc="-421">
                <a:solidFill>
                  <a:srgbClr val="FAF6F0">
                    <a:alpha val="100000"/>
                  </a:srgbClr>
                </a:solidFill>
                <a:latin typeface="Deck-Semi-Bold"/>
                <a:ea typeface="Deck-Semi-Bold"/>
                <a:cs typeface="Deck-Semi-Bold"/>
              </a:rPr>
              <a:t xml:space="preserve">See it for yourself.</a:t>
            </a:r>
            <a:endParaRPr lang="en-US" sz="7425" spc="-421" kern="400000">
              <a:latin typeface="Deck-Semi-Bold"/>
            </a:endParaRPr>
          </a:p>
        </p:txBody>
      </p:sp>
      <p:sp>
        <p:nvSpPr>
          <p:cNvPr id="5" name="s21-t001">
            <a:extLst xmlns:a="http://schemas.openxmlformats.org/drawingml/2006/main">
              <a:ext uri="{FF2B5EF4-FFF2-40B4-BE49-F238E27FC236}">
                <a16:creationId xmlns:a16="http://schemas.microsoft.com/office/drawing/2014/main" id="{092B559A-FFF4-4B12-B120-CCBD4EA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417373"/>
            <a:ext cx="9787528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-13" kern="400000">
                <a:solidFill>
                  <a:srgbClr val="8BA494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-13">
                <a:solidFill>
                  <a:srgbClr val="8BA49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Product screenshots captured 8 October 2026. Team: Alex Lew, Shao Quan Chew and Yau Boon Tan.</a:t>
            </a:r>
            <a:endParaRPr lang="en-US" sz="1650" spc="-13" kern="400000">
              <a:latin typeface="Deck"/>
            </a:endParaRPr>
          </a:p>
        </p:txBody>
      </p:sp>
      <p:sp>
        <p:nvSpPr>
          <p:cNvPr id="6" name="s21-t002">
            <a:extLst xmlns:a="http://schemas.openxmlformats.org/drawingml/2006/main">
              <a:ext uri="{FF2B5EF4-FFF2-40B4-BE49-F238E27FC236}">
                <a16:creationId xmlns:a16="http://schemas.microsoft.com/office/drawing/2014/main" id="{C2F3E37D-93E1-42F7-AAF8-B514D633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731698"/>
            <a:ext cx="10746429" cy="257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spc="-5" kern="400000">
                <a:solidFill>
                  <a:srgbClr val="8BA494"/>
                </a:solidFill>
                <a:latin typeface="Deck"/>
                <a:ea typeface="Deck"/>
                <a:cs typeface="Deck"/>
              </a:defRPr>
            </a:pPr>
            <a:r>
              <a:rPr sz="1650" b="0" i="0" kern="400000" spc="-5">
                <a:solidFill>
                  <a:srgbClr val="8BA494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Human imagery is illustrative. Additional source detail and presenter notes are included with the HTML source.</a:t>
            </a:r>
            <a:endParaRPr lang="en-US" sz="1650" spc="-5" kern="400000">
              <a:latin typeface="Deck"/>
            </a:endParaRPr>
          </a:p>
        </p:txBody>
      </p:sp>
      <p:sp>
        <p:nvSpPr>
          <p:cNvPr id="7" name="s21-t003">
            <a:extLst xmlns:a="http://schemas.openxmlformats.org/drawingml/2006/main">
              <a:ext uri="{FF2B5EF4-FFF2-40B4-BE49-F238E27FC236}">
                <a16:creationId xmlns:a16="http://schemas.microsoft.com/office/drawing/2014/main" id="{8F29C7DE-CE92-4673-8538-28D9B974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42980"/>
            <a:ext cx="4813306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290" kern="400000">
                <a:solidFill>
                  <a:srgbClr val="FAF6F0"/>
                </a:solidFill>
                <a:latin typeface="Deck-Medium"/>
                <a:ea typeface="Deck-Medium"/>
                <a:cs typeface="Deck-Medium"/>
              </a:defRPr>
            </a:pPr>
            <a:r>
              <a:rPr sz="1725" b="0" i="0" kern="400000" spc="290">
                <a:solidFill>
                  <a:srgbClr val="BBBAB6">
                    <a:alpha val="100000"/>
                  </a:srgbClr>
                </a:solidFill>
                <a:latin typeface="Deck-Medium"/>
                <a:ea typeface="Deck-Medium"/>
                <a:cs typeface="Deck-Medium"/>
              </a:rPr>
              <a:t xml:space="preserve">REFERENCES &amp; DEMONSTRATION</a:t>
            </a:r>
            <a:endParaRPr lang="en-US" sz="1725" spc="290" kern="400000">
              <a:latin typeface="Deck-Medium"/>
            </a:endParaRPr>
          </a:p>
        </p:txBody>
      </p:sp>
      <p:sp>
        <p:nvSpPr>
          <p:cNvPr id="8" name="s21-t004">
            <a:hlinkClick xmlns:r="http://schemas.openxmlformats.org/officeDocument/2006/relationships" xmlns:a="http://schemas.openxmlformats.org/drawingml/2006/main" r:id="R23e81c7488d84ca2"/>
            <a:extLst xmlns:a="http://schemas.openxmlformats.org/drawingml/2006/main">
              <a:ext uri="{FF2B5EF4-FFF2-40B4-BE49-F238E27FC236}">
                <a16:creationId xmlns:a16="http://schemas.microsoft.com/office/drawing/2014/main" id="{B7896C4A-9446-4FCA-9039-F554A4E4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32793"/>
            <a:ext cx="4997101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spc="-71" kern="400000" u="none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2850" b="0" i="0" kern="400000" spc="-71" u="none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CareBuddy product &amp; brand ↗</a:t>
            </a:r>
            <a:endParaRPr lang="en-US" sz="2850" spc="-71" kern="400000">
              <a:latin typeface="Deck"/>
            </a:endParaRPr>
          </a:p>
        </p:txBody>
      </p:sp>
      <p:sp>
        <p:nvSpPr>
          <p:cNvPr id="9" name="s21-t005">
            <a:extLst xmlns:a="http://schemas.openxmlformats.org/drawingml/2006/main">
              <a:ext uri="{FF2B5EF4-FFF2-40B4-BE49-F238E27FC236}">
                <a16:creationId xmlns:a16="http://schemas.microsoft.com/office/drawing/2014/main" id="{D2D54BE4-475B-4A2F-8D49-63B3B7B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14440"/>
            <a:ext cx="6058891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5" kern="400000">
                <a:solidFill>
                  <a:srgbClr val="AEBCB3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5">
                <a:solidFill>
                  <a:srgbClr val="AEBCB3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Current slogan, visual identity and public prototype.</a:t>
            </a:r>
            <a:endParaRPr lang="en-US" sz="1950" spc="-5" kern="400000">
              <a:latin typeface="Deck"/>
            </a:endParaRPr>
          </a:p>
        </p:txBody>
      </p:sp>
      <p:sp>
        <p:nvSpPr>
          <p:cNvPr id="10" name="s21-t006">
            <a:extLst xmlns:a="http://schemas.openxmlformats.org/drawingml/2006/main">
              <a:ext uri="{FF2B5EF4-FFF2-40B4-BE49-F238E27FC236}">
                <a16:creationId xmlns:a16="http://schemas.microsoft.com/office/drawing/2014/main" id="{DABD6220-9BAB-4AD4-B091-50B6D01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61374"/>
            <a:ext cx="475059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01</a:t>
            </a:r>
            <a:endParaRPr lang="en-US" sz="1725" spc="150" kern="400000">
              <a:latin typeface="Deck"/>
            </a:endParaRPr>
          </a:p>
        </p:txBody>
      </p:sp>
      <p:sp>
        <p:nvSpPr>
          <p:cNvPr id="11" name="s21-t007">
            <a:hlinkClick xmlns:r="http://schemas.openxmlformats.org/officeDocument/2006/relationships" xmlns:a="http://schemas.openxmlformats.org/drawingml/2006/main" r:id="R977ab59221c74515"/>
            <a:extLst xmlns:a="http://schemas.openxmlformats.org/drawingml/2006/main">
              <a:ext uri="{FF2B5EF4-FFF2-40B4-BE49-F238E27FC236}">
                <a16:creationId xmlns:a16="http://schemas.microsoft.com/office/drawing/2014/main" id="{93586D50-CC11-40EC-8F39-9363FFB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88346"/>
            <a:ext cx="3332998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spc="-68" kern="400000" u="none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2850" b="0" i="0" kern="400000" spc="-68" u="none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CareBuddy demo ↗</a:t>
            </a:r>
            <a:endParaRPr lang="en-US" sz="2850" spc="-68" kern="400000">
              <a:latin typeface="Deck"/>
            </a:endParaRPr>
          </a:p>
        </p:txBody>
      </p:sp>
      <p:sp>
        <p:nvSpPr>
          <p:cNvPr id="12" name="s21-t008">
            <a:extLst xmlns:a="http://schemas.openxmlformats.org/drawingml/2006/main">
              <a:ext uri="{FF2B5EF4-FFF2-40B4-BE49-F238E27FC236}">
                <a16:creationId xmlns:a16="http://schemas.microsoft.com/office/drawing/2014/main" id="{D0AD99B4-EEDA-4EDD-AF35-3AF8BA27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69993"/>
            <a:ext cx="875357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13" kern="400000">
                <a:solidFill>
                  <a:srgbClr val="AEBCB3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13">
                <a:solidFill>
                  <a:srgbClr val="AEBCB3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Original screens: Today, Family, Health, Sleep, Benefits, Buddy and Settings.</a:t>
            </a:r>
            <a:endParaRPr lang="en-US" sz="1950" spc="-13" kern="400000">
              <a:latin typeface="Deck"/>
            </a:endParaRPr>
          </a:p>
        </p:txBody>
      </p:sp>
      <p:sp>
        <p:nvSpPr>
          <p:cNvPr id="13" name="s21-t009">
            <a:extLst xmlns:a="http://schemas.openxmlformats.org/drawingml/2006/main">
              <a:ext uri="{FF2B5EF4-FFF2-40B4-BE49-F238E27FC236}">
                <a16:creationId xmlns:a16="http://schemas.microsoft.com/office/drawing/2014/main" id="{DD85B413-8CC6-43FA-A358-77FD46D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6927"/>
            <a:ext cx="523913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02</a:t>
            </a:r>
            <a:endParaRPr lang="en-US" sz="1725" spc="150" kern="400000">
              <a:latin typeface="Deck"/>
            </a:endParaRPr>
          </a:p>
        </p:txBody>
      </p:sp>
      <p:sp>
        <p:nvSpPr>
          <p:cNvPr id="14" name="s21-t010">
            <a:hlinkClick xmlns:r="http://schemas.openxmlformats.org/officeDocument/2006/relationships" xmlns:a="http://schemas.openxmlformats.org/drawingml/2006/main" r:id="R3ed6cdc3ef654af7"/>
            <a:extLst xmlns:a="http://schemas.openxmlformats.org/drawingml/2006/main">
              <a:ext uri="{FF2B5EF4-FFF2-40B4-BE49-F238E27FC236}">
                <a16:creationId xmlns:a16="http://schemas.microsoft.com/office/drawing/2014/main" id="{4FB56056-C6CB-4D94-B628-0CADCDC2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643899"/>
            <a:ext cx="3509439" cy="44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spc="-110" kern="400000" u="none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2850" b="0" i="0" kern="400000" spc="-110" u="none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Tencent TokenHub ↗</a:t>
            </a:r>
            <a:endParaRPr lang="en-US" sz="2850" spc="-110" kern="400000">
              <a:latin typeface="Deck"/>
            </a:endParaRPr>
          </a:p>
        </p:txBody>
      </p:sp>
      <p:sp>
        <p:nvSpPr>
          <p:cNvPr id="15" name="s21-t011">
            <a:extLst xmlns:a="http://schemas.openxmlformats.org/drawingml/2006/main">
              <a:ext uri="{FF2B5EF4-FFF2-40B4-BE49-F238E27FC236}">
                <a16:creationId xmlns:a16="http://schemas.microsoft.com/office/drawing/2014/main" id="{CC82E5B2-F293-4101-B84B-E139C083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225547"/>
            <a:ext cx="920256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spc="-6" kern="400000">
                <a:solidFill>
                  <a:srgbClr val="AEBCB3"/>
                </a:solidFill>
                <a:latin typeface="Deck"/>
                <a:ea typeface="Deck"/>
                <a:cs typeface="Deck"/>
              </a:defRPr>
            </a:pPr>
            <a:r>
              <a:rPr sz="1950" b="0" i="0" kern="400000" spc="-6">
                <a:solidFill>
                  <a:srgbClr val="AEBCB3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Architecture names are supplied by the team; deployment evidence is separate.</a:t>
            </a:r>
            <a:endParaRPr lang="en-US" sz="1950" spc="-6" kern="400000">
              <a:latin typeface="Deck"/>
            </a:endParaRPr>
          </a:p>
        </p:txBody>
      </p:sp>
      <p:sp>
        <p:nvSpPr>
          <p:cNvPr id="16" name="s21-t012">
            <a:extLst xmlns:a="http://schemas.openxmlformats.org/drawingml/2006/main">
              <a:ext uri="{FF2B5EF4-FFF2-40B4-BE49-F238E27FC236}">
                <a16:creationId xmlns:a16="http://schemas.microsoft.com/office/drawing/2014/main" id="{1067A211-A871-453E-BC82-F990619F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72481"/>
            <a:ext cx="526980" cy="269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spc="150" kern="400000">
                <a:solidFill>
                  <a:srgbClr val="9BDAB6"/>
                </a:solidFill>
                <a:latin typeface="Deck"/>
                <a:ea typeface="Deck"/>
                <a:cs typeface="Deck"/>
              </a:defRPr>
            </a:pPr>
            <a:r>
              <a:rPr sz="1725" b="0" i="0" kern="400000" spc="150">
                <a:solidFill>
                  <a:srgbClr val="9BDAB6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03</a:t>
            </a:r>
            <a:endParaRPr lang="en-US" sz="1725" spc="150" kern="400000">
              <a:latin typeface="Deck"/>
            </a:endParaRPr>
          </a:p>
        </p:txBody>
      </p:sp>
      <p:sp>
        <p:nvSpPr>
          <p:cNvPr id="17" name="s21-t013">
            <a:extLst xmlns:a="http://schemas.openxmlformats.org/drawingml/2006/main">
              <a:ext uri="{FF2B5EF4-FFF2-40B4-BE49-F238E27FC236}">
                <a16:creationId xmlns:a16="http://schemas.microsoft.com/office/drawing/2014/main" id="{F17BC578-0E95-4E99-8F4D-CC684995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9124" y="9730387"/>
            <a:ext cx="393430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 anchorCtr="0" horzOverflow="overflow" vertOverflow="overflow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spc="6" kern="400000">
                <a:solidFill>
                  <a:srgbClr val="FAF6F0"/>
                </a:solidFill>
                <a:latin typeface="Deck"/>
                <a:ea typeface="Deck"/>
                <a:cs typeface="Deck"/>
              </a:defRPr>
            </a:pPr>
            <a:r>
              <a:rPr sz="1350" b="0" i="0" kern="400000" spc="6">
                <a:solidFill>
                  <a:srgbClr val="A0A19D">
                    <a:alpha val="100000"/>
                  </a:srgbClr>
                </a:solidFill>
                <a:latin typeface="Deck"/>
                <a:ea typeface="Deck"/>
                <a:cs typeface="Deck"/>
              </a:rPr>
              <a:t xml:space="preserve">21</a:t>
            </a:r>
            <a:endParaRPr lang="en-US" sz="1350" spc="6" kern="400000">
              <a:latin typeface="Deck"/>
            </a:endParaRPr>
          </a:p>
        </p:txBody>
      </p:sp>
    </p:spTree>
    <p:extLst>
      <p:ext uri="{BB962C8B-B14F-4D97-AF65-F5344CB8AC3E}">
        <p14:creationId xmlns:p14="http://schemas.microsoft.com/office/powerpoint/2010/main" val="1791565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2026-10-09T02:06:39.3590000Z</dcterms:created>
  <dcterms:modified xsi:type="dcterms:W3CDTF">2026-10-09T02:06:39.3600000Z</dcterms:modified>
</coreProperties>
</file>