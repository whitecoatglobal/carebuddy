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fntdata" ContentType="application/x-fontdata"/>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5cf89f90b24044" /><Relationship Type="http://schemas.openxmlformats.org/officeDocument/2006/relationships/extended-properties" Target="/docProps/app.xml" Id="Rd6d27accca0e4e16" /><Relationship Type="http://schemas.openxmlformats.org/officeDocument/2006/relationships/officeDocument" Target="/ppt/presentation.xml" Id="R4455e9a4a7fd4c7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b6bfeab45284ec1"/>
  </p:sldMasterIdLst>
  <p:notesMasterIdLst>
    <p:notesMasterId xmlns:r="http://schemas.openxmlformats.org/officeDocument/2006/relationships" r:id="R195ec37793504e08"/>
  </p:notesMasterIdLst>
  <p:sldIdLst>
    <p:sldId xmlns:r="http://schemas.openxmlformats.org/officeDocument/2006/relationships" id="256" r:id="R17e415b2dd4344fb"/>
    <p:sldId xmlns:r="http://schemas.openxmlformats.org/officeDocument/2006/relationships" id="257" r:id="Rbe237b08e9d8474a"/>
    <p:sldId xmlns:r="http://schemas.openxmlformats.org/officeDocument/2006/relationships" id="258" r:id="R6ed1a2c9298e4357"/>
    <p:sldId xmlns:r="http://schemas.openxmlformats.org/officeDocument/2006/relationships" id="259" r:id="R4551d78f8db843c2"/>
    <p:sldId xmlns:r="http://schemas.openxmlformats.org/officeDocument/2006/relationships" id="260" r:id="R86652ce140404e77"/>
    <p:sldId xmlns:r="http://schemas.openxmlformats.org/officeDocument/2006/relationships" id="261" r:id="R286744ecf6d44f48"/>
    <p:sldId xmlns:r="http://schemas.openxmlformats.org/officeDocument/2006/relationships" id="262" r:id="Rc63c6b483bbf4807"/>
    <p:sldId xmlns:r="http://schemas.openxmlformats.org/officeDocument/2006/relationships" id="263" r:id="R55f2cfaaa50e46c9"/>
    <p:sldId xmlns:r="http://schemas.openxmlformats.org/officeDocument/2006/relationships" id="264" r:id="R2aefbf89d3634ce8"/>
    <p:sldId xmlns:r="http://schemas.openxmlformats.org/officeDocument/2006/relationships" id="265" r:id="Ra0e95da3fe344afe"/>
    <p:sldId xmlns:r="http://schemas.openxmlformats.org/officeDocument/2006/relationships" id="266" r:id="Rb4366ce766df459d"/>
    <p:sldId xmlns:r="http://schemas.openxmlformats.org/officeDocument/2006/relationships" id="267" r:id="R7c060f691eb749d4"/>
    <p:sldId xmlns:r="http://schemas.openxmlformats.org/officeDocument/2006/relationships" id="268" r:id="Rcdeda54ff3c04772"/>
    <p:sldId xmlns:r="http://schemas.openxmlformats.org/officeDocument/2006/relationships" id="269" r:id="Rf4501771b1944427"/>
    <p:sldId xmlns:r="http://schemas.openxmlformats.org/officeDocument/2006/relationships" id="270" r:id="R498336910133439a"/>
    <p:sldId xmlns:r="http://schemas.openxmlformats.org/officeDocument/2006/relationships" id="271" r:id="R7bfd94e16a4844d8"/>
    <p:sldId xmlns:r="http://schemas.openxmlformats.org/officeDocument/2006/relationships" id="272" r:id="R956be7d998ae4639"/>
    <p:sldId xmlns:r="http://schemas.openxmlformats.org/officeDocument/2006/relationships" id="273" r:id="Re4e44611c550455a"/>
    <p:sldId xmlns:r="http://schemas.openxmlformats.org/officeDocument/2006/relationships" id="274" r:id="R329b595a4b4340ea"/>
    <p:sldId xmlns:r="http://schemas.openxmlformats.org/officeDocument/2006/relationships" id="275" r:id="R1afa323975cc4243"/>
    <p:sldId xmlns:r="http://schemas.openxmlformats.org/officeDocument/2006/relationships" id="276" r:id="Rfe0f117cf3984182"/>
    <p:sldId xmlns:ns0="http://schemas.openxmlformats.org/officeDocument/2006/relationships" id="277" ns0:id="rIdAppendix31"/>
    <p:sldId xmlns:ns1="http://schemas.openxmlformats.org/officeDocument/2006/relationships" id="278" ns1:id="rIdAppendix32"/>
    <p:sldId xmlns:ns2="http://schemas.openxmlformats.org/officeDocument/2006/relationships" id="279" ns2:id="rIdAppendix33"/>
    <p:sldId xmlns:ns3="http://schemas.openxmlformats.org/officeDocument/2006/relationships" id="280" ns3:id="rIdAppendix34"/>
    <p:sldId xmlns:ns4="http://schemas.openxmlformats.org/officeDocument/2006/relationships" id="281" ns4:id="rIdAppendix35"/>
    <p:sldId xmlns:ns5="http://schemas.openxmlformats.org/officeDocument/2006/relationships" id="282" ns5:id="rIdAppendix36"/>
    <p:sldId xmlns:ns6="http://schemas.openxmlformats.org/officeDocument/2006/relationships" id="283" ns6:id="rIdAppendix37"/>
    <p:sldId xmlns:ns7="http://schemas.openxmlformats.org/officeDocument/2006/relationships" id="284" ns7:id="rIdAppendix38"/>
  </p:sldIdLst>
  <p:sldSz cx="18288000" cy="10287000"/>
  <p:notesSz cx="6858000" cy="9144000"/>
  <p:embeddedFontLst>
    <p:embeddedFont>
      <p:font typeface="Deck-Semi-Bold" pitchFamily="34" charset="0"/>
      <p:regular xmlns:ns0="http://schemas.openxmlformats.org/officeDocument/2006/relationships" ns0:id="rIdEmbeddedFont1"/>
    </p:embeddedFont>
    <p:embeddedFont>
      <p:font typeface="Deck" pitchFamily="34" charset="0"/>
      <p:regular xmlns:ns1="http://schemas.openxmlformats.org/officeDocument/2006/relationships" ns1:id="rIdEmbeddedFont2"/>
    </p:embeddedFont>
    <p:embeddedFont>
      <p:font typeface="Deck-Medium" pitchFamily="34" charset="0"/>
      <p:regular xmlns:ns2="http://schemas.openxmlformats.org/officeDocument/2006/relationships" ns2:id="rIdEmbeddedFont3"/>
    </p:embeddedFont>
    <p:embeddedFont>
      <p:font typeface="Deck-Bold" pitchFamily="34" charset="0"/>
      <p:regular xmlns:ns3="http://schemas.openxmlformats.org/officeDocument/2006/relationships" ns3:id="rIdEmbeddedFont4"/>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7f56dba73854e86"/><Relationship Type="http://schemas.openxmlformats.org/officeDocument/2006/relationships/slideMaster" Target="/ppt/slideMasters/slideMaster1.xml" Id="Rcb6bfeab45284ec1"/><Relationship Type="http://schemas.openxmlformats.org/officeDocument/2006/relationships/notesMaster" Target="/ppt/notesMasters/notesMaster1.xml" Id="R195ec37793504e08"/><Relationship Type="http://schemas.openxmlformats.org/officeDocument/2006/relationships/presProps" Target="/ppt/presProps.xml" Id="Rcc15855d5bae46bb"/><Relationship Type="http://schemas.openxmlformats.org/officeDocument/2006/relationships/tableStyles" Target="/ppt/tableStyles.xml" Id="R8bc5622e333b4c50"/><Relationship Type="http://schemas.openxmlformats.org/officeDocument/2006/relationships/slide" Target="/ppt/slides/slide1.xml" Id="R17e415b2dd4344fb"/><Relationship Type="http://schemas.openxmlformats.org/officeDocument/2006/relationships/slide" Target="/ppt/slides/slide2.xml" Id="Rbe237b08e9d8474a"/><Relationship Type="http://schemas.openxmlformats.org/officeDocument/2006/relationships/slide" Target="/ppt/slides/slide3.xml" Id="R6ed1a2c9298e4357"/><Relationship Type="http://schemas.openxmlformats.org/officeDocument/2006/relationships/slide" Target="/ppt/slides/slide4.xml" Id="R4551d78f8db843c2"/><Relationship Type="http://schemas.openxmlformats.org/officeDocument/2006/relationships/slide" Target="/ppt/slides/slide5.xml" Id="R86652ce140404e77"/><Relationship Type="http://schemas.openxmlformats.org/officeDocument/2006/relationships/slide" Target="/ppt/slides/slide6.xml" Id="R286744ecf6d44f48"/><Relationship Type="http://schemas.openxmlformats.org/officeDocument/2006/relationships/slide" Target="/ppt/slides/slide7.xml" Id="Rc63c6b483bbf4807"/><Relationship Type="http://schemas.openxmlformats.org/officeDocument/2006/relationships/slide" Target="/ppt/slides/slide8.xml" Id="R55f2cfaaa50e46c9"/><Relationship Type="http://schemas.openxmlformats.org/officeDocument/2006/relationships/slide" Target="/ppt/slides/slide9.xml" Id="R2aefbf89d3634ce8"/><Relationship Type="http://schemas.openxmlformats.org/officeDocument/2006/relationships/slide" Target="/ppt/slides/slide10.xml" Id="Ra0e95da3fe344afe"/><Relationship Type="http://schemas.openxmlformats.org/officeDocument/2006/relationships/slide" Target="/ppt/slides/slide11.xml" Id="Rb4366ce766df459d"/><Relationship Type="http://schemas.openxmlformats.org/officeDocument/2006/relationships/slide" Target="/ppt/slides/slide12.xml" Id="R7c060f691eb749d4"/><Relationship Type="http://schemas.openxmlformats.org/officeDocument/2006/relationships/slide" Target="/ppt/slides/slide13.xml" Id="Rcdeda54ff3c04772"/><Relationship Type="http://schemas.openxmlformats.org/officeDocument/2006/relationships/slide" Target="/ppt/slides/slide14.xml" Id="Rf4501771b1944427"/><Relationship Type="http://schemas.openxmlformats.org/officeDocument/2006/relationships/slide" Target="/ppt/slides/slide15.xml" Id="R498336910133439a"/><Relationship Type="http://schemas.openxmlformats.org/officeDocument/2006/relationships/slide" Target="/ppt/slides/slide16.xml" Id="R7bfd94e16a4844d8"/><Relationship Type="http://schemas.openxmlformats.org/officeDocument/2006/relationships/slide" Target="/ppt/slides/slide17.xml" Id="R956be7d998ae4639"/><Relationship Type="http://schemas.openxmlformats.org/officeDocument/2006/relationships/slide" Target="/ppt/slides/slide18.xml" Id="Re4e44611c550455a"/><Relationship Type="http://schemas.openxmlformats.org/officeDocument/2006/relationships/slide" Target="/ppt/slides/slide19.xml" Id="R329b595a4b4340ea"/><Relationship Type="http://schemas.openxmlformats.org/officeDocument/2006/relationships/slide" Target="/ppt/slides/slide20.xml" Id="R1afa323975cc4243"/><Relationship Type="http://schemas.openxmlformats.org/officeDocument/2006/relationships/slide" Target="/ppt/slides/slide21.xml" Id="Rfe0f117cf3984182"/><Relationship Id="rIdEmbeddedFont1" Type="http://schemas.openxmlformats.org/officeDocument/2006/relationships/font" Target="fonts/font1.fntdata"/><Relationship Id="rIdEmbeddedFont2" Type="http://schemas.openxmlformats.org/officeDocument/2006/relationships/font" Target="fonts/font2.fntdata"/><Relationship Id="rIdEmbeddedFont3" Type="http://schemas.openxmlformats.org/officeDocument/2006/relationships/font" Target="fonts/font3.fntdata"/><Relationship Id="rIdEmbeddedFont4" Type="http://schemas.openxmlformats.org/officeDocument/2006/relationships/font" Target="fonts/font4.fntdata"/><Relationship Id="rIdAppendix31" Type="http://schemas.openxmlformats.org/officeDocument/2006/relationships/slide" Target="slides/slide22.xml"/><Relationship Id="rIdAppendix32" Type="http://schemas.openxmlformats.org/officeDocument/2006/relationships/slide" Target="slides/slide23.xml"/><Relationship Id="rIdAppendix33" Type="http://schemas.openxmlformats.org/officeDocument/2006/relationships/slide" Target="slides/slide24.xml"/><Relationship Id="rIdAppendix34" Type="http://schemas.openxmlformats.org/officeDocument/2006/relationships/slide" Target="slides/slide25.xml"/><Relationship Id="rIdAppendix35" Type="http://schemas.openxmlformats.org/officeDocument/2006/relationships/slide" Target="slides/slide26.xml"/><Relationship Id="rIdAppendix36" Type="http://schemas.openxmlformats.org/officeDocument/2006/relationships/slide" Target="slides/slide27.xml"/><Relationship Id="rIdAppendix37" Type="http://schemas.openxmlformats.org/officeDocument/2006/relationships/slide" Target="slides/slide28.xml"/><Relationship Id="rIdAppendix38" Type="http://schemas.openxmlformats.org/officeDocument/2006/relationships/slide" Target="slides/slide29.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915c693a3a4e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373993d52744a4" /><Relationship Type="http://schemas.openxmlformats.org/officeDocument/2006/relationships/notesMaster" Target="/ppt/notesMasters/notesMaster1.xml" Id="R4d8842a952d04f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4d11e592de4ea3" /><Relationship Type="http://schemas.openxmlformats.org/officeDocument/2006/relationships/notesMaster" Target="/ppt/notesMasters/notesMaster1.xml" Id="R795fb54f7a894c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2905abe2354ad4" /><Relationship Type="http://schemas.openxmlformats.org/officeDocument/2006/relationships/notesMaster" Target="/ppt/notesMasters/notesMaster1.xml" Id="R742dfa5e24b54c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dfe4a92fa64a64" /><Relationship Type="http://schemas.openxmlformats.org/officeDocument/2006/relationships/notesMaster" Target="/ppt/notesMasters/notesMaster1.xml" Id="R6b5b738ce6b448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c556505c094666" /><Relationship Type="http://schemas.openxmlformats.org/officeDocument/2006/relationships/notesMaster" Target="/ppt/notesMasters/notesMaster1.xml" Id="R347d6b0f0c16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01c707e1434df6" /><Relationship Type="http://schemas.openxmlformats.org/officeDocument/2006/relationships/notesMaster" Target="/ppt/notesMasters/notesMaster1.xml" Id="R25684102b2774e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db9dc984f24038" /><Relationship Type="http://schemas.openxmlformats.org/officeDocument/2006/relationships/notesMaster" Target="/ppt/notesMasters/notesMaster1.xml" Id="R2b6f0757a7f249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89eeaa820943e2" /><Relationship Type="http://schemas.openxmlformats.org/officeDocument/2006/relationships/notesMaster" Target="/ppt/notesMasters/notesMaster1.xml" Id="Ra89fcd3ceb1f42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4066fa8f8e41f7" /><Relationship Type="http://schemas.openxmlformats.org/officeDocument/2006/relationships/notesMaster" Target="/ppt/notesMasters/notesMaster1.xml" Id="Re21afd57e09748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fe13f94a694b42" /><Relationship Type="http://schemas.openxmlformats.org/officeDocument/2006/relationships/notesMaster" Target="/ppt/notesMasters/notesMaster1.xml" Id="R79420a82b1dd43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fa2b79ba5a453e" /><Relationship Type="http://schemas.openxmlformats.org/officeDocument/2006/relationships/notesMaster" Target="/ppt/notesMasters/notesMaster1.xml" Id="Rb851dcfded4646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65cfa6db844654" /><Relationship Type="http://schemas.openxmlformats.org/officeDocument/2006/relationships/notesMaster" Target="/ppt/notesMasters/notesMaster1.xml" Id="Rfcd2556a046745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dccc38fde143ff" /><Relationship Type="http://schemas.openxmlformats.org/officeDocument/2006/relationships/notesMaster" Target="/ppt/notesMasters/notesMaster1.xml" Id="R1962967598654e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0155930564166" /><Relationship Type="http://schemas.openxmlformats.org/officeDocument/2006/relationships/notesMaster" Target="/ppt/notesMasters/notesMaster1.xml" Id="R2cca62fd2d034d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3697b89b4949d2" /><Relationship Type="http://schemas.openxmlformats.org/officeDocument/2006/relationships/notesMaster" Target="/ppt/notesMasters/notesMaster1.xml" Id="R50d48bf1d73541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cd35779a6049d0" /><Relationship Type="http://schemas.openxmlformats.org/officeDocument/2006/relationships/notesMaster" Target="/ppt/notesMasters/notesMaster1.xml" Id="Rf6b9b476ce984c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7ef589ff6041a1" /><Relationship Type="http://schemas.openxmlformats.org/officeDocument/2006/relationships/notesMaster" Target="/ppt/notesMasters/notesMaster1.xml" Id="Rbff28dcbc2d542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98c9475fb54231" /><Relationship Type="http://schemas.openxmlformats.org/officeDocument/2006/relationships/notesMaster" Target="/ppt/notesMasters/notesMaster1.xml" Id="R66a51435b26f49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6c7113767449ad" /><Relationship Type="http://schemas.openxmlformats.org/officeDocument/2006/relationships/notesMaster" Target="/ppt/notesMasters/notesMaster1.xml" Id="R0189b79f9ed842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90121da2a814fa7" /><Relationship Type="http://schemas.openxmlformats.org/officeDocument/2006/relationships/notesMaster" Target="/ppt/notesMasters/notesMaster1.xml" Id="R00e8183076af48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c84fed93a64d5d" /><Relationship Type="http://schemas.openxmlformats.org/officeDocument/2006/relationships/notesMaster" Target="/ppt/notesMasters/notesMaster1.xml" Id="R1bffad3a90cd4d27" /></Relationships>
</file>

<file path=ppt/notesSlides/_rels/notesSlide22.xml.rels><?xml version='1.0' encoding='UTF-8' standalone='yes'?>
<Relationships xmlns="http://schemas.openxmlformats.org/package/2006/relationships"><Relationship Type="http://schemas.openxmlformats.org/officeDocument/2006/relationships/slide" Target="../slides/slide22.xml" Id="Rc26025bd8a6a4855"/><Relationship Type="http://schemas.openxmlformats.org/officeDocument/2006/relationships/notesMaster" Target="../notesMasters/notesMaster1.xml" Id="Reb8b39115d0e4bdc"/></Relationships>
</file>

<file path=ppt/notesSlides/_rels/notesSlide23.xml.rels><?xml version='1.0' encoding='UTF-8' standalone='yes'?>
<Relationships xmlns="http://schemas.openxmlformats.org/package/2006/relationships"><Relationship Type="http://schemas.openxmlformats.org/officeDocument/2006/relationships/slide" Target="../slides/slide23.xml" Id="R5d9cdb3776194110"/><Relationship Type="http://schemas.openxmlformats.org/officeDocument/2006/relationships/notesMaster" Target="../notesMasters/notesMaster1.xml" Id="R84f0551c2cc24271"/></Relationships>
</file>

<file path=ppt/notesSlides/_rels/notesSlide24.xml.rels><?xml version='1.0' encoding='UTF-8' standalone='yes'?>
<Relationships xmlns="http://schemas.openxmlformats.org/package/2006/relationships"><Relationship Type="http://schemas.openxmlformats.org/officeDocument/2006/relationships/slide" Target="../slides/slide24.xml" Id="Rd2fd81f0e68e4d50"/><Relationship Type="http://schemas.openxmlformats.org/officeDocument/2006/relationships/notesMaster" Target="../notesMasters/notesMaster1.xml" Id="Rbbec5c58d0484bbe"/></Relationships>
</file>

<file path=ppt/notesSlides/_rels/notesSlide25.xml.rels><?xml version='1.0' encoding='UTF-8' standalone='yes'?>
<Relationships xmlns="http://schemas.openxmlformats.org/package/2006/relationships"><Relationship Type="http://schemas.openxmlformats.org/officeDocument/2006/relationships/slide" Target="../slides/slide25.xml" Id="Re719604a0e8a413b"/><Relationship Type="http://schemas.openxmlformats.org/officeDocument/2006/relationships/notesMaster" Target="../notesMasters/notesMaster1.xml" Id="R5a3f76ffb4bd4aa9"/></Relationships>
</file>

<file path=ppt/notesSlides/_rels/notesSlide26.xml.rels><?xml version='1.0' encoding='UTF-8' standalone='yes'?>
<Relationships xmlns="http://schemas.openxmlformats.org/package/2006/relationships"><Relationship Type="http://schemas.openxmlformats.org/officeDocument/2006/relationships/slide" Target="../slides/slide26.xml" Id="Rb045fa4f50414da1"/><Relationship Type="http://schemas.openxmlformats.org/officeDocument/2006/relationships/notesMaster" Target="../notesMasters/notesMaster1.xml" Id="R8b37c1919c5547c6"/></Relationships>
</file>

<file path=ppt/notesSlides/_rels/notesSlide27.xml.rels><?xml version='1.0' encoding='UTF-8' standalone='yes'?>
<Relationships xmlns="http://schemas.openxmlformats.org/package/2006/relationships"><Relationship Type="http://schemas.openxmlformats.org/officeDocument/2006/relationships/slide" Target="../slides/slide27.xml" Id="R92a2c83a853e4f6c"/><Relationship Type="http://schemas.openxmlformats.org/officeDocument/2006/relationships/notesMaster" Target="../notesMasters/notesMaster1.xml" Id="Rb66405a62b674ec9"/></Relationships>
</file>

<file path=ppt/notesSlides/_rels/notesSlide28.xml.rels><?xml version='1.0' encoding='UTF-8' standalone='yes'?>
<Relationships xmlns="http://schemas.openxmlformats.org/package/2006/relationships"><Relationship Type="http://schemas.openxmlformats.org/officeDocument/2006/relationships/slide" Target="../slides/slide28.xml" Id="R979acdc7fd064848"/><Relationship Type="http://schemas.openxmlformats.org/officeDocument/2006/relationships/notesMaster" Target="../notesMasters/notesMaster1.xml" Id="R0f9d5054250b4fa3"/></Relationships>
</file>

<file path=ppt/notesSlides/_rels/notesSlide29.xml.rels><?xml version='1.0' encoding='UTF-8' standalone='yes'?>
<Relationships xmlns="http://schemas.openxmlformats.org/package/2006/relationships"><Relationship Type="http://schemas.openxmlformats.org/officeDocument/2006/relationships/slide" Target="../slides/slide29.xml" Id="R53ea581bdadf4e23"/><Relationship Type="http://schemas.openxmlformats.org/officeDocument/2006/relationships/notesMaster" Target="../notesMasters/notesMaster1.xml" Id="Rfec7f0a7c129466b"/></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19</a:t>
            </a:r>
          </a:p>
          <a:p xmlns:a="http://schemas.openxmlformats.org/drawingml/2006/main">
            <a:r>
              <a:t>https://carebuddy.life/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21</a:t>
            </a:r>
          </a:p>
          <a:p xmlns:a="http://schemas.openxmlformats.org/drawingml/2006/main">
            <a:r>
              <a:t>https://carebuddy.life/</a:t>
            </a:r>
          </a:p>
          <a:p xmlns:a="http://schemas.openxmlformats.org/drawingml/2006/main">
            <a:r>
              <a:t>https://carebuddy.life/today</a:t>
            </a:r>
          </a:p>
          <a:p xmlns:a="http://schemas.openxmlformats.org/drawingml/2006/main">
            <a:r>
              <a:t>https://intl.cloud.tencent.com/document/product/1300/78933?lang=en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ARCHITECTURE, not a claim about current deployment.</a:t>
            </a:r>
          </a:p>
          <a:p xmlns:a="http://schemas.openxmlformats.org/drawingml/2006/main">
            <a:r>
              <a:t>Stateless Express APIs run on separate CVM instances across Singapore Zone 1 and Zone 2; a regional CLB removes unhealthy replicas. Select a managed SQL configuration with primary/standby across zones and validate service/zone availability with Tencent. Durable outbox, idempotent workers, bounded retries, encrypted backups, health probes and an on-call runbook are proposed controls. Database connections must handle failover.</a:t>
            </a:r>
          </a:p>
          <a:p xmlns:a="http://schemas.openxmlformats.org/drawingml/2006/main">
            <a:r>
              <a:t>AI failures must not block manual routines, appointments or records. Only selected, authorised circle context may be sent to TokenHub; model provider processing locations/terms require review. The AI request is illustrated from one replica; both replicas use the same bounded adapter.</a:t>
            </a:r>
          </a:p>
          <a:p xmlns:a="http://schemas.openxmlformats.org/drawingml/2006/main">
            <a:r>
              <a:t>99.9% is a proposed monthly end-to-end SLO for core care flows, excluding external AI inference. It allows about 43.2 minutes of unavailability in a 30-day month. RTO ≤30 minutes and RPO ≤15 minutes are proposed backup/restore drill targets, not measured guarantees. Same-region availability does not cover a region-wide outage; separate DR design is needed.</a:t>
            </a:r>
          </a:p>
          <a:p xmlns:a="http://schemas.openxmlformats.org/drawingml/2006/main">
            <a:r>
              <a:t>Source: Tencent Cloud, Regions and Zones, last updated 18 September 2026. Supports cross-zone VPC isolation and regional CLB routing. https://www.tencentcloud.com/document/product/213/6091</a:t>
            </a:r>
          </a:p>
          <a:p xmlns:a="http://schemas.openxmlformats.org/drawingml/2006/main">
            <a:r>
              <a:t>Current prototype context: local docs/tokenhub.md (7 October 2026); account authentication and server CRUD migration remain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MULTI-TENANT MODEL.</a:t>
            </a:r>
          </a:p>
          <a:p xmlns:a="http://schemas.openxmlformats.org/drawingml/2006/main">
            <a:r>
              <a:t>A tenant is an organisation-sponsored account or a direct family account. Care circles have separate membership and consent grants within the tenant. A person can belong to multiple tenants, but the active tenant and circle must be explicitly authorised by the server. Organisation membership alone does not grant access to personal health records. Sponsor reporting should use agreed aggregate metrics unless a person explicitly grants specific access.</a:t>
            </a:r>
          </a:p>
          <a:p xmlns:a="http://schemas.openxmlformats.org/drawingml/2006/main">
            <a:r>
              <a:t>Every database operation must include verified tenant_id and care_circle_id scope. Use composite identifiers/constraints, tenant-scoped storage paths, scoped queue payloads and scoped AI retrieval. Reject missing or mismatched scope. Use database-enforced isolation where supported by the selected engine; do not assume MySQL provides native row-level security. A dedicated database is an optional enterprise tier.</a:t>
            </a:r>
          </a:p>
          <a:p xmlns:a="http://schemas.openxmlformats.org/drawingml/2006/main">
            <a:r>
              <a:t>Negative tests must attempt access using another tenant's identifiers, revoked circle roles, stale invitations and background jobs with mismatched scope. Tenant quotas and metering prevent one organisation from exhausting shared capacity.</a:t>
            </a:r>
          </a:p>
          <a:p xmlns:a="http://schemas.openxmlformats.org/drawingml/2006/main">
            <a:r>
              <a:t>Source context: CareBuddy-Launch.pdf, pages 6–14 and 20; local docs/tokenhub.md, dated 7 October 2026, describes selected-profile AI context and confirmation requirements but says authentication and server CRUD migration are separate. This slide proposes the production design, not implemented isolation.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SINGAPORE-FIRST BOTTOM-UP MARKET MODEL.</a:t>
            </a:r>
          </a:p>
          <a:p xmlns:a="http://schemas.openxmlformats.org/drawingml/2006/main">
            <a:r>
              <a:t>Observed input: 1.49 million Singapore resident households in 2025, as reported in Population Trends 2026 (published 25 September 2026). No claim is made that every household needs or will pay for CareBuddy.</a:t>
            </a:r>
          </a:p>
          <a:p xmlns:a="http://schemas.openxmlformats.org/drawingml/2006/main">
            <a:r>
              <a:t>Assumptions: one revenue-bearing care circle per household and S$10 per month (S$120 annually). A sponsor may pay on behalf of the family. TAM = 1,490,000 × 120 = S$178,800,000 annually, a theoretical upper bound for Singapore.</a:t>
            </a:r>
          </a:p>
          <a:p xmlns:a="http://schemas.openxmlformats.org/drawingml/2006/main">
            <a:r>
              <a:t>SAM eligibility is an explicit, unvalidated scenario assumption of 30% of households with a coordination need and ability to use the service. It is NOT an observed count of households with elderly members. SAM = 1,490,000 × 0.30 = 447,000 circles; annual potential = S$53,640,000 (rounded on slide to S$53.6m). Validate this eligibility share with research before using it as a forecast.</a:t>
            </a:r>
          </a:p>
          <a:p xmlns:a="http://schemas.openxmlformats.org/drawingml/2006/main">
            <a:r>
              <a:t>SOM is a year-3 distribution scenario: 5 partners × 5,000 unique eligible households each × 20% funded/paid conversion = 5,000 funded circles. De-duplicate households across partners. 5,000 × S$120 = S$600,000 annual recurring revenue at year-3 steady state, about 1.12% of SAM. Partner counts, reach, conversion and price are unvalidated, not current traction. Regional markets are excluded.</a:t>
            </a:r>
          </a:p>
          <a:p xmlns:a="http://schemas.openxmlformats.org/drawingml/2006/main">
            <a:r>
              <a:t>Sensitivity: at S$5/month all revenue values halve; at S$15/month they increase by 50%. At 20%/40% SAM eligibility, SAM becomes 298,000/596,000 circles, or S$35.76m/S$71.52m at the base price.</a:t>
            </a:r>
          </a:p>
          <a:p xmlns:a="http://schemas.openxmlformats.org/drawingml/2006/main">
            <a:r>
              <a:t>Source: Singapore Department of Statistics, Population Trends 2026, Households and Housing. https://www.singstat.gov.sg/publication-resources/population-trends-2026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SWOT is an assessment, not a statistical ranking or established competitive analysis.</a:t>
            </a:r>
          </a:p>
          <a:p xmlns:a="http://schemas.openxmlformats.org/drawingml/2006/main">
            <a:r>
              <a:t>Strengths are grounded in CareBuddy-Launch.pdf and local docs/tokenhub.md, dated 7 October 2026, which records a real TokenHub completion and confirmable domain-validated proposals. Weaknesses reflect the documented absence of production authentication/server CRUD and the original deck's limited wearable/clinical integration scope. No commercial retention, willingness-to-pay or clinical outcome data was supplied.</a:t>
            </a:r>
          </a:p>
          <a:p xmlns:a="http://schemas.openxmlformats.org/drawingml/2006/main">
            <a:r>
              <a:t>Opportunities are hypotheses for caregiver-led care coordination, community/clinical pilots and potential Tencent/NTU collaboration. Singapore resident population ageing is supported by SingStat: 19.5% aged 65+ in 2026, from 12.4% in 2016. https://www.singstat.gov.sg/publication-resources/population-trends-2026</a:t>
            </a:r>
          </a:p>
          <a:p xmlns:a="http://schemas.openxmlformats.org/drawingml/2006/main">
            <a:r>
              <a:t>Threats are plausible adoption and execution risks: existing care/reminder alternatives, repeat-use difficulty, trust failures and external AI/provider economics. They do not assert competitor market shares.</a:t>
            </a:r>
          </a:p>
          <a:p xmlns:a="http://schemas.openxmlformats.org/drawingml/2006/main">
            <a:r>
              <a:t>Priority: establish production identity/tenant controls, then test repeat use, support costs and paid sponsor demand before deeper clinical integration or regional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GO-TO-MARKET PLAN, with time measured from a production-ready pilot start rather than a committed calendar launch.</a:t>
            </a:r>
          </a:p>
          <a:p xmlns:a="http://schemas.openxmlformats.org/drawingml/2006/main">
            <a:r>
              <a:t>Initial user: an adult caregiver coordinating a family member's routines and appointments. Initial value proposition: fewer coordination gaps and a clearer daily task view; do not claim diagnosis, clinical triage or proven health outcomes. Recruit an initial cohort through an agreed community or clinical partner; no such partner commitment is claimed.</a:t>
            </a:r>
          </a:p>
          <a:p xmlns:a="http://schemas.openxmlformats.org/drawingml/2006/main">
            <a:r>
              <a:t>Activation definition: a circle creates a first routine and invites another authorised member within 7 days. The proposed activation target is ≥80% of enrolled circles. Weekly active at week 8 means at least one confirmed routine/care action during that week; denominator is all enrolled circles, with a proposed target of ≥50%. Targets are unvalidated. Capture qualitative caregiver feedback and onboarding barriers.</a:t>
            </a:r>
          </a:p>
          <a:p xmlns:a="http://schemas.openxmlformats.org/drawingml/2006/main">
            <a:r>
              <a:t>Business-model hypothesis: a sponsor pays S$120/circle/year, including family access. Validate price, support effort, AI unit costs and sponsor procurement cycle before a paid extension. A signed paid cohort, positive contribution after direct costs and sustained repeat use are gates to expansion.</a:t>
            </a:r>
          </a:p>
          <a:p xmlns:a="http://schemas.openxmlformats.org/drawingml/2006/main">
            <a:r>
              <a:t>In months 7–12, aim for 2–3 paying partners and repeatable onboarding. The market slide's five-partner SOM is a later year-3 scenario. Regional discovery starts after Singapore evidence; no regional revenue is included in this deck.</a:t>
            </a:r>
          </a:p>
          <a:p xmlns:a="http://schemas.openxmlformats.org/drawingml/2006/main">
            <a:r>
              <a:t>Source context: CareBuddy-Launch.pdf, especially pages 12–14 and 18–20. The channel priorities and commercial targets on this slide are strategic proposals, not external factual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TENCENT COLLABORATION, not an existing or committed partnership.</a:t>
            </a:r>
          </a:p>
          <a:p xmlns:a="http://schemas.openxmlformats.org/drawingml/2006/main">
            <a:r>
              <a:t>The first opportunity is a Tencent Cloud architecture workshop covering a Singapore deployment, multi-zone failover, data boundaries and AI model processing. Request pilot credits/support only against an agreed budget; this deck does not assume credits have been awarded or guaranteed.</a:t>
            </a:r>
          </a:p>
          <a:p xmlns:a="http://schemas.openxmlformats.org/drawingml/2006/main">
            <a:r>
              <a:t>The second is an evaluation of TokenHub models on caregiver coordination tasks and supported languages, with latency, per-circle cost and confirmation/error behaviour measured. Existing local docs/tokenhub.md, dated 7 October 2026, report a real completion via TokenHub; this does not establish a commercial partnership.</a:t>
            </a:r>
          </a:p>
          <a:p xmlns:a="http://schemas.openxmlformats.org/drawingml/2006/main">
            <a:r>
              <a:t>The third is to explore the Development Partner route and introductions to channels relevant to Singapore caregivers. Tencent's published partner programme lists Development Partners for software/SaaS built on Tencent Cloud. Eligibility and any joint marketing or distribution must be agreed. Regional/WeChat distribution could be assessed later after Singapore evidence; no access to Tencent users or guaranteed reach is claimed.</a:t>
            </a:r>
          </a:p>
          <a:p xmlns:a="http://schemas.openxmlformats.org/drawingml/2006/main">
            <a:r>
              <a:t>Potential reciprocal value: a consented reference workload demonstrating care-coordination demand for cloud and AI services. Any case study would require organisational agreement and participant consent; do not publish identifiable care information.</a:t>
            </a:r>
          </a:p>
          <a:p xmlns:a="http://schemas.openxmlformats.org/drawingml/2006/main">
            <a:r>
              <a:t>Sources: Tencent Cloud Partner Ecosystem Program. https://www.tencentcloud.com/partners</a:t>
            </a:r>
          </a:p>
          <a:p xmlns:a="http://schemas.openxmlformats.org/drawingml/2006/main">
            <a:r>
              <a:t>Tencent Cloud Regions and Zones. https://www.tencentcloud.com/document/product/213/6091</a:t>
            </a:r>
          </a:p>
          <a:p xmlns:a="http://schemas.openxmlformats.org/drawingml/2006/main">
            <a:r>
              <a:t>CareBuddy local docs/tokenhub.md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NTU COLLABORATION. NTU means Nanyang Technological University, confirmed by the user. No NTU participation, research approval, patient recruitment access or funding is claimed.</a:t>
            </a:r>
          </a:p>
          <a:p xmlns:a="http://schemas.openxmlformats.org/drawingml/2006/main">
            <a:r>
              <a:t>ARISE (Ageing Research Institute for Society and Education) describes gerontechnology and health coaching among its focus areas. This makes caregiver/older-adult co-design and behavioural usability work a plausible opportunity; the specific CareBuddy project is a proposal. https://www.ntu.edu.sg/arise/home</a:t>
            </a:r>
          </a:p>
          <a:p xmlns:a="http://schemas.openxmlformats.org/drawingml/2006/main">
            <a:r>
              <a:t>LKCMedicine's Primary Care &amp; Family Medicine programme describes co-developing interventions and research with GPs/community and its SPARK primary-care research network. Seek content/evaluation input and a feasibility protocol; do not imply clinical efficacy or guaranteed clinic access. https://www.ntu.edu.sg/pcfm</a:t>
            </a:r>
          </a:p>
          <a:p xmlns:a="http://schemas.openxmlformats.org/drawingml/2006/main">
            <a:r>
              <a:t>NTU Innovation and Entrepreneurship's Startup Pathway lists NTUitive venture-building guidance and support for field work on problem/market/business-model fit. Commercial advice, eligibility, partner introductions and IP ownership/publication rights require agreement. No grant eligibility or award is assumed. https://www.ntu.edu.sg/innovates/startup-pathway</a:t>
            </a:r>
          </a:p>
          <a:p xmlns:a="http://schemas.openxmlformats.org/drawingml/2006/main">
            <a:r>
              <a:t>An evaluation involving research participants requires an agreed protocol, appropriate institutional ethics review where applicable, and informed consent before recruitment. The initial aim is feasibility/usability and caregiver task coordination. Clinical outcome claims would require a separate, adequately designed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JOINT PILOT, contingent on Tencent/NTU agreement. 100 care circles are an illustrative initial cohort size, not a recruited cohort or a statistical power calculation. The 12-week participant programme starts only after production identity, consent/access controls, tenant storage and an agreed evaluation protocol are ready. Institutional ethics approval is required where the project is research and applicable; this schedule does not include approval lead time.</a:t>
            </a:r>
          </a:p>
          <a:p xmlns:a="http://schemas.openxmlformats.org/drawingml/2006/main">
            <a:r>
              <a:t>Weeks 1–2: caregiver/older-adult co-design feedback, consent and supported onboarding. Weeks 3–10: eight weeks of ordinary coordination use and weekly qualitative feedback. Weeks 11–12: evaluate engagement, usability, support effort, AI/hosting costs and sponsor willingness to fund a next cohort.</a:t>
            </a:r>
          </a:p>
          <a:p xmlns:a="http://schemas.openxmlformats.org/drawingml/2006/main">
            <a:r>
              <a:t>Activation target: at least 80 of 100 enrolled circles create a first routine and invite another authorised member within 7 days. Week-8 activity target: at least 50 of 100 enrolled circles perform one confirmed care action during the eighth usage week (calendar weeks 3–10 are the eight usage weeks). Measure active use at circle level, de-duplicate members and do not treat self-reported actions as verified medication adherence.</a:t>
            </a:r>
          </a:p>
          <a:p xmlns:a="http://schemas.openxmlformats.org/drawingml/2006/main">
            <a:r>
              <a:t>Proposed roles: Tencent supplies architecture/model evaluation advice and considers a defined support request; NTU collaborates on co-design and feasibility/evaluation oversight; CareBuddy builds and operates the product, handles participant support and tracks costs/incidents. The study protocol must define roles, data access, ownership, publication rights and withdrawal procedures.</a:t>
            </a:r>
          </a:p>
          <a:p xmlns:a="http://schemas.openxmlformats.org/drawingml/2006/main">
            <a:r>
              <a:t>Decision gate: sufficient sustained use, manageable direct delivery costs and a credible funded next cohort. No clinical-effectiveness claim is proposed for this feasibility pilot.</a:t>
            </a:r>
          </a:p>
          <a:p xmlns:a="http://schemas.openxmlformats.org/drawingml/2006/main">
            <a:r>
              <a:t>Institutional fit sources: https://www.ntu.edu.sg/arise/home ; https://www.ntu.edu.sg/pcfm ; https://www.tencentcloud.com/partners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d027e6754d43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b6b990f56a4c2b" /><Relationship Type="http://schemas.openxmlformats.org/officeDocument/2006/relationships/slideLayout" Target="/ppt/slideLayouts/slideLayout1.xml" Id="R4e2fbb1fc77b4c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2fbb1fc77b4c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4d763a55554a64" /><Relationship Type="http://schemas.openxmlformats.org/officeDocument/2006/relationships/image" Target="/ppt/media/image.png" Id="R28c83a2b09354fe6" /><Relationship Type="http://schemas.openxmlformats.org/officeDocument/2006/relationships/notesSlide" Target="/ppt/notesSlides/notesSlide1.xml" Id="Rbb5f6ebf6a1445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912643a69a4f65" /><Relationship Type="http://schemas.openxmlformats.org/officeDocument/2006/relationships/image" Target="/ppt/media/image2.png" Id="R36dce04c54164cd1" /><Relationship Type="http://schemas.openxmlformats.org/officeDocument/2006/relationships/notesSlide" Target="/ppt/notesSlides/notesSlide2.xml" Id="R310c4d49d419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9a52b34cf84004" /><Relationship Type="http://schemas.openxmlformats.org/officeDocument/2006/relationships/image" Target="/ppt/media/image3.png" Id="Rf8803bba04e64e15" /><Relationship Type="http://schemas.openxmlformats.org/officeDocument/2006/relationships/notesSlide" Target="/ppt/notesSlides/notesSlide3.xml" Id="R15d1f89d728746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580612a76f4dfb" /><Relationship Type="http://schemas.openxmlformats.org/officeDocument/2006/relationships/image" Target="/ppt/media/image4.png" Id="Rc4719cd45515438b" /><Relationship Type="http://schemas.openxmlformats.org/officeDocument/2006/relationships/notesSlide" Target="/ppt/notesSlides/notesSlide4.xml" Id="R6ab57ce2e66d4a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ea753d7da145b4" /><Relationship Type="http://schemas.openxmlformats.org/officeDocument/2006/relationships/notesSlide" Target="/ppt/notesSlides/notesSlide5.xml" Id="R065c2fd2e3464b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087a99562c43e8" /><Relationship Type="http://schemas.openxmlformats.org/officeDocument/2006/relationships/image" Target="/ppt/media/image5.png" Id="Rdf79a5966f4749a5" /><Relationship Type="http://schemas.openxmlformats.org/officeDocument/2006/relationships/notesSlide" Target="/ppt/notesSlides/notesSlide6.xml" Id="R38cfc951df214e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ce02213f1546c3" /><Relationship Type="http://schemas.openxmlformats.org/officeDocument/2006/relationships/image" Target="/ppt/media/image6.png" Id="R4d402f03b5104f48" /><Relationship Type="http://schemas.openxmlformats.org/officeDocument/2006/relationships/notesSlide" Target="/ppt/notesSlides/notesSlide7.xml" Id="R33b2c5eb6dee45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6982a76daf47af" /><Relationship Type="http://schemas.openxmlformats.org/officeDocument/2006/relationships/image" Target="/ppt/media/image7.png" Id="Rfed9e18073744c74" /><Relationship Type="http://schemas.openxmlformats.org/officeDocument/2006/relationships/notesSlide" Target="/ppt/notesSlides/notesSlide8.xml" Id="Rfbc984899a8f4b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386339feb64ef3" /><Relationship Type="http://schemas.openxmlformats.org/officeDocument/2006/relationships/image" Target="/ppt/media/image8.png" Id="R0854cba54df648ad" /><Relationship Type="http://schemas.openxmlformats.org/officeDocument/2006/relationships/notesSlide" Target="/ppt/notesSlides/notesSlide9.xml" Id="Rf96641fc3c5c47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ff165fafe14bdb" /><Relationship Type="http://schemas.openxmlformats.org/officeDocument/2006/relationships/image" Target="/ppt/media/image9.png" Id="Rbe7b6bbdcbae46a7" /><Relationship Type="http://schemas.openxmlformats.org/officeDocument/2006/relationships/notesSlide" Target="/ppt/notesSlides/notesSlide10.xml" Id="R2dd2dc5db2684e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e2f6e54f9c40f1" /><Relationship Type="http://schemas.openxmlformats.org/officeDocument/2006/relationships/image" Target="/ppt/media/image10.png" Id="R32ee00079b7d4c28" /><Relationship Type="http://schemas.openxmlformats.org/officeDocument/2006/relationships/notesSlide" Target="/ppt/notesSlides/notesSlide11.xml" Id="R75359b8537a94c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d8f2df4f744c29" /><Relationship Type="http://schemas.openxmlformats.org/officeDocument/2006/relationships/image" Target="/ppt/media/image11.png" Id="R56971ba0e6e947d7" /><Relationship Type="http://schemas.openxmlformats.org/officeDocument/2006/relationships/notesSlide" Target="/ppt/notesSlides/notesSlide12.xml" Id="R2d1eeb27a4a549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ab73f4c3ba4a26" /><Relationship Type="http://schemas.openxmlformats.org/officeDocument/2006/relationships/image" Target="/ppt/media/image12.png" Id="R1120f86fb2a44481" /><Relationship Type="http://schemas.openxmlformats.org/officeDocument/2006/relationships/notesSlide" Target="/ppt/notesSlides/notesSlide13.xml" Id="R4de6a4b94cef4e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b6b836b0404f22" /><Relationship Type="http://schemas.openxmlformats.org/officeDocument/2006/relationships/image" Target="/ppt/media/image13.png" Id="R6a6ab759a4e6434a" /><Relationship Type="http://schemas.openxmlformats.org/officeDocument/2006/relationships/notesSlide" Target="/ppt/notesSlides/notesSlide14.xml" Id="Rc65647dd63634b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72c750924349b9" /><Relationship Type="http://schemas.openxmlformats.org/officeDocument/2006/relationships/image" Target="/ppt/media/image14.png" Id="R0a78a69c6c734d71" /><Relationship Type="http://schemas.openxmlformats.org/officeDocument/2006/relationships/notesSlide" Target="/ppt/notesSlides/notesSlide15.xml" Id="Re6833d09a8fa4e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e3000f0d2c40eb" /><Relationship Type="http://schemas.openxmlformats.org/officeDocument/2006/relationships/notesSlide" Target="/ppt/notesSlides/notesSlide16.xml" Id="R647103f6663140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29e157861e4e94" /><Relationship Type="http://schemas.openxmlformats.org/officeDocument/2006/relationships/notesSlide" Target="/ppt/notesSlides/notesSlide17.xml" Id="R4daf1c6ff29f4c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57225c43234cd0" /><Relationship Type="http://schemas.openxmlformats.org/officeDocument/2006/relationships/notesSlide" Target="/ppt/notesSlides/notesSlide18.xml" Id="R33519c68e3284d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dacdb70db3b49cd" /><Relationship Type="http://schemas.openxmlformats.org/officeDocument/2006/relationships/image" Target="/ppt/media/image15.png" Id="R384df58a9b0c4977" /><Relationship Type="http://schemas.openxmlformats.org/officeDocument/2006/relationships/hyperlink" Target="https://carebuddy.life/" TargetMode="External" Id="Rea0d6863fbef4d5d" /><Relationship Type="http://schemas.openxmlformats.org/officeDocument/2006/relationships/notesSlide" Target="/ppt/notesSlides/notesSlide19.xml" Id="Re2712be221fe40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512b4b6f177487c" /><Relationship Type="http://schemas.openxmlformats.org/officeDocument/2006/relationships/notesSlide" Target="/ppt/notesSlides/notesSlide20.xml" Id="R4c04b3880f3740d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23aa90a2863449e" /><Relationship Type="http://schemas.openxmlformats.org/officeDocument/2006/relationships/hyperlink" Target="https://carebuddy.life/" TargetMode="External" Id="R23e81c7488d84ca2" /><Relationship Type="http://schemas.openxmlformats.org/officeDocument/2006/relationships/hyperlink" Target="https://carebuddy.life/today" TargetMode="External" Id="R977ab59221c74515" /><Relationship Type="http://schemas.openxmlformats.org/officeDocument/2006/relationships/hyperlink" Target="https://intl.cloud.tencent.com/document/product/1300/78933?lang=en" TargetMode="External" Id="R3ed6cdc3ef654af7" /><Relationship Type="http://schemas.openxmlformats.org/officeDocument/2006/relationships/notesSlide" Target="/ppt/notesSlides/notesSlide21.xml" Id="R624e4ce26a9842ac" /></Relationships>
</file>

<file path=ppt/slides/_rels/slide22.xml.rels><?xml version='1.0' encoding='UTF-8' standalone='yes'?>
<Relationships xmlns="http://schemas.openxmlformats.org/package/2006/relationships"><Relationship Type="http://schemas.openxmlformats.org/officeDocument/2006/relationships/slideLayout" Target="../slideLayouts/slideLayout1.xml" Id="R0bbfc694753240f1"/><Relationship Type="http://schemas.openxmlformats.org/officeDocument/2006/relationships/notesSlide" Target="../notesSlides/notesSlide22.xml" Id="R3fa0660460044e97"/></Relationships>
</file>

<file path=ppt/slides/_rels/slide23.xml.rels><?xml version='1.0' encoding='UTF-8' standalone='yes'?>
<Relationships xmlns="http://schemas.openxmlformats.org/package/2006/relationships"><Relationship Type="http://schemas.openxmlformats.org/officeDocument/2006/relationships/slideLayout" Target="../slideLayouts/slideLayout1.xml" Id="R6274a146df9c4785"/><Relationship Type="http://schemas.openxmlformats.org/officeDocument/2006/relationships/notesSlide" Target="../notesSlides/notesSlide23.xml" Id="R5894bb9aaba047d3"/></Relationships>
</file>

<file path=ppt/slides/_rels/slide24.xml.rels><?xml version='1.0' encoding='UTF-8' standalone='yes'?>
<Relationships xmlns="http://schemas.openxmlformats.org/package/2006/relationships"><Relationship Type="http://schemas.openxmlformats.org/officeDocument/2006/relationships/slideLayout" Target="../slideLayouts/slideLayout1.xml" Id="R1e57791b33f047cc"/><Relationship Type="http://schemas.openxmlformats.org/officeDocument/2006/relationships/notesSlide" Target="../notesSlides/notesSlide24.xml" Id="R1ea8153532354b80"/></Relationships>
</file>

<file path=ppt/slides/_rels/slide25.xml.rels><?xml version='1.0' encoding='UTF-8' standalone='yes'?>
<Relationships xmlns="http://schemas.openxmlformats.org/package/2006/relationships"><Relationship Type="http://schemas.openxmlformats.org/officeDocument/2006/relationships/slideLayout" Target="../slideLayouts/slideLayout1.xml" Id="R1f6783643f884476"/><Relationship Type="http://schemas.openxmlformats.org/officeDocument/2006/relationships/notesSlide" Target="../notesSlides/notesSlide25.xml" Id="R5792a4a437244e41"/></Relationships>
</file>

<file path=ppt/slides/_rels/slide26.xml.rels><?xml version='1.0' encoding='UTF-8' standalone='yes'?>
<Relationships xmlns="http://schemas.openxmlformats.org/package/2006/relationships"><Relationship Type="http://schemas.openxmlformats.org/officeDocument/2006/relationships/slideLayout" Target="../slideLayouts/slideLayout1.xml" Id="Rfa8fbacff16a4f1b"/><Relationship Type="http://schemas.openxmlformats.org/officeDocument/2006/relationships/notesSlide" Target="../notesSlides/notesSlide26.xml" Id="Reaf272886b764fe5"/></Relationships>
</file>

<file path=ppt/slides/_rels/slide27.xml.rels><?xml version='1.0' encoding='UTF-8' standalone='yes'?>
<Relationships xmlns="http://schemas.openxmlformats.org/package/2006/relationships"><Relationship Type="http://schemas.openxmlformats.org/officeDocument/2006/relationships/slideLayout" Target="../slideLayouts/slideLayout1.xml" Id="R6ba4fa3333024789"/><Relationship Type="http://schemas.openxmlformats.org/officeDocument/2006/relationships/notesSlide" Target="../notesSlides/notesSlide27.xml" Id="R0f218784c98c4862"/></Relationships>
</file>

<file path=ppt/slides/_rels/slide28.xml.rels><?xml version='1.0' encoding='UTF-8' standalone='yes'?>
<Relationships xmlns="http://schemas.openxmlformats.org/package/2006/relationships"><Relationship Type="http://schemas.openxmlformats.org/officeDocument/2006/relationships/slideLayout" Target="../slideLayouts/slideLayout1.xml" Id="Rd626bd99b9244c03"/><Relationship Type="http://schemas.openxmlformats.org/officeDocument/2006/relationships/notesSlide" Target="../notesSlides/notesSlide28.xml" Id="R2fc3954fd37543d3"/></Relationships>
</file>

<file path=ppt/slides/_rels/slide29.xml.rels><?xml version='1.0' encoding='UTF-8' standalone='yes'?>
<Relationships xmlns="http://schemas.openxmlformats.org/package/2006/relationships"><Relationship Type="http://schemas.openxmlformats.org/officeDocument/2006/relationships/slideLayout" Target="../slideLayouts/slideLayout1.xml" Id="R864ef3c4ad614f00"/><Relationship Type="http://schemas.openxmlformats.org/officeDocument/2006/relationships/notesSlide" Target="../notesSlides/notesSlide29.xml" Id="Rc2c8c043d8d74aad"/></Relationships>
</file>

<file path=ppt/slides/slide1.xml><?xml version="1.0" encoding="utf-8"?>
<p:sld xmlns:p="http://schemas.openxmlformats.org/presentationml/2006/main">
  <p:cSld>
    <p:bg>
      <p:bgPr>
        <a:solidFill xmlns:a="http://schemas.openxmlformats.org/drawingml/2006/main">
          <a:srgbClr val="030706"/>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8c83a2b09354fe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1-t000">
            <a:extLst xmlns:a="http://schemas.openxmlformats.org/drawingml/2006/main">
              <a:ext uri="{FF2B5EF4-FFF2-40B4-BE49-F238E27FC236}">
                <a16:creationId xmlns:a16="http://schemas.microsoft.com/office/drawing/2014/main" id="{6F22218B-3258-4ABC-A51A-9900F9265DD4}"/>
              </a:ext>
            </a:extLst>
          </p:cNvPr>
          <p:cNvSpPr>
            <a:spLocks xmlns:a="http://schemas.openxmlformats.org/drawingml/2006/main" noGrp="1"/>
          </p:cNvSpPr>
          <p:nvPr/>
        </p:nvSpPr>
        <p:spPr>
          <a:xfrm xmlns:a="http://schemas.openxmlformats.org/drawingml/2006/main">
            <a:off x="1943100" y="779958"/>
            <a:ext cx="1272283" cy="620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975" spc="-215" kern="400000">
                <a:solidFill>
                  <a:srgbClr val="FAF6F0"/>
                </a:solidFill>
                <a:latin typeface="Deck-Semi-Bold"/>
                <a:ea typeface="Deck-Semi-Bold"/>
                <a:cs typeface="Deck-Semi-Bold"/>
              </a:defRPr>
            </a:pPr>
            <a:r>
              <a:rPr sz="3975" b="0" i="0" kern="400000" spc="-215">
                <a:solidFill>
                  <a:srgbClr val="FAF6F0">
                    <a:alpha val="100000"/>
                  </a:srgbClr>
                </a:solidFill>
                <a:latin typeface="Deck-Semi-Bold"/>
                <a:ea typeface="Deck-Semi-Bold"/>
                <a:cs typeface="Deck-Semi-Bold"/>
              </a:rPr>
              <a:t xml:space="preserve">Care</a:t>
            </a:r>
            <a:endParaRPr lang="en-US" sz="3975" spc="-215" kern="400000">
              <a:latin typeface="Deck-Semi-Bold"/>
            </a:endParaRPr>
          </a:p>
        </p:txBody>
      </p:sp>
      <p:sp>
        <p:nvSpPr>
          <p:cNvPr id="3" name="s01-t001">
            <a:extLst xmlns:a="http://schemas.openxmlformats.org/drawingml/2006/main">
              <a:ext uri="{FF2B5EF4-FFF2-40B4-BE49-F238E27FC236}">
                <a16:creationId xmlns:a16="http://schemas.microsoft.com/office/drawing/2014/main" id="{9B584D41-842D-4764-9402-56CB8FD53472}"/>
              </a:ext>
            </a:extLst>
          </p:cNvPr>
          <p:cNvSpPr>
            <a:spLocks xmlns:a="http://schemas.openxmlformats.org/drawingml/2006/main" noGrp="1"/>
          </p:cNvSpPr>
          <p:nvPr/>
        </p:nvSpPr>
        <p:spPr>
          <a:xfrm xmlns:a="http://schemas.openxmlformats.org/drawingml/2006/main">
            <a:off x="2953410" y="779958"/>
            <a:ext cx="1656378" cy="620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975" spc="-187" kern="400000">
                <a:solidFill>
                  <a:srgbClr val="9BDAB6"/>
                </a:solidFill>
                <a:latin typeface="Deck-Semi-Bold"/>
                <a:ea typeface="Deck-Semi-Bold"/>
                <a:cs typeface="Deck-Semi-Bold"/>
              </a:defRPr>
            </a:pPr>
            <a:r>
              <a:rPr sz="3975" b="0" i="0" kern="400000" spc="-187">
                <a:solidFill>
                  <a:srgbClr val="9BDAB6">
                    <a:alpha val="100000"/>
                  </a:srgbClr>
                </a:solidFill>
                <a:latin typeface="Deck-Semi-Bold"/>
                <a:ea typeface="Deck-Semi-Bold"/>
                <a:cs typeface="Deck-Semi-Bold"/>
              </a:rPr>
              <a:t xml:space="preserve">Buddy</a:t>
            </a:r>
            <a:endParaRPr lang="en-US" sz="3975" spc="-187" kern="400000">
              <a:latin typeface="Deck-Semi-Bold"/>
            </a:endParaRPr>
          </a:p>
        </p:txBody>
      </p:sp>
      <p:sp>
        <p:nvSpPr>
          <p:cNvPr id="4" name="s01-t002">
            <a:extLst xmlns:a="http://schemas.openxmlformats.org/drawingml/2006/main">
              <a:ext uri="{FF2B5EF4-FFF2-40B4-BE49-F238E27FC236}">
                <a16:creationId xmlns:a16="http://schemas.microsoft.com/office/drawing/2014/main" id="{FED8F25E-EB3B-4856-88CD-AF64ADC0460C}"/>
              </a:ext>
            </a:extLst>
          </p:cNvPr>
          <p:cNvSpPr>
            <a:spLocks xmlns:a="http://schemas.openxmlformats.org/drawingml/2006/main" noGrp="1"/>
          </p:cNvSpPr>
          <p:nvPr/>
        </p:nvSpPr>
        <p:spPr>
          <a:xfrm xmlns:a="http://schemas.openxmlformats.org/drawingml/2006/main">
            <a:off x="1000125" y="1724026"/>
            <a:ext cx="4704998"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6" kern="400000">
                <a:solidFill>
                  <a:srgbClr val="D0DDD4"/>
                </a:solidFill>
                <a:latin typeface="Deck"/>
                <a:ea typeface="Deck"/>
                <a:cs typeface="Deck"/>
              </a:defRPr>
            </a:pPr>
            <a:r>
              <a:rPr sz="2025" b="0" i="0" kern="400000" spc="6">
                <a:solidFill>
                  <a:srgbClr val="D0DDD4">
                    <a:alpha val="100000"/>
                  </a:srgbClr>
                </a:solidFill>
                <a:latin typeface="Deck"/>
                <a:ea typeface="Deck"/>
                <a:cs typeface="Deck"/>
              </a:rPr>
              <a:t xml:space="preserve">From the WhiteCoat Innovation Team</a:t>
            </a:r>
            <a:endParaRPr lang="en-US" sz="2025" spc="6" kern="400000">
              <a:latin typeface="Deck"/>
            </a:endParaRPr>
          </a:p>
        </p:txBody>
      </p:sp>
      <p:sp>
        <p:nvSpPr>
          <p:cNvPr id="5" name="s01-t003">
            <a:extLst xmlns:a="http://schemas.openxmlformats.org/drawingml/2006/main">
              <a:ext uri="{FF2B5EF4-FFF2-40B4-BE49-F238E27FC236}">
                <a16:creationId xmlns:a16="http://schemas.microsoft.com/office/drawing/2014/main" id="{5F66880E-7A90-4DE0-8D36-6352248FF210}"/>
              </a:ext>
            </a:extLst>
          </p:cNvPr>
          <p:cNvSpPr>
            <a:spLocks xmlns:a="http://schemas.openxmlformats.org/drawingml/2006/main" noGrp="1"/>
          </p:cNvSpPr>
          <p:nvPr/>
        </p:nvSpPr>
        <p:spPr>
          <a:xfrm xmlns:a="http://schemas.openxmlformats.org/drawingml/2006/main">
            <a:off x="952500" y="2172138"/>
            <a:ext cx="9633985"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17" kern="400000">
                <a:solidFill>
                  <a:srgbClr val="FAF6F0"/>
                </a:solidFill>
                <a:latin typeface="Deck-Semi-Bold"/>
                <a:ea typeface="Deck-Semi-Bold"/>
                <a:cs typeface="Deck-Semi-Bold"/>
              </a:defRPr>
            </a:pPr>
            <a:r>
              <a:rPr sz="9450" b="0" i="0" kern="400000" spc="-517">
                <a:solidFill>
                  <a:srgbClr val="FAF6F0">
                    <a:alpha val="100000"/>
                  </a:srgbClr>
                </a:solidFill>
                <a:latin typeface="Deck-Semi-Bold"/>
                <a:ea typeface="Deck-Semi-Bold"/>
                <a:cs typeface="Deck-Semi-Bold"/>
              </a:rPr>
              <a:t xml:space="preserve">Less to remember.</a:t>
            </a:r>
            <a:endParaRPr lang="en-US" sz="9450" spc="-517" kern="400000">
              <a:latin typeface="Deck-Semi-Bold"/>
            </a:endParaRPr>
          </a:p>
        </p:txBody>
      </p:sp>
      <p:sp>
        <p:nvSpPr>
          <p:cNvPr id="6" name="s01-t004">
            <a:extLst xmlns:a="http://schemas.openxmlformats.org/drawingml/2006/main">
              <a:ext uri="{FF2B5EF4-FFF2-40B4-BE49-F238E27FC236}">
                <a16:creationId xmlns:a16="http://schemas.microsoft.com/office/drawing/2014/main" id="{964930D1-29BC-4B06-B99C-59B56B1B5FF7}"/>
              </a:ext>
            </a:extLst>
          </p:cNvPr>
          <p:cNvSpPr>
            <a:spLocks xmlns:a="http://schemas.openxmlformats.org/drawingml/2006/main" noGrp="1"/>
          </p:cNvSpPr>
          <p:nvPr/>
        </p:nvSpPr>
        <p:spPr>
          <a:xfrm xmlns:a="http://schemas.openxmlformats.org/drawingml/2006/main">
            <a:off x="952500" y="3414293"/>
            <a:ext cx="5879973"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08" kern="400000">
                <a:solidFill>
                  <a:srgbClr val="9BDAB6"/>
                </a:solidFill>
                <a:latin typeface="Deck-Semi-Bold"/>
                <a:ea typeface="Deck-Semi-Bold"/>
                <a:cs typeface="Deck-Semi-Bold"/>
              </a:defRPr>
            </a:pPr>
            <a:r>
              <a:rPr sz="9450" b="0" i="0" kern="400000" spc="-508">
                <a:solidFill>
                  <a:srgbClr val="9BDAB6">
                    <a:alpha val="100000"/>
                  </a:srgbClr>
                </a:solidFill>
                <a:latin typeface="Deck-Semi-Bold"/>
                <a:ea typeface="Deck-Semi-Bold"/>
                <a:cs typeface="Deck-Semi-Bold"/>
              </a:rPr>
              <a:t xml:space="preserve">More room</a:t>
            </a:r>
            <a:endParaRPr lang="en-US" sz="9450" spc="-508" kern="400000">
              <a:latin typeface="Deck-Semi-Bold"/>
            </a:endParaRPr>
          </a:p>
        </p:txBody>
      </p:sp>
      <p:sp>
        <p:nvSpPr>
          <p:cNvPr id="7" name="s01-t005">
            <a:extLst xmlns:a="http://schemas.openxmlformats.org/drawingml/2006/main">
              <a:ext uri="{FF2B5EF4-FFF2-40B4-BE49-F238E27FC236}">
                <a16:creationId xmlns:a16="http://schemas.microsoft.com/office/drawing/2014/main" id="{E6B5FFAD-B1D6-4C4D-8DDA-BD0FE4683549}"/>
              </a:ext>
            </a:extLst>
          </p:cNvPr>
          <p:cNvSpPr>
            <a:spLocks xmlns:a="http://schemas.openxmlformats.org/drawingml/2006/main" noGrp="1"/>
          </p:cNvSpPr>
          <p:nvPr/>
        </p:nvSpPr>
        <p:spPr>
          <a:xfrm xmlns:a="http://schemas.openxmlformats.org/drawingml/2006/main">
            <a:off x="952500" y="4656448"/>
            <a:ext cx="3992594"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10" kern="400000">
                <a:solidFill>
                  <a:srgbClr val="9BDAB6"/>
                </a:solidFill>
                <a:latin typeface="Deck-Semi-Bold"/>
                <a:ea typeface="Deck-Semi-Bold"/>
                <a:cs typeface="Deck-Semi-Bold"/>
              </a:defRPr>
            </a:pPr>
            <a:r>
              <a:rPr sz="9450" b="0" i="0" kern="400000" spc="-510">
                <a:solidFill>
                  <a:srgbClr val="9BDAB6">
                    <a:alpha val="100000"/>
                  </a:srgbClr>
                </a:solidFill>
                <a:latin typeface="Deck-Semi-Bold"/>
                <a:ea typeface="Deck-Semi-Bold"/>
                <a:cs typeface="Deck-Semi-Bold"/>
              </a:rPr>
              <a:t xml:space="preserve">to care.</a:t>
            </a:r>
            <a:endParaRPr lang="en-US" sz="9450" spc="-510" kern="400000">
              <a:latin typeface="Deck-Semi-Bold"/>
            </a:endParaRPr>
          </a:p>
        </p:txBody>
      </p:sp>
      <p:sp>
        <p:nvSpPr>
          <p:cNvPr id="8" name="s01-t006">
            <a:extLst xmlns:a="http://schemas.openxmlformats.org/drawingml/2006/main">
              <a:ext uri="{FF2B5EF4-FFF2-40B4-BE49-F238E27FC236}">
                <a16:creationId xmlns:a16="http://schemas.microsoft.com/office/drawing/2014/main" id="{D7ABC6BF-6101-439C-B10A-058BC63ABBB0}"/>
              </a:ext>
            </a:extLst>
          </p:cNvPr>
          <p:cNvSpPr>
            <a:spLocks xmlns:a="http://schemas.openxmlformats.org/drawingml/2006/main" noGrp="1"/>
          </p:cNvSpPr>
          <p:nvPr/>
        </p:nvSpPr>
        <p:spPr>
          <a:xfrm xmlns:a="http://schemas.openxmlformats.org/drawingml/2006/main">
            <a:off x="990600" y="7458077"/>
            <a:ext cx="4654801"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133" kern="400000">
                <a:solidFill>
                  <a:srgbClr val="9BDAB6"/>
                </a:solidFill>
                <a:latin typeface="Deck"/>
                <a:ea typeface="Deck"/>
                <a:cs typeface="Deck"/>
              </a:defRPr>
            </a:pPr>
            <a:r>
              <a:rPr sz="1575" b="0" i="0" kern="400000" spc="133">
                <a:solidFill>
                  <a:srgbClr val="9BDAB6">
                    <a:alpha val="100000"/>
                  </a:srgbClr>
                </a:solidFill>
                <a:latin typeface="Deck"/>
                <a:ea typeface="Deck"/>
                <a:cs typeface="Deck"/>
              </a:rPr>
              <a:t xml:space="preserve">HEALTHCARE · LONG-TERM SELF-CARE</a:t>
            </a:r>
            <a:endParaRPr lang="en-US" sz="1575" spc="133" kern="400000">
              <a:latin typeface="Deck"/>
            </a:endParaRPr>
          </a:p>
        </p:txBody>
      </p:sp>
      <p:sp>
        <p:nvSpPr>
          <p:cNvPr id="9" name="s01-t007">
            <a:extLst xmlns:a="http://schemas.openxmlformats.org/drawingml/2006/main">
              <a:ext uri="{FF2B5EF4-FFF2-40B4-BE49-F238E27FC236}">
                <a16:creationId xmlns:a16="http://schemas.microsoft.com/office/drawing/2014/main" id="{0828D0F6-011F-4D08-ACA0-749AC2FCF157}"/>
              </a:ext>
            </a:extLst>
          </p:cNvPr>
          <p:cNvSpPr>
            <a:spLocks xmlns:a="http://schemas.openxmlformats.org/drawingml/2006/main" noGrp="1"/>
          </p:cNvSpPr>
          <p:nvPr/>
        </p:nvSpPr>
        <p:spPr>
          <a:xfrm xmlns:a="http://schemas.openxmlformats.org/drawingml/2006/main">
            <a:off x="990600" y="8000997"/>
            <a:ext cx="6123889"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8" kern="400000">
                <a:solidFill>
                  <a:srgbClr val="FAF6F0"/>
                </a:solidFill>
                <a:latin typeface="Deck"/>
                <a:ea typeface="Deck"/>
                <a:cs typeface="Deck"/>
              </a:defRPr>
            </a:pPr>
            <a:r>
              <a:rPr sz="1800" b="0" i="0" kern="400000" spc="-8">
                <a:solidFill>
                  <a:srgbClr val="FAF6F0">
                    <a:alpha val="100000"/>
                  </a:srgbClr>
                </a:solidFill>
                <a:latin typeface="Deck"/>
                <a:ea typeface="Deck"/>
                <a:cs typeface="Deck"/>
              </a:rPr>
              <a:t xml:space="preserve">Tencent Cloud AI CAN DO IT Hackathon Singapore 2026</a:t>
            </a:r>
            <a:endParaRPr lang="en-US" sz="1800" spc="-8" kern="400000">
              <a:latin typeface="Deck"/>
            </a:endParaRPr>
          </a:p>
        </p:txBody>
      </p:sp>
      <p:sp>
        <p:nvSpPr>
          <p:cNvPr id="10" name="s01-t008">
            <a:extLst xmlns:a="http://schemas.openxmlformats.org/drawingml/2006/main">
              <a:ext uri="{FF2B5EF4-FFF2-40B4-BE49-F238E27FC236}">
                <a16:creationId xmlns:a16="http://schemas.microsoft.com/office/drawing/2014/main" id="{36D04FC8-AB6B-49D0-8B0E-5AB117A95977}"/>
              </a:ext>
            </a:extLst>
          </p:cNvPr>
          <p:cNvSpPr>
            <a:spLocks xmlns:a="http://schemas.openxmlformats.org/drawingml/2006/main" noGrp="1"/>
          </p:cNvSpPr>
          <p:nvPr/>
        </p:nvSpPr>
        <p:spPr>
          <a:xfrm xmlns:a="http://schemas.openxmlformats.org/drawingml/2006/main">
            <a:off x="990600" y="8505823"/>
            <a:ext cx="5342338"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75" kern="400000">
                <a:solidFill>
                  <a:srgbClr val="FAF6F0"/>
                </a:solidFill>
                <a:latin typeface="Deck"/>
                <a:ea typeface="Deck"/>
                <a:cs typeface="Deck"/>
              </a:defRPr>
            </a:pPr>
            <a:r>
              <a:rPr sz="1875" b="0" i="0" kern="400000" spc="75">
                <a:solidFill>
                  <a:srgbClr val="A8A6A2">
                    <a:alpha val="100000"/>
                  </a:srgbClr>
                </a:solidFill>
                <a:latin typeface="Deck"/>
                <a:ea typeface="Deck"/>
                <a:cs typeface="Deck"/>
              </a:rPr>
              <a:t xml:space="preserve">Alex Lew · Shao Quan Chew · Yau Boon Tan</a:t>
            </a:r>
            <a:endParaRPr lang="en-US" sz="1875" spc="75" kern="400000">
              <a:latin typeface="Deck"/>
            </a:endParaRPr>
          </a:p>
        </p:txBody>
      </p:sp>
      <p:sp>
        <p:nvSpPr>
          <p:cNvPr id="11" name="s01-t009">
            <a:extLst xmlns:a="http://schemas.openxmlformats.org/drawingml/2006/main">
              <a:ext uri="{FF2B5EF4-FFF2-40B4-BE49-F238E27FC236}">
                <a16:creationId xmlns:a16="http://schemas.microsoft.com/office/drawing/2014/main" id="{8C144EC9-838C-4F52-BA78-D14431DF5C61}"/>
              </a:ext>
            </a:extLst>
          </p:cNvPr>
          <p:cNvSpPr>
            <a:spLocks xmlns:a="http://schemas.openxmlformats.org/drawingml/2006/main" noGrp="1"/>
          </p:cNvSpPr>
          <p:nvPr/>
        </p:nvSpPr>
        <p:spPr>
          <a:xfrm xmlns:a="http://schemas.openxmlformats.org/drawingml/2006/main">
            <a:off x="17163181" y="9730387"/>
            <a:ext cx="4093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19E9A">
                    <a:alpha val="100000"/>
                  </a:srgbClr>
                </a:solidFill>
                <a:latin typeface="Deck"/>
                <a:ea typeface="Deck"/>
                <a:cs typeface="Deck"/>
              </a:rPr>
              <a:t xml:space="preserve">01</a:t>
            </a:r>
            <a:endParaRPr lang="en-US" sz="1350" spc="7" kern="400000">
              <a:latin typeface="Deck"/>
            </a:endParaRPr>
          </a:p>
        </p:txBody>
      </p:sp>
    </p:spTree>
    <p:extLst>
      <p:ext uri="{BB962C8B-B14F-4D97-AF65-F5344CB8AC3E}">
        <p14:creationId xmlns:p14="http://schemas.microsoft.com/office/powerpoint/2010/main" val="130392930"/>
      </p:ext>
    </p:extLst>
  </p:cSld>
</p:sld>
</file>

<file path=ppt/slides/slide2.xml><?xml version="1.0" encoding="utf-8"?>
<p:sld xmlns:p="http://schemas.openxmlformats.org/presentationml/2006/main">
  <p:cSld>
    <p:bg>
      <p:bgPr>
        <a:solidFill xmlns:a="http://schemas.openxmlformats.org/drawingml/2006/main">
          <a:srgbClr val="05080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6dce04c54164cd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2-t000">
            <a:extLst xmlns:a="http://schemas.openxmlformats.org/drawingml/2006/main">
              <a:ext uri="{FF2B5EF4-FFF2-40B4-BE49-F238E27FC236}">
                <a16:creationId xmlns:a16="http://schemas.microsoft.com/office/drawing/2014/main" id="{5BA81B77-BD98-4EA7-A0D1-4A705FB2E87F}"/>
              </a:ext>
            </a:extLst>
          </p:cNvPr>
          <p:cNvSpPr>
            <a:spLocks xmlns:a="http://schemas.openxmlformats.org/drawingml/2006/main" noGrp="1"/>
          </p:cNvSpPr>
          <p:nvPr/>
        </p:nvSpPr>
        <p:spPr>
          <a:xfrm xmlns:a="http://schemas.openxmlformats.org/drawingml/2006/main">
            <a:off x="981075" y="1926527"/>
            <a:ext cx="7682951"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94" kern="400000">
                <a:solidFill>
                  <a:srgbClr val="FAF6F0"/>
                </a:solidFill>
                <a:latin typeface="Deck-Semi-Bold"/>
                <a:ea typeface="Deck-Semi-Bold"/>
                <a:cs typeface="Deck-Semi-Bold"/>
              </a:defRPr>
            </a:pPr>
            <a:r>
              <a:rPr sz="9225" b="0" i="0" kern="400000" spc="-394">
                <a:solidFill>
                  <a:srgbClr val="FAF6F0">
                    <a:alpha val="100000"/>
                  </a:srgbClr>
                </a:solidFill>
                <a:latin typeface="Deck-Semi-Bold"/>
                <a:ea typeface="Deck-Semi-Bold"/>
                <a:cs typeface="Deck-Semi-Bold"/>
              </a:rPr>
              <a:t xml:space="preserve">AI everywhere.</a:t>
            </a:r>
            <a:endParaRPr lang="en-US" sz="9225" spc="-394" kern="400000">
              <a:latin typeface="Deck-Semi-Bold"/>
            </a:endParaRPr>
          </a:p>
        </p:txBody>
      </p:sp>
      <p:sp>
        <p:nvSpPr>
          <p:cNvPr id="3" name="s02-t001">
            <a:extLst xmlns:a="http://schemas.openxmlformats.org/drawingml/2006/main">
              <a:ext uri="{FF2B5EF4-FFF2-40B4-BE49-F238E27FC236}">
                <a16:creationId xmlns:a16="http://schemas.microsoft.com/office/drawing/2014/main" id="{12985A1E-5C4D-47A0-ADC9-4CE702DD862B}"/>
              </a:ext>
            </a:extLst>
          </p:cNvPr>
          <p:cNvSpPr>
            <a:spLocks xmlns:a="http://schemas.openxmlformats.org/drawingml/2006/main" noGrp="1"/>
          </p:cNvSpPr>
          <p:nvPr/>
        </p:nvSpPr>
        <p:spPr>
          <a:xfrm xmlns:a="http://schemas.openxmlformats.org/drawingml/2006/main">
            <a:off x="981075" y="3168396"/>
            <a:ext cx="3447183"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97" kern="400000">
                <a:solidFill>
                  <a:srgbClr val="FAF6F0"/>
                </a:solidFill>
                <a:latin typeface="Deck-Semi-Bold"/>
                <a:ea typeface="Deck-Semi-Bold"/>
                <a:cs typeface="Deck-Semi-Bold"/>
              </a:defRPr>
            </a:pPr>
            <a:r>
              <a:rPr sz="9225" b="0" i="0" kern="400000" spc="-397">
                <a:solidFill>
                  <a:srgbClr val="FAF6F0">
                    <a:alpha val="100000"/>
                  </a:srgbClr>
                </a:solidFill>
                <a:latin typeface="Deck-Semi-Bold"/>
                <a:ea typeface="Deck-Semi-Bold"/>
                <a:cs typeface="Deck-Semi-Bold"/>
              </a:rPr>
              <a:t xml:space="preserve">Life at</a:t>
            </a:r>
            <a:endParaRPr lang="en-US" sz="9225" spc="-397" kern="400000">
              <a:latin typeface="Deck-Semi-Bold"/>
            </a:endParaRPr>
          </a:p>
        </p:txBody>
      </p:sp>
      <p:sp>
        <p:nvSpPr>
          <p:cNvPr id="4" name="s02-t002">
            <a:extLst xmlns:a="http://schemas.openxmlformats.org/drawingml/2006/main">
              <a:ext uri="{FF2B5EF4-FFF2-40B4-BE49-F238E27FC236}">
                <a16:creationId xmlns:a16="http://schemas.microsoft.com/office/drawing/2014/main" id="{61CA92B4-1E54-4DE0-9B5B-FED8014D18E9}"/>
              </a:ext>
            </a:extLst>
          </p:cNvPr>
          <p:cNvSpPr>
            <a:spLocks xmlns:a="http://schemas.openxmlformats.org/drawingml/2006/main" noGrp="1"/>
          </p:cNvSpPr>
          <p:nvPr/>
        </p:nvSpPr>
        <p:spPr>
          <a:xfrm xmlns:a="http://schemas.openxmlformats.org/drawingml/2006/main">
            <a:off x="981075" y="4410266"/>
            <a:ext cx="5358489"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69" kern="400000">
                <a:solidFill>
                  <a:srgbClr val="9BDAB6"/>
                </a:solidFill>
                <a:latin typeface="Deck-Semi-Bold"/>
                <a:ea typeface="Deck-Semi-Bold"/>
                <a:cs typeface="Deck-Semi-Bold"/>
              </a:defRPr>
            </a:pPr>
            <a:r>
              <a:rPr sz="9225" b="0" i="0" kern="400000" spc="-369">
                <a:solidFill>
                  <a:srgbClr val="9BDAB6">
                    <a:alpha val="100000"/>
                  </a:srgbClr>
                </a:solidFill>
                <a:latin typeface="Deck-Semi-Bold"/>
                <a:ea typeface="Deck-Semi-Bold"/>
                <a:cs typeface="Deck-Semi-Bold"/>
              </a:rPr>
              <a:t xml:space="preserve">full speed.</a:t>
            </a:r>
            <a:endParaRPr lang="en-US" sz="9225" spc="-369" kern="400000">
              <a:latin typeface="Deck-Semi-Bold"/>
            </a:endParaRPr>
          </a:p>
        </p:txBody>
      </p:sp>
      <p:sp>
        <p:nvSpPr>
          <p:cNvPr id="5" name="s02-t003">
            <a:extLst xmlns:a="http://schemas.openxmlformats.org/drawingml/2006/main">
              <a:ext uri="{FF2B5EF4-FFF2-40B4-BE49-F238E27FC236}">
                <a16:creationId xmlns:a16="http://schemas.microsoft.com/office/drawing/2014/main" id="{403BC5CD-F596-4EE5-8878-F55E45695C6F}"/>
              </a:ext>
            </a:extLst>
          </p:cNvPr>
          <p:cNvSpPr>
            <a:spLocks xmlns:a="http://schemas.openxmlformats.org/drawingml/2006/main" noGrp="1"/>
          </p:cNvSpPr>
          <p:nvPr/>
        </p:nvSpPr>
        <p:spPr>
          <a:xfrm xmlns:a="http://schemas.openxmlformats.org/drawingml/2006/main">
            <a:off x="981075" y="6259558"/>
            <a:ext cx="4519041"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More messages. More screens.</a:t>
            </a:r>
            <a:endParaRPr lang="en-US" sz="2400" spc="-10" kern="400000">
              <a:latin typeface="Deck"/>
            </a:endParaRPr>
          </a:p>
        </p:txBody>
      </p:sp>
      <p:sp>
        <p:nvSpPr>
          <p:cNvPr id="6" name="s02-t004">
            <a:extLst xmlns:a="http://schemas.openxmlformats.org/drawingml/2006/main">
              <a:ext uri="{FF2B5EF4-FFF2-40B4-BE49-F238E27FC236}">
                <a16:creationId xmlns:a16="http://schemas.microsoft.com/office/drawing/2014/main" id="{330B8644-ACCC-44B8-86CF-17356D3F94F2}"/>
              </a:ext>
            </a:extLst>
          </p:cNvPr>
          <p:cNvSpPr>
            <a:spLocks xmlns:a="http://schemas.openxmlformats.org/drawingml/2006/main" noGrp="1"/>
          </p:cNvSpPr>
          <p:nvPr/>
        </p:nvSpPr>
        <p:spPr>
          <a:xfrm xmlns:a="http://schemas.openxmlformats.org/drawingml/2006/main">
            <a:off x="981075" y="6710662"/>
            <a:ext cx="4951247"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More competing for our attention.</a:t>
            </a:r>
            <a:endParaRPr lang="en-US" sz="2400" spc="-10" kern="400000">
              <a:latin typeface="Deck"/>
            </a:endParaRPr>
          </a:p>
        </p:txBody>
      </p:sp>
      <p:sp>
        <p:nvSpPr>
          <p:cNvPr id="7" name="s02-t005">
            <a:extLst xmlns:a="http://schemas.openxmlformats.org/drawingml/2006/main">
              <a:ext uri="{FF2B5EF4-FFF2-40B4-BE49-F238E27FC236}">
                <a16:creationId xmlns:a16="http://schemas.microsoft.com/office/drawing/2014/main" id="{DFDE96F2-7828-464B-A12D-9D8FEEA0EA2B}"/>
              </a:ext>
            </a:extLst>
          </p:cNvPr>
          <p:cNvSpPr>
            <a:spLocks xmlns:a="http://schemas.openxmlformats.org/drawingml/2006/main" noGrp="1"/>
          </p:cNvSpPr>
          <p:nvPr/>
        </p:nvSpPr>
        <p:spPr>
          <a:xfrm xmlns:a="http://schemas.openxmlformats.org/drawingml/2006/main">
            <a:off x="981075" y="1438280"/>
            <a:ext cx="355377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4" kern="400000">
                <a:solidFill>
                  <a:srgbClr val="FAF6F0"/>
                </a:solidFill>
                <a:latin typeface="Deck-Medium"/>
                <a:ea typeface="Deck-Medium"/>
                <a:cs typeface="Deck-Medium"/>
              </a:defRPr>
            </a:pPr>
            <a:r>
              <a:rPr sz="1725" b="0" i="0" kern="400000" spc="294">
                <a:solidFill>
                  <a:srgbClr val="BAB8B4">
                    <a:alpha val="100000"/>
                  </a:srgbClr>
                </a:solidFill>
                <a:latin typeface="Deck-Medium"/>
                <a:ea typeface="Deck-Medium"/>
                <a:cs typeface="Deck-Medium"/>
              </a:rPr>
              <a:t xml:space="preserve">THE WORLD AROUND US</a:t>
            </a:r>
            <a:endParaRPr lang="en-US" sz="1725" spc="294" kern="400000">
              <a:latin typeface="Deck-Medium"/>
            </a:endParaRPr>
          </a:p>
        </p:txBody>
      </p:sp>
      <p:sp>
        <p:nvSpPr>
          <p:cNvPr id="8" name="s02-t006">
            <a:extLst xmlns:a="http://schemas.openxmlformats.org/drawingml/2006/main">
              <a:ext uri="{FF2B5EF4-FFF2-40B4-BE49-F238E27FC236}">
                <a16:creationId xmlns:a16="http://schemas.microsoft.com/office/drawing/2014/main" id="{619A72CA-2435-48D8-9165-79D1E164827C}"/>
              </a:ext>
            </a:extLst>
          </p:cNvPr>
          <p:cNvSpPr>
            <a:spLocks xmlns:a="http://schemas.openxmlformats.org/drawingml/2006/main" noGrp="1"/>
          </p:cNvSpPr>
          <p:nvPr/>
        </p:nvSpPr>
        <p:spPr>
          <a:xfrm xmlns:a="http://schemas.openxmlformats.org/drawingml/2006/main">
            <a:off x="17124942" y="9730387"/>
            <a:ext cx="44760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29F9C">
                    <a:alpha val="100000"/>
                  </a:srgbClr>
                </a:solidFill>
                <a:latin typeface="Deck"/>
                <a:ea typeface="Deck"/>
                <a:cs typeface="Deck"/>
              </a:rPr>
              <a:t xml:space="preserve">02</a:t>
            </a:r>
            <a:endParaRPr lang="en-US" sz="1350" spc="6" kern="400000">
              <a:latin typeface="Deck"/>
            </a:endParaRPr>
          </a:p>
        </p:txBody>
      </p:sp>
    </p:spTree>
    <p:extLst>
      <p:ext uri="{BB962C8B-B14F-4D97-AF65-F5344CB8AC3E}">
        <p14:creationId xmlns:p14="http://schemas.microsoft.com/office/powerpoint/2010/main" val="1671065738"/>
      </p:ext>
    </p:extLst>
  </p:cSld>
</p:sld>
</file>

<file path=ppt/slides/slide3.xml><?xml version="1.0" encoding="utf-8"?>
<p:sld xmlns:p="http://schemas.openxmlformats.org/presentationml/2006/main">
  <p:cSld>
    <p:bg>
      <p:bgPr>
        <a:solidFill xmlns:a="http://schemas.openxmlformats.org/drawingml/2006/main">
          <a:srgbClr val="07090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8803bba04e64e1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3-t000">
            <a:extLst xmlns:a="http://schemas.openxmlformats.org/drawingml/2006/main">
              <a:ext uri="{FF2B5EF4-FFF2-40B4-BE49-F238E27FC236}">
                <a16:creationId xmlns:a16="http://schemas.microsoft.com/office/drawing/2014/main" id="{1931840B-10B9-440D-B153-E1B060227B9E}"/>
              </a:ext>
            </a:extLst>
          </p:cNvPr>
          <p:cNvSpPr>
            <a:spLocks xmlns:a="http://schemas.openxmlformats.org/drawingml/2006/main" noGrp="1"/>
          </p:cNvSpPr>
          <p:nvPr/>
        </p:nvSpPr>
        <p:spPr>
          <a:xfrm xmlns:a="http://schemas.openxmlformats.org/drawingml/2006/main">
            <a:off x="981075" y="1926527"/>
            <a:ext cx="6652727"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85" kern="400000">
                <a:solidFill>
                  <a:srgbClr val="FAF6F0"/>
                </a:solidFill>
                <a:latin typeface="Deck-Semi-Bold"/>
                <a:ea typeface="Deck-Semi-Bold"/>
                <a:cs typeface="Deck-Semi-Bold"/>
              </a:defRPr>
            </a:pPr>
            <a:r>
              <a:rPr sz="9225" b="0" i="0" kern="400000" spc="-385">
                <a:solidFill>
                  <a:srgbClr val="FAF6F0">
                    <a:alpha val="100000"/>
                  </a:srgbClr>
                </a:solidFill>
                <a:latin typeface="Deck-Semi-Bold"/>
                <a:ea typeface="Deck-Semi-Bold"/>
                <a:cs typeface="Deck-Semi-Bold"/>
              </a:rPr>
              <a:t xml:space="preserve">Care can slip</a:t>
            </a:r>
            <a:endParaRPr lang="en-US" sz="9225" spc="-385" kern="400000">
              <a:latin typeface="Deck-Semi-Bold"/>
            </a:endParaRPr>
          </a:p>
        </p:txBody>
      </p:sp>
      <p:sp>
        <p:nvSpPr>
          <p:cNvPr id="3" name="s03-t001">
            <a:extLst xmlns:a="http://schemas.openxmlformats.org/drawingml/2006/main">
              <a:ext uri="{FF2B5EF4-FFF2-40B4-BE49-F238E27FC236}">
                <a16:creationId xmlns:a16="http://schemas.microsoft.com/office/drawing/2014/main" id="{26C224CE-1D6F-4A31-B3AB-930FA60903C9}"/>
              </a:ext>
            </a:extLst>
          </p:cNvPr>
          <p:cNvSpPr>
            <a:spLocks xmlns:a="http://schemas.openxmlformats.org/drawingml/2006/main" noGrp="1"/>
          </p:cNvSpPr>
          <p:nvPr/>
        </p:nvSpPr>
        <p:spPr>
          <a:xfrm xmlns:a="http://schemas.openxmlformats.org/drawingml/2006/main">
            <a:off x="981075" y="3168396"/>
            <a:ext cx="4274315"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407" kern="400000">
                <a:solidFill>
                  <a:srgbClr val="FAF6F0"/>
                </a:solidFill>
                <a:latin typeface="Deck-Semi-Bold"/>
                <a:ea typeface="Deck-Semi-Bold"/>
                <a:cs typeface="Deck-Semi-Bold"/>
              </a:defRPr>
            </a:pPr>
            <a:r>
              <a:rPr sz="9225" b="0" i="0" kern="400000" spc="-407">
                <a:solidFill>
                  <a:srgbClr val="FAF6F0">
                    <a:alpha val="100000"/>
                  </a:srgbClr>
                </a:solidFill>
                <a:latin typeface="Deck-Semi-Bold"/>
                <a:ea typeface="Deck-Semi-Bold"/>
                <a:cs typeface="Deck-Semi-Bold"/>
              </a:rPr>
              <a:t xml:space="preserve">through</a:t>
            </a:r>
            <a:endParaRPr lang="en-US" sz="9225" spc="-407" kern="400000">
              <a:latin typeface="Deck-Semi-Bold"/>
            </a:endParaRPr>
          </a:p>
        </p:txBody>
      </p:sp>
      <p:sp>
        <p:nvSpPr>
          <p:cNvPr id="4" name="s03-t002">
            <a:extLst xmlns:a="http://schemas.openxmlformats.org/drawingml/2006/main">
              <a:ext uri="{FF2B5EF4-FFF2-40B4-BE49-F238E27FC236}">
                <a16:creationId xmlns:a16="http://schemas.microsoft.com/office/drawing/2014/main" id="{0BCDC547-C876-4B7D-B0C3-B20A77121F51}"/>
              </a:ext>
            </a:extLst>
          </p:cNvPr>
          <p:cNvSpPr>
            <a:spLocks xmlns:a="http://schemas.openxmlformats.org/drawingml/2006/main" noGrp="1"/>
          </p:cNvSpPr>
          <p:nvPr/>
        </p:nvSpPr>
        <p:spPr>
          <a:xfrm xmlns:a="http://schemas.openxmlformats.org/drawingml/2006/main">
            <a:off x="981075" y="4410266"/>
            <a:ext cx="5736908"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463" kern="400000">
                <a:solidFill>
                  <a:srgbClr val="9BDAB6"/>
                </a:solidFill>
                <a:latin typeface="Deck-Semi-Bold"/>
                <a:ea typeface="Deck-Semi-Bold"/>
                <a:cs typeface="Deck-Semi-Bold"/>
              </a:defRPr>
            </a:pPr>
            <a:r>
              <a:rPr sz="9225" b="0" i="0" kern="400000" spc="-463">
                <a:solidFill>
                  <a:srgbClr val="9BDAB6">
                    <a:alpha val="100000"/>
                  </a:srgbClr>
                </a:solidFill>
                <a:latin typeface="Deck-Semi-Bold"/>
                <a:ea typeface="Deck-Semi-Bold"/>
                <a:cs typeface="Deck-Semi-Bold"/>
              </a:rPr>
              <a:t xml:space="preserve">a busy day.</a:t>
            </a:r>
            <a:endParaRPr lang="en-US" sz="9225" spc="-463" kern="400000">
              <a:latin typeface="Deck-Semi-Bold"/>
            </a:endParaRPr>
          </a:p>
        </p:txBody>
      </p:sp>
      <p:sp>
        <p:nvSpPr>
          <p:cNvPr id="5" name="s03-t003">
            <a:extLst xmlns:a="http://schemas.openxmlformats.org/drawingml/2006/main">
              <a:ext uri="{FF2B5EF4-FFF2-40B4-BE49-F238E27FC236}">
                <a16:creationId xmlns:a16="http://schemas.microsoft.com/office/drawing/2014/main" id="{73493DD8-BE4E-491A-895E-41D8837F6F4A}"/>
              </a:ext>
            </a:extLst>
          </p:cNvPr>
          <p:cNvSpPr>
            <a:spLocks xmlns:a="http://schemas.openxmlformats.org/drawingml/2006/main" noGrp="1"/>
          </p:cNvSpPr>
          <p:nvPr/>
        </p:nvSpPr>
        <p:spPr>
          <a:xfrm xmlns:a="http://schemas.openxmlformats.org/drawingml/2006/main">
            <a:off x="981075" y="6259558"/>
            <a:ext cx="3637255"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Our routines. Our health.</a:t>
            </a:r>
            <a:endParaRPr lang="en-US" sz="2400" spc="-10" kern="400000">
              <a:latin typeface="Deck"/>
            </a:endParaRPr>
          </a:p>
        </p:txBody>
      </p:sp>
      <p:sp>
        <p:nvSpPr>
          <p:cNvPr id="6" name="s03-t004">
            <a:extLst xmlns:a="http://schemas.openxmlformats.org/drawingml/2006/main">
              <a:ext uri="{FF2B5EF4-FFF2-40B4-BE49-F238E27FC236}">
                <a16:creationId xmlns:a16="http://schemas.microsoft.com/office/drawing/2014/main" id="{508EEC7C-8E7A-4F26-8E6E-681F5EA89E85}"/>
              </a:ext>
            </a:extLst>
          </p:cNvPr>
          <p:cNvSpPr>
            <a:spLocks xmlns:a="http://schemas.openxmlformats.org/drawingml/2006/main" noGrp="1"/>
          </p:cNvSpPr>
          <p:nvPr/>
        </p:nvSpPr>
        <p:spPr>
          <a:xfrm xmlns:a="http://schemas.openxmlformats.org/drawingml/2006/main">
            <a:off x="981075" y="6710662"/>
            <a:ext cx="4866208"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5" kern="400000">
                <a:solidFill>
                  <a:srgbClr val="E4E7DF"/>
                </a:solidFill>
                <a:latin typeface="Deck"/>
                <a:ea typeface="Deck"/>
                <a:cs typeface="Deck"/>
              </a:defRPr>
            </a:pPr>
            <a:r>
              <a:rPr sz="2400" b="0" i="0" kern="400000" spc="-5">
                <a:solidFill>
                  <a:srgbClr val="E4E7DF">
                    <a:alpha val="100000"/>
                  </a:srgbClr>
                </a:solidFill>
                <a:latin typeface="Deck"/>
                <a:ea typeface="Deck"/>
                <a:cs typeface="Deck"/>
              </a:rPr>
              <a:t xml:space="preserve">The people we mean to check on.</a:t>
            </a:r>
            <a:endParaRPr lang="en-US" sz="2400" spc="-5" kern="400000">
              <a:latin typeface="Deck"/>
            </a:endParaRPr>
          </a:p>
        </p:txBody>
      </p:sp>
      <p:sp>
        <p:nvSpPr>
          <p:cNvPr id="7" name="s03-t005">
            <a:extLst xmlns:a="http://schemas.openxmlformats.org/drawingml/2006/main">
              <a:ext uri="{FF2B5EF4-FFF2-40B4-BE49-F238E27FC236}">
                <a16:creationId xmlns:a16="http://schemas.microsoft.com/office/drawing/2014/main" id="{6E34F105-C20C-4F13-8ACE-796BC77E9233}"/>
              </a:ext>
            </a:extLst>
          </p:cNvPr>
          <p:cNvSpPr>
            <a:spLocks xmlns:a="http://schemas.openxmlformats.org/drawingml/2006/main" noGrp="1"/>
          </p:cNvSpPr>
          <p:nvPr/>
        </p:nvSpPr>
        <p:spPr>
          <a:xfrm xmlns:a="http://schemas.openxmlformats.org/drawingml/2006/main">
            <a:off x="981075" y="1438280"/>
            <a:ext cx="225634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7" kern="400000">
                <a:solidFill>
                  <a:srgbClr val="FAF6F0"/>
                </a:solidFill>
                <a:latin typeface="Deck-Medium"/>
                <a:ea typeface="Deck-Medium"/>
                <a:cs typeface="Deck-Medium"/>
              </a:defRPr>
            </a:pPr>
            <a:r>
              <a:rPr sz="1725" b="0" i="0" kern="400000" spc="297">
                <a:solidFill>
                  <a:srgbClr val="BBB9B4">
                    <a:alpha val="100000"/>
                  </a:srgbClr>
                </a:solidFill>
                <a:latin typeface="Deck-Medium"/>
                <a:ea typeface="Deck-Medium"/>
                <a:cs typeface="Deck-Medium"/>
              </a:rPr>
              <a:t xml:space="preserve">THE CARE GAP</a:t>
            </a:r>
            <a:endParaRPr lang="en-US" sz="1725" spc="297" kern="400000">
              <a:latin typeface="Deck-Medium"/>
            </a:endParaRPr>
          </a:p>
        </p:txBody>
      </p:sp>
      <p:sp>
        <p:nvSpPr>
          <p:cNvPr id="8" name="s03-t006">
            <a:extLst xmlns:a="http://schemas.openxmlformats.org/drawingml/2006/main">
              <a:ext uri="{FF2B5EF4-FFF2-40B4-BE49-F238E27FC236}">
                <a16:creationId xmlns:a16="http://schemas.microsoft.com/office/drawing/2014/main" id="{84636688-D2A7-4E20-AC3E-DA4913F9EC7B}"/>
              </a:ext>
            </a:extLst>
          </p:cNvPr>
          <p:cNvSpPr>
            <a:spLocks xmlns:a="http://schemas.openxmlformats.org/drawingml/2006/main" noGrp="1"/>
          </p:cNvSpPr>
          <p:nvPr/>
        </p:nvSpPr>
        <p:spPr>
          <a:xfrm xmlns:a="http://schemas.openxmlformats.org/drawingml/2006/main">
            <a:off x="17122542" y="9730387"/>
            <a:ext cx="450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9E99">
                    <a:alpha val="100000"/>
                  </a:srgbClr>
                </a:solidFill>
                <a:latin typeface="Deck"/>
                <a:ea typeface="Deck"/>
                <a:cs typeface="Deck"/>
              </a:rPr>
              <a:t xml:space="preserve">03</a:t>
            </a:r>
            <a:endParaRPr lang="en-US" sz="1350" spc="6" kern="400000">
              <a:latin typeface="Deck"/>
            </a:endParaRPr>
          </a:p>
        </p:txBody>
      </p:sp>
    </p:spTree>
    <p:extLst>
      <p:ext uri="{BB962C8B-B14F-4D97-AF65-F5344CB8AC3E}">
        <p14:creationId xmlns:p14="http://schemas.microsoft.com/office/powerpoint/2010/main" val="8926857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4719cd45515438b"/>
          <a:stretch xmlns:a="http://schemas.openxmlformats.org/drawingml/2006/main"/>
        </p:blipFill>
        <p:spPr>
          <a:xfrm xmlns:a="http://schemas.openxmlformats.org/drawingml/2006/main">
            <a:off x="6810375" y="1619250"/>
            <a:ext cx="4714875" cy="3333750"/>
          </a:xfrm>
          <a:prstGeom xmlns:a="http://schemas.openxmlformats.org/drawingml/2006/main" prst="rect">
            <a:avLst/>
          </a:prstGeom>
        </p:spPr>
      </p:pic>
      <p:sp>
        <p:nvSpPr>
          <p:cNvPr id="2" name="s04-t000">
            <a:extLst xmlns:a="http://schemas.openxmlformats.org/drawingml/2006/main">
              <a:ext uri="{FF2B5EF4-FFF2-40B4-BE49-F238E27FC236}">
                <a16:creationId xmlns:a16="http://schemas.microsoft.com/office/drawing/2014/main" id="{B2601FED-81BF-4C17-8D77-CF2E923306D2}"/>
              </a:ext>
            </a:extLst>
          </p:cNvPr>
          <p:cNvSpPr>
            <a:spLocks xmlns:a="http://schemas.openxmlformats.org/drawingml/2006/main" noGrp="1"/>
          </p:cNvSpPr>
          <p:nvPr/>
        </p:nvSpPr>
        <p:spPr>
          <a:xfrm xmlns:a="http://schemas.openxmlformats.org/drawingml/2006/main">
            <a:off x="7987219" y="781051"/>
            <a:ext cx="2503780"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375" kern="400000">
                <a:solidFill>
                  <a:srgbClr val="4F7A66"/>
                </a:solidFill>
                <a:latin typeface="Deck"/>
                <a:ea typeface="Deck"/>
                <a:cs typeface="Deck"/>
              </a:defRPr>
            </a:pPr>
            <a:r>
              <a:rPr sz="2025" b="0" i="0" kern="400000" spc="375">
                <a:solidFill>
                  <a:srgbClr val="4F7A66">
                    <a:alpha val="100000"/>
                  </a:srgbClr>
                </a:solidFill>
                <a:latin typeface="Deck"/>
                <a:ea typeface="Deck"/>
                <a:cs typeface="Deck"/>
              </a:rPr>
              <a:t xml:space="preserve">INTRODUCING</a:t>
            </a:r>
            <a:endParaRPr lang="en-US" sz="2025" spc="375" kern="400000">
              <a:latin typeface="Deck"/>
            </a:endParaRPr>
          </a:p>
        </p:txBody>
      </p:sp>
      <p:sp>
        <p:nvSpPr>
          <p:cNvPr id="3" name="s04-t001">
            <a:extLst xmlns:a="http://schemas.openxmlformats.org/drawingml/2006/main">
              <a:ext uri="{FF2B5EF4-FFF2-40B4-BE49-F238E27FC236}">
                <a16:creationId xmlns:a16="http://schemas.microsoft.com/office/drawing/2014/main" id="{08D5CDA6-B710-4BCA-83B8-ADFEE29C6DC4}"/>
              </a:ext>
            </a:extLst>
          </p:cNvPr>
          <p:cNvSpPr>
            <a:spLocks xmlns:a="http://schemas.openxmlformats.org/drawingml/2006/main" noGrp="1"/>
          </p:cNvSpPr>
          <p:nvPr/>
        </p:nvSpPr>
        <p:spPr>
          <a:xfrm xmlns:a="http://schemas.openxmlformats.org/drawingml/2006/main">
            <a:off x="5649009" y="5080300"/>
            <a:ext cx="7278472" cy="1429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150" spc="-487" kern="400000">
                <a:solidFill>
                  <a:srgbClr val="3A3745"/>
                </a:solidFill>
                <a:latin typeface="Deck-Semi-Bold"/>
                <a:ea typeface="Deck-Semi-Bold"/>
                <a:cs typeface="Deck-Semi-Bold"/>
              </a:defRPr>
            </a:pPr>
            <a:r>
              <a:rPr sz="9150" b="0" i="0" kern="400000" spc="-487">
                <a:solidFill>
                  <a:srgbClr val="3A3745">
                    <a:alpha val="100000"/>
                  </a:srgbClr>
                </a:solidFill>
                <a:latin typeface="Deck-Semi-Bold"/>
                <a:ea typeface="Deck-Semi-Bold"/>
                <a:cs typeface="Deck-Semi-Bold"/>
              </a:rPr>
              <a:t xml:space="preserve">Your everyday</a:t>
            </a:r>
            <a:endParaRPr lang="en-US" sz="9150" spc="-487" kern="400000">
              <a:latin typeface="Deck-Semi-Bold"/>
            </a:endParaRPr>
          </a:p>
        </p:txBody>
      </p:sp>
      <p:sp>
        <p:nvSpPr>
          <p:cNvPr id="4" name="s04-t002">
            <a:extLst xmlns:a="http://schemas.openxmlformats.org/drawingml/2006/main">
              <a:ext uri="{FF2B5EF4-FFF2-40B4-BE49-F238E27FC236}">
                <a16:creationId xmlns:a16="http://schemas.microsoft.com/office/drawing/2014/main" id="{EC40D81C-1BA8-4A1E-BF2F-E8BB112A6540}"/>
              </a:ext>
            </a:extLst>
          </p:cNvPr>
          <p:cNvSpPr>
            <a:spLocks xmlns:a="http://schemas.openxmlformats.org/drawingml/2006/main" noGrp="1"/>
          </p:cNvSpPr>
          <p:nvPr/>
        </p:nvSpPr>
        <p:spPr>
          <a:xfrm xmlns:a="http://schemas.openxmlformats.org/drawingml/2006/main">
            <a:off x="5798920" y="6265591"/>
            <a:ext cx="6978663" cy="1429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150" spc="-424" kern="400000">
                <a:solidFill>
                  <a:srgbClr val="4F7A66"/>
                </a:solidFill>
                <a:latin typeface="Deck-Semi-Bold"/>
                <a:ea typeface="Deck-Semi-Bold"/>
                <a:cs typeface="Deck-Semi-Bold"/>
              </a:defRPr>
            </a:pPr>
            <a:r>
              <a:rPr sz="9150" b="0" i="0" kern="400000" spc="-424">
                <a:solidFill>
                  <a:srgbClr val="4F7A66">
                    <a:alpha val="100000"/>
                  </a:srgbClr>
                </a:solidFill>
                <a:latin typeface="Deck-Semi-Bold"/>
                <a:ea typeface="Deck-Semi-Bold"/>
                <a:cs typeface="Deck-Semi-Bold"/>
              </a:rPr>
              <a:t xml:space="preserve">health buddy.</a:t>
            </a:r>
            <a:endParaRPr lang="en-US" sz="9150" spc="-424" kern="400000">
              <a:latin typeface="Deck-Semi-Bold"/>
            </a:endParaRPr>
          </a:p>
        </p:txBody>
      </p:sp>
      <p:sp>
        <p:nvSpPr>
          <p:cNvPr id="5" name="s04-t003">
            <a:extLst xmlns:a="http://schemas.openxmlformats.org/drawingml/2006/main">
              <a:ext uri="{FF2B5EF4-FFF2-40B4-BE49-F238E27FC236}">
                <a16:creationId xmlns:a16="http://schemas.microsoft.com/office/drawing/2014/main" id="{81725350-97C4-45C8-804B-5E8BA8C1F15B}"/>
              </a:ext>
            </a:extLst>
          </p:cNvPr>
          <p:cNvSpPr>
            <a:spLocks xmlns:a="http://schemas.openxmlformats.org/drawingml/2006/main" noGrp="1"/>
          </p:cNvSpPr>
          <p:nvPr/>
        </p:nvSpPr>
        <p:spPr>
          <a:xfrm xmlns:a="http://schemas.openxmlformats.org/drawingml/2006/main">
            <a:off x="6436286" y="7926392"/>
            <a:ext cx="5655164"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0" kern="400000">
                <a:solidFill>
                  <a:srgbClr val="696570"/>
                </a:solidFill>
                <a:latin typeface="Deck"/>
                <a:ea typeface="Deck"/>
                <a:cs typeface="Deck"/>
              </a:defRPr>
            </a:pPr>
            <a:r>
              <a:rPr sz="2550" b="0" i="0" kern="400000" spc="-10">
                <a:solidFill>
                  <a:srgbClr val="696570">
                    <a:alpha val="100000"/>
                  </a:srgbClr>
                </a:solidFill>
                <a:latin typeface="Deck"/>
                <a:ea typeface="Deck"/>
                <a:cs typeface="Deck"/>
              </a:rPr>
              <a:t xml:space="preserve">A little more attention to your health.</a:t>
            </a:r>
            <a:endParaRPr lang="en-US" sz="2550" spc="-10" kern="400000">
              <a:latin typeface="Deck"/>
            </a:endParaRPr>
          </a:p>
        </p:txBody>
      </p:sp>
      <p:sp>
        <p:nvSpPr>
          <p:cNvPr id="6" name="s04-t004">
            <a:extLst xmlns:a="http://schemas.openxmlformats.org/drawingml/2006/main">
              <a:ext uri="{FF2B5EF4-FFF2-40B4-BE49-F238E27FC236}">
                <a16:creationId xmlns:a16="http://schemas.microsoft.com/office/drawing/2014/main" id="{4BBB242C-504E-4726-B2B9-1437E6DD85AB}"/>
              </a:ext>
            </a:extLst>
          </p:cNvPr>
          <p:cNvSpPr>
            <a:spLocks xmlns:a="http://schemas.openxmlformats.org/drawingml/2006/main" noGrp="1"/>
          </p:cNvSpPr>
          <p:nvPr/>
        </p:nvSpPr>
        <p:spPr>
          <a:xfrm xmlns:a="http://schemas.openxmlformats.org/drawingml/2006/main">
            <a:off x="6140132" y="8395975"/>
            <a:ext cx="6246838"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1" kern="400000">
                <a:solidFill>
                  <a:srgbClr val="696570"/>
                </a:solidFill>
                <a:latin typeface="Deck"/>
                <a:ea typeface="Deck"/>
                <a:cs typeface="Deck"/>
              </a:defRPr>
            </a:pPr>
            <a:r>
              <a:rPr sz="2550" b="0" i="0" kern="400000" spc="-11">
                <a:solidFill>
                  <a:srgbClr val="696570">
                    <a:alpha val="100000"/>
                  </a:srgbClr>
                </a:solidFill>
                <a:latin typeface="Deck"/>
                <a:ea typeface="Deck"/>
                <a:cs typeface="Deck"/>
              </a:rPr>
              <a:t xml:space="preserve">A little more care for the people you love.</a:t>
            </a:r>
            <a:endParaRPr lang="en-US" sz="2550" spc="-11" kern="400000">
              <a:latin typeface="Deck"/>
            </a:endParaRPr>
          </a:p>
        </p:txBody>
      </p:sp>
      <p:sp>
        <p:nvSpPr>
          <p:cNvPr id="7" name="s04-t005">
            <a:extLst xmlns:a="http://schemas.openxmlformats.org/drawingml/2006/main">
              <a:ext uri="{FF2B5EF4-FFF2-40B4-BE49-F238E27FC236}">
                <a16:creationId xmlns:a16="http://schemas.microsoft.com/office/drawing/2014/main" id="{CEDE4CBD-9C30-40FC-84F7-9862C5773466}"/>
              </a:ext>
            </a:extLst>
          </p:cNvPr>
          <p:cNvSpPr>
            <a:spLocks xmlns:a="http://schemas.openxmlformats.org/drawingml/2006/main" noGrp="1"/>
          </p:cNvSpPr>
          <p:nvPr/>
        </p:nvSpPr>
        <p:spPr>
          <a:xfrm xmlns:a="http://schemas.openxmlformats.org/drawingml/2006/main">
            <a:off x="6726868" y="9048249"/>
            <a:ext cx="5037382"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230" kern="400000">
                <a:solidFill>
                  <a:srgbClr val="4F7A66"/>
                </a:solidFill>
                <a:latin typeface="Deck"/>
                <a:ea typeface="Deck"/>
                <a:cs typeface="Deck"/>
              </a:defRPr>
            </a:pPr>
            <a:r>
              <a:rPr sz="1575" b="0" i="0" kern="400000" spc="230">
                <a:solidFill>
                  <a:srgbClr val="4F7A66">
                    <a:alpha val="100000"/>
                  </a:srgbClr>
                </a:solidFill>
                <a:latin typeface="Deck"/>
                <a:ea typeface="Deck"/>
                <a:cs typeface="Deck"/>
              </a:rPr>
              <a:t xml:space="preserve">HEALTHCARE · LONG-TERM SELF-CARE</a:t>
            </a:r>
            <a:endParaRPr lang="en-US" sz="1575" spc="230" kern="400000">
              <a:latin typeface="Deck"/>
            </a:endParaRPr>
          </a:p>
        </p:txBody>
      </p:sp>
      <p:sp>
        <p:nvSpPr>
          <p:cNvPr id="8" name="s04-t006">
            <a:extLst xmlns:a="http://schemas.openxmlformats.org/drawingml/2006/main">
              <a:ext uri="{FF2B5EF4-FFF2-40B4-BE49-F238E27FC236}">
                <a16:creationId xmlns:a16="http://schemas.microsoft.com/office/drawing/2014/main" id="{B0053BF4-2389-4C3D-903D-760C853C20DB}"/>
              </a:ext>
            </a:extLst>
          </p:cNvPr>
          <p:cNvSpPr>
            <a:spLocks xmlns:a="http://schemas.openxmlformats.org/drawingml/2006/main" noGrp="1"/>
          </p:cNvSpPr>
          <p:nvPr/>
        </p:nvSpPr>
        <p:spPr>
          <a:xfrm xmlns:a="http://schemas.openxmlformats.org/drawingml/2006/main">
            <a:off x="17116542" y="9730387"/>
            <a:ext cx="456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3818A">
                    <a:alpha val="100000"/>
                  </a:srgbClr>
                </a:solidFill>
                <a:latin typeface="Deck"/>
                <a:ea typeface="Deck"/>
                <a:cs typeface="Deck"/>
              </a:rPr>
              <a:t xml:space="preserve">04</a:t>
            </a:r>
            <a:endParaRPr lang="en-US" sz="1350" spc="6" kern="400000">
              <a:latin typeface="Deck"/>
            </a:endParaRPr>
          </a:p>
        </p:txBody>
      </p:sp>
    </p:spTree>
    <p:extLst>
      <p:ext uri="{BB962C8B-B14F-4D97-AF65-F5344CB8AC3E}">
        <p14:creationId xmlns:p14="http://schemas.microsoft.com/office/powerpoint/2010/main" val="1934011978"/>
      </p:ext>
    </p:extLst>
  </p:cSld>
</p:sld>
</file>

<file path=ppt/slides/slide5.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0" name="s5-source-rule-0">
            <a:extLst xmlns:a="http://schemas.openxmlformats.org/drawingml/2006/main">
              <a:ext uri="{FF2B5EF4-FFF2-40B4-BE49-F238E27FC236}">
                <a16:creationId xmlns:a16="http://schemas.microsoft.com/office/drawing/2014/main" id="{776DE79A-1486-4F4F-B47B-4C2F70A107DA}"/>
              </a:ext>
            </a:extLst>
          </p:cNvPr>
          <p:cNvSpPr>
            <a:spLocks xmlns:a="http://schemas.openxmlformats.org/drawingml/2006/main" noGrp="1"/>
          </p:cNvSpPr>
          <p:nvPr/>
        </p:nvSpPr>
        <p:spPr>
          <a:xfrm xmlns:a="http://schemas.openxmlformats.org/drawingml/2006/main">
            <a:off x="8667750" y="3696714"/>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2" name="s5-source-rule-1">
            <a:extLst xmlns:a="http://schemas.openxmlformats.org/drawingml/2006/main">
              <a:ext uri="{FF2B5EF4-FFF2-40B4-BE49-F238E27FC236}">
                <a16:creationId xmlns:a16="http://schemas.microsoft.com/office/drawing/2014/main" id="{0FE26290-226E-40D3-A4E4-AE8337E32728}"/>
              </a:ext>
            </a:extLst>
          </p:cNvPr>
          <p:cNvSpPr>
            <a:spLocks xmlns:a="http://schemas.openxmlformats.org/drawingml/2006/main" noGrp="1"/>
          </p:cNvSpPr>
          <p:nvPr/>
        </p:nvSpPr>
        <p:spPr>
          <a:xfrm xmlns:a="http://schemas.openxmlformats.org/drawingml/2006/main">
            <a:off x="8667750" y="4831203"/>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3" name="s5-source-rule-2">
            <a:extLst xmlns:a="http://schemas.openxmlformats.org/drawingml/2006/main">
              <a:ext uri="{FF2B5EF4-FFF2-40B4-BE49-F238E27FC236}">
                <a16:creationId xmlns:a16="http://schemas.microsoft.com/office/drawing/2014/main" id="{C9FA7821-BA1A-4FE8-9DFB-344DA82DF185}"/>
              </a:ext>
            </a:extLst>
          </p:cNvPr>
          <p:cNvSpPr>
            <a:spLocks xmlns:a="http://schemas.openxmlformats.org/drawingml/2006/main" noGrp="1"/>
          </p:cNvSpPr>
          <p:nvPr/>
        </p:nvSpPr>
        <p:spPr>
          <a:xfrm xmlns:a="http://schemas.openxmlformats.org/drawingml/2006/main">
            <a:off x="8667750" y="5965692"/>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4" name="s5-source-rule-3">
            <a:extLst xmlns:a="http://schemas.openxmlformats.org/drawingml/2006/main">
              <a:ext uri="{FF2B5EF4-FFF2-40B4-BE49-F238E27FC236}">
                <a16:creationId xmlns:a16="http://schemas.microsoft.com/office/drawing/2014/main" id="{D9C0841F-325F-4B76-81DE-42F41891F2F8}"/>
              </a:ext>
            </a:extLst>
          </p:cNvPr>
          <p:cNvSpPr>
            <a:spLocks xmlns:a="http://schemas.openxmlformats.org/drawingml/2006/main" noGrp="1"/>
          </p:cNvSpPr>
          <p:nvPr/>
        </p:nvSpPr>
        <p:spPr>
          <a:xfrm xmlns:a="http://schemas.openxmlformats.org/drawingml/2006/main">
            <a:off x="8667750" y="7100181"/>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5" name="s05-t000">
            <a:extLst xmlns:a="http://schemas.openxmlformats.org/drawingml/2006/main">
              <a:ext uri="{FF2B5EF4-FFF2-40B4-BE49-F238E27FC236}">
                <a16:creationId xmlns:a16="http://schemas.microsoft.com/office/drawing/2014/main" id="{4A753834-D455-4C4E-9E02-0992AB257214}"/>
              </a:ext>
            </a:extLst>
          </p:cNvPr>
          <p:cNvSpPr>
            <a:spLocks xmlns:a="http://schemas.openxmlformats.org/drawingml/2006/main" noGrp="1"/>
          </p:cNvSpPr>
          <p:nvPr/>
        </p:nvSpPr>
        <p:spPr>
          <a:xfrm xmlns:a="http://schemas.openxmlformats.org/drawingml/2006/main">
            <a:off x="981075" y="1672910"/>
            <a:ext cx="5882478" cy="139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925" spc="-386" kern="400000">
                <a:solidFill>
                  <a:srgbClr val="FAF6F0"/>
                </a:solidFill>
                <a:latin typeface="Deck-Semi-Bold"/>
                <a:ea typeface="Deck-Semi-Bold"/>
                <a:cs typeface="Deck-Semi-Bold"/>
              </a:defRPr>
            </a:pPr>
            <a:r>
              <a:rPr sz="8925" b="0" i="0" kern="400000" spc="-386">
                <a:solidFill>
                  <a:srgbClr val="FAF6F0">
                    <a:alpha val="100000"/>
                  </a:srgbClr>
                </a:solidFill>
                <a:latin typeface="Deck-Semi-Bold"/>
                <a:ea typeface="Deck-Semi-Bold"/>
                <a:cs typeface="Deck-Semi-Bold"/>
              </a:rPr>
              <a:t xml:space="preserve">Care has its</a:t>
            </a:r>
            <a:endParaRPr lang="en-US" sz="8925" spc="-386" kern="400000">
              <a:latin typeface="Deck-Semi-Bold"/>
            </a:endParaRPr>
          </a:p>
        </p:txBody>
      </p:sp>
      <p:sp>
        <p:nvSpPr>
          <p:cNvPr id="6" name="s05-t001">
            <a:extLst xmlns:a="http://schemas.openxmlformats.org/drawingml/2006/main">
              <a:ext uri="{FF2B5EF4-FFF2-40B4-BE49-F238E27FC236}">
                <a16:creationId xmlns:a16="http://schemas.microsoft.com/office/drawing/2014/main" id="{A9929967-AF8A-4BD6-B423-7E7DBE8A9539}"/>
              </a:ext>
            </a:extLst>
          </p:cNvPr>
          <p:cNvSpPr>
            <a:spLocks xmlns:a="http://schemas.openxmlformats.org/drawingml/2006/main" noGrp="1"/>
          </p:cNvSpPr>
          <p:nvPr/>
        </p:nvSpPr>
        <p:spPr>
          <a:xfrm xmlns:a="http://schemas.openxmlformats.org/drawingml/2006/main">
            <a:off x="981075" y="2857392"/>
            <a:ext cx="5672128" cy="139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925" spc="-388" kern="400000">
                <a:solidFill>
                  <a:srgbClr val="9BDAB6"/>
                </a:solidFill>
                <a:latin typeface="Deck-Semi-Bold"/>
                <a:ea typeface="Deck-Semi-Bold"/>
                <a:cs typeface="Deck-Semi-Bold"/>
              </a:defRPr>
            </a:pPr>
            <a:r>
              <a:rPr sz="8925" b="0" i="0" kern="400000" spc="-388">
                <a:solidFill>
                  <a:srgbClr val="9BDAB6">
                    <a:alpha val="100000"/>
                  </a:srgbClr>
                </a:solidFill>
                <a:latin typeface="Deck-Semi-Bold"/>
                <a:ea typeface="Deck-Semi-Bold"/>
                <a:cs typeface="Deck-Semi-Bold"/>
              </a:rPr>
              <a:t xml:space="preserve">own space.</a:t>
            </a:r>
            <a:endParaRPr lang="en-US" sz="8925" spc="-388" kern="400000">
              <a:latin typeface="Deck-Semi-Bold"/>
            </a:endParaRPr>
          </a:p>
        </p:txBody>
      </p:sp>
      <p:sp>
        <p:nvSpPr>
          <p:cNvPr id="7" name="s05-t002">
            <a:extLst xmlns:a="http://schemas.openxmlformats.org/drawingml/2006/main">
              <a:ext uri="{FF2B5EF4-FFF2-40B4-BE49-F238E27FC236}">
                <a16:creationId xmlns:a16="http://schemas.microsoft.com/office/drawing/2014/main" id="{F0C7F957-DE80-4F85-AE45-A5186EB66171}"/>
              </a:ext>
            </a:extLst>
          </p:cNvPr>
          <p:cNvSpPr>
            <a:spLocks xmlns:a="http://schemas.openxmlformats.org/drawingml/2006/main" noGrp="1"/>
          </p:cNvSpPr>
          <p:nvPr/>
        </p:nvSpPr>
        <p:spPr>
          <a:xfrm xmlns:a="http://schemas.openxmlformats.org/drawingml/2006/main">
            <a:off x="981075" y="1190630"/>
            <a:ext cx="322427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FAF6F0"/>
                </a:solidFill>
                <a:latin typeface="Deck-Medium"/>
                <a:ea typeface="Deck-Medium"/>
                <a:cs typeface="Deck-Medium"/>
              </a:defRPr>
            </a:pPr>
            <a:r>
              <a:rPr sz="1725" b="0" i="0" kern="400000" spc="285">
                <a:solidFill>
                  <a:srgbClr val="BBBAB6">
                    <a:alpha val="100000"/>
                  </a:srgbClr>
                </a:solidFill>
                <a:latin typeface="Deck-Medium"/>
                <a:ea typeface="Deck-Medium"/>
                <a:cs typeface="Deck-Medium"/>
              </a:rPr>
              <a:t xml:space="preserve">A DELIBERATE FOCUS</a:t>
            </a:r>
            <a:endParaRPr lang="en-US" sz="1725" spc="285" kern="400000">
              <a:latin typeface="Deck-Medium"/>
            </a:endParaRPr>
          </a:p>
        </p:txBody>
      </p:sp>
      <p:sp>
        <p:nvSpPr>
          <p:cNvPr id="8" name="s05-t003">
            <a:extLst xmlns:a="http://schemas.openxmlformats.org/drawingml/2006/main">
              <a:ext uri="{FF2B5EF4-FFF2-40B4-BE49-F238E27FC236}">
                <a16:creationId xmlns:a16="http://schemas.microsoft.com/office/drawing/2014/main" id="{40FA3470-1C66-4720-9332-2BB563A0218F}"/>
              </a:ext>
            </a:extLst>
          </p:cNvPr>
          <p:cNvSpPr>
            <a:spLocks xmlns:a="http://schemas.openxmlformats.org/drawingml/2006/main" noGrp="1"/>
          </p:cNvSpPr>
          <p:nvPr/>
        </p:nvSpPr>
        <p:spPr>
          <a:xfrm xmlns:a="http://schemas.openxmlformats.org/drawingml/2006/main">
            <a:off x="8667750" y="3051445"/>
            <a:ext cx="46560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01</a:t>
            </a:r>
            <a:endParaRPr lang="en-US" sz="1650" spc="151" kern="400000">
              <a:latin typeface="Deck"/>
            </a:endParaRPr>
          </a:p>
        </p:txBody>
      </p:sp>
      <p:sp>
        <p:nvSpPr>
          <p:cNvPr id="9" name="s05-t004">
            <a:extLst xmlns:a="http://schemas.openxmlformats.org/drawingml/2006/main">
              <a:ext uri="{FF2B5EF4-FFF2-40B4-BE49-F238E27FC236}">
                <a16:creationId xmlns:a16="http://schemas.microsoft.com/office/drawing/2014/main" id="{AA6CA704-F392-466A-BF52-839D8D8E6BAE}"/>
              </a:ext>
            </a:extLst>
          </p:cNvPr>
          <p:cNvSpPr>
            <a:spLocks xmlns:a="http://schemas.openxmlformats.org/drawingml/2006/main" noGrp="1"/>
          </p:cNvSpPr>
          <p:nvPr/>
        </p:nvSpPr>
        <p:spPr>
          <a:xfrm xmlns:a="http://schemas.openxmlformats.org/drawingml/2006/main">
            <a:off x="9247519" y="2895604"/>
            <a:ext cx="4968507"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8" kern="400000">
                <a:solidFill>
                  <a:srgbClr val="FAF6F0"/>
                </a:solidFill>
                <a:latin typeface="Deck"/>
                <a:ea typeface="Deck"/>
                <a:cs typeface="Deck"/>
              </a:defRPr>
            </a:pPr>
            <a:r>
              <a:rPr sz="3150" b="0" i="0" kern="400000" spc="-88">
                <a:solidFill>
                  <a:srgbClr val="FAF6F0">
                    <a:alpha val="100000"/>
                  </a:srgbClr>
                </a:solidFill>
                <a:latin typeface="Deck"/>
                <a:ea typeface="Deck"/>
                <a:cs typeface="Deck"/>
              </a:rPr>
              <a:t xml:space="preserve">Daily routines &amp; medication</a:t>
            </a:r>
            <a:endParaRPr lang="en-US" sz="3150" spc="-88" kern="400000">
              <a:latin typeface="Deck"/>
            </a:endParaRPr>
          </a:p>
        </p:txBody>
      </p:sp>
      <p:sp>
        <p:nvSpPr>
          <p:cNvPr id="10" name="s05-t005">
            <a:extLst xmlns:a="http://schemas.openxmlformats.org/drawingml/2006/main">
              <a:ext uri="{FF2B5EF4-FFF2-40B4-BE49-F238E27FC236}">
                <a16:creationId xmlns:a16="http://schemas.microsoft.com/office/drawing/2014/main" id="{DF73EB83-B200-44DE-81B1-2D98A3B07527}"/>
              </a:ext>
            </a:extLst>
          </p:cNvPr>
          <p:cNvSpPr>
            <a:spLocks xmlns:a="http://schemas.openxmlformats.org/drawingml/2006/main" noGrp="1"/>
          </p:cNvSpPr>
          <p:nvPr/>
        </p:nvSpPr>
        <p:spPr>
          <a:xfrm xmlns:a="http://schemas.openxmlformats.org/drawingml/2006/main">
            <a:off x="8667750" y="4185934"/>
            <a:ext cx="51233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02</a:t>
            </a:r>
            <a:endParaRPr lang="en-US" sz="1650" spc="151" kern="400000">
              <a:latin typeface="Deck"/>
            </a:endParaRPr>
          </a:p>
        </p:txBody>
      </p:sp>
      <p:sp>
        <p:nvSpPr>
          <p:cNvPr id="11" name="s05-t006">
            <a:extLst xmlns:a="http://schemas.openxmlformats.org/drawingml/2006/main">
              <a:ext uri="{FF2B5EF4-FFF2-40B4-BE49-F238E27FC236}">
                <a16:creationId xmlns:a16="http://schemas.microsoft.com/office/drawing/2014/main" id="{02804C35-D556-405A-80E1-D9CB6FBA5E49}"/>
              </a:ext>
            </a:extLst>
          </p:cNvPr>
          <p:cNvSpPr>
            <a:spLocks xmlns:a="http://schemas.openxmlformats.org/drawingml/2006/main" noGrp="1"/>
          </p:cNvSpPr>
          <p:nvPr/>
        </p:nvSpPr>
        <p:spPr>
          <a:xfrm xmlns:a="http://schemas.openxmlformats.org/drawingml/2006/main">
            <a:off x="9294251" y="4030092"/>
            <a:ext cx="5337591"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9" kern="400000">
                <a:solidFill>
                  <a:srgbClr val="FAF6F0"/>
                </a:solidFill>
                <a:latin typeface="Deck"/>
                <a:ea typeface="Deck"/>
                <a:cs typeface="Deck"/>
              </a:defRPr>
            </a:pPr>
            <a:r>
              <a:rPr sz="3150" b="0" i="0" kern="400000" spc="-89">
                <a:solidFill>
                  <a:srgbClr val="FAF6F0">
                    <a:alpha val="100000"/>
                  </a:srgbClr>
                </a:solidFill>
                <a:latin typeface="Deck"/>
                <a:ea typeface="Deck"/>
                <a:cs typeface="Deck"/>
              </a:rPr>
              <a:t xml:space="preserve">Dental &amp; screening reminders</a:t>
            </a:r>
            <a:endParaRPr lang="en-US" sz="3150" spc="-89" kern="400000">
              <a:latin typeface="Deck"/>
            </a:endParaRPr>
          </a:p>
        </p:txBody>
      </p:sp>
      <p:sp>
        <p:nvSpPr>
          <p:cNvPr id="12" name="s05-t007">
            <a:extLst xmlns:a="http://schemas.openxmlformats.org/drawingml/2006/main">
              <a:ext uri="{FF2B5EF4-FFF2-40B4-BE49-F238E27FC236}">
                <a16:creationId xmlns:a16="http://schemas.microsoft.com/office/drawing/2014/main" id="{070584FF-2B21-415A-B25D-67A0CF8F7BBD}"/>
              </a:ext>
            </a:extLst>
          </p:cNvPr>
          <p:cNvSpPr>
            <a:spLocks xmlns:a="http://schemas.openxmlformats.org/drawingml/2006/main" noGrp="1"/>
          </p:cNvSpPr>
          <p:nvPr/>
        </p:nvSpPr>
        <p:spPr>
          <a:xfrm xmlns:a="http://schemas.openxmlformats.org/drawingml/2006/main">
            <a:off x="8667750" y="5320423"/>
            <a:ext cx="515264"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03</a:t>
            </a:r>
            <a:endParaRPr lang="en-US" sz="1650" spc="151" kern="400000">
              <a:latin typeface="Deck"/>
            </a:endParaRPr>
          </a:p>
        </p:txBody>
      </p:sp>
      <p:sp>
        <p:nvSpPr>
          <p:cNvPr id="13" name="s05-t008">
            <a:extLst xmlns:a="http://schemas.openxmlformats.org/drawingml/2006/main">
              <a:ext uri="{FF2B5EF4-FFF2-40B4-BE49-F238E27FC236}">
                <a16:creationId xmlns:a16="http://schemas.microsoft.com/office/drawing/2014/main" id="{070CFF0F-E999-4C6D-B0D8-C13995184E0B}"/>
              </a:ext>
            </a:extLst>
          </p:cNvPr>
          <p:cNvSpPr>
            <a:spLocks xmlns:a="http://schemas.openxmlformats.org/drawingml/2006/main" noGrp="1"/>
          </p:cNvSpPr>
          <p:nvPr/>
        </p:nvSpPr>
        <p:spPr>
          <a:xfrm xmlns:a="http://schemas.openxmlformats.org/drawingml/2006/main">
            <a:off x="9297181" y="5164581"/>
            <a:ext cx="4835452"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5" kern="400000">
                <a:solidFill>
                  <a:srgbClr val="FAF6F0"/>
                </a:solidFill>
                <a:latin typeface="Deck"/>
                <a:ea typeface="Deck"/>
                <a:cs typeface="Deck"/>
              </a:defRPr>
            </a:pPr>
            <a:r>
              <a:rPr sz="3150" b="0" i="0" kern="400000" spc="-85">
                <a:solidFill>
                  <a:srgbClr val="FAF6F0">
                    <a:alpha val="100000"/>
                  </a:srgbClr>
                </a:solidFill>
                <a:latin typeface="Deck"/>
                <a:ea typeface="Deck"/>
                <a:cs typeface="Deck"/>
              </a:rPr>
              <a:t xml:space="preserve">Sleep &amp; health information</a:t>
            </a:r>
            <a:endParaRPr lang="en-US" sz="3150" spc="-85" kern="400000">
              <a:latin typeface="Deck"/>
            </a:endParaRPr>
          </a:p>
        </p:txBody>
      </p:sp>
      <p:sp>
        <p:nvSpPr>
          <p:cNvPr id="14" name="s05-t009">
            <a:extLst xmlns:a="http://schemas.openxmlformats.org/drawingml/2006/main">
              <a:ext uri="{FF2B5EF4-FFF2-40B4-BE49-F238E27FC236}">
                <a16:creationId xmlns:a16="http://schemas.microsoft.com/office/drawing/2014/main" id="{9801B0EB-16B6-4754-9796-C7F5DD306AC9}"/>
              </a:ext>
            </a:extLst>
          </p:cNvPr>
          <p:cNvSpPr>
            <a:spLocks xmlns:a="http://schemas.openxmlformats.org/drawingml/2006/main" noGrp="1"/>
          </p:cNvSpPr>
          <p:nvPr/>
        </p:nvSpPr>
        <p:spPr>
          <a:xfrm xmlns:a="http://schemas.openxmlformats.org/drawingml/2006/main">
            <a:off x="8667750" y="6454912"/>
            <a:ext cx="522599"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04</a:t>
            </a:r>
            <a:endParaRPr lang="en-US" sz="1650" spc="151" kern="400000">
              <a:latin typeface="Deck"/>
            </a:endParaRPr>
          </a:p>
        </p:txBody>
      </p:sp>
      <p:sp>
        <p:nvSpPr>
          <p:cNvPr id="15" name="s05-t010">
            <a:extLst xmlns:a="http://schemas.openxmlformats.org/drawingml/2006/main">
              <a:ext uri="{FF2B5EF4-FFF2-40B4-BE49-F238E27FC236}">
                <a16:creationId xmlns:a16="http://schemas.microsoft.com/office/drawing/2014/main" id="{0ACF82E8-AEEB-4C74-ABB1-E609CB713633}"/>
              </a:ext>
            </a:extLst>
          </p:cNvPr>
          <p:cNvSpPr>
            <a:spLocks xmlns:a="http://schemas.openxmlformats.org/drawingml/2006/main" noGrp="1"/>
          </p:cNvSpPr>
          <p:nvPr/>
        </p:nvSpPr>
        <p:spPr>
          <a:xfrm xmlns:a="http://schemas.openxmlformats.org/drawingml/2006/main">
            <a:off x="9304520" y="6299070"/>
            <a:ext cx="528406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94" kern="400000">
                <a:solidFill>
                  <a:srgbClr val="FAF6F0"/>
                </a:solidFill>
                <a:latin typeface="Deck"/>
                <a:ea typeface="Deck"/>
                <a:cs typeface="Deck"/>
              </a:defRPr>
            </a:pPr>
            <a:r>
              <a:rPr sz="3150" b="0" i="0" kern="400000" spc="-94">
                <a:solidFill>
                  <a:srgbClr val="FAF6F0">
                    <a:alpha val="100000"/>
                  </a:srgbClr>
                </a:solidFill>
                <a:latin typeface="Deck"/>
                <a:ea typeface="Deck"/>
                <a:cs typeface="Deck"/>
              </a:rPr>
              <a:t xml:space="preserve">Health chat &amp; your care circle</a:t>
            </a:r>
            <a:endParaRPr lang="en-US" sz="3150" spc="-94" kern="400000">
              <a:latin typeface="Deck"/>
            </a:endParaRPr>
          </a:p>
        </p:txBody>
      </p:sp>
      <p:sp>
        <p:nvSpPr>
          <p:cNvPr id="16" name="s05-t011">
            <a:extLst xmlns:a="http://schemas.openxmlformats.org/drawingml/2006/main">
              <a:ext uri="{FF2B5EF4-FFF2-40B4-BE49-F238E27FC236}">
                <a16:creationId xmlns:a16="http://schemas.microsoft.com/office/drawing/2014/main" id="{5261CDE1-9A51-41B5-9FDF-D6DDAFA6E80E}"/>
              </a:ext>
            </a:extLst>
          </p:cNvPr>
          <p:cNvSpPr>
            <a:spLocks xmlns:a="http://schemas.openxmlformats.org/drawingml/2006/main" noGrp="1"/>
          </p:cNvSpPr>
          <p:nvPr/>
        </p:nvSpPr>
        <p:spPr>
          <a:xfrm xmlns:a="http://schemas.openxmlformats.org/drawingml/2006/main">
            <a:off x="1028700" y="7100397"/>
            <a:ext cx="4737230"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4" kern="400000">
                <a:solidFill>
                  <a:srgbClr val="BAC4BA"/>
                </a:solidFill>
                <a:latin typeface="Deck"/>
                <a:ea typeface="Deck"/>
                <a:cs typeface="Deck"/>
              </a:defRPr>
            </a:pPr>
            <a:r>
              <a:rPr sz="2325" b="0" i="0" kern="400000" spc="-4">
                <a:solidFill>
                  <a:srgbClr val="BAC4BA">
                    <a:alpha val="100000"/>
                  </a:srgbClr>
                </a:solidFill>
                <a:latin typeface="Deck"/>
                <a:ea typeface="Deck"/>
                <a:cs typeface="Deck"/>
              </a:rPr>
              <a:t xml:space="preserve">Designed around everyday health</a:t>
            </a:r>
            <a:endParaRPr lang="en-US" sz="2325" spc="-4" kern="400000">
              <a:latin typeface="Deck"/>
            </a:endParaRPr>
          </a:p>
        </p:txBody>
      </p:sp>
      <p:sp>
        <p:nvSpPr>
          <p:cNvPr id="17" name="s05-t012">
            <a:extLst xmlns:a="http://schemas.openxmlformats.org/drawingml/2006/main">
              <a:ext uri="{FF2B5EF4-FFF2-40B4-BE49-F238E27FC236}">
                <a16:creationId xmlns:a16="http://schemas.microsoft.com/office/drawing/2014/main" id="{D1090D32-5FE0-441B-8D14-71A8E95DD71E}"/>
              </a:ext>
            </a:extLst>
          </p:cNvPr>
          <p:cNvSpPr>
            <a:spLocks xmlns:a="http://schemas.openxmlformats.org/drawingml/2006/main" noGrp="1"/>
          </p:cNvSpPr>
          <p:nvPr/>
        </p:nvSpPr>
        <p:spPr>
          <a:xfrm xmlns:a="http://schemas.openxmlformats.org/drawingml/2006/main">
            <a:off x="1028700" y="7537404"/>
            <a:ext cx="3954161"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15" kern="400000">
                <a:solidFill>
                  <a:srgbClr val="BAC4BA"/>
                </a:solidFill>
                <a:latin typeface="Deck"/>
                <a:ea typeface="Deck"/>
                <a:cs typeface="Deck"/>
              </a:defRPr>
            </a:pPr>
            <a:r>
              <a:rPr sz="2325" b="0" i="0" kern="400000" spc="-15">
                <a:solidFill>
                  <a:srgbClr val="BAC4BA">
                    <a:alpha val="100000"/>
                  </a:srgbClr>
                </a:solidFill>
                <a:latin typeface="Deck"/>
                <a:ea typeface="Deck"/>
                <a:cs typeface="Deck"/>
              </a:rPr>
              <a:t xml:space="preserve">and the people you care for.</a:t>
            </a:r>
            <a:endParaRPr lang="en-US" sz="2325" spc="-15" kern="400000">
              <a:latin typeface="Deck"/>
            </a:endParaRPr>
          </a:p>
        </p:txBody>
      </p:sp>
      <p:sp>
        <p:nvSpPr>
          <p:cNvPr id="18" name="s05-t013">
            <a:extLst xmlns:a="http://schemas.openxmlformats.org/drawingml/2006/main">
              <a:ext uri="{FF2B5EF4-FFF2-40B4-BE49-F238E27FC236}">
                <a16:creationId xmlns:a16="http://schemas.microsoft.com/office/drawing/2014/main" id="{FABA74DB-74C8-4883-8928-CDF2ACAD0816}"/>
              </a:ext>
            </a:extLst>
          </p:cNvPr>
          <p:cNvSpPr>
            <a:spLocks xmlns:a="http://schemas.openxmlformats.org/drawingml/2006/main" noGrp="1"/>
          </p:cNvSpPr>
          <p:nvPr/>
        </p:nvSpPr>
        <p:spPr>
          <a:xfrm xmlns:a="http://schemas.openxmlformats.org/drawingml/2006/main">
            <a:off x="952500" y="9730387"/>
            <a:ext cx="13652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FAF6F0"/>
                </a:solidFill>
                <a:latin typeface="Deck"/>
                <a:ea typeface="Deck"/>
                <a:cs typeface="Deck"/>
              </a:defRPr>
            </a:pPr>
            <a:r>
              <a:rPr sz="1350" b="0" i="0" kern="400000" spc="4">
                <a:solidFill>
                  <a:srgbClr val="A0A19D">
                    <a:alpha val="100000"/>
                  </a:srgbClr>
                </a:solidFill>
                <a:latin typeface="Deck"/>
                <a:ea typeface="Deck"/>
                <a:cs typeface="Deck"/>
              </a:rPr>
              <a:t xml:space="preserve">Product vision</a:t>
            </a:r>
            <a:endParaRPr lang="en-US" sz="1350" spc="4" kern="400000">
              <a:latin typeface="Deck"/>
            </a:endParaRPr>
          </a:p>
        </p:txBody>
      </p:sp>
      <p:sp>
        <p:nvSpPr>
          <p:cNvPr id="19" name="s05-t014">
            <a:extLst xmlns:a="http://schemas.openxmlformats.org/drawingml/2006/main">
              <a:ext uri="{FF2B5EF4-FFF2-40B4-BE49-F238E27FC236}">
                <a16:creationId xmlns:a16="http://schemas.microsoft.com/office/drawing/2014/main" id="{39D6A292-671C-4682-8F3D-5B20338BF679}"/>
              </a:ext>
            </a:extLst>
          </p:cNvPr>
          <p:cNvSpPr>
            <a:spLocks xmlns:a="http://schemas.openxmlformats.org/drawingml/2006/main" noGrp="1"/>
          </p:cNvSpPr>
          <p:nvPr/>
        </p:nvSpPr>
        <p:spPr>
          <a:xfrm xmlns:a="http://schemas.openxmlformats.org/drawingml/2006/main">
            <a:off x="17122542" y="9730387"/>
            <a:ext cx="450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05</a:t>
            </a:r>
            <a:endParaRPr lang="en-US" sz="1350" spc="6" kern="400000">
              <a:latin typeface="Deck"/>
            </a:endParaRPr>
          </a:p>
        </p:txBody>
      </p:sp>
    </p:spTree>
    <p:extLst>
      <p:ext uri="{BB962C8B-B14F-4D97-AF65-F5344CB8AC3E}">
        <p14:creationId xmlns:p14="http://schemas.microsoft.com/office/powerpoint/2010/main" val="1617654347"/>
      </p:ext>
    </p:extLst>
  </p:cSld>
</p:sld>
</file>

<file path=ppt/slides/slide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79a5966f4749a5"/>
          <a:stretch xmlns:a="http://schemas.openxmlformats.org/drawingml/2006/main"/>
        </p:blipFill>
        <p:spPr>
          <a:xfrm xmlns:a="http://schemas.openxmlformats.org/drawingml/2006/main">
            <a:off x="9906000" y="333375"/>
            <a:ext cx="6572250" cy="9763125"/>
          </a:xfrm>
          <a:prstGeom xmlns:a="http://schemas.openxmlformats.org/drawingml/2006/main" prst="rect">
            <a:avLst/>
          </a:prstGeom>
        </p:spPr>
      </p:pic>
      <p:sp>
        <p:nvSpPr>
          <p:cNvPr id="2" name="s06-t000">
            <a:extLst xmlns:a="http://schemas.openxmlformats.org/drawingml/2006/main">
              <a:ext uri="{FF2B5EF4-FFF2-40B4-BE49-F238E27FC236}">
                <a16:creationId xmlns:a16="http://schemas.microsoft.com/office/drawing/2014/main" id="{C7892F39-4D10-4AED-BE43-FED5593F0035}"/>
              </a:ext>
            </a:extLst>
          </p:cNvPr>
          <p:cNvSpPr>
            <a:spLocks xmlns:a="http://schemas.openxmlformats.org/drawingml/2006/main" noGrp="1"/>
          </p:cNvSpPr>
          <p:nvPr/>
        </p:nvSpPr>
        <p:spPr>
          <a:xfrm xmlns:a="http://schemas.openxmlformats.org/drawingml/2006/main">
            <a:off x="971550" y="2157618"/>
            <a:ext cx="4510240"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385" kern="400000">
                <a:solidFill>
                  <a:srgbClr val="3A3745"/>
                </a:solidFill>
                <a:latin typeface="Deck-Semi-Bold"/>
                <a:ea typeface="Deck-Semi-Bold"/>
                <a:cs typeface="Deck-Semi-Bold"/>
              </a:defRPr>
            </a:pPr>
            <a:r>
              <a:rPr sz="8025" b="0" i="0" kern="400000" spc="-385">
                <a:solidFill>
                  <a:srgbClr val="3A3745">
                    <a:alpha val="100000"/>
                  </a:srgbClr>
                </a:solidFill>
                <a:latin typeface="Deck-Semi-Bold"/>
                <a:ea typeface="Deck-Semi-Bold"/>
                <a:cs typeface="Deck-Semi-Bold"/>
              </a:rPr>
              <a:t xml:space="preserve">Start with</a:t>
            </a:r>
            <a:endParaRPr lang="en-US" sz="8025" spc="-385" kern="400000">
              <a:latin typeface="Deck-Semi-Bold"/>
            </a:endParaRPr>
          </a:p>
        </p:txBody>
      </p:sp>
      <p:sp>
        <p:nvSpPr>
          <p:cNvPr id="3" name="s06-t001">
            <a:extLst xmlns:a="http://schemas.openxmlformats.org/drawingml/2006/main">
              <a:ext uri="{FF2B5EF4-FFF2-40B4-BE49-F238E27FC236}">
                <a16:creationId xmlns:a16="http://schemas.microsoft.com/office/drawing/2014/main" id="{04F618C8-A16B-4DBA-ADDF-A010099FAE8B}"/>
              </a:ext>
            </a:extLst>
          </p:cNvPr>
          <p:cNvSpPr>
            <a:spLocks xmlns:a="http://schemas.openxmlformats.org/drawingml/2006/main" noGrp="1"/>
          </p:cNvSpPr>
          <p:nvPr/>
        </p:nvSpPr>
        <p:spPr>
          <a:xfrm xmlns:a="http://schemas.openxmlformats.org/drawingml/2006/main">
            <a:off x="971550" y="3222655"/>
            <a:ext cx="443991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34" kern="400000">
                <a:solidFill>
                  <a:srgbClr val="4F7A66"/>
                </a:solidFill>
                <a:latin typeface="Deck-Semi-Bold"/>
                <a:ea typeface="Deck-Semi-Bold"/>
                <a:cs typeface="Deck-Semi-Bold"/>
              </a:defRPr>
            </a:pPr>
            <a:r>
              <a:rPr sz="8025" b="0" i="0" kern="400000" spc="-434">
                <a:solidFill>
                  <a:srgbClr val="4F7A66">
                    <a:alpha val="100000"/>
                  </a:srgbClr>
                </a:solidFill>
                <a:latin typeface="Deck-Semi-Bold"/>
                <a:ea typeface="Deck-Semi-Bold"/>
                <a:cs typeface="Deck-Semi-Bold"/>
              </a:rPr>
              <a:t xml:space="preserve">your care.</a:t>
            </a:r>
            <a:endParaRPr lang="en-US" sz="8025" spc="-434" kern="400000">
              <a:latin typeface="Deck-Semi-Bold"/>
            </a:endParaRPr>
          </a:p>
        </p:txBody>
      </p:sp>
      <p:sp>
        <p:nvSpPr>
          <p:cNvPr id="4" name="s06-t002">
            <a:extLst xmlns:a="http://schemas.openxmlformats.org/drawingml/2006/main">
              <a:ext uri="{FF2B5EF4-FFF2-40B4-BE49-F238E27FC236}">
                <a16:creationId xmlns:a16="http://schemas.microsoft.com/office/drawing/2014/main" id="{B4B84917-C84D-4078-8F14-F9C0C27EC097}"/>
              </a:ext>
            </a:extLst>
          </p:cNvPr>
          <p:cNvSpPr>
            <a:spLocks xmlns:a="http://schemas.openxmlformats.org/drawingml/2006/main" noGrp="1"/>
          </p:cNvSpPr>
          <p:nvPr/>
        </p:nvSpPr>
        <p:spPr>
          <a:xfrm xmlns:a="http://schemas.openxmlformats.org/drawingml/2006/main">
            <a:off x="971550" y="4857258"/>
            <a:ext cx="2039055"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28" kern="400000">
                <a:solidFill>
                  <a:srgbClr val="3A3745"/>
                </a:solidFill>
                <a:latin typeface="Deck"/>
                <a:ea typeface="Deck"/>
                <a:cs typeface="Deck"/>
              </a:defRPr>
            </a:pPr>
            <a:r>
              <a:rPr sz="2550" b="0" i="0" kern="400000" spc="-28">
                <a:solidFill>
                  <a:srgbClr val="3A3745">
                    <a:alpha val="100000"/>
                  </a:srgbClr>
                </a:solidFill>
                <a:latin typeface="Deck"/>
                <a:ea typeface="Deck"/>
                <a:cs typeface="Deck"/>
              </a:rPr>
              <a:t xml:space="preserve">For yourself.</a:t>
            </a:r>
            <a:endParaRPr lang="en-US" sz="2550" spc="-28" kern="400000">
              <a:latin typeface="Deck"/>
            </a:endParaRPr>
          </a:p>
        </p:txBody>
      </p:sp>
      <p:sp>
        <p:nvSpPr>
          <p:cNvPr id="5" name="s06-t003">
            <a:extLst xmlns:a="http://schemas.openxmlformats.org/drawingml/2006/main">
              <a:ext uri="{FF2B5EF4-FFF2-40B4-BE49-F238E27FC236}">
                <a16:creationId xmlns:a16="http://schemas.microsoft.com/office/drawing/2014/main" id="{033B9BA9-9381-4309-B130-DD9F762FE40E}"/>
              </a:ext>
            </a:extLst>
          </p:cNvPr>
          <p:cNvSpPr>
            <a:spLocks xmlns:a="http://schemas.openxmlformats.org/drawingml/2006/main" noGrp="1"/>
          </p:cNvSpPr>
          <p:nvPr/>
        </p:nvSpPr>
        <p:spPr>
          <a:xfrm xmlns:a="http://schemas.openxmlformats.org/drawingml/2006/main">
            <a:off x="971550" y="5336556"/>
            <a:ext cx="4033647"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22" kern="400000">
                <a:solidFill>
                  <a:srgbClr val="3A3745"/>
                </a:solidFill>
                <a:latin typeface="Deck"/>
                <a:ea typeface="Deck"/>
                <a:cs typeface="Deck"/>
              </a:defRPr>
            </a:pPr>
            <a:r>
              <a:rPr sz="2550" b="0" i="0" kern="400000" spc="-22">
                <a:solidFill>
                  <a:srgbClr val="3A3745">
                    <a:alpha val="100000"/>
                  </a:srgbClr>
                </a:solidFill>
                <a:latin typeface="Deck"/>
                <a:ea typeface="Deck"/>
                <a:cs typeface="Deck"/>
              </a:rPr>
              <a:t xml:space="preserve">For someone you care for.</a:t>
            </a:r>
            <a:endParaRPr lang="en-US" sz="2550" spc="-22" kern="400000">
              <a:latin typeface="Deck"/>
            </a:endParaRPr>
          </a:p>
        </p:txBody>
      </p:sp>
      <p:sp>
        <p:nvSpPr>
          <p:cNvPr id="6" name="s06-t004">
            <a:extLst xmlns:a="http://schemas.openxmlformats.org/drawingml/2006/main">
              <a:ext uri="{FF2B5EF4-FFF2-40B4-BE49-F238E27FC236}">
                <a16:creationId xmlns:a16="http://schemas.microsoft.com/office/drawing/2014/main" id="{F462FA5D-DE7B-4E16-A98E-F2BC2675A413}"/>
              </a:ext>
            </a:extLst>
          </p:cNvPr>
          <p:cNvSpPr>
            <a:spLocks xmlns:a="http://schemas.openxmlformats.org/drawingml/2006/main" noGrp="1"/>
          </p:cNvSpPr>
          <p:nvPr/>
        </p:nvSpPr>
        <p:spPr>
          <a:xfrm xmlns:a="http://schemas.openxmlformats.org/drawingml/2006/main">
            <a:off x="971550" y="1666880"/>
            <a:ext cx="4037752"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3" kern="400000">
                <a:solidFill>
                  <a:srgbClr val="3A3745"/>
                </a:solidFill>
                <a:latin typeface="Deck-Medium"/>
                <a:ea typeface="Deck-Medium"/>
                <a:cs typeface="Deck-Medium"/>
              </a:defRPr>
            </a:pPr>
            <a:r>
              <a:rPr sz="1725" b="0" i="0" kern="400000" spc="283">
                <a:solidFill>
                  <a:srgbClr val="6C6971">
                    <a:alpha val="100000"/>
                  </a:srgbClr>
                </a:solidFill>
                <a:latin typeface="Deck-Medium"/>
                <a:ea typeface="Deck-Medium"/>
                <a:cs typeface="Deck-Medium"/>
              </a:rPr>
              <a:t xml:space="preserve">THE PROTOTYPE, UP CLOSE</a:t>
            </a:r>
            <a:endParaRPr lang="en-US" sz="1725" spc="283" kern="400000">
              <a:latin typeface="Deck-Medium"/>
            </a:endParaRPr>
          </a:p>
        </p:txBody>
      </p:sp>
      <p:sp>
        <p:nvSpPr>
          <p:cNvPr id="7" name="s06-t005">
            <a:extLst xmlns:a="http://schemas.openxmlformats.org/drawingml/2006/main">
              <a:ext uri="{FF2B5EF4-FFF2-40B4-BE49-F238E27FC236}">
                <a16:creationId xmlns:a16="http://schemas.microsoft.com/office/drawing/2014/main" id="{6E772692-3E12-4562-AEEB-C31DD5A40964}"/>
              </a:ext>
            </a:extLst>
          </p:cNvPr>
          <p:cNvSpPr>
            <a:spLocks xmlns:a="http://schemas.openxmlformats.org/drawingml/2006/main" noGrp="1"/>
          </p:cNvSpPr>
          <p:nvPr/>
        </p:nvSpPr>
        <p:spPr>
          <a:xfrm xmlns:a="http://schemas.openxmlformats.org/drawingml/2006/main">
            <a:off x="971550" y="6378256"/>
            <a:ext cx="2058010"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4" kern="400000">
                <a:solidFill>
                  <a:srgbClr val="3A3745"/>
                </a:solidFill>
                <a:latin typeface="Deck"/>
                <a:ea typeface="Deck"/>
                <a:cs typeface="Deck"/>
              </a:defRPr>
            </a:pPr>
            <a:r>
              <a:rPr sz="1800" b="0" i="0" kern="400000" spc="-4">
                <a:solidFill>
                  <a:srgbClr val="79767D">
                    <a:alpha val="100000"/>
                  </a:srgbClr>
                </a:solidFill>
                <a:latin typeface="Deck"/>
                <a:ea typeface="Deck"/>
                <a:cs typeface="Deck"/>
              </a:rPr>
              <a:t xml:space="preserve">Choose a routine.</a:t>
            </a:r>
            <a:endParaRPr lang="en-US" sz="1800" spc="-4" kern="400000">
              <a:latin typeface="Deck"/>
            </a:endParaRPr>
          </a:p>
        </p:txBody>
      </p:sp>
      <p:sp>
        <p:nvSpPr>
          <p:cNvPr id="8" name="s06-t006">
            <a:extLst xmlns:a="http://schemas.openxmlformats.org/drawingml/2006/main">
              <a:ext uri="{FF2B5EF4-FFF2-40B4-BE49-F238E27FC236}">
                <a16:creationId xmlns:a16="http://schemas.microsoft.com/office/drawing/2014/main" id="{2134625A-0AB4-4711-9C5A-AE967B384DCC}"/>
              </a:ext>
            </a:extLst>
          </p:cNvPr>
          <p:cNvSpPr>
            <a:spLocks xmlns:a="http://schemas.openxmlformats.org/drawingml/2006/main" noGrp="1"/>
          </p:cNvSpPr>
          <p:nvPr/>
        </p:nvSpPr>
        <p:spPr>
          <a:xfrm xmlns:a="http://schemas.openxmlformats.org/drawingml/2006/main">
            <a:off x="971550" y="6725728"/>
            <a:ext cx="3587115"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3A3745"/>
                </a:solidFill>
                <a:latin typeface="Deck"/>
                <a:ea typeface="Deck"/>
                <a:cs typeface="Deck"/>
              </a:defRPr>
            </a:pPr>
            <a:r>
              <a:rPr sz="1800" b="0" i="0" kern="400000" spc="-7">
                <a:solidFill>
                  <a:srgbClr val="79767D">
                    <a:alpha val="100000"/>
                  </a:srgbClr>
                </a:solidFill>
                <a:latin typeface="Deck"/>
                <a:ea typeface="Deck"/>
                <a:cs typeface="Deck"/>
              </a:rPr>
              <a:t xml:space="preserve">Make room for a small first step.</a:t>
            </a:r>
            <a:endParaRPr lang="en-US" sz="1800" spc="-7" kern="400000">
              <a:latin typeface="Deck"/>
            </a:endParaRPr>
          </a:p>
        </p:txBody>
      </p:sp>
      <p:sp>
        <p:nvSpPr>
          <p:cNvPr id="9" name="s06-t007">
            <a:extLst xmlns:a="http://schemas.openxmlformats.org/drawingml/2006/main">
              <a:ext uri="{FF2B5EF4-FFF2-40B4-BE49-F238E27FC236}">
                <a16:creationId xmlns:a16="http://schemas.microsoft.com/office/drawing/2014/main" id="{8C23D3D2-C8B8-4B43-A19F-B2FAD5041473}"/>
              </a:ext>
            </a:extLst>
          </p:cNvPr>
          <p:cNvSpPr>
            <a:spLocks xmlns:a="http://schemas.openxmlformats.org/drawingml/2006/main" noGrp="1"/>
          </p:cNvSpPr>
          <p:nvPr/>
        </p:nvSpPr>
        <p:spPr>
          <a:xfrm xmlns:a="http://schemas.openxmlformats.org/drawingml/2006/main">
            <a:off x="952500" y="9730387"/>
            <a:ext cx="38381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Fictional data</a:t>
            </a:r>
            <a:endParaRPr lang="en-US" sz="1350" spc="3" kern="400000">
              <a:latin typeface="Deck"/>
            </a:endParaRPr>
          </a:p>
        </p:txBody>
      </p:sp>
      <p:sp>
        <p:nvSpPr>
          <p:cNvPr id="10" name="s06-t008">
            <a:extLst xmlns:a="http://schemas.openxmlformats.org/drawingml/2006/main">
              <a:ext uri="{FF2B5EF4-FFF2-40B4-BE49-F238E27FC236}">
                <a16:creationId xmlns:a16="http://schemas.microsoft.com/office/drawing/2014/main" id="{D775A6D3-D468-49B7-B7DD-88875EC93BDB}"/>
              </a:ext>
            </a:extLst>
          </p:cNvPr>
          <p:cNvSpPr>
            <a:spLocks xmlns:a="http://schemas.openxmlformats.org/drawingml/2006/main" noGrp="1"/>
          </p:cNvSpPr>
          <p:nvPr/>
        </p:nvSpPr>
        <p:spPr>
          <a:xfrm xmlns:a="http://schemas.openxmlformats.org/drawingml/2006/main">
            <a:off x="17117231" y="9730387"/>
            <a:ext cx="455324"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06</a:t>
            </a:r>
            <a:endParaRPr lang="en-US" sz="1350" spc="6" kern="400000">
              <a:latin typeface="Deck"/>
            </a:endParaRPr>
          </a:p>
        </p:txBody>
      </p:sp>
    </p:spTree>
    <p:extLst>
      <p:ext uri="{BB962C8B-B14F-4D97-AF65-F5344CB8AC3E}">
        <p14:creationId xmlns:p14="http://schemas.microsoft.com/office/powerpoint/2010/main" val="224744252"/>
      </p:ext>
    </p:extLst>
  </p:cSld>
</p:sld>
</file>

<file path=ppt/slides/slide7.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d402f03b5104f48"/>
          <a:stretch xmlns:a="http://schemas.openxmlformats.org/drawingml/2006/main"/>
        </p:blipFill>
        <p:spPr>
          <a:xfrm xmlns:a="http://schemas.openxmlformats.org/drawingml/2006/main">
            <a:off x="7239000" y="238125"/>
            <a:ext cx="10001250" cy="9667875"/>
          </a:xfrm>
          <a:prstGeom xmlns:a="http://schemas.openxmlformats.org/drawingml/2006/main" prst="rect">
            <a:avLst/>
          </a:prstGeom>
        </p:spPr>
      </p:pic>
      <p:sp>
        <p:nvSpPr>
          <p:cNvPr id="2" name="s07-t000">
            <a:extLst xmlns:a="http://schemas.openxmlformats.org/drawingml/2006/main">
              <a:ext uri="{FF2B5EF4-FFF2-40B4-BE49-F238E27FC236}">
                <a16:creationId xmlns:a16="http://schemas.microsoft.com/office/drawing/2014/main" id="{FA0E3193-7D3E-4D1F-BE9C-633F24ADB87F}"/>
              </a:ext>
            </a:extLst>
          </p:cNvPr>
          <p:cNvSpPr>
            <a:spLocks xmlns:a="http://schemas.openxmlformats.org/drawingml/2006/main" noGrp="1"/>
          </p:cNvSpPr>
          <p:nvPr/>
        </p:nvSpPr>
        <p:spPr>
          <a:xfrm xmlns:a="http://schemas.openxmlformats.org/drawingml/2006/main">
            <a:off x="971550" y="2157618"/>
            <a:ext cx="551995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74" kern="400000">
                <a:solidFill>
                  <a:srgbClr val="FAF6F0"/>
                </a:solidFill>
                <a:latin typeface="Deck-Semi-Bold"/>
                <a:ea typeface="Deck-Semi-Bold"/>
                <a:cs typeface="Deck-Semi-Bold"/>
              </a:defRPr>
            </a:pPr>
            <a:r>
              <a:rPr sz="8025" b="0" i="0" kern="400000" spc="-474">
                <a:solidFill>
                  <a:srgbClr val="FAF6F0">
                    <a:alpha val="100000"/>
                  </a:srgbClr>
                </a:solidFill>
                <a:latin typeface="Deck-Semi-Bold"/>
                <a:ea typeface="Deck-Semi-Bold"/>
                <a:cs typeface="Deck-Semi-Bold"/>
              </a:rPr>
              <a:t xml:space="preserve">Your people.</a:t>
            </a:r>
            <a:endParaRPr lang="en-US" sz="8025" spc="-474" kern="400000">
              <a:latin typeface="Deck-Semi-Bold"/>
            </a:endParaRPr>
          </a:p>
        </p:txBody>
      </p:sp>
      <p:sp>
        <p:nvSpPr>
          <p:cNvPr id="3" name="s07-t001">
            <a:extLst xmlns:a="http://schemas.openxmlformats.org/drawingml/2006/main">
              <a:ext uri="{FF2B5EF4-FFF2-40B4-BE49-F238E27FC236}">
                <a16:creationId xmlns:a16="http://schemas.microsoft.com/office/drawing/2014/main" id="{82111FBC-48C1-41B5-9FC7-305026D471F9}"/>
              </a:ext>
            </a:extLst>
          </p:cNvPr>
          <p:cNvSpPr>
            <a:spLocks xmlns:a="http://schemas.openxmlformats.org/drawingml/2006/main" noGrp="1"/>
          </p:cNvSpPr>
          <p:nvPr/>
        </p:nvSpPr>
        <p:spPr>
          <a:xfrm xmlns:a="http://schemas.openxmlformats.org/drawingml/2006/main">
            <a:off x="971550" y="3222655"/>
            <a:ext cx="3402682"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41" kern="400000">
                <a:solidFill>
                  <a:srgbClr val="9BDAB6"/>
                </a:solidFill>
                <a:latin typeface="Deck-Semi-Bold"/>
                <a:ea typeface="Deck-Semi-Bold"/>
                <a:cs typeface="Deck-Semi-Bold"/>
              </a:defRPr>
            </a:pPr>
            <a:r>
              <a:rPr sz="8025" b="0" i="0" kern="400000" spc="-441">
                <a:solidFill>
                  <a:srgbClr val="9BDAB6">
                    <a:alpha val="100000"/>
                  </a:srgbClr>
                </a:solidFill>
                <a:latin typeface="Deck-Semi-Bold"/>
                <a:ea typeface="Deck-Semi-Bold"/>
                <a:cs typeface="Deck-Semi-Bold"/>
              </a:rPr>
              <a:t xml:space="preserve">In view.</a:t>
            </a:r>
            <a:endParaRPr lang="en-US" sz="8025" spc="-441" kern="400000">
              <a:latin typeface="Deck-Semi-Bold"/>
            </a:endParaRPr>
          </a:p>
        </p:txBody>
      </p:sp>
      <p:sp>
        <p:nvSpPr>
          <p:cNvPr id="4" name="s07-t002">
            <a:extLst xmlns:a="http://schemas.openxmlformats.org/drawingml/2006/main">
              <a:ext uri="{FF2B5EF4-FFF2-40B4-BE49-F238E27FC236}">
                <a16:creationId xmlns:a16="http://schemas.microsoft.com/office/drawing/2014/main" id="{FF41002A-2DD1-4051-B7FC-776BDD5B07BD}"/>
              </a:ext>
            </a:extLst>
          </p:cNvPr>
          <p:cNvSpPr>
            <a:spLocks xmlns:a="http://schemas.openxmlformats.org/drawingml/2006/main" noGrp="1"/>
          </p:cNvSpPr>
          <p:nvPr/>
        </p:nvSpPr>
        <p:spPr>
          <a:xfrm xmlns:a="http://schemas.openxmlformats.org/drawingml/2006/main">
            <a:off x="971550" y="4857258"/>
            <a:ext cx="4252570"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2" kern="400000">
                <a:solidFill>
                  <a:srgbClr val="FAF6F0"/>
                </a:solidFill>
                <a:latin typeface="Deck"/>
                <a:ea typeface="Deck"/>
                <a:cs typeface="Deck"/>
              </a:defRPr>
            </a:pPr>
            <a:r>
              <a:rPr sz="2550" b="0" i="0" kern="400000" spc="-12">
                <a:solidFill>
                  <a:srgbClr val="FAF6F0">
                    <a:alpha val="100000"/>
                  </a:srgbClr>
                </a:solidFill>
                <a:latin typeface="Deck"/>
                <a:ea typeface="Deck"/>
                <a:cs typeface="Deck"/>
              </a:rPr>
              <a:t xml:space="preserve">Keep a loved one’s routines</a:t>
            </a:r>
            <a:endParaRPr lang="en-US" sz="2550" spc="-12" kern="400000">
              <a:latin typeface="Deck"/>
            </a:endParaRPr>
          </a:p>
        </p:txBody>
      </p:sp>
      <p:sp>
        <p:nvSpPr>
          <p:cNvPr id="5" name="s07-t003">
            <a:extLst xmlns:a="http://schemas.openxmlformats.org/drawingml/2006/main">
              <a:ext uri="{FF2B5EF4-FFF2-40B4-BE49-F238E27FC236}">
                <a16:creationId xmlns:a16="http://schemas.microsoft.com/office/drawing/2014/main" id="{72BAD483-26F9-4517-AB97-B4A2CE6D0B4D}"/>
              </a:ext>
            </a:extLst>
          </p:cNvPr>
          <p:cNvSpPr>
            <a:spLocks xmlns:a="http://schemas.openxmlformats.org/drawingml/2006/main" noGrp="1"/>
          </p:cNvSpPr>
          <p:nvPr/>
        </p:nvSpPr>
        <p:spPr>
          <a:xfrm xmlns:a="http://schemas.openxmlformats.org/drawingml/2006/main">
            <a:off x="971550" y="5336556"/>
            <a:ext cx="3869779"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3" kern="400000">
                <a:solidFill>
                  <a:srgbClr val="FAF6F0"/>
                </a:solidFill>
                <a:latin typeface="Deck"/>
                <a:ea typeface="Deck"/>
                <a:cs typeface="Deck"/>
              </a:defRPr>
            </a:pPr>
            <a:r>
              <a:rPr sz="2550" b="0" i="0" kern="400000" spc="-3">
                <a:solidFill>
                  <a:srgbClr val="FAF6F0">
                    <a:alpha val="100000"/>
                  </a:srgbClr>
                </a:solidFill>
                <a:latin typeface="Deck"/>
                <a:ea typeface="Deck"/>
                <a:cs typeface="Deck"/>
              </a:rPr>
              <a:t xml:space="preserve">and appointments close.</a:t>
            </a:r>
            <a:endParaRPr lang="en-US" sz="2550" spc="-3" kern="400000">
              <a:latin typeface="Deck"/>
            </a:endParaRPr>
          </a:p>
        </p:txBody>
      </p:sp>
      <p:sp>
        <p:nvSpPr>
          <p:cNvPr id="6" name="s07-t004">
            <a:extLst xmlns:a="http://schemas.openxmlformats.org/drawingml/2006/main">
              <a:ext uri="{FF2B5EF4-FFF2-40B4-BE49-F238E27FC236}">
                <a16:creationId xmlns:a16="http://schemas.microsoft.com/office/drawing/2014/main" id="{9B4CF4E8-0CB4-4677-ACC0-CD424EF91AB1}"/>
              </a:ext>
            </a:extLst>
          </p:cNvPr>
          <p:cNvSpPr>
            <a:spLocks xmlns:a="http://schemas.openxmlformats.org/drawingml/2006/main" noGrp="1"/>
          </p:cNvSpPr>
          <p:nvPr/>
        </p:nvSpPr>
        <p:spPr>
          <a:xfrm xmlns:a="http://schemas.openxmlformats.org/drawingml/2006/main">
            <a:off x="971550" y="1666880"/>
            <a:ext cx="290966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2" kern="400000">
                <a:solidFill>
                  <a:srgbClr val="FAF6F0"/>
                </a:solidFill>
                <a:latin typeface="Deck-Medium"/>
                <a:ea typeface="Deck-Medium"/>
                <a:cs typeface="Deck-Medium"/>
              </a:defRPr>
            </a:pPr>
            <a:r>
              <a:rPr sz="1725" b="0" i="0" kern="400000" spc="292">
                <a:solidFill>
                  <a:srgbClr val="BBBAB6">
                    <a:alpha val="100000"/>
                  </a:srgbClr>
                </a:solidFill>
                <a:latin typeface="Deck-Medium"/>
                <a:ea typeface="Deck-Medium"/>
                <a:cs typeface="Deck-Medium"/>
              </a:rPr>
              <a:t xml:space="preserve">YOUR CARE CIRCLE</a:t>
            </a:r>
            <a:endParaRPr lang="en-US" sz="1725" spc="292" kern="400000">
              <a:latin typeface="Deck-Medium"/>
            </a:endParaRPr>
          </a:p>
        </p:txBody>
      </p:sp>
      <p:sp>
        <p:nvSpPr>
          <p:cNvPr id="7" name="s07-t005">
            <a:extLst xmlns:a="http://schemas.openxmlformats.org/drawingml/2006/main">
              <a:ext uri="{FF2B5EF4-FFF2-40B4-BE49-F238E27FC236}">
                <a16:creationId xmlns:a16="http://schemas.microsoft.com/office/drawing/2014/main" id="{30453CA3-6CE1-4878-95D5-3F7ADCC00401}"/>
              </a:ext>
            </a:extLst>
          </p:cNvPr>
          <p:cNvSpPr>
            <a:spLocks xmlns:a="http://schemas.openxmlformats.org/drawingml/2006/main" noGrp="1"/>
          </p:cNvSpPr>
          <p:nvPr/>
        </p:nvSpPr>
        <p:spPr>
          <a:xfrm xmlns:a="http://schemas.openxmlformats.org/drawingml/2006/main">
            <a:off x="971550" y="6378256"/>
            <a:ext cx="258561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6" kern="400000">
                <a:solidFill>
                  <a:srgbClr val="FAF6F0"/>
                </a:solidFill>
                <a:latin typeface="Deck"/>
                <a:ea typeface="Deck"/>
                <a:cs typeface="Deck"/>
              </a:defRPr>
            </a:pPr>
            <a:r>
              <a:rPr sz="1800" b="0" i="0" kern="400000" spc="-6">
                <a:solidFill>
                  <a:srgbClr val="AAAAA6">
                    <a:alpha val="100000"/>
                  </a:srgbClr>
                </a:solidFill>
                <a:latin typeface="Deck"/>
                <a:ea typeface="Deck"/>
                <a:cs typeface="Deck"/>
              </a:rPr>
              <a:t xml:space="preserve">A personal care space,</a:t>
            </a:r>
            <a:endParaRPr lang="en-US" sz="1800" spc="-6" kern="400000">
              <a:latin typeface="Deck"/>
            </a:endParaRPr>
          </a:p>
        </p:txBody>
      </p:sp>
      <p:sp>
        <p:nvSpPr>
          <p:cNvPr id="8" name="s07-t006">
            <a:extLst xmlns:a="http://schemas.openxmlformats.org/drawingml/2006/main">
              <a:ext uri="{FF2B5EF4-FFF2-40B4-BE49-F238E27FC236}">
                <a16:creationId xmlns:a16="http://schemas.microsoft.com/office/drawing/2014/main" id="{556C5900-45BD-4946-A6AD-18AEE6818CC2}"/>
              </a:ext>
            </a:extLst>
          </p:cNvPr>
          <p:cNvSpPr>
            <a:spLocks xmlns:a="http://schemas.openxmlformats.org/drawingml/2006/main" noGrp="1"/>
          </p:cNvSpPr>
          <p:nvPr/>
        </p:nvSpPr>
        <p:spPr>
          <a:xfrm xmlns:a="http://schemas.openxmlformats.org/drawingml/2006/main">
            <a:off x="971550" y="6725728"/>
            <a:ext cx="337931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2" kern="400000">
                <a:solidFill>
                  <a:srgbClr val="FAF6F0"/>
                </a:solidFill>
                <a:latin typeface="Deck"/>
                <a:ea typeface="Deck"/>
                <a:cs typeface="Deck"/>
              </a:defRPr>
            </a:pPr>
            <a:r>
              <a:rPr sz="1800" b="0" i="0" kern="400000" spc="-2">
                <a:solidFill>
                  <a:srgbClr val="AAAAA6">
                    <a:alpha val="100000"/>
                  </a:srgbClr>
                </a:solidFill>
                <a:latin typeface="Deck"/>
                <a:ea typeface="Deck"/>
                <a:cs typeface="Deck"/>
              </a:rPr>
              <a:t xml:space="preserve">with permission-aware access</a:t>
            </a:r>
            <a:endParaRPr lang="en-US" sz="1800" spc="-2" kern="400000">
              <a:latin typeface="Deck"/>
            </a:endParaRPr>
          </a:p>
        </p:txBody>
      </p:sp>
      <p:sp>
        <p:nvSpPr>
          <p:cNvPr id="9" name="s07-t007">
            <a:extLst xmlns:a="http://schemas.openxmlformats.org/drawingml/2006/main">
              <a:ext uri="{FF2B5EF4-FFF2-40B4-BE49-F238E27FC236}">
                <a16:creationId xmlns:a16="http://schemas.microsoft.com/office/drawing/2014/main" id="{A759DA5C-7AB8-4917-8946-32CDEF55E336}"/>
              </a:ext>
            </a:extLst>
          </p:cNvPr>
          <p:cNvSpPr>
            <a:spLocks xmlns:a="http://schemas.openxmlformats.org/drawingml/2006/main" noGrp="1"/>
          </p:cNvSpPr>
          <p:nvPr/>
        </p:nvSpPr>
        <p:spPr>
          <a:xfrm xmlns:a="http://schemas.openxmlformats.org/drawingml/2006/main">
            <a:off x="971550" y="7073200"/>
            <a:ext cx="2612822"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FAF6F0"/>
                </a:solidFill>
                <a:latin typeface="Deck"/>
                <a:ea typeface="Deck"/>
                <a:cs typeface="Deck"/>
              </a:defRPr>
            </a:pPr>
            <a:r>
              <a:rPr sz="1800" b="0" i="0" kern="400000" spc="-3">
                <a:solidFill>
                  <a:srgbClr val="AAAAA6">
                    <a:alpha val="100000"/>
                  </a:srgbClr>
                </a:solidFill>
                <a:latin typeface="Deck"/>
                <a:ea typeface="Deck"/>
                <a:cs typeface="Deck"/>
              </a:rPr>
              <a:t xml:space="preserve">as the intended model.</a:t>
            </a:r>
            <a:endParaRPr lang="en-US" sz="1800" spc="-3" kern="400000">
              <a:latin typeface="Deck"/>
            </a:endParaRPr>
          </a:p>
        </p:txBody>
      </p:sp>
      <p:sp>
        <p:nvSpPr>
          <p:cNvPr id="10" name="s07-t008">
            <a:extLst xmlns:a="http://schemas.openxmlformats.org/drawingml/2006/main">
              <a:ext uri="{FF2B5EF4-FFF2-40B4-BE49-F238E27FC236}">
                <a16:creationId xmlns:a16="http://schemas.microsoft.com/office/drawing/2014/main" id="{DB2013AE-213C-4489-A2B2-0567F0A8C232}"/>
              </a:ext>
            </a:extLst>
          </p:cNvPr>
          <p:cNvSpPr>
            <a:spLocks xmlns:a="http://schemas.openxmlformats.org/drawingml/2006/main" noGrp="1"/>
          </p:cNvSpPr>
          <p:nvPr/>
        </p:nvSpPr>
        <p:spPr>
          <a:xfrm xmlns:a="http://schemas.openxmlformats.org/drawingml/2006/main">
            <a:off x="952500" y="9730387"/>
            <a:ext cx="686706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Mobile prototype walkthrough · Fictional profiles; production sharing to be validated</a:t>
            </a:r>
            <a:endParaRPr lang="en-US" sz="1350" spc="3" kern="400000">
              <a:latin typeface="Deck"/>
            </a:endParaRPr>
          </a:p>
        </p:txBody>
      </p:sp>
      <p:sp>
        <p:nvSpPr>
          <p:cNvPr id="11" name="s07-t009">
            <a:extLst xmlns:a="http://schemas.openxmlformats.org/drawingml/2006/main">
              <a:ext uri="{FF2B5EF4-FFF2-40B4-BE49-F238E27FC236}">
                <a16:creationId xmlns:a16="http://schemas.microsoft.com/office/drawing/2014/main" id="{959A32CC-E9BC-4B3C-88C8-0CC96DE4552C}"/>
              </a:ext>
            </a:extLst>
          </p:cNvPr>
          <p:cNvSpPr>
            <a:spLocks xmlns:a="http://schemas.openxmlformats.org/drawingml/2006/main" noGrp="1"/>
          </p:cNvSpPr>
          <p:nvPr/>
        </p:nvSpPr>
        <p:spPr>
          <a:xfrm xmlns:a="http://schemas.openxmlformats.org/drawingml/2006/main">
            <a:off x="17132485" y="9730387"/>
            <a:ext cx="44006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07</a:t>
            </a:r>
            <a:endParaRPr lang="en-US" sz="1350" spc="7" kern="400000">
              <a:latin typeface="Deck"/>
            </a:endParaRPr>
          </a:p>
        </p:txBody>
      </p:sp>
    </p:spTree>
    <p:extLst>
      <p:ext uri="{BB962C8B-B14F-4D97-AF65-F5344CB8AC3E}">
        <p14:creationId xmlns:p14="http://schemas.microsoft.com/office/powerpoint/2010/main" val="539260058"/>
      </p:ext>
    </p:extLst>
  </p:cSld>
</p:sld>
</file>

<file path=ppt/slides/slide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ed9e18073744c74"/>
          <a:stretch xmlns:a="http://schemas.openxmlformats.org/drawingml/2006/main"/>
        </p:blipFill>
        <p:spPr>
          <a:xfrm xmlns:a="http://schemas.openxmlformats.org/drawingml/2006/main">
            <a:off x="9906000" y="238125"/>
            <a:ext cx="6572250" cy="9858375"/>
          </a:xfrm>
          <a:prstGeom xmlns:a="http://schemas.openxmlformats.org/drawingml/2006/main" prst="rect">
            <a:avLst/>
          </a:prstGeom>
        </p:spPr>
      </p:pic>
      <p:sp>
        <p:nvSpPr>
          <p:cNvPr id="2" name="s08-t000">
            <a:extLst xmlns:a="http://schemas.openxmlformats.org/drawingml/2006/main">
              <a:ext uri="{FF2B5EF4-FFF2-40B4-BE49-F238E27FC236}">
                <a16:creationId xmlns:a16="http://schemas.microsoft.com/office/drawing/2014/main" id="{A1385997-C158-4AF5-9D28-30DA037799E7}"/>
              </a:ext>
            </a:extLst>
          </p:cNvPr>
          <p:cNvSpPr>
            <a:spLocks xmlns:a="http://schemas.openxmlformats.org/drawingml/2006/main" noGrp="1"/>
          </p:cNvSpPr>
          <p:nvPr/>
        </p:nvSpPr>
        <p:spPr>
          <a:xfrm xmlns:a="http://schemas.openxmlformats.org/drawingml/2006/main">
            <a:off x="971550" y="1444351"/>
            <a:ext cx="4349696" cy="132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475" spc="-589" kern="400000">
                <a:solidFill>
                  <a:srgbClr val="3A3745"/>
                </a:solidFill>
                <a:latin typeface="Deck-Semi-Bold"/>
                <a:ea typeface="Deck-Semi-Bold"/>
                <a:cs typeface="Deck-Semi-Bold"/>
              </a:defRPr>
            </a:pPr>
            <a:r>
              <a:rPr sz="8475" b="0" i="0" kern="400000" spc="-589">
                <a:solidFill>
                  <a:srgbClr val="3A3745">
                    <a:alpha val="100000"/>
                  </a:srgbClr>
                </a:solidFill>
                <a:latin typeface="Deck-Semi-Bold"/>
                <a:ea typeface="Deck-Semi-Bold"/>
                <a:cs typeface="Deck-Semi-Bold"/>
              </a:rPr>
              <a:t xml:space="preserve">Your day.</a:t>
            </a:r>
            <a:endParaRPr lang="en-US" sz="8475" spc="-589" kern="400000">
              <a:latin typeface="Deck-Semi-Bold"/>
            </a:endParaRPr>
          </a:p>
        </p:txBody>
      </p:sp>
      <p:sp>
        <p:nvSpPr>
          <p:cNvPr id="3" name="s08-t001">
            <a:extLst xmlns:a="http://schemas.openxmlformats.org/drawingml/2006/main">
              <a:ext uri="{FF2B5EF4-FFF2-40B4-BE49-F238E27FC236}">
                <a16:creationId xmlns:a16="http://schemas.microsoft.com/office/drawing/2014/main" id="{E0F3264E-65FE-4708-B2C2-59D3350D49BA}"/>
              </a:ext>
            </a:extLst>
          </p:cNvPr>
          <p:cNvSpPr>
            <a:spLocks xmlns:a="http://schemas.openxmlformats.org/drawingml/2006/main" noGrp="1"/>
          </p:cNvSpPr>
          <p:nvPr/>
        </p:nvSpPr>
        <p:spPr>
          <a:xfrm xmlns:a="http://schemas.openxmlformats.org/drawingml/2006/main">
            <a:off x="971550" y="2569110"/>
            <a:ext cx="6438852" cy="132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475" spc="-438" kern="400000">
                <a:solidFill>
                  <a:srgbClr val="4F7A66"/>
                </a:solidFill>
                <a:latin typeface="Deck-Semi-Bold"/>
                <a:ea typeface="Deck-Semi-Bold"/>
                <a:cs typeface="Deck-Semi-Bold"/>
              </a:defRPr>
            </a:pPr>
            <a:r>
              <a:rPr sz="8475" b="0" i="0" kern="400000" spc="-438">
                <a:solidFill>
                  <a:srgbClr val="4F7A66">
                    <a:alpha val="100000"/>
                  </a:srgbClr>
                </a:solidFill>
                <a:latin typeface="Deck-Semi-Bold"/>
                <a:ea typeface="Deck-Semi-Bold"/>
                <a:cs typeface="Deck-Semi-Bold"/>
              </a:rPr>
              <a:t xml:space="preserve">A little lighter.</a:t>
            </a:r>
            <a:endParaRPr lang="en-US" sz="8475" spc="-438" kern="400000">
              <a:latin typeface="Deck-Semi-Bold"/>
            </a:endParaRPr>
          </a:p>
        </p:txBody>
      </p:sp>
      <p:sp>
        <p:nvSpPr>
          <p:cNvPr id="4" name="s08-t002">
            <a:extLst xmlns:a="http://schemas.openxmlformats.org/drawingml/2006/main">
              <a:ext uri="{FF2B5EF4-FFF2-40B4-BE49-F238E27FC236}">
                <a16:creationId xmlns:a16="http://schemas.microsoft.com/office/drawing/2014/main" id="{B563693E-2802-42A4-A614-0C5748BC4BD9}"/>
              </a:ext>
            </a:extLst>
          </p:cNvPr>
          <p:cNvSpPr>
            <a:spLocks xmlns:a="http://schemas.openxmlformats.org/drawingml/2006/main" noGrp="1"/>
          </p:cNvSpPr>
          <p:nvPr/>
        </p:nvSpPr>
        <p:spPr>
          <a:xfrm xmlns:a="http://schemas.openxmlformats.org/drawingml/2006/main">
            <a:off x="1019175" y="4681047"/>
            <a:ext cx="4946285"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7" kern="400000">
                <a:solidFill>
                  <a:srgbClr val="3A3745"/>
                </a:solidFill>
                <a:latin typeface="Deck"/>
                <a:ea typeface="Deck"/>
                <a:cs typeface="Deck"/>
              </a:defRPr>
            </a:pPr>
            <a:r>
              <a:rPr sz="2325" b="0" i="0" kern="400000" spc="-7">
                <a:solidFill>
                  <a:srgbClr val="3A3745">
                    <a:alpha val="100000"/>
                  </a:srgbClr>
                </a:solidFill>
                <a:latin typeface="Deck"/>
                <a:ea typeface="Deck"/>
                <a:cs typeface="Deck"/>
              </a:rPr>
              <a:t xml:space="preserve">One place to see the next care task</a:t>
            </a:r>
            <a:endParaRPr lang="en-US" sz="2325" spc="-7" kern="400000">
              <a:latin typeface="Deck"/>
            </a:endParaRPr>
          </a:p>
        </p:txBody>
      </p:sp>
      <p:sp>
        <p:nvSpPr>
          <p:cNvPr id="5" name="s08-t003">
            <a:extLst xmlns:a="http://schemas.openxmlformats.org/drawingml/2006/main">
              <a:ext uri="{FF2B5EF4-FFF2-40B4-BE49-F238E27FC236}">
                <a16:creationId xmlns:a16="http://schemas.microsoft.com/office/drawing/2014/main" id="{31DFA5BB-2C33-41F9-939B-8CAA7CC4ED57}"/>
              </a:ext>
            </a:extLst>
          </p:cNvPr>
          <p:cNvSpPr>
            <a:spLocks xmlns:a="http://schemas.openxmlformats.org/drawingml/2006/main" noGrp="1"/>
          </p:cNvSpPr>
          <p:nvPr/>
        </p:nvSpPr>
        <p:spPr>
          <a:xfrm xmlns:a="http://schemas.openxmlformats.org/drawingml/2006/main">
            <a:off x="1019175" y="5118054"/>
            <a:ext cx="4976993"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9" kern="400000">
                <a:solidFill>
                  <a:srgbClr val="3A3745"/>
                </a:solidFill>
                <a:latin typeface="Deck"/>
                <a:ea typeface="Deck"/>
                <a:cs typeface="Deck"/>
              </a:defRPr>
            </a:pPr>
            <a:r>
              <a:rPr sz="2325" b="0" i="0" kern="400000" spc="-9">
                <a:solidFill>
                  <a:srgbClr val="3A3745">
                    <a:alpha val="100000"/>
                  </a:srgbClr>
                </a:solidFill>
                <a:latin typeface="Deck"/>
                <a:ea typeface="Deck"/>
                <a:cs typeface="Deck"/>
              </a:rPr>
              <a:t xml:space="preserve">and keep everyday routines in view.</a:t>
            </a:r>
            <a:endParaRPr lang="en-US" sz="2325" spc="-9" kern="400000">
              <a:latin typeface="Deck"/>
            </a:endParaRPr>
          </a:p>
        </p:txBody>
      </p:sp>
      <p:sp>
        <p:nvSpPr>
          <p:cNvPr id="6" name="s08-t004">
            <a:extLst xmlns:a="http://schemas.openxmlformats.org/drawingml/2006/main">
              <a:ext uri="{FF2B5EF4-FFF2-40B4-BE49-F238E27FC236}">
                <a16:creationId xmlns:a16="http://schemas.microsoft.com/office/drawing/2014/main" id="{45DC4E7E-71B5-444F-95BC-05C0978B3265}"/>
              </a:ext>
            </a:extLst>
          </p:cNvPr>
          <p:cNvSpPr>
            <a:spLocks xmlns:a="http://schemas.openxmlformats.org/drawingml/2006/main" noGrp="1"/>
          </p:cNvSpPr>
          <p:nvPr/>
        </p:nvSpPr>
        <p:spPr>
          <a:xfrm xmlns:a="http://schemas.openxmlformats.org/drawingml/2006/main">
            <a:off x="1009650" y="6948261"/>
            <a:ext cx="1737027"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3" kern="400000">
                <a:solidFill>
                  <a:srgbClr val="7E8A7F"/>
                </a:solidFill>
                <a:latin typeface="Deck"/>
                <a:ea typeface="Deck"/>
                <a:cs typeface="Deck"/>
              </a:defRPr>
            </a:pPr>
            <a:r>
              <a:rPr sz="2925" b="0" i="0" kern="400000" spc="-3">
                <a:solidFill>
                  <a:srgbClr val="7E8A7F">
                    <a:alpha val="100000"/>
                  </a:srgbClr>
                </a:solidFill>
                <a:latin typeface="Deck"/>
                <a:ea typeface="Deck"/>
                <a:cs typeface="Deck"/>
              </a:rPr>
              <a:t xml:space="preserve">Routines</a:t>
            </a:r>
            <a:endParaRPr lang="en-US" sz="2925" spc="-3" kern="400000">
              <a:latin typeface="Deck"/>
            </a:endParaRPr>
          </a:p>
        </p:txBody>
      </p:sp>
      <p:sp>
        <p:nvSpPr>
          <p:cNvPr id="7" name="s08-t005">
            <a:extLst xmlns:a="http://schemas.openxmlformats.org/drawingml/2006/main">
              <a:ext uri="{FF2B5EF4-FFF2-40B4-BE49-F238E27FC236}">
                <a16:creationId xmlns:a16="http://schemas.microsoft.com/office/drawing/2014/main" id="{69F68420-12B1-4B41-A224-3D09008D6786}"/>
              </a:ext>
            </a:extLst>
          </p:cNvPr>
          <p:cNvSpPr>
            <a:spLocks xmlns:a="http://schemas.openxmlformats.org/drawingml/2006/main" noGrp="1"/>
          </p:cNvSpPr>
          <p:nvPr/>
        </p:nvSpPr>
        <p:spPr>
          <a:xfrm xmlns:a="http://schemas.openxmlformats.org/drawingml/2006/main">
            <a:off x="1009650" y="7438608"/>
            <a:ext cx="1009679"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8" kern="400000">
                <a:solidFill>
                  <a:srgbClr val="7E8A7F"/>
                </a:solidFill>
                <a:latin typeface="Deck"/>
                <a:ea typeface="Deck"/>
                <a:cs typeface="Deck"/>
              </a:defRPr>
            </a:pPr>
            <a:r>
              <a:rPr sz="2925" b="0" i="0" kern="400000" spc="-8">
                <a:solidFill>
                  <a:srgbClr val="7E8A7F">
                    <a:alpha val="100000"/>
                  </a:srgbClr>
                </a:solidFill>
                <a:latin typeface="Deck"/>
                <a:ea typeface="Deck"/>
                <a:cs typeface="Deck"/>
              </a:rPr>
              <a:t xml:space="preserve">Rest</a:t>
            </a:r>
            <a:endParaRPr lang="en-US" sz="2925" spc="-8" kern="400000">
              <a:latin typeface="Deck"/>
            </a:endParaRPr>
          </a:p>
        </p:txBody>
      </p:sp>
      <p:sp>
        <p:nvSpPr>
          <p:cNvPr id="8" name="s08-t006">
            <a:extLst xmlns:a="http://schemas.openxmlformats.org/drawingml/2006/main">
              <a:ext uri="{FF2B5EF4-FFF2-40B4-BE49-F238E27FC236}">
                <a16:creationId xmlns:a16="http://schemas.microsoft.com/office/drawing/2014/main" id="{A0D821DA-3457-4864-A65B-14932E14F0B8}"/>
              </a:ext>
            </a:extLst>
          </p:cNvPr>
          <p:cNvSpPr>
            <a:spLocks xmlns:a="http://schemas.openxmlformats.org/drawingml/2006/main" noGrp="1"/>
          </p:cNvSpPr>
          <p:nvPr/>
        </p:nvSpPr>
        <p:spPr>
          <a:xfrm xmlns:a="http://schemas.openxmlformats.org/drawingml/2006/main">
            <a:off x="1009650" y="7928955"/>
            <a:ext cx="1819494"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3" kern="400000">
                <a:solidFill>
                  <a:srgbClr val="7E8A7F"/>
                </a:solidFill>
                <a:latin typeface="Deck"/>
                <a:ea typeface="Deck"/>
                <a:cs typeface="Deck"/>
              </a:defRPr>
            </a:pPr>
            <a:r>
              <a:rPr sz="2925" b="0" i="0" kern="400000" spc="-3">
                <a:solidFill>
                  <a:srgbClr val="7E8A7F">
                    <a:alpha val="100000"/>
                  </a:srgbClr>
                </a:solidFill>
                <a:latin typeface="Deck"/>
                <a:ea typeface="Deck"/>
                <a:cs typeface="Deck"/>
              </a:rPr>
              <a:t xml:space="preserve">Readings</a:t>
            </a:r>
            <a:endParaRPr lang="en-US" sz="2925" spc="-3" kern="400000">
              <a:latin typeface="Deck"/>
            </a:endParaRPr>
          </a:p>
        </p:txBody>
      </p:sp>
      <p:sp>
        <p:nvSpPr>
          <p:cNvPr id="9" name="s08-t007">
            <a:extLst xmlns:a="http://schemas.openxmlformats.org/drawingml/2006/main">
              <a:ext uri="{FF2B5EF4-FFF2-40B4-BE49-F238E27FC236}">
                <a16:creationId xmlns:a16="http://schemas.microsoft.com/office/drawing/2014/main" id="{901A120A-5528-465E-B422-01E43BEBBAFE}"/>
              </a:ext>
            </a:extLst>
          </p:cNvPr>
          <p:cNvSpPr>
            <a:spLocks xmlns:a="http://schemas.openxmlformats.org/drawingml/2006/main" noGrp="1"/>
          </p:cNvSpPr>
          <p:nvPr/>
        </p:nvSpPr>
        <p:spPr>
          <a:xfrm xmlns:a="http://schemas.openxmlformats.org/drawingml/2006/main">
            <a:off x="952500" y="9730387"/>
            <a:ext cx="38381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Fictional data</a:t>
            </a:r>
            <a:endParaRPr lang="en-US" sz="1350" spc="3" kern="400000">
              <a:latin typeface="Deck"/>
            </a:endParaRPr>
          </a:p>
        </p:txBody>
      </p:sp>
      <p:sp>
        <p:nvSpPr>
          <p:cNvPr id="10" name="s08-t008">
            <a:extLst xmlns:a="http://schemas.openxmlformats.org/drawingml/2006/main">
              <a:ext uri="{FF2B5EF4-FFF2-40B4-BE49-F238E27FC236}">
                <a16:creationId xmlns:a16="http://schemas.microsoft.com/office/drawing/2014/main" id="{4CBE7E55-62F9-4173-AF65-17CBC13114F3}"/>
              </a:ext>
            </a:extLst>
          </p:cNvPr>
          <p:cNvSpPr>
            <a:spLocks xmlns:a="http://schemas.openxmlformats.org/drawingml/2006/main" noGrp="1"/>
          </p:cNvSpPr>
          <p:nvPr/>
        </p:nvSpPr>
        <p:spPr>
          <a:xfrm xmlns:a="http://schemas.openxmlformats.org/drawingml/2006/main">
            <a:off x="17119975" y="9730387"/>
            <a:ext cx="45258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08</a:t>
            </a:r>
            <a:endParaRPr lang="en-US" sz="1350" spc="6" kern="400000">
              <a:latin typeface="Deck"/>
            </a:endParaRPr>
          </a:p>
        </p:txBody>
      </p:sp>
    </p:spTree>
    <p:extLst>
      <p:ext uri="{BB962C8B-B14F-4D97-AF65-F5344CB8AC3E}">
        <p14:creationId xmlns:p14="http://schemas.microsoft.com/office/powerpoint/2010/main" val="1154939346"/>
      </p:ext>
    </p:extLst>
  </p:cSld>
</p:sld>
</file>

<file path=ppt/slides/slide9.xml><?xml version="1.0" encoding="utf-8"?>
<p:sld xmlns:p="http://schemas.openxmlformats.org/presentationml/2006/main">
  <p:cSld>
    <p:bg>
      <p:bgPr>
        <a:solidFill xmlns:a="http://schemas.openxmlformats.org/drawingml/2006/main">
          <a:srgbClr val="EAE5F4"/>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854cba54df648ad"/>
          <a:stretch xmlns:a="http://schemas.openxmlformats.org/drawingml/2006/main"/>
        </p:blipFill>
        <p:spPr>
          <a:xfrm xmlns:a="http://schemas.openxmlformats.org/drawingml/2006/main">
            <a:off x="7429500" y="238125"/>
            <a:ext cx="10096500" cy="9667875"/>
          </a:xfrm>
          <a:prstGeom xmlns:a="http://schemas.openxmlformats.org/drawingml/2006/main" prst="rect">
            <a:avLst/>
          </a:prstGeom>
        </p:spPr>
      </p:pic>
      <p:sp>
        <p:nvSpPr>
          <p:cNvPr id="2" name="s09-t000">
            <a:extLst xmlns:a="http://schemas.openxmlformats.org/drawingml/2006/main">
              <a:ext uri="{FF2B5EF4-FFF2-40B4-BE49-F238E27FC236}">
                <a16:creationId xmlns:a16="http://schemas.microsoft.com/office/drawing/2014/main" id="{9E8FDE48-7494-4EFC-B86D-F84E6DD485A5}"/>
              </a:ext>
            </a:extLst>
          </p:cNvPr>
          <p:cNvSpPr>
            <a:spLocks xmlns:a="http://schemas.openxmlformats.org/drawingml/2006/main" noGrp="1"/>
          </p:cNvSpPr>
          <p:nvPr/>
        </p:nvSpPr>
        <p:spPr>
          <a:xfrm xmlns:a="http://schemas.openxmlformats.org/drawingml/2006/main">
            <a:off x="971550" y="2157618"/>
            <a:ext cx="5165712"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23" kern="400000">
                <a:solidFill>
                  <a:srgbClr val="3C354B"/>
                </a:solidFill>
                <a:latin typeface="Deck-Semi-Bold"/>
                <a:ea typeface="Deck-Semi-Bold"/>
                <a:cs typeface="Deck-Semi-Bold"/>
              </a:defRPr>
            </a:pPr>
            <a:r>
              <a:rPr sz="8025" b="0" i="0" kern="400000" spc="-423">
                <a:solidFill>
                  <a:srgbClr val="3C354B">
                    <a:alpha val="100000"/>
                  </a:srgbClr>
                </a:solidFill>
                <a:latin typeface="Deck-Semi-Bold"/>
                <a:ea typeface="Deck-Semi-Bold"/>
                <a:cs typeface="Deck-Semi-Bold"/>
              </a:rPr>
              <a:t xml:space="preserve">Make room</a:t>
            </a:r>
            <a:endParaRPr lang="en-US" sz="8025" spc="-423" kern="400000">
              <a:latin typeface="Deck-Semi-Bold"/>
            </a:endParaRPr>
          </a:p>
        </p:txBody>
      </p:sp>
      <p:sp>
        <p:nvSpPr>
          <p:cNvPr id="3" name="s09-t001">
            <a:extLst xmlns:a="http://schemas.openxmlformats.org/drawingml/2006/main">
              <a:ext uri="{FF2B5EF4-FFF2-40B4-BE49-F238E27FC236}">
                <a16:creationId xmlns:a16="http://schemas.microsoft.com/office/drawing/2014/main" id="{4C8D9D93-A4D5-4106-8AA9-8F772B994B12}"/>
              </a:ext>
            </a:extLst>
          </p:cNvPr>
          <p:cNvSpPr>
            <a:spLocks xmlns:a="http://schemas.openxmlformats.org/drawingml/2006/main" noGrp="1"/>
          </p:cNvSpPr>
          <p:nvPr/>
        </p:nvSpPr>
        <p:spPr>
          <a:xfrm xmlns:a="http://schemas.openxmlformats.org/drawingml/2006/main">
            <a:off x="971550" y="3222655"/>
            <a:ext cx="2188254"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42" kern="400000">
                <a:solidFill>
                  <a:srgbClr val="3C354B"/>
                </a:solidFill>
                <a:latin typeface="Deck-Semi-Bold"/>
                <a:ea typeface="Deck-Semi-Bold"/>
                <a:cs typeface="Deck-Semi-Bold"/>
              </a:defRPr>
            </a:pPr>
            <a:r>
              <a:rPr sz="8025" b="0" i="0" kern="400000" spc="-442">
                <a:solidFill>
                  <a:srgbClr val="3C354B">
                    <a:alpha val="100000"/>
                  </a:srgbClr>
                </a:solidFill>
                <a:latin typeface="Deck-Semi-Bold"/>
                <a:ea typeface="Deck-Semi-Bold"/>
                <a:cs typeface="Deck-Semi-Bold"/>
              </a:rPr>
              <a:t xml:space="preserve">for a</a:t>
            </a:r>
            <a:endParaRPr lang="en-US" sz="8025" spc="-442" kern="400000">
              <a:latin typeface="Deck-Semi-Bold"/>
            </a:endParaRPr>
          </a:p>
        </p:txBody>
      </p:sp>
      <p:sp>
        <p:nvSpPr>
          <p:cNvPr id="4" name="s09-t002">
            <a:extLst xmlns:a="http://schemas.openxmlformats.org/drawingml/2006/main">
              <a:ext uri="{FF2B5EF4-FFF2-40B4-BE49-F238E27FC236}">
                <a16:creationId xmlns:a16="http://schemas.microsoft.com/office/drawing/2014/main" id="{10425F0F-E352-4F14-82AE-1BD07935A0AD}"/>
              </a:ext>
            </a:extLst>
          </p:cNvPr>
          <p:cNvSpPr>
            <a:spLocks xmlns:a="http://schemas.openxmlformats.org/drawingml/2006/main" noGrp="1"/>
          </p:cNvSpPr>
          <p:nvPr/>
        </p:nvSpPr>
        <p:spPr>
          <a:xfrm xmlns:a="http://schemas.openxmlformats.org/drawingml/2006/main">
            <a:off x="971550" y="4287693"/>
            <a:ext cx="5550389"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02" kern="400000">
                <a:solidFill>
                  <a:srgbClr val="73618B"/>
                </a:solidFill>
                <a:latin typeface="Deck-Semi-Bold"/>
                <a:ea typeface="Deck-Semi-Bold"/>
                <a:cs typeface="Deck-Semi-Bold"/>
              </a:defRPr>
            </a:pPr>
            <a:r>
              <a:rPr sz="8025" b="0" i="0" kern="400000" spc="-402">
                <a:solidFill>
                  <a:srgbClr val="73618B">
                    <a:alpha val="100000"/>
                  </a:srgbClr>
                </a:solidFill>
                <a:latin typeface="Deck-Semi-Bold"/>
                <a:ea typeface="Deck-Semi-Bold"/>
                <a:cs typeface="Deck-Semi-Bold"/>
              </a:rPr>
              <a:t xml:space="preserve">better night.</a:t>
            </a:r>
            <a:endParaRPr lang="en-US" sz="8025" spc="-402" kern="400000">
              <a:latin typeface="Deck-Semi-Bold"/>
            </a:endParaRPr>
          </a:p>
        </p:txBody>
      </p:sp>
      <p:sp>
        <p:nvSpPr>
          <p:cNvPr id="5" name="s09-t003">
            <a:extLst xmlns:a="http://schemas.openxmlformats.org/drawingml/2006/main">
              <a:ext uri="{FF2B5EF4-FFF2-40B4-BE49-F238E27FC236}">
                <a16:creationId xmlns:a16="http://schemas.microsoft.com/office/drawing/2014/main" id="{F81DBBC9-7629-4FD0-8944-3437C6A4F327}"/>
              </a:ext>
            </a:extLst>
          </p:cNvPr>
          <p:cNvSpPr>
            <a:spLocks xmlns:a="http://schemas.openxmlformats.org/drawingml/2006/main" noGrp="1"/>
          </p:cNvSpPr>
          <p:nvPr/>
        </p:nvSpPr>
        <p:spPr>
          <a:xfrm xmlns:a="http://schemas.openxmlformats.org/drawingml/2006/main">
            <a:off x="971550" y="5922296"/>
            <a:ext cx="2020272"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2" kern="400000">
                <a:solidFill>
                  <a:srgbClr val="3C354B"/>
                </a:solidFill>
                <a:latin typeface="Deck"/>
                <a:ea typeface="Deck"/>
                <a:cs typeface="Deck"/>
              </a:defRPr>
            </a:pPr>
            <a:r>
              <a:rPr sz="2550" b="0" i="0" kern="400000" spc="-12">
                <a:solidFill>
                  <a:srgbClr val="3C354B">
                    <a:alpha val="100000"/>
                  </a:srgbClr>
                </a:solidFill>
                <a:latin typeface="Deck"/>
                <a:ea typeface="Deck"/>
                <a:cs typeface="Deck"/>
              </a:rPr>
              <a:t xml:space="preserve">Review rest.</a:t>
            </a:r>
            <a:endParaRPr lang="en-US" sz="2550" spc="-12" kern="400000">
              <a:latin typeface="Deck"/>
            </a:endParaRPr>
          </a:p>
        </p:txBody>
      </p:sp>
      <p:sp>
        <p:nvSpPr>
          <p:cNvPr id="6" name="s09-t004">
            <a:extLst xmlns:a="http://schemas.openxmlformats.org/drawingml/2006/main">
              <a:ext uri="{FF2B5EF4-FFF2-40B4-BE49-F238E27FC236}">
                <a16:creationId xmlns:a16="http://schemas.microsoft.com/office/drawing/2014/main" id="{F2A0C23B-78A5-40B2-B4E6-251829C46AC8}"/>
              </a:ext>
            </a:extLst>
          </p:cNvPr>
          <p:cNvSpPr>
            <a:spLocks xmlns:a="http://schemas.openxmlformats.org/drawingml/2006/main" noGrp="1"/>
          </p:cNvSpPr>
          <p:nvPr/>
        </p:nvSpPr>
        <p:spPr>
          <a:xfrm xmlns:a="http://schemas.openxmlformats.org/drawingml/2006/main">
            <a:off x="971550" y="6401594"/>
            <a:ext cx="4534643"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6" kern="400000">
                <a:solidFill>
                  <a:srgbClr val="3C354B"/>
                </a:solidFill>
                <a:latin typeface="Deck"/>
                <a:ea typeface="Deck"/>
                <a:cs typeface="Deck"/>
              </a:defRPr>
            </a:pPr>
            <a:r>
              <a:rPr sz="2550" b="0" i="0" kern="400000" spc="-6">
                <a:solidFill>
                  <a:srgbClr val="3C354B">
                    <a:alpha val="100000"/>
                  </a:srgbClr>
                </a:solidFill>
                <a:latin typeface="Deck"/>
                <a:ea typeface="Deck"/>
                <a:cs typeface="Deck"/>
              </a:rPr>
              <a:t xml:space="preserve">Choose a wind-down routine.</a:t>
            </a:r>
            <a:endParaRPr lang="en-US" sz="2550" spc="-6" kern="400000">
              <a:latin typeface="Deck"/>
            </a:endParaRPr>
          </a:p>
        </p:txBody>
      </p:sp>
      <p:sp>
        <p:nvSpPr>
          <p:cNvPr id="7" name="s09-t005">
            <a:extLst xmlns:a="http://schemas.openxmlformats.org/drawingml/2006/main">
              <a:ext uri="{FF2B5EF4-FFF2-40B4-BE49-F238E27FC236}">
                <a16:creationId xmlns:a16="http://schemas.microsoft.com/office/drawing/2014/main" id="{41BA1CCB-3508-4F48-ABC0-8F7B1D635F52}"/>
              </a:ext>
            </a:extLst>
          </p:cNvPr>
          <p:cNvSpPr>
            <a:spLocks xmlns:a="http://schemas.openxmlformats.org/drawingml/2006/main" noGrp="1"/>
          </p:cNvSpPr>
          <p:nvPr/>
        </p:nvSpPr>
        <p:spPr>
          <a:xfrm xmlns:a="http://schemas.openxmlformats.org/drawingml/2006/main">
            <a:off x="971550" y="1666880"/>
            <a:ext cx="108707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9" kern="400000">
                <a:solidFill>
                  <a:srgbClr val="3C354B"/>
                </a:solidFill>
                <a:latin typeface="Deck-Medium"/>
                <a:ea typeface="Deck-Medium"/>
                <a:cs typeface="Deck-Medium"/>
              </a:defRPr>
            </a:pPr>
            <a:r>
              <a:rPr sz="1725" b="0" i="0" kern="400000" spc="299">
                <a:solidFill>
                  <a:srgbClr val="696377">
                    <a:alpha val="100000"/>
                  </a:srgbClr>
                </a:solidFill>
                <a:latin typeface="Deck-Medium"/>
                <a:ea typeface="Deck-Medium"/>
                <a:cs typeface="Deck-Medium"/>
              </a:rPr>
              <a:t xml:space="preserve">SLEEP</a:t>
            </a:r>
            <a:endParaRPr lang="en-US" sz="1725" spc="299" kern="400000">
              <a:latin typeface="Deck-Medium"/>
            </a:endParaRPr>
          </a:p>
        </p:txBody>
      </p:sp>
      <p:sp>
        <p:nvSpPr>
          <p:cNvPr id="8" name="s09-t006">
            <a:extLst xmlns:a="http://schemas.openxmlformats.org/drawingml/2006/main">
              <a:ext uri="{FF2B5EF4-FFF2-40B4-BE49-F238E27FC236}">
                <a16:creationId xmlns:a16="http://schemas.microsoft.com/office/drawing/2014/main" id="{D3403994-0C05-477D-A455-1DD12610D2C2}"/>
              </a:ext>
            </a:extLst>
          </p:cNvPr>
          <p:cNvSpPr>
            <a:spLocks xmlns:a="http://schemas.openxmlformats.org/drawingml/2006/main" noGrp="1"/>
          </p:cNvSpPr>
          <p:nvPr/>
        </p:nvSpPr>
        <p:spPr>
          <a:xfrm xmlns:a="http://schemas.openxmlformats.org/drawingml/2006/main">
            <a:off x="971550" y="7443294"/>
            <a:ext cx="2516581"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3C354B"/>
                </a:solidFill>
                <a:latin typeface="Deck"/>
                <a:ea typeface="Deck"/>
                <a:cs typeface="Deck"/>
              </a:defRPr>
            </a:pPr>
            <a:r>
              <a:rPr sz="1800" b="0" i="0" kern="400000" spc="-3">
                <a:solidFill>
                  <a:srgbClr val="756F83">
                    <a:alpha val="100000"/>
                  </a:srgbClr>
                </a:solidFill>
                <a:latin typeface="Deck"/>
                <a:ea typeface="Deck"/>
                <a:cs typeface="Deck"/>
              </a:rPr>
              <a:t xml:space="preserve">Illustrative sleep data.</a:t>
            </a:r>
            <a:endParaRPr lang="en-US" sz="1800" spc="-3" kern="400000">
              <a:latin typeface="Deck"/>
            </a:endParaRPr>
          </a:p>
        </p:txBody>
      </p:sp>
      <p:sp>
        <p:nvSpPr>
          <p:cNvPr id="9" name="s09-t007">
            <a:extLst xmlns:a="http://schemas.openxmlformats.org/drawingml/2006/main">
              <a:ext uri="{FF2B5EF4-FFF2-40B4-BE49-F238E27FC236}">
                <a16:creationId xmlns:a16="http://schemas.microsoft.com/office/drawing/2014/main" id="{F381AB16-DB87-4810-AE09-760A8E7B8C86}"/>
              </a:ext>
            </a:extLst>
          </p:cNvPr>
          <p:cNvSpPr>
            <a:spLocks xmlns:a="http://schemas.openxmlformats.org/drawingml/2006/main" noGrp="1"/>
          </p:cNvSpPr>
          <p:nvPr/>
        </p:nvSpPr>
        <p:spPr>
          <a:xfrm xmlns:a="http://schemas.openxmlformats.org/drawingml/2006/main">
            <a:off x="971550" y="7790766"/>
            <a:ext cx="361614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4" kern="400000">
                <a:solidFill>
                  <a:srgbClr val="3C354B"/>
                </a:solidFill>
                <a:latin typeface="Deck"/>
                <a:ea typeface="Deck"/>
                <a:cs typeface="Deck"/>
              </a:defRPr>
            </a:pPr>
            <a:r>
              <a:rPr sz="1800" b="0" i="0" kern="400000" spc="-4">
                <a:solidFill>
                  <a:srgbClr val="756F83">
                    <a:alpha val="100000"/>
                  </a:srgbClr>
                </a:solidFill>
                <a:latin typeface="Deck"/>
                <a:ea typeface="Deck"/>
                <a:cs typeface="Deck"/>
              </a:rPr>
              <a:t xml:space="preserve">Wearable connection is planned.</a:t>
            </a:r>
            <a:endParaRPr lang="en-US" sz="1800" spc="-4" kern="400000">
              <a:latin typeface="Deck"/>
            </a:endParaRPr>
          </a:p>
        </p:txBody>
      </p:sp>
      <p:sp>
        <p:nvSpPr>
          <p:cNvPr id="10" name="s09-t008">
            <a:extLst xmlns:a="http://schemas.openxmlformats.org/drawingml/2006/main">
              <a:ext uri="{FF2B5EF4-FFF2-40B4-BE49-F238E27FC236}">
                <a16:creationId xmlns:a16="http://schemas.microsoft.com/office/drawing/2014/main" id="{F8CF1C32-9AEA-4BF0-A4BA-284C5084A019}"/>
              </a:ext>
            </a:extLst>
          </p:cNvPr>
          <p:cNvSpPr>
            <a:spLocks xmlns:a="http://schemas.openxmlformats.org/drawingml/2006/main" noGrp="1"/>
          </p:cNvSpPr>
          <p:nvPr/>
        </p:nvSpPr>
        <p:spPr>
          <a:xfrm xmlns:a="http://schemas.openxmlformats.org/drawingml/2006/main">
            <a:off x="952500" y="9730387"/>
            <a:ext cx="560813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C354B"/>
                </a:solidFill>
                <a:latin typeface="Deck"/>
                <a:ea typeface="Deck"/>
                <a:cs typeface="Deck"/>
              </a:defRPr>
            </a:pPr>
            <a:r>
              <a:rPr sz="1350" b="0" i="0" kern="400000" spc="3">
                <a:solidFill>
                  <a:srgbClr val="7C768A">
                    <a:alpha val="100000"/>
                  </a:srgbClr>
                </a:solidFill>
                <a:latin typeface="Deck"/>
                <a:ea typeface="Deck"/>
                <a:cs typeface="Deck"/>
              </a:rPr>
              <a:t xml:space="preserve">Mobile prototype walkthrough · Sleep is not measured from a device</a:t>
            </a:r>
            <a:endParaRPr lang="en-US" sz="1350" spc="3" kern="400000">
              <a:latin typeface="Deck"/>
            </a:endParaRPr>
          </a:p>
        </p:txBody>
      </p:sp>
      <p:sp>
        <p:nvSpPr>
          <p:cNvPr id="11" name="s09-t009">
            <a:extLst xmlns:a="http://schemas.openxmlformats.org/drawingml/2006/main">
              <a:ext uri="{FF2B5EF4-FFF2-40B4-BE49-F238E27FC236}">
                <a16:creationId xmlns:a16="http://schemas.microsoft.com/office/drawing/2014/main" id="{62D3AA2A-6CF1-410F-8B1F-CE7DC4102CDE}"/>
              </a:ext>
            </a:extLst>
          </p:cNvPr>
          <p:cNvSpPr>
            <a:spLocks xmlns:a="http://schemas.openxmlformats.org/drawingml/2006/main" noGrp="1"/>
          </p:cNvSpPr>
          <p:nvPr/>
        </p:nvSpPr>
        <p:spPr>
          <a:xfrm xmlns:a="http://schemas.openxmlformats.org/drawingml/2006/main">
            <a:off x="17117054" y="9730387"/>
            <a:ext cx="45549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C354B"/>
                </a:solidFill>
                <a:latin typeface="Deck"/>
                <a:ea typeface="Deck"/>
                <a:cs typeface="Deck"/>
              </a:defRPr>
            </a:pPr>
            <a:r>
              <a:rPr sz="1350" b="0" i="0" kern="400000" spc="7">
                <a:solidFill>
                  <a:srgbClr val="7C768A">
                    <a:alpha val="100000"/>
                  </a:srgbClr>
                </a:solidFill>
                <a:latin typeface="Deck"/>
                <a:ea typeface="Deck"/>
                <a:cs typeface="Deck"/>
              </a:rPr>
              <a:t xml:space="preserve">09</a:t>
            </a:r>
            <a:endParaRPr lang="en-US" sz="1350" spc="7" kern="400000">
              <a:latin typeface="Deck"/>
            </a:endParaRPr>
          </a:p>
        </p:txBody>
      </p:sp>
    </p:spTree>
    <p:extLst>
      <p:ext uri="{BB962C8B-B14F-4D97-AF65-F5344CB8AC3E}">
        <p14:creationId xmlns:p14="http://schemas.microsoft.com/office/powerpoint/2010/main" val="310977516"/>
      </p:ext>
    </p:extLst>
  </p:cSld>
</p:sld>
</file>

<file path=ppt/slides/slide10.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7b6bbdcbae46a7"/>
          <a:stretch xmlns:a="http://schemas.openxmlformats.org/drawingml/2006/main"/>
        </p:blipFill>
        <p:spPr>
          <a:xfrm xmlns:a="http://schemas.openxmlformats.org/drawingml/2006/main">
            <a:off x="10001250" y="238125"/>
            <a:ext cx="6286500" cy="9667875"/>
          </a:xfrm>
          <a:prstGeom xmlns:a="http://schemas.openxmlformats.org/drawingml/2006/main" prst="rect">
            <a:avLst/>
          </a:prstGeom>
        </p:spPr>
      </p:pic>
      <p:sp>
        <p:nvSpPr>
          <p:cNvPr id="2" name="s10-t000">
            <a:extLst xmlns:a="http://schemas.openxmlformats.org/drawingml/2006/main">
              <a:ext uri="{FF2B5EF4-FFF2-40B4-BE49-F238E27FC236}">
                <a16:creationId xmlns:a16="http://schemas.microsoft.com/office/drawing/2014/main" id="{2712A73F-0A3D-43C9-B70C-B7D3979C98C9}"/>
              </a:ext>
            </a:extLst>
          </p:cNvPr>
          <p:cNvSpPr>
            <a:spLocks xmlns:a="http://schemas.openxmlformats.org/drawingml/2006/main" noGrp="1"/>
          </p:cNvSpPr>
          <p:nvPr/>
        </p:nvSpPr>
        <p:spPr>
          <a:xfrm xmlns:a="http://schemas.openxmlformats.org/drawingml/2006/main">
            <a:off x="1000125" y="2312128"/>
            <a:ext cx="5148910"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463" kern="400000">
                <a:solidFill>
                  <a:srgbClr val="FAF6F0"/>
                </a:solidFill>
                <a:latin typeface="Deck-Semi-Bold"/>
                <a:ea typeface="Deck-Semi-Bold"/>
                <a:cs typeface="Deck-Semi-Bold"/>
              </a:defRPr>
            </a:pPr>
            <a:r>
              <a:rPr sz="7800" b="0" i="0" kern="400000" spc="-463">
                <a:solidFill>
                  <a:srgbClr val="FAF6F0">
                    <a:alpha val="100000"/>
                  </a:srgbClr>
                </a:solidFill>
                <a:latin typeface="Deck-Semi-Bold"/>
                <a:ea typeface="Deck-Semi-Bold"/>
                <a:cs typeface="Deck-Semi-Bold"/>
              </a:rPr>
              <a:t xml:space="preserve">Your health,</a:t>
            </a:r>
            <a:endParaRPr lang="en-US" sz="7800" spc="-463" kern="400000">
              <a:latin typeface="Deck-Semi-Bold"/>
            </a:endParaRPr>
          </a:p>
        </p:txBody>
      </p:sp>
      <p:sp>
        <p:nvSpPr>
          <p:cNvPr id="3" name="s10-t001">
            <a:extLst xmlns:a="http://schemas.openxmlformats.org/drawingml/2006/main">
              <a:ext uri="{FF2B5EF4-FFF2-40B4-BE49-F238E27FC236}">
                <a16:creationId xmlns:a16="http://schemas.microsoft.com/office/drawing/2014/main" id="{AB7483AA-D9E3-4B62-AF77-2A2A00D3E447}"/>
              </a:ext>
            </a:extLst>
          </p:cNvPr>
          <p:cNvSpPr>
            <a:spLocks xmlns:a="http://schemas.openxmlformats.org/drawingml/2006/main" noGrp="1"/>
          </p:cNvSpPr>
          <p:nvPr/>
        </p:nvSpPr>
        <p:spPr>
          <a:xfrm xmlns:a="http://schemas.openxmlformats.org/drawingml/2006/main">
            <a:off x="1000125" y="3347305"/>
            <a:ext cx="4969612"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86" kern="400000">
                <a:solidFill>
                  <a:srgbClr val="9BDAB6"/>
                </a:solidFill>
                <a:latin typeface="Deck-Semi-Bold"/>
                <a:ea typeface="Deck-Semi-Bold"/>
                <a:cs typeface="Deck-Semi-Bold"/>
              </a:defRPr>
            </a:pPr>
            <a:r>
              <a:rPr sz="7800" b="0" i="0" kern="400000" spc="-386">
                <a:solidFill>
                  <a:srgbClr val="9BDAB6">
                    <a:alpha val="100000"/>
                  </a:srgbClr>
                </a:solidFill>
                <a:latin typeface="Deck-Semi-Bold"/>
                <a:ea typeface="Deck-Semi-Bold"/>
                <a:cs typeface="Deck-Semi-Bold"/>
              </a:rPr>
              <a:t xml:space="preserve">at a glance.</a:t>
            </a:r>
            <a:endParaRPr lang="en-US" sz="7800" spc="-386" kern="400000">
              <a:latin typeface="Deck-Semi-Bold"/>
            </a:endParaRPr>
          </a:p>
        </p:txBody>
      </p:sp>
      <p:sp>
        <p:nvSpPr>
          <p:cNvPr id="4" name="s10-t002">
            <a:extLst xmlns:a="http://schemas.openxmlformats.org/drawingml/2006/main">
              <a:ext uri="{FF2B5EF4-FFF2-40B4-BE49-F238E27FC236}">
                <a16:creationId xmlns:a16="http://schemas.microsoft.com/office/drawing/2014/main" id="{8E45AE31-6F59-4E4B-81C0-0786D62C4076}"/>
              </a:ext>
            </a:extLst>
          </p:cNvPr>
          <p:cNvSpPr>
            <a:spLocks xmlns:a="http://schemas.openxmlformats.org/drawingml/2006/main" noGrp="1"/>
          </p:cNvSpPr>
          <p:nvPr/>
        </p:nvSpPr>
        <p:spPr>
          <a:xfrm xmlns:a="http://schemas.openxmlformats.org/drawingml/2006/main">
            <a:off x="1000125" y="4975898"/>
            <a:ext cx="5098447" cy="351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250" spc="-8" kern="400000">
                <a:solidFill>
                  <a:srgbClr val="FAF6F0"/>
                </a:solidFill>
                <a:latin typeface="Deck"/>
                <a:ea typeface="Deck"/>
                <a:cs typeface="Deck"/>
              </a:defRPr>
            </a:pPr>
            <a:r>
              <a:rPr sz="2250" b="0" i="0" kern="400000" spc="-8">
                <a:solidFill>
                  <a:srgbClr val="FAF6F0">
                    <a:alpha val="100000"/>
                  </a:srgbClr>
                </a:solidFill>
                <a:latin typeface="Deck"/>
                <a:ea typeface="Deck"/>
                <a:cs typeface="Deck"/>
              </a:rPr>
              <a:t xml:space="preserve">Rest, routines and recorded readings.</a:t>
            </a:r>
            <a:endParaRPr lang="en-US" sz="2250" spc="-8" kern="400000">
              <a:latin typeface="Deck"/>
            </a:endParaRPr>
          </a:p>
        </p:txBody>
      </p:sp>
      <p:sp>
        <p:nvSpPr>
          <p:cNvPr id="5" name="s10-t003">
            <a:extLst xmlns:a="http://schemas.openxmlformats.org/drawingml/2006/main">
              <a:ext uri="{FF2B5EF4-FFF2-40B4-BE49-F238E27FC236}">
                <a16:creationId xmlns:a16="http://schemas.microsoft.com/office/drawing/2014/main" id="{B8D1854D-57BD-471A-AEC4-2CFD68537BE0}"/>
              </a:ext>
            </a:extLst>
          </p:cNvPr>
          <p:cNvSpPr>
            <a:spLocks xmlns:a="http://schemas.openxmlformats.org/drawingml/2006/main" noGrp="1"/>
          </p:cNvSpPr>
          <p:nvPr/>
        </p:nvSpPr>
        <p:spPr>
          <a:xfrm xmlns:a="http://schemas.openxmlformats.org/drawingml/2006/main">
            <a:off x="1000125" y="5404523"/>
            <a:ext cx="5705380" cy="351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250" spc="-6" kern="400000">
                <a:solidFill>
                  <a:srgbClr val="FAF6F0"/>
                </a:solidFill>
                <a:latin typeface="Deck"/>
                <a:ea typeface="Deck"/>
                <a:cs typeface="Deck"/>
              </a:defRPr>
            </a:pPr>
            <a:r>
              <a:rPr sz="2250" b="0" i="0" kern="400000" spc="-6">
                <a:solidFill>
                  <a:srgbClr val="FAF6F0">
                    <a:alpha val="100000"/>
                  </a:srgbClr>
                </a:solidFill>
                <a:latin typeface="Deck"/>
                <a:ea typeface="Deck"/>
                <a:cs typeface="Deck"/>
              </a:rPr>
              <a:t xml:space="preserve">A place to notice what deserves attention.</a:t>
            </a:r>
            <a:endParaRPr lang="en-US" sz="2250" spc="-6" kern="400000">
              <a:latin typeface="Deck"/>
            </a:endParaRPr>
          </a:p>
        </p:txBody>
      </p:sp>
      <p:sp>
        <p:nvSpPr>
          <p:cNvPr id="6" name="s10-t004">
            <a:extLst xmlns:a="http://schemas.openxmlformats.org/drawingml/2006/main">
              <a:ext uri="{FF2B5EF4-FFF2-40B4-BE49-F238E27FC236}">
                <a16:creationId xmlns:a16="http://schemas.microsoft.com/office/drawing/2014/main" id="{3C98CE3E-5643-4B8B-82DD-ED5151020205}"/>
              </a:ext>
            </a:extLst>
          </p:cNvPr>
          <p:cNvSpPr>
            <a:spLocks xmlns:a="http://schemas.openxmlformats.org/drawingml/2006/main" noGrp="1"/>
          </p:cNvSpPr>
          <p:nvPr/>
        </p:nvSpPr>
        <p:spPr>
          <a:xfrm xmlns:a="http://schemas.openxmlformats.org/drawingml/2006/main">
            <a:off x="1000125" y="1819280"/>
            <a:ext cx="33285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73" kern="400000">
                <a:solidFill>
                  <a:srgbClr val="FAF6F0"/>
                </a:solidFill>
                <a:latin typeface="Deck-Medium"/>
                <a:ea typeface="Deck-Medium"/>
                <a:cs typeface="Deck-Medium"/>
              </a:defRPr>
            </a:pPr>
            <a:r>
              <a:rPr sz="1725" b="0" i="0" kern="400000" spc="273">
                <a:solidFill>
                  <a:srgbClr val="BBBAB6">
                    <a:alpha val="100000"/>
                  </a:srgbClr>
                </a:solidFill>
                <a:latin typeface="Deck-Medium"/>
                <a:ea typeface="Deck-Medium"/>
                <a:cs typeface="Deck-Medium"/>
              </a:rPr>
              <a:t xml:space="preserve">HEALTH INFORMATION</a:t>
            </a:r>
            <a:endParaRPr lang="en-US" sz="1725" spc="273" kern="400000">
              <a:latin typeface="Deck-Medium"/>
            </a:endParaRPr>
          </a:p>
        </p:txBody>
      </p:sp>
      <p:sp>
        <p:nvSpPr>
          <p:cNvPr id="7" name="s10-t005">
            <a:extLst xmlns:a="http://schemas.openxmlformats.org/drawingml/2006/main">
              <a:ext uri="{FF2B5EF4-FFF2-40B4-BE49-F238E27FC236}">
                <a16:creationId xmlns:a16="http://schemas.microsoft.com/office/drawing/2014/main" id="{5F32FFD0-F427-4D63-BB68-6C3B3553BB73}"/>
              </a:ext>
            </a:extLst>
          </p:cNvPr>
          <p:cNvSpPr>
            <a:spLocks xmlns:a="http://schemas.openxmlformats.org/drawingml/2006/main" noGrp="1"/>
          </p:cNvSpPr>
          <p:nvPr/>
        </p:nvSpPr>
        <p:spPr>
          <a:xfrm xmlns:a="http://schemas.openxmlformats.org/drawingml/2006/main">
            <a:off x="952500" y="9730387"/>
            <a:ext cx="6063253"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Mobile prototype walkthrough · Illustrative readings; no live wearable data</a:t>
            </a:r>
            <a:endParaRPr lang="en-US" sz="1350" spc="3" kern="400000">
              <a:latin typeface="Deck"/>
            </a:endParaRPr>
          </a:p>
        </p:txBody>
      </p:sp>
      <p:sp>
        <p:nvSpPr>
          <p:cNvPr id="8" name="s10-t006">
            <a:extLst xmlns:a="http://schemas.openxmlformats.org/drawingml/2006/main">
              <a:ext uri="{FF2B5EF4-FFF2-40B4-BE49-F238E27FC236}">
                <a16:creationId xmlns:a16="http://schemas.microsoft.com/office/drawing/2014/main" id="{10CC4306-896A-440B-A08B-B321311777B1}"/>
              </a:ext>
            </a:extLst>
          </p:cNvPr>
          <p:cNvSpPr>
            <a:spLocks xmlns:a="http://schemas.openxmlformats.org/drawingml/2006/main" noGrp="1"/>
          </p:cNvSpPr>
          <p:nvPr/>
        </p:nvSpPr>
        <p:spPr>
          <a:xfrm xmlns:a="http://schemas.openxmlformats.org/drawingml/2006/main">
            <a:off x="17163181" y="9730387"/>
            <a:ext cx="4093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10</a:t>
            </a:r>
            <a:endParaRPr lang="en-US" sz="1350" spc="7" kern="400000">
              <a:latin typeface="Deck"/>
            </a:endParaRPr>
          </a:p>
        </p:txBody>
      </p:sp>
    </p:spTree>
    <p:extLst>
      <p:ext uri="{BB962C8B-B14F-4D97-AF65-F5344CB8AC3E}">
        <p14:creationId xmlns:p14="http://schemas.microsoft.com/office/powerpoint/2010/main" val="2060592216"/>
      </p:ext>
    </p:extLst>
  </p:cSld>
</p:sld>
</file>

<file path=ppt/slides/slide1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2ee00079b7d4c28"/>
          <a:stretch xmlns:a="http://schemas.openxmlformats.org/drawingml/2006/main"/>
        </p:blipFill>
        <p:spPr>
          <a:xfrm xmlns:a="http://schemas.openxmlformats.org/drawingml/2006/main">
            <a:off x="1571625" y="238125"/>
            <a:ext cx="6191250" cy="9858375"/>
          </a:xfrm>
          <a:prstGeom xmlns:a="http://schemas.openxmlformats.org/drawingml/2006/main" prst="rect">
            <a:avLst/>
          </a:prstGeom>
        </p:spPr>
      </p:pic>
      <p:sp>
        <p:nvSpPr>
          <p:cNvPr id="2" name="s11-t000">
            <a:extLst xmlns:a="http://schemas.openxmlformats.org/drawingml/2006/main">
              <a:ext uri="{FF2B5EF4-FFF2-40B4-BE49-F238E27FC236}">
                <a16:creationId xmlns:a16="http://schemas.microsoft.com/office/drawing/2014/main" id="{964B687D-F7B9-49EE-842F-041691F1E5DF}"/>
              </a:ext>
            </a:extLst>
          </p:cNvPr>
          <p:cNvSpPr>
            <a:spLocks xmlns:a="http://schemas.openxmlformats.org/drawingml/2006/main" noGrp="1"/>
          </p:cNvSpPr>
          <p:nvPr/>
        </p:nvSpPr>
        <p:spPr>
          <a:xfrm xmlns:a="http://schemas.openxmlformats.org/drawingml/2006/main">
            <a:off x="8096250" y="2064478"/>
            <a:ext cx="6938162"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91" kern="400000">
                <a:solidFill>
                  <a:srgbClr val="3A3745"/>
                </a:solidFill>
                <a:latin typeface="Deck-Semi-Bold"/>
                <a:ea typeface="Deck-Semi-Bold"/>
                <a:cs typeface="Deck-Semi-Bold"/>
              </a:defRPr>
            </a:pPr>
            <a:r>
              <a:rPr sz="7800" b="0" i="0" kern="400000" spc="-391">
                <a:solidFill>
                  <a:srgbClr val="3A3745">
                    <a:alpha val="100000"/>
                  </a:srgbClr>
                </a:solidFill>
                <a:latin typeface="Deck-Semi-Bold"/>
                <a:ea typeface="Deck-Semi-Bold"/>
                <a:cs typeface="Deck-Semi-Bold"/>
              </a:rPr>
              <a:t xml:space="preserve">Keep the details</a:t>
            </a:r>
            <a:endParaRPr lang="en-US" sz="7800" spc="-391" kern="400000">
              <a:latin typeface="Deck-Semi-Bold"/>
            </a:endParaRPr>
          </a:p>
        </p:txBody>
      </p:sp>
      <p:sp>
        <p:nvSpPr>
          <p:cNvPr id="3" name="s11-t001">
            <a:extLst xmlns:a="http://schemas.openxmlformats.org/drawingml/2006/main">
              <a:ext uri="{FF2B5EF4-FFF2-40B4-BE49-F238E27FC236}">
                <a16:creationId xmlns:a16="http://schemas.microsoft.com/office/drawing/2014/main" id="{1FFB951A-8203-4CCE-8141-D75642CD707D}"/>
              </a:ext>
            </a:extLst>
          </p:cNvPr>
          <p:cNvSpPr>
            <a:spLocks xmlns:a="http://schemas.openxmlformats.org/drawingml/2006/main" noGrp="1"/>
          </p:cNvSpPr>
          <p:nvPr/>
        </p:nvSpPr>
        <p:spPr>
          <a:xfrm xmlns:a="http://schemas.openxmlformats.org/drawingml/2006/main">
            <a:off x="8096250" y="3099655"/>
            <a:ext cx="2648788"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92" kern="400000">
                <a:solidFill>
                  <a:srgbClr val="4F7A66"/>
                </a:solidFill>
                <a:latin typeface="Deck-Semi-Bold"/>
                <a:ea typeface="Deck-Semi-Bold"/>
                <a:cs typeface="Deck-Semi-Bold"/>
              </a:defRPr>
            </a:pPr>
            <a:r>
              <a:rPr sz="7800" b="0" i="0" kern="400000" spc="-392">
                <a:solidFill>
                  <a:srgbClr val="4F7A66">
                    <a:alpha val="100000"/>
                  </a:srgbClr>
                </a:solidFill>
                <a:latin typeface="Deck-Semi-Bold"/>
                <a:ea typeface="Deck-Semi-Bold"/>
                <a:cs typeface="Deck-Semi-Bold"/>
              </a:rPr>
              <a:t xml:space="preserve">close.</a:t>
            </a:r>
            <a:endParaRPr lang="en-US" sz="7800" spc="-392" kern="400000">
              <a:latin typeface="Deck-Semi-Bold"/>
            </a:endParaRPr>
          </a:p>
        </p:txBody>
      </p:sp>
      <p:sp>
        <p:nvSpPr>
          <p:cNvPr id="4" name="s11-t002">
            <a:extLst xmlns:a="http://schemas.openxmlformats.org/drawingml/2006/main">
              <a:ext uri="{FF2B5EF4-FFF2-40B4-BE49-F238E27FC236}">
                <a16:creationId xmlns:a16="http://schemas.microsoft.com/office/drawing/2014/main" id="{2C389178-9C56-4512-AA63-15B4B6EE5B29}"/>
              </a:ext>
            </a:extLst>
          </p:cNvPr>
          <p:cNvSpPr>
            <a:spLocks xmlns:a="http://schemas.openxmlformats.org/drawingml/2006/main" noGrp="1"/>
          </p:cNvSpPr>
          <p:nvPr/>
        </p:nvSpPr>
        <p:spPr>
          <a:xfrm xmlns:a="http://schemas.openxmlformats.org/drawingml/2006/main">
            <a:off x="8096250" y="4732638"/>
            <a:ext cx="4088292"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3" kern="400000">
                <a:solidFill>
                  <a:srgbClr val="3A3745"/>
                </a:solidFill>
                <a:latin typeface="Deck"/>
                <a:ea typeface="Deck"/>
                <a:cs typeface="Deck"/>
              </a:defRPr>
            </a:pPr>
            <a:r>
              <a:rPr sz="2475" b="0" i="0" kern="400000" spc="-3">
                <a:solidFill>
                  <a:srgbClr val="3A3745">
                    <a:alpha val="100000"/>
                  </a:srgbClr>
                </a:solidFill>
                <a:latin typeface="Deck"/>
                <a:ea typeface="Deck"/>
                <a:cs typeface="Deck"/>
              </a:rPr>
              <a:t xml:space="preserve">Bring important plan notes</a:t>
            </a:r>
            <a:endParaRPr lang="en-US" sz="2475" spc="-3" kern="400000">
              <a:latin typeface="Deck"/>
            </a:endParaRPr>
          </a:p>
        </p:txBody>
      </p:sp>
      <p:sp>
        <p:nvSpPr>
          <p:cNvPr id="5" name="s11-t003">
            <a:extLst xmlns:a="http://schemas.openxmlformats.org/drawingml/2006/main">
              <a:ext uri="{FF2B5EF4-FFF2-40B4-BE49-F238E27FC236}">
                <a16:creationId xmlns:a16="http://schemas.microsoft.com/office/drawing/2014/main" id="{4D83B152-8FA2-4B90-80F5-5FB97A0E4757}"/>
              </a:ext>
            </a:extLst>
          </p:cNvPr>
          <p:cNvSpPr>
            <a:spLocks xmlns:a="http://schemas.openxmlformats.org/drawingml/2006/main" noGrp="1"/>
          </p:cNvSpPr>
          <p:nvPr/>
        </p:nvSpPr>
        <p:spPr>
          <a:xfrm xmlns:a="http://schemas.openxmlformats.org/drawingml/2006/main">
            <a:off x="8096250" y="5204126"/>
            <a:ext cx="3190894"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13" kern="400000">
                <a:solidFill>
                  <a:srgbClr val="3A3745"/>
                </a:solidFill>
                <a:latin typeface="Deck"/>
                <a:ea typeface="Deck"/>
                <a:cs typeface="Deck"/>
              </a:defRPr>
            </a:pPr>
            <a:r>
              <a:rPr sz="2475" b="0" i="0" kern="400000" spc="-13">
                <a:solidFill>
                  <a:srgbClr val="3A3745">
                    <a:alpha val="100000"/>
                  </a:srgbClr>
                </a:solidFill>
                <a:latin typeface="Deck"/>
                <a:ea typeface="Deck"/>
                <a:cs typeface="Deck"/>
              </a:rPr>
              <a:t xml:space="preserve">into your care space.</a:t>
            </a:r>
            <a:endParaRPr lang="en-US" sz="2475" spc="-13" kern="400000">
              <a:latin typeface="Deck"/>
            </a:endParaRPr>
          </a:p>
        </p:txBody>
      </p:sp>
      <p:sp>
        <p:nvSpPr>
          <p:cNvPr id="6" name="s11-t004">
            <a:extLst xmlns:a="http://schemas.openxmlformats.org/drawingml/2006/main">
              <a:ext uri="{FF2B5EF4-FFF2-40B4-BE49-F238E27FC236}">
                <a16:creationId xmlns:a16="http://schemas.microsoft.com/office/drawing/2014/main" id="{F3995CF2-56FF-4224-BBDE-D829D409A620}"/>
              </a:ext>
            </a:extLst>
          </p:cNvPr>
          <p:cNvSpPr>
            <a:spLocks xmlns:a="http://schemas.openxmlformats.org/drawingml/2006/main" noGrp="1"/>
          </p:cNvSpPr>
          <p:nvPr/>
        </p:nvSpPr>
        <p:spPr>
          <a:xfrm xmlns:a="http://schemas.openxmlformats.org/drawingml/2006/main">
            <a:off x="8096250" y="5675613"/>
            <a:ext cx="4636475"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11" kern="400000">
                <a:solidFill>
                  <a:srgbClr val="3A3745"/>
                </a:solidFill>
                <a:latin typeface="Deck"/>
                <a:ea typeface="Deck"/>
                <a:cs typeface="Deck"/>
              </a:defRPr>
            </a:pPr>
            <a:r>
              <a:rPr sz="2475" b="0" i="0" kern="400000" spc="-11">
                <a:solidFill>
                  <a:srgbClr val="3A3745">
                    <a:alpha val="100000"/>
                  </a:srgbClr>
                </a:solidFill>
                <a:latin typeface="Deck"/>
                <a:ea typeface="Deck"/>
                <a:cs typeface="Deck"/>
              </a:rPr>
              <a:t xml:space="preserve">Confirm cover with the insurer.</a:t>
            </a:r>
            <a:endParaRPr lang="en-US" sz="2475" spc="-11" kern="400000">
              <a:latin typeface="Deck"/>
            </a:endParaRPr>
          </a:p>
        </p:txBody>
      </p:sp>
      <p:sp>
        <p:nvSpPr>
          <p:cNvPr id="7" name="s11-t005">
            <a:extLst xmlns:a="http://schemas.openxmlformats.org/drawingml/2006/main">
              <a:ext uri="{FF2B5EF4-FFF2-40B4-BE49-F238E27FC236}">
                <a16:creationId xmlns:a16="http://schemas.microsoft.com/office/drawing/2014/main" id="{0153E421-D4A9-4034-8E1B-8AE895D410B4}"/>
              </a:ext>
            </a:extLst>
          </p:cNvPr>
          <p:cNvSpPr>
            <a:spLocks xmlns:a="http://schemas.openxmlformats.org/drawingml/2006/main" noGrp="1"/>
          </p:cNvSpPr>
          <p:nvPr/>
        </p:nvSpPr>
        <p:spPr>
          <a:xfrm xmlns:a="http://schemas.openxmlformats.org/drawingml/2006/main">
            <a:off x="8096250" y="6733720"/>
            <a:ext cx="2787339"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8" kern="400000">
                <a:solidFill>
                  <a:srgbClr val="4F7A66"/>
                </a:solidFill>
                <a:latin typeface="Deck"/>
                <a:ea typeface="Deck"/>
                <a:cs typeface="Deck"/>
              </a:defRPr>
            </a:pPr>
            <a:r>
              <a:rPr sz="2850" b="0" i="0" kern="400000" spc="-8">
                <a:solidFill>
                  <a:srgbClr val="4F7A66">
                    <a:alpha val="100000"/>
                  </a:srgbClr>
                </a:solidFill>
                <a:latin typeface="Deck"/>
                <a:ea typeface="Deck"/>
                <a:cs typeface="Deck"/>
              </a:rPr>
              <a:t xml:space="preserve">Less searching.</a:t>
            </a:r>
            <a:endParaRPr lang="en-US" sz="2850" spc="-8" kern="400000">
              <a:latin typeface="Deck"/>
            </a:endParaRPr>
          </a:p>
        </p:txBody>
      </p:sp>
      <p:sp>
        <p:nvSpPr>
          <p:cNvPr id="8" name="s11-t006">
            <a:extLst xmlns:a="http://schemas.openxmlformats.org/drawingml/2006/main">
              <a:ext uri="{FF2B5EF4-FFF2-40B4-BE49-F238E27FC236}">
                <a16:creationId xmlns:a16="http://schemas.microsoft.com/office/drawing/2014/main" id="{190C4038-50AC-4EDE-8E44-B8A84E35F012}"/>
              </a:ext>
            </a:extLst>
          </p:cNvPr>
          <p:cNvSpPr>
            <a:spLocks xmlns:a="http://schemas.openxmlformats.org/drawingml/2006/main" noGrp="1"/>
          </p:cNvSpPr>
          <p:nvPr/>
        </p:nvSpPr>
        <p:spPr>
          <a:xfrm xmlns:a="http://schemas.openxmlformats.org/drawingml/2006/main">
            <a:off x="8096250" y="7197016"/>
            <a:ext cx="2282057"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23" kern="400000">
                <a:solidFill>
                  <a:srgbClr val="4F7A66"/>
                </a:solidFill>
                <a:latin typeface="Deck"/>
                <a:ea typeface="Deck"/>
                <a:cs typeface="Deck"/>
              </a:defRPr>
            </a:pPr>
            <a:r>
              <a:rPr sz="2850" b="0" i="0" kern="400000" spc="-23">
                <a:solidFill>
                  <a:srgbClr val="4F7A66">
                    <a:alpha val="100000"/>
                  </a:srgbClr>
                </a:solidFill>
                <a:latin typeface="Deck"/>
                <a:ea typeface="Deck"/>
                <a:cs typeface="Deck"/>
              </a:rPr>
              <a:t xml:space="preserve">More clarity.</a:t>
            </a:r>
            <a:endParaRPr lang="en-US" sz="2850" spc="-23" kern="400000">
              <a:latin typeface="Deck"/>
            </a:endParaRPr>
          </a:p>
        </p:txBody>
      </p:sp>
      <p:sp>
        <p:nvSpPr>
          <p:cNvPr id="9" name="s11-t007">
            <a:extLst xmlns:a="http://schemas.openxmlformats.org/drawingml/2006/main">
              <a:ext uri="{FF2B5EF4-FFF2-40B4-BE49-F238E27FC236}">
                <a16:creationId xmlns:a16="http://schemas.microsoft.com/office/drawing/2014/main" id="{EE89CAC9-93D9-4E30-B8D1-1C3F13D1F9FA}"/>
              </a:ext>
            </a:extLst>
          </p:cNvPr>
          <p:cNvSpPr>
            <a:spLocks xmlns:a="http://schemas.openxmlformats.org/drawingml/2006/main" noGrp="1"/>
          </p:cNvSpPr>
          <p:nvPr/>
        </p:nvSpPr>
        <p:spPr>
          <a:xfrm xmlns:a="http://schemas.openxmlformats.org/drawingml/2006/main">
            <a:off x="8096250" y="1571630"/>
            <a:ext cx="1561624"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3" kern="400000">
                <a:solidFill>
                  <a:srgbClr val="3A3745"/>
                </a:solidFill>
                <a:latin typeface="Deck-Medium"/>
                <a:ea typeface="Deck-Medium"/>
                <a:cs typeface="Deck-Medium"/>
              </a:defRPr>
            </a:pPr>
            <a:r>
              <a:rPr sz="1725" b="0" i="0" kern="400000" spc="293">
                <a:solidFill>
                  <a:srgbClr val="6C6971">
                    <a:alpha val="100000"/>
                  </a:srgbClr>
                </a:solidFill>
                <a:latin typeface="Deck-Medium"/>
                <a:ea typeface="Deck-Medium"/>
                <a:cs typeface="Deck-Medium"/>
              </a:rPr>
              <a:t xml:space="preserve">BENEFITS</a:t>
            </a:r>
            <a:endParaRPr lang="en-US" sz="1725" spc="293" kern="400000">
              <a:latin typeface="Deck-Medium"/>
            </a:endParaRPr>
          </a:p>
        </p:txBody>
      </p:sp>
      <p:sp>
        <p:nvSpPr>
          <p:cNvPr id="10" name="s11-t008">
            <a:extLst xmlns:a="http://schemas.openxmlformats.org/drawingml/2006/main">
              <a:ext uri="{FF2B5EF4-FFF2-40B4-BE49-F238E27FC236}">
                <a16:creationId xmlns:a16="http://schemas.microsoft.com/office/drawing/2014/main" id="{CB599372-D921-47AF-9A38-02FE53E7EA3C}"/>
              </a:ext>
            </a:extLst>
          </p:cNvPr>
          <p:cNvSpPr>
            <a:spLocks xmlns:a="http://schemas.openxmlformats.org/drawingml/2006/main" noGrp="1"/>
          </p:cNvSpPr>
          <p:nvPr/>
        </p:nvSpPr>
        <p:spPr>
          <a:xfrm xmlns:a="http://schemas.openxmlformats.org/drawingml/2006/main">
            <a:off x="952500" y="9730387"/>
            <a:ext cx="569840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7F7C83">
                    <a:alpha val="100000"/>
                  </a:srgbClr>
                </a:solidFill>
                <a:latin typeface="Deck"/>
                <a:ea typeface="Deck"/>
                <a:cs typeface="Deck"/>
              </a:rPr>
              <a:t xml:space="preserve">Mobile prototype walkthrough · Plan notes, not a live insurance check</a:t>
            </a:r>
            <a:endParaRPr lang="en-US" sz="1350" spc="3" kern="400000">
              <a:latin typeface="Deck"/>
            </a:endParaRPr>
          </a:p>
        </p:txBody>
      </p:sp>
      <p:sp>
        <p:nvSpPr>
          <p:cNvPr id="11" name="s11-t009">
            <a:extLst xmlns:a="http://schemas.openxmlformats.org/drawingml/2006/main">
              <a:ext uri="{FF2B5EF4-FFF2-40B4-BE49-F238E27FC236}">
                <a16:creationId xmlns:a16="http://schemas.microsoft.com/office/drawing/2014/main" id="{22536FA7-2BA2-40D7-ABBE-AA12067138A9}"/>
              </a:ext>
            </a:extLst>
          </p:cNvPr>
          <p:cNvSpPr>
            <a:spLocks xmlns:a="http://schemas.openxmlformats.org/drawingml/2006/main" noGrp="1"/>
          </p:cNvSpPr>
          <p:nvPr/>
        </p:nvSpPr>
        <p:spPr>
          <a:xfrm xmlns:a="http://schemas.openxmlformats.org/drawingml/2006/main">
            <a:off x="17217364" y="9730387"/>
            <a:ext cx="35519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11</a:t>
            </a:r>
            <a:endParaRPr lang="en-US" sz="1350" spc="7" kern="400000">
              <a:latin typeface="Deck"/>
            </a:endParaRPr>
          </a:p>
        </p:txBody>
      </p:sp>
    </p:spTree>
    <p:extLst>
      <p:ext uri="{BB962C8B-B14F-4D97-AF65-F5344CB8AC3E}">
        <p14:creationId xmlns:p14="http://schemas.microsoft.com/office/powerpoint/2010/main" val="1991155516"/>
      </p:ext>
    </p:extLst>
  </p:cSld>
</p:sld>
</file>

<file path=ppt/slides/slide12.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6971ba0e6e947d7"/>
          <a:stretch xmlns:a="http://schemas.openxmlformats.org/drawingml/2006/main"/>
        </p:blipFill>
        <p:spPr>
          <a:xfrm xmlns:a="http://schemas.openxmlformats.org/drawingml/2006/main">
            <a:off x="9810750" y="238125"/>
            <a:ext cx="6572250" cy="9858375"/>
          </a:xfrm>
          <a:prstGeom xmlns:a="http://schemas.openxmlformats.org/drawingml/2006/main" prst="rect">
            <a:avLst/>
          </a:prstGeom>
        </p:spPr>
      </p:pic>
      <p:sp>
        <p:nvSpPr>
          <p:cNvPr id="2" name="s12-t000">
            <a:extLst xmlns:a="http://schemas.openxmlformats.org/drawingml/2006/main">
              <a:ext uri="{FF2B5EF4-FFF2-40B4-BE49-F238E27FC236}">
                <a16:creationId xmlns:a16="http://schemas.microsoft.com/office/drawing/2014/main" id="{117AAD6A-1732-4692-95A5-539B58D2FB30}"/>
              </a:ext>
            </a:extLst>
          </p:cNvPr>
          <p:cNvSpPr>
            <a:spLocks xmlns:a="http://schemas.openxmlformats.org/drawingml/2006/main" noGrp="1"/>
          </p:cNvSpPr>
          <p:nvPr/>
        </p:nvSpPr>
        <p:spPr>
          <a:xfrm xmlns:a="http://schemas.openxmlformats.org/drawingml/2006/main">
            <a:off x="971550" y="1852818"/>
            <a:ext cx="6527635"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393" kern="400000">
                <a:solidFill>
                  <a:srgbClr val="233B30"/>
                </a:solidFill>
                <a:latin typeface="Deck-Semi-Bold"/>
                <a:ea typeface="Deck-Semi-Bold"/>
                <a:cs typeface="Deck-Semi-Bold"/>
              </a:defRPr>
            </a:pPr>
            <a:r>
              <a:rPr sz="8025" b="0" i="0" kern="400000" spc="-393">
                <a:solidFill>
                  <a:srgbClr val="233B30">
                    <a:alpha val="100000"/>
                  </a:srgbClr>
                </a:solidFill>
                <a:latin typeface="Deck-Semi-Bold"/>
                <a:ea typeface="Deck-Semi-Bold"/>
                <a:cs typeface="Deck-Semi-Bold"/>
              </a:rPr>
              <a:t xml:space="preserve">A small nudge.</a:t>
            </a:r>
            <a:endParaRPr lang="en-US" sz="8025" spc="-393" kern="400000">
              <a:latin typeface="Deck-Semi-Bold"/>
            </a:endParaRPr>
          </a:p>
        </p:txBody>
      </p:sp>
      <p:sp>
        <p:nvSpPr>
          <p:cNvPr id="3" name="s12-t001">
            <a:extLst xmlns:a="http://schemas.openxmlformats.org/drawingml/2006/main">
              <a:ext uri="{FF2B5EF4-FFF2-40B4-BE49-F238E27FC236}">
                <a16:creationId xmlns:a16="http://schemas.microsoft.com/office/drawing/2014/main" id="{775F1D3A-5084-4BCA-9FA7-A737EC8F29DF}"/>
              </a:ext>
            </a:extLst>
          </p:cNvPr>
          <p:cNvSpPr>
            <a:spLocks xmlns:a="http://schemas.openxmlformats.org/drawingml/2006/main" noGrp="1"/>
          </p:cNvSpPr>
          <p:nvPr/>
        </p:nvSpPr>
        <p:spPr>
          <a:xfrm xmlns:a="http://schemas.openxmlformats.org/drawingml/2006/main">
            <a:off x="971550" y="2917855"/>
            <a:ext cx="3226508"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02" kern="400000">
                <a:solidFill>
                  <a:srgbClr val="4F7A66"/>
                </a:solidFill>
                <a:latin typeface="Deck-Semi-Bold"/>
                <a:ea typeface="Deck-Semi-Bold"/>
                <a:cs typeface="Deck-Semi-Bold"/>
              </a:defRPr>
            </a:pPr>
            <a:r>
              <a:rPr sz="8025" b="0" i="0" kern="400000" spc="-402">
                <a:solidFill>
                  <a:srgbClr val="4F7A66">
                    <a:alpha val="100000"/>
                  </a:srgbClr>
                </a:solidFill>
                <a:latin typeface="Deck-Semi-Bold"/>
                <a:ea typeface="Deck-Semi-Bold"/>
                <a:cs typeface="Deck-Semi-Bold"/>
              </a:rPr>
              <a:t xml:space="preserve">A clear</a:t>
            </a:r>
            <a:endParaRPr lang="en-US" sz="8025" spc="-402" kern="400000">
              <a:latin typeface="Deck-Semi-Bold"/>
            </a:endParaRPr>
          </a:p>
        </p:txBody>
      </p:sp>
      <p:sp>
        <p:nvSpPr>
          <p:cNvPr id="4" name="s12-t002">
            <a:extLst xmlns:a="http://schemas.openxmlformats.org/drawingml/2006/main">
              <a:ext uri="{FF2B5EF4-FFF2-40B4-BE49-F238E27FC236}">
                <a16:creationId xmlns:a16="http://schemas.microsoft.com/office/drawing/2014/main" id="{E73E5D9C-C551-4EB5-A4EC-84CF1B2E325F}"/>
              </a:ext>
            </a:extLst>
          </p:cNvPr>
          <p:cNvSpPr>
            <a:spLocks xmlns:a="http://schemas.openxmlformats.org/drawingml/2006/main" noGrp="1"/>
          </p:cNvSpPr>
          <p:nvPr/>
        </p:nvSpPr>
        <p:spPr>
          <a:xfrm xmlns:a="http://schemas.openxmlformats.org/drawingml/2006/main">
            <a:off x="971550" y="3982893"/>
            <a:ext cx="443991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19" kern="400000">
                <a:solidFill>
                  <a:srgbClr val="4F7A66"/>
                </a:solidFill>
                <a:latin typeface="Deck-Semi-Bold"/>
                <a:ea typeface="Deck-Semi-Bold"/>
                <a:cs typeface="Deck-Semi-Bold"/>
              </a:defRPr>
            </a:pPr>
            <a:r>
              <a:rPr sz="8025" b="0" i="0" kern="400000" spc="-419">
                <a:solidFill>
                  <a:srgbClr val="4F7A66">
                    <a:alpha val="100000"/>
                  </a:srgbClr>
                </a:solidFill>
                <a:latin typeface="Deck-Semi-Bold"/>
                <a:ea typeface="Deck-Semi-Bold"/>
                <a:cs typeface="Deck-Semi-Bold"/>
              </a:rPr>
              <a:t xml:space="preserve">next step.</a:t>
            </a:r>
            <a:endParaRPr lang="en-US" sz="8025" spc="-419" kern="400000">
              <a:latin typeface="Deck-Semi-Bold"/>
            </a:endParaRPr>
          </a:p>
        </p:txBody>
      </p:sp>
      <p:sp>
        <p:nvSpPr>
          <p:cNvPr id="5" name="s12-t003">
            <a:extLst xmlns:a="http://schemas.openxmlformats.org/drawingml/2006/main">
              <a:ext uri="{FF2B5EF4-FFF2-40B4-BE49-F238E27FC236}">
                <a16:creationId xmlns:a16="http://schemas.microsoft.com/office/drawing/2014/main" id="{4B03B06B-E1E9-43AF-82B7-062DE4A90FAA}"/>
              </a:ext>
            </a:extLst>
          </p:cNvPr>
          <p:cNvSpPr>
            <a:spLocks xmlns:a="http://schemas.openxmlformats.org/drawingml/2006/main" noGrp="1"/>
          </p:cNvSpPr>
          <p:nvPr/>
        </p:nvSpPr>
        <p:spPr>
          <a:xfrm xmlns:a="http://schemas.openxmlformats.org/drawingml/2006/main">
            <a:off x="971550" y="5617496"/>
            <a:ext cx="2536488"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3" kern="400000">
                <a:solidFill>
                  <a:srgbClr val="233B30"/>
                </a:solidFill>
                <a:latin typeface="Deck"/>
                <a:ea typeface="Deck"/>
                <a:cs typeface="Deck"/>
              </a:defRPr>
            </a:pPr>
            <a:r>
              <a:rPr sz="2550" b="0" i="0" kern="400000" spc="-13">
                <a:solidFill>
                  <a:srgbClr val="233B30">
                    <a:alpha val="100000"/>
                  </a:srgbClr>
                </a:solidFill>
                <a:latin typeface="Deck"/>
                <a:ea typeface="Deck"/>
                <a:cs typeface="Deck"/>
              </a:rPr>
              <a:t xml:space="preserve">See what’s due.</a:t>
            </a:r>
            <a:endParaRPr lang="en-US" sz="2550" spc="-13" kern="400000">
              <a:latin typeface="Deck"/>
            </a:endParaRPr>
          </a:p>
        </p:txBody>
      </p:sp>
      <p:sp>
        <p:nvSpPr>
          <p:cNvPr id="6" name="s12-t004">
            <a:extLst xmlns:a="http://schemas.openxmlformats.org/drawingml/2006/main">
              <a:ext uri="{FF2B5EF4-FFF2-40B4-BE49-F238E27FC236}">
                <a16:creationId xmlns:a16="http://schemas.microsoft.com/office/drawing/2014/main" id="{23BA616D-590D-4C4C-936B-7B6236E54022}"/>
              </a:ext>
            </a:extLst>
          </p:cNvPr>
          <p:cNvSpPr>
            <a:spLocks xmlns:a="http://schemas.openxmlformats.org/drawingml/2006/main" noGrp="1"/>
          </p:cNvSpPr>
          <p:nvPr/>
        </p:nvSpPr>
        <p:spPr>
          <a:xfrm xmlns:a="http://schemas.openxmlformats.org/drawingml/2006/main">
            <a:off x="971550" y="6096794"/>
            <a:ext cx="4680052"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7" kern="400000">
                <a:solidFill>
                  <a:srgbClr val="233B30"/>
                </a:solidFill>
                <a:latin typeface="Deck"/>
                <a:ea typeface="Deck"/>
                <a:cs typeface="Deck"/>
              </a:defRPr>
            </a:pPr>
            <a:r>
              <a:rPr sz="2550" b="0" i="0" kern="400000" spc="-17">
                <a:solidFill>
                  <a:srgbClr val="233B30">
                    <a:alpha val="100000"/>
                  </a:srgbClr>
                </a:solidFill>
                <a:latin typeface="Deck"/>
                <a:ea typeface="Deck"/>
                <a:cs typeface="Deck"/>
              </a:rPr>
              <a:t xml:space="preserve">Mark it taken, skipped or later.</a:t>
            </a:r>
            <a:endParaRPr lang="en-US" sz="2550" spc="-17" kern="400000">
              <a:latin typeface="Deck"/>
            </a:endParaRPr>
          </a:p>
        </p:txBody>
      </p:sp>
      <p:sp>
        <p:nvSpPr>
          <p:cNvPr id="7" name="s12-t005">
            <a:extLst xmlns:a="http://schemas.openxmlformats.org/drawingml/2006/main">
              <a:ext uri="{FF2B5EF4-FFF2-40B4-BE49-F238E27FC236}">
                <a16:creationId xmlns:a16="http://schemas.microsoft.com/office/drawing/2014/main" id="{E78DC140-0D03-4398-89B5-C9D27CA9AEA8}"/>
              </a:ext>
            </a:extLst>
          </p:cNvPr>
          <p:cNvSpPr>
            <a:spLocks xmlns:a="http://schemas.openxmlformats.org/drawingml/2006/main" noGrp="1"/>
          </p:cNvSpPr>
          <p:nvPr/>
        </p:nvSpPr>
        <p:spPr>
          <a:xfrm xmlns:a="http://schemas.openxmlformats.org/drawingml/2006/main">
            <a:off x="971550" y="1362080"/>
            <a:ext cx="37404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9" kern="400000">
                <a:solidFill>
                  <a:srgbClr val="233B30"/>
                </a:solidFill>
                <a:latin typeface="Deck-Medium"/>
                <a:ea typeface="Deck-Medium"/>
                <a:cs typeface="Deck-Medium"/>
              </a:defRPr>
            </a:pPr>
            <a:r>
              <a:rPr sz="1725" b="0" i="0" kern="400000" spc="289">
                <a:solidFill>
                  <a:srgbClr val="54695E">
                    <a:alpha val="100000"/>
                  </a:srgbClr>
                </a:solidFill>
                <a:latin typeface="Deck-Medium"/>
                <a:ea typeface="Deck-Medium"/>
                <a:cs typeface="Deck-Medium"/>
              </a:rPr>
              <a:t xml:space="preserve">ROUTINES &amp; MEDICATION</a:t>
            </a:r>
            <a:endParaRPr lang="en-US" sz="1725" spc="289" kern="400000">
              <a:latin typeface="Deck-Medium"/>
            </a:endParaRPr>
          </a:p>
        </p:txBody>
      </p:sp>
      <p:sp>
        <p:nvSpPr>
          <p:cNvPr id="8" name="s12-t006">
            <a:extLst xmlns:a="http://schemas.openxmlformats.org/drawingml/2006/main">
              <a:ext uri="{FF2B5EF4-FFF2-40B4-BE49-F238E27FC236}">
                <a16:creationId xmlns:a16="http://schemas.microsoft.com/office/drawing/2014/main" id="{602B480F-0E97-46CE-91C2-BC6840246E24}"/>
              </a:ext>
            </a:extLst>
          </p:cNvPr>
          <p:cNvSpPr>
            <a:spLocks xmlns:a="http://schemas.openxmlformats.org/drawingml/2006/main" noGrp="1"/>
          </p:cNvSpPr>
          <p:nvPr/>
        </p:nvSpPr>
        <p:spPr>
          <a:xfrm xmlns:a="http://schemas.openxmlformats.org/drawingml/2006/main">
            <a:off x="971550" y="7138494"/>
            <a:ext cx="4356811"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233B30"/>
                </a:solidFill>
                <a:latin typeface="Deck"/>
                <a:ea typeface="Deck"/>
                <a:cs typeface="Deck"/>
              </a:defRPr>
            </a:pPr>
            <a:r>
              <a:rPr sz="1800" b="0" i="0" kern="400000" spc="-3">
                <a:solidFill>
                  <a:srgbClr val="61756A">
                    <a:alpha val="100000"/>
                  </a:srgbClr>
                </a:solidFill>
                <a:latin typeface="Deck"/>
                <a:ea typeface="Deck"/>
                <a:cs typeface="Deck"/>
              </a:rPr>
              <a:t xml:space="preserve">Follow existing medication instructions.</a:t>
            </a:r>
            <a:endParaRPr lang="en-US" sz="1800" spc="-3" kern="400000">
              <a:latin typeface="Deck"/>
            </a:endParaRPr>
          </a:p>
        </p:txBody>
      </p:sp>
      <p:sp>
        <p:nvSpPr>
          <p:cNvPr id="9" name="s12-t007">
            <a:extLst xmlns:a="http://schemas.openxmlformats.org/drawingml/2006/main">
              <a:ext uri="{FF2B5EF4-FFF2-40B4-BE49-F238E27FC236}">
                <a16:creationId xmlns:a16="http://schemas.microsoft.com/office/drawing/2014/main" id="{76A3688C-8E71-4819-A968-8824DF80F266}"/>
              </a:ext>
            </a:extLst>
          </p:cNvPr>
          <p:cNvSpPr>
            <a:spLocks xmlns:a="http://schemas.openxmlformats.org/drawingml/2006/main" noGrp="1"/>
          </p:cNvSpPr>
          <p:nvPr/>
        </p:nvSpPr>
        <p:spPr>
          <a:xfrm xmlns:a="http://schemas.openxmlformats.org/drawingml/2006/main">
            <a:off x="971550" y="7485966"/>
            <a:ext cx="322089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233B30"/>
                </a:solidFill>
                <a:latin typeface="Deck"/>
                <a:ea typeface="Deck"/>
                <a:cs typeface="Deck"/>
              </a:defRPr>
            </a:pPr>
            <a:r>
              <a:rPr sz="1800" b="0" i="0" kern="400000" spc="-7">
                <a:solidFill>
                  <a:srgbClr val="61756A">
                    <a:alpha val="100000"/>
                  </a:srgbClr>
                </a:solidFill>
                <a:latin typeface="Deck"/>
                <a:ea typeface="Deck"/>
                <a:cs typeface="Deck"/>
              </a:rPr>
              <a:t xml:space="preserve">Responses are self-reported.</a:t>
            </a:r>
            <a:endParaRPr lang="en-US" sz="1800" spc="-7" kern="400000">
              <a:latin typeface="Deck"/>
            </a:endParaRPr>
          </a:p>
        </p:txBody>
      </p:sp>
      <p:sp>
        <p:nvSpPr>
          <p:cNvPr id="10" name="s12-t008">
            <a:extLst xmlns:a="http://schemas.openxmlformats.org/drawingml/2006/main">
              <a:ext uri="{FF2B5EF4-FFF2-40B4-BE49-F238E27FC236}">
                <a16:creationId xmlns:a16="http://schemas.microsoft.com/office/drawing/2014/main" id="{12873EDF-0254-40D5-B63C-76E957180F46}"/>
              </a:ext>
            </a:extLst>
          </p:cNvPr>
          <p:cNvSpPr>
            <a:spLocks xmlns:a="http://schemas.openxmlformats.org/drawingml/2006/main" noGrp="1"/>
          </p:cNvSpPr>
          <p:nvPr/>
        </p:nvSpPr>
        <p:spPr>
          <a:xfrm xmlns:a="http://schemas.openxmlformats.org/drawingml/2006/main">
            <a:off x="952500" y="9730387"/>
            <a:ext cx="5945524"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233B30"/>
                </a:solidFill>
                <a:latin typeface="Deck"/>
                <a:ea typeface="Deck"/>
                <a:cs typeface="Deck"/>
              </a:defRPr>
            </a:pPr>
            <a:r>
              <a:rPr sz="1350" b="0" i="0" kern="400000" spc="4">
                <a:solidFill>
                  <a:srgbClr val="697C71">
                    <a:alpha val="100000"/>
                  </a:srgbClr>
                </a:solidFill>
                <a:latin typeface="Deck"/>
                <a:ea typeface="Deck"/>
                <a:cs typeface="Deck"/>
              </a:rPr>
              <a:t xml:space="preserve">Mobile prototype walkthrough · In-app reminder; push delivery is not live</a:t>
            </a:r>
            <a:endParaRPr lang="en-US" sz="1350" spc="4" kern="400000">
              <a:latin typeface="Deck"/>
            </a:endParaRPr>
          </a:p>
        </p:txBody>
      </p:sp>
      <p:sp>
        <p:nvSpPr>
          <p:cNvPr id="11" name="s12-t009">
            <a:extLst xmlns:a="http://schemas.openxmlformats.org/drawingml/2006/main">
              <a:ext uri="{FF2B5EF4-FFF2-40B4-BE49-F238E27FC236}">
                <a16:creationId xmlns:a16="http://schemas.microsoft.com/office/drawing/2014/main" id="{FB8C6AFB-3764-4C87-B77B-C4EBDCAFCE73}"/>
              </a:ext>
            </a:extLst>
          </p:cNvPr>
          <p:cNvSpPr>
            <a:spLocks xmlns:a="http://schemas.openxmlformats.org/drawingml/2006/main" noGrp="1"/>
          </p:cNvSpPr>
          <p:nvPr/>
        </p:nvSpPr>
        <p:spPr>
          <a:xfrm xmlns:a="http://schemas.openxmlformats.org/drawingml/2006/main">
            <a:off x="17179124" y="9730387"/>
            <a:ext cx="3934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233B30"/>
                </a:solidFill>
                <a:latin typeface="Deck"/>
                <a:ea typeface="Deck"/>
                <a:cs typeface="Deck"/>
              </a:defRPr>
            </a:pPr>
            <a:r>
              <a:rPr sz="1350" b="0" i="0" kern="400000" spc="6">
                <a:solidFill>
                  <a:srgbClr val="697C71">
                    <a:alpha val="100000"/>
                  </a:srgbClr>
                </a:solidFill>
                <a:latin typeface="Deck"/>
                <a:ea typeface="Deck"/>
                <a:cs typeface="Deck"/>
              </a:rPr>
              <a:t xml:space="preserve">12</a:t>
            </a:r>
            <a:endParaRPr lang="en-US" sz="1350" spc="6" kern="400000">
              <a:latin typeface="Deck"/>
            </a:endParaRPr>
          </a:p>
        </p:txBody>
      </p:sp>
    </p:spTree>
    <p:extLst>
      <p:ext uri="{BB962C8B-B14F-4D97-AF65-F5344CB8AC3E}">
        <p14:creationId xmlns:p14="http://schemas.microsoft.com/office/powerpoint/2010/main" val="1204266646"/>
      </p:ext>
    </p:extLst>
  </p:cSld>
</p:sld>
</file>

<file path=ppt/slides/slide13.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120f86fb2a44481"/>
          <a:stretch xmlns:a="http://schemas.openxmlformats.org/drawingml/2006/main"/>
        </p:blipFill>
        <p:spPr>
          <a:xfrm xmlns:a="http://schemas.openxmlformats.org/drawingml/2006/main">
            <a:off x="8810625" y="4524375"/>
            <a:ext cx="8477250" cy="4095750"/>
          </a:xfrm>
          <a:prstGeom xmlns:a="http://schemas.openxmlformats.org/drawingml/2006/main" prst="rect">
            <a:avLst/>
          </a:prstGeom>
        </p:spPr>
      </p:pic>
      <p:sp>
        <p:nvSpPr>
          <p:cNvPr id="2" name="s13-t000">
            <a:extLst xmlns:a="http://schemas.openxmlformats.org/drawingml/2006/main">
              <a:ext uri="{FF2B5EF4-FFF2-40B4-BE49-F238E27FC236}">
                <a16:creationId xmlns:a16="http://schemas.microsoft.com/office/drawing/2014/main" id="{B78117B3-635E-4BF6-A7FA-873C89EC8D92}"/>
              </a:ext>
            </a:extLst>
          </p:cNvPr>
          <p:cNvSpPr>
            <a:spLocks xmlns:a="http://schemas.openxmlformats.org/drawingml/2006/main" noGrp="1"/>
          </p:cNvSpPr>
          <p:nvPr/>
        </p:nvSpPr>
        <p:spPr>
          <a:xfrm xmlns:a="http://schemas.openxmlformats.org/drawingml/2006/main">
            <a:off x="990600" y="971555"/>
            <a:ext cx="4765777"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2" kern="400000">
                <a:solidFill>
                  <a:srgbClr val="FAF6F0"/>
                </a:solidFill>
                <a:latin typeface="Deck-Medium"/>
                <a:ea typeface="Deck-Medium"/>
                <a:cs typeface="Deck-Medium"/>
              </a:defRPr>
            </a:pPr>
            <a:r>
              <a:rPr sz="1725" b="0" i="0" kern="400000" spc="282">
                <a:solidFill>
                  <a:srgbClr val="BBBAB6">
                    <a:alpha val="100000"/>
                  </a:srgbClr>
                </a:solidFill>
                <a:latin typeface="Deck-Medium"/>
                <a:ea typeface="Deck-Medium"/>
                <a:cs typeface="Deck-Medium"/>
              </a:rPr>
              <a:t xml:space="preserve">CARE, WHERE YOU ALREADY ARE</a:t>
            </a:r>
            <a:endParaRPr lang="en-US" sz="1725" spc="282" kern="400000">
              <a:latin typeface="Deck-Medium"/>
            </a:endParaRPr>
          </a:p>
        </p:txBody>
      </p:sp>
      <p:sp>
        <p:nvSpPr>
          <p:cNvPr id="3" name="s13-t001">
            <a:extLst xmlns:a="http://schemas.openxmlformats.org/drawingml/2006/main">
              <a:ext uri="{FF2B5EF4-FFF2-40B4-BE49-F238E27FC236}">
                <a16:creationId xmlns:a16="http://schemas.microsoft.com/office/drawing/2014/main" id="{0842070E-3E4F-4832-87C9-E770CDB9575A}"/>
              </a:ext>
            </a:extLst>
          </p:cNvPr>
          <p:cNvSpPr>
            <a:spLocks xmlns:a="http://schemas.openxmlformats.org/drawingml/2006/main" noGrp="1"/>
          </p:cNvSpPr>
          <p:nvPr/>
        </p:nvSpPr>
        <p:spPr>
          <a:xfrm xmlns:a="http://schemas.openxmlformats.org/drawingml/2006/main">
            <a:off x="962025" y="1526192"/>
            <a:ext cx="8265052" cy="12301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75" spc="-419" kern="400000">
                <a:solidFill>
                  <a:srgbClr val="FAF6F0"/>
                </a:solidFill>
                <a:latin typeface="Deck-Semi-Bold"/>
                <a:ea typeface="Deck-Semi-Bold"/>
                <a:cs typeface="Deck-Semi-Bold"/>
              </a:defRPr>
            </a:pPr>
            <a:r>
              <a:rPr sz="7875" b="0" i="0" kern="400000" spc="-419">
                <a:solidFill>
                  <a:srgbClr val="FAF6F0">
                    <a:alpha val="100000"/>
                  </a:srgbClr>
                </a:solidFill>
                <a:latin typeface="Deck-Semi-Bold"/>
                <a:ea typeface="Deck-Semi-Bold"/>
                <a:cs typeface="Deck-Semi-Bold"/>
              </a:rPr>
              <a:t xml:space="preserve">A reminder beyond</a:t>
            </a:r>
            <a:endParaRPr lang="en-US" sz="7875" spc="-419" kern="400000">
              <a:latin typeface="Deck-Semi-Bold"/>
            </a:endParaRPr>
          </a:p>
        </p:txBody>
      </p:sp>
      <p:sp>
        <p:nvSpPr>
          <p:cNvPr id="4" name="s13-t002">
            <a:extLst xmlns:a="http://schemas.openxmlformats.org/drawingml/2006/main">
              <a:ext uri="{FF2B5EF4-FFF2-40B4-BE49-F238E27FC236}">
                <a16:creationId xmlns:a16="http://schemas.microsoft.com/office/drawing/2014/main" id="{FD02687B-0897-457A-8FA3-B00FCBD7BCC0}"/>
              </a:ext>
            </a:extLst>
          </p:cNvPr>
          <p:cNvSpPr>
            <a:spLocks xmlns:a="http://schemas.openxmlformats.org/drawingml/2006/main" noGrp="1"/>
          </p:cNvSpPr>
          <p:nvPr/>
        </p:nvSpPr>
        <p:spPr>
          <a:xfrm xmlns:a="http://schemas.openxmlformats.org/drawingml/2006/main">
            <a:off x="962025" y="2571323"/>
            <a:ext cx="5693750" cy="12301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75" spc="-399" kern="400000">
                <a:solidFill>
                  <a:srgbClr val="9BDAB6"/>
                </a:solidFill>
                <a:latin typeface="Deck-Semi-Bold"/>
                <a:ea typeface="Deck-Semi-Bold"/>
                <a:cs typeface="Deck-Semi-Bold"/>
              </a:defRPr>
            </a:pPr>
            <a:r>
              <a:rPr sz="7875" b="0" i="0" kern="400000" spc="-399">
                <a:solidFill>
                  <a:srgbClr val="9BDAB6">
                    <a:alpha val="100000"/>
                  </a:srgbClr>
                </a:solidFill>
                <a:latin typeface="Deck-Semi-Bold"/>
                <a:ea typeface="Deck-Semi-Bold"/>
                <a:cs typeface="Deck-Semi-Bold"/>
              </a:rPr>
              <a:t xml:space="preserve">the care app.</a:t>
            </a:r>
            <a:endParaRPr lang="en-US" sz="7875" spc="-399" kern="400000">
              <a:latin typeface="Deck-Semi-Bold"/>
            </a:endParaRPr>
          </a:p>
        </p:txBody>
      </p:sp>
      <p:sp>
        <p:nvSpPr>
          <p:cNvPr id="5" name="s13-t003">
            <a:extLst xmlns:a="http://schemas.openxmlformats.org/drawingml/2006/main">
              <a:ext uri="{FF2B5EF4-FFF2-40B4-BE49-F238E27FC236}">
                <a16:creationId xmlns:a16="http://schemas.microsoft.com/office/drawing/2014/main" id="{C452AFB5-58F1-4879-8911-D028572C8A9E}"/>
              </a:ext>
            </a:extLst>
          </p:cNvPr>
          <p:cNvSpPr>
            <a:spLocks xmlns:a="http://schemas.openxmlformats.org/drawingml/2006/main" noGrp="1"/>
          </p:cNvSpPr>
          <p:nvPr/>
        </p:nvSpPr>
        <p:spPr>
          <a:xfrm xmlns:a="http://schemas.openxmlformats.org/drawingml/2006/main">
            <a:off x="1009650" y="5122635"/>
            <a:ext cx="5481295"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88" kern="400000">
                <a:solidFill>
                  <a:srgbClr val="FAF6F0"/>
                </a:solidFill>
                <a:latin typeface="Deck"/>
                <a:ea typeface="Deck"/>
                <a:cs typeface="Deck"/>
              </a:defRPr>
            </a:pPr>
            <a:r>
              <a:rPr sz="3525" b="0" i="0" kern="400000" spc="-88">
                <a:solidFill>
                  <a:srgbClr val="FAF6F0">
                    <a:alpha val="100000"/>
                  </a:srgbClr>
                </a:solidFill>
                <a:latin typeface="Deck"/>
                <a:ea typeface="Deck"/>
                <a:cs typeface="Deck"/>
              </a:rPr>
              <a:t xml:space="preserve">“Remind me to drink water</a:t>
            </a:r>
            <a:endParaRPr lang="en-US" sz="3525" spc="-88" kern="400000">
              <a:latin typeface="Deck"/>
            </a:endParaRPr>
          </a:p>
        </p:txBody>
      </p:sp>
      <p:sp>
        <p:nvSpPr>
          <p:cNvPr id="6" name="s13-t004">
            <a:extLst xmlns:a="http://schemas.openxmlformats.org/drawingml/2006/main">
              <a:ext uri="{FF2B5EF4-FFF2-40B4-BE49-F238E27FC236}">
                <a16:creationId xmlns:a16="http://schemas.microsoft.com/office/drawing/2014/main" id="{E49A74B2-0967-42AE-A136-4E698DD55C7D}"/>
              </a:ext>
            </a:extLst>
          </p:cNvPr>
          <p:cNvSpPr>
            <a:spLocks xmlns:a="http://schemas.openxmlformats.org/drawingml/2006/main" noGrp="1"/>
          </p:cNvSpPr>
          <p:nvPr/>
        </p:nvSpPr>
        <p:spPr>
          <a:xfrm xmlns:a="http://schemas.openxmlformats.org/drawingml/2006/main">
            <a:off x="1009650" y="5691183"/>
            <a:ext cx="3873246"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105" kern="400000">
                <a:solidFill>
                  <a:srgbClr val="FAF6F0"/>
                </a:solidFill>
                <a:latin typeface="Deck"/>
                <a:ea typeface="Deck"/>
                <a:cs typeface="Deck"/>
              </a:defRPr>
            </a:pPr>
            <a:r>
              <a:rPr sz="3525" b="0" i="0" kern="400000" spc="-105">
                <a:solidFill>
                  <a:srgbClr val="FAF6F0">
                    <a:alpha val="100000"/>
                  </a:srgbClr>
                </a:solidFill>
                <a:latin typeface="Deck"/>
                <a:ea typeface="Deck"/>
                <a:cs typeface="Deck"/>
              </a:rPr>
              <a:t xml:space="preserve">while I’m working.”</a:t>
            </a:r>
            <a:endParaRPr lang="en-US" sz="3525" spc="-105" kern="400000">
              <a:latin typeface="Deck"/>
            </a:endParaRPr>
          </a:p>
        </p:txBody>
      </p:sp>
      <p:sp>
        <p:nvSpPr>
          <p:cNvPr id="7" name="s13-t005">
            <a:extLst xmlns:a="http://schemas.openxmlformats.org/drawingml/2006/main">
              <a:ext uri="{FF2B5EF4-FFF2-40B4-BE49-F238E27FC236}">
                <a16:creationId xmlns:a16="http://schemas.microsoft.com/office/drawing/2014/main" id="{7E5F79CD-4194-4C81-BDEF-01C0E4CC7C60}"/>
              </a:ext>
            </a:extLst>
          </p:cNvPr>
          <p:cNvSpPr>
            <a:spLocks xmlns:a="http://schemas.openxmlformats.org/drawingml/2006/main" noGrp="1"/>
          </p:cNvSpPr>
          <p:nvPr/>
        </p:nvSpPr>
        <p:spPr>
          <a:xfrm xmlns:a="http://schemas.openxmlformats.org/drawingml/2006/main">
            <a:off x="1047750" y="6670273"/>
            <a:ext cx="3241872"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4" kern="400000">
                <a:solidFill>
                  <a:srgbClr val="9BDAB6"/>
                </a:solidFill>
                <a:latin typeface="Deck"/>
                <a:ea typeface="Deck"/>
                <a:cs typeface="Deck"/>
              </a:defRPr>
            </a:pPr>
            <a:r>
              <a:rPr sz="1950" b="0" i="0" kern="400000" spc="-4">
                <a:solidFill>
                  <a:srgbClr val="9BDAB6">
                    <a:alpha val="100000"/>
                  </a:srgbClr>
                </a:solidFill>
                <a:latin typeface="Deck"/>
                <a:ea typeface="Deck"/>
                <a:cs typeface="Deck"/>
              </a:rPr>
              <a:t xml:space="preserve">CareBuddy plugin concept</a:t>
            </a:r>
            <a:endParaRPr lang="en-US" sz="1950" spc="-4" kern="400000">
              <a:latin typeface="Deck"/>
            </a:endParaRPr>
          </a:p>
        </p:txBody>
      </p:sp>
      <p:sp>
        <p:nvSpPr>
          <p:cNvPr id="8" name="s13-t006">
            <a:extLst xmlns:a="http://schemas.openxmlformats.org/drawingml/2006/main">
              <a:ext uri="{FF2B5EF4-FFF2-40B4-BE49-F238E27FC236}">
                <a16:creationId xmlns:a16="http://schemas.microsoft.com/office/drawing/2014/main" id="{4E6B4317-D106-414D-B757-4E91A53BECB6}"/>
              </a:ext>
            </a:extLst>
          </p:cNvPr>
          <p:cNvSpPr>
            <a:spLocks xmlns:a="http://schemas.openxmlformats.org/drawingml/2006/main" noGrp="1"/>
          </p:cNvSpPr>
          <p:nvPr/>
        </p:nvSpPr>
        <p:spPr>
          <a:xfrm xmlns:a="http://schemas.openxmlformats.org/drawingml/2006/main">
            <a:off x="1047750" y="7093717"/>
            <a:ext cx="2881922"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3" kern="400000">
                <a:solidFill>
                  <a:srgbClr val="A5B2A9"/>
                </a:solidFill>
                <a:latin typeface="Deck"/>
                <a:ea typeface="Deck"/>
                <a:cs typeface="Deck"/>
              </a:defRPr>
            </a:pPr>
            <a:r>
              <a:rPr sz="1725" b="0" i="0" kern="400000" spc="-3">
                <a:solidFill>
                  <a:srgbClr val="A5B2A9">
                    <a:alpha val="100000"/>
                  </a:srgbClr>
                </a:solidFill>
                <a:latin typeface="Deck"/>
                <a:ea typeface="Deck"/>
                <a:cs typeface="Deck"/>
              </a:rPr>
              <a:t xml:space="preserve">Codex experience planned</a:t>
            </a:r>
            <a:endParaRPr lang="en-US" sz="1725" spc="-3" kern="400000">
              <a:latin typeface="Deck"/>
            </a:endParaRPr>
          </a:p>
        </p:txBody>
      </p:sp>
      <p:sp>
        <p:nvSpPr>
          <p:cNvPr id="9" name="s13-t007">
            <a:extLst xmlns:a="http://schemas.openxmlformats.org/drawingml/2006/main">
              <a:ext uri="{FF2B5EF4-FFF2-40B4-BE49-F238E27FC236}">
                <a16:creationId xmlns:a16="http://schemas.microsoft.com/office/drawing/2014/main" id="{366EF15D-F851-4687-BCFD-70E7EC2E0FD7}"/>
              </a:ext>
            </a:extLst>
          </p:cNvPr>
          <p:cNvSpPr>
            <a:spLocks xmlns:a="http://schemas.openxmlformats.org/drawingml/2006/main" noGrp="1"/>
          </p:cNvSpPr>
          <p:nvPr/>
        </p:nvSpPr>
        <p:spPr>
          <a:xfrm xmlns:a="http://schemas.openxmlformats.org/drawingml/2006/main">
            <a:off x="8943975" y="8961380"/>
            <a:ext cx="4778445"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9" kern="400000">
                <a:solidFill>
                  <a:srgbClr val="FAF6F0"/>
                </a:solidFill>
                <a:latin typeface="Deck"/>
                <a:ea typeface="Deck"/>
                <a:cs typeface="Deck"/>
              </a:defRPr>
            </a:pPr>
            <a:r>
              <a:rPr sz="1650" b="0" i="0" kern="400000" spc="-9">
                <a:solidFill>
                  <a:srgbClr val="FAF6F0">
                    <a:alpha val="100000"/>
                  </a:srgbClr>
                </a:solidFill>
                <a:latin typeface="Deck"/>
                <a:ea typeface="Deck"/>
                <a:cs typeface="Deck"/>
              </a:rPr>
              <a:t xml:space="preserve">Current prototype: manual WorkBuddy handoff.</a:t>
            </a:r>
            <a:endParaRPr lang="en-US" sz="1650" spc="-9" kern="400000">
              <a:latin typeface="Deck"/>
            </a:endParaRPr>
          </a:p>
        </p:txBody>
      </p:sp>
      <p:sp>
        <p:nvSpPr>
          <p:cNvPr id="10" name="s13-t008">
            <a:extLst xmlns:a="http://schemas.openxmlformats.org/drawingml/2006/main">
              <a:ext uri="{FF2B5EF4-FFF2-40B4-BE49-F238E27FC236}">
                <a16:creationId xmlns:a16="http://schemas.microsoft.com/office/drawing/2014/main" id="{A0A0893C-37D8-4E96-9756-7714A77F0F27}"/>
              </a:ext>
            </a:extLst>
          </p:cNvPr>
          <p:cNvSpPr>
            <a:spLocks xmlns:a="http://schemas.openxmlformats.org/drawingml/2006/main" noGrp="1"/>
          </p:cNvSpPr>
          <p:nvPr/>
        </p:nvSpPr>
        <p:spPr>
          <a:xfrm xmlns:a="http://schemas.openxmlformats.org/drawingml/2006/main">
            <a:off x="8943975" y="9265227"/>
            <a:ext cx="5557133"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6" kern="400000">
                <a:solidFill>
                  <a:srgbClr val="FAF6F0"/>
                </a:solidFill>
                <a:latin typeface="Deck"/>
                <a:ea typeface="Deck"/>
                <a:cs typeface="Deck"/>
              </a:defRPr>
            </a:pPr>
            <a:r>
              <a:rPr sz="1650" b="0" i="0" kern="400000" spc="-6">
                <a:solidFill>
                  <a:srgbClr val="FAF6F0">
                    <a:alpha val="100000"/>
                  </a:srgbClr>
                </a:solidFill>
                <a:latin typeface="Deck"/>
                <a:ea typeface="Deck"/>
                <a:cs typeface="Deck"/>
              </a:rPr>
              <a:t xml:space="preserve">Export context, import a proposal, review before saving.</a:t>
            </a:r>
            <a:endParaRPr lang="en-US" sz="1650" spc="-6" kern="400000">
              <a:latin typeface="Deck"/>
            </a:endParaRPr>
          </a:p>
        </p:txBody>
      </p:sp>
      <p:sp>
        <p:nvSpPr>
          <p:cNvPr id="11" name="s13-t009">
            <a:extLst xmlns:a="http://schemas.openxmlformats.org/drawingml/2006/main">
              <a:ext uri="{FF2B5EF4-FFF2-40B4-BE49-F238E27FC236}">
                <a16:creationId xmlns:a16="http://schemas.microsoft.com/office/drawing/2014/main" id="{6F14CBF8-D276-40FE-8256-D5B76FBAD08B}"/>
              </a:ext>
            </a:extLst>
          </p:cNvPr>
          <p:cNvSpPr>
            <a:spLocks xmlns:a="http://schemas.openxmlformats.org/drawingml/2006/main" noGrp="1"/>
          </p:cNvSpPr>
          <p:nvPr/>
        </p:nvSpPr>
        <p:spPr>
          <a:xfrm xmlns:a="http://schemas.openxmlformats.org/drawingml/2006/main">
            <a:off x="952500" y="9730387"/>
            <a:ext cx="7238971"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Concept + actual prototype handoff · No live WorkBuddy connection or background push</a:t>
            </a:r>
            <a:endParaRPr lang="en-US" sz="1350" spc="3" kern="400000">
              <a:latin typeface="Deck"/>
            </a:endParaRPr>
          </a:p>
        </p:txBody>
      </p:sp>
      <p:sp>
        <p:nvSpPr>
          <p:cNvPr id="12" name="s13-t010">
            <a:extLst xmlns:a="http://schemas.openxmlformats.org/drawingml/2006/main">
              <a:ext uri="{FF2B5EF4-FFF2-40B4-BE49-F238E27FC236}">
                <a16:creationId xmlns:a16="http://schemas.microsoft.com/office/drawing/2014/main" id="{54E245A3-7823-4546-900B-B1EE0838AD25}"/>
              </a:ext>
            </a:extLst>
          </p:cNvPr>
          <p:cNvSpPr>
            <a:spLocks xmlns:a="http://schemas.openxmlformats.org/drawingml/2006/main" noGrp="1"/>
          </p:cNvSpPr>
          <p:nvPr/>
        </p:nvSpPr>
        <p:spPr>
          <a:xfrm xmlns:a="http://schemas.openxmlformats.org/drawingml/2006/main">
            <a:off x="17176725" y="9730387"/>
            <a:ext cx="3958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13</a:t>
            </a:r>
            <a:endParaRPr lang="en-US" sz="1350" spc="7" kern="400000">
              <a:latin typeface="Deck"/>
            </a:endParaRPr>
          </a:p>
        </p:txBody>
      </p:sp>
    </p:spTree>
    <p:extLst>
      <p:ext uri="{BB962C8B-B14F-4D97-AF65-F5344CB8AC3E}">
        <p14:creationId xmlns:p14="http://schemas.microsoft.com/office/powerpoint/2010/main" val="365748553"/>
      </p:ext>
    </p:extLst>
  </p:cSld>
</p:sld>
</file>

<file path=ppt/slides/slide1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a6ab759a4e6434a"/>
          <a:stretch xmlns:a="http://schemas.openxmlformats.org/drawingml/2006/main"/>
        </p:blipFill>
        <p:spPr>
          <a:xfrm xmlns:a="http://schemas.openxmlformats.org/drawingml/2006/main">
            <a:off x="7334250" y="238125"/>
            <a:ext cx="10191750" cy="9858375"/>
          </a:xfrm>
          <a:prstGeom xmlns:a="http://schemas.openxmlformats.org/drawingml/2006/main" prst="rect">
            <a:avLst/>
          </a:prstGeom>
        </p:spPr>
      </p:pic>
      <p:sp>
        <p:nvSpPr>
          <p:cNvPr id="2" name="s14-t000">
            <a:extLst xmlns:a="http://schemas.openxmlformats.org/drawingml/2006/main">
              <a:ext uri="{FF2B5EF4-FFF2-40B4-BE49-F238E27FC236}">
                <a16:creationId xmlns:a16="http://schemas.microsoft.com/office/drawing/2014/main" id="{AC84F114-19F2-45A1-98BC-EF190217B6FD}"/>
              </a:ext>
            </a:extLst>
          </p:cNvPr>
          <p:cNvSpPr>
            <a:spLocks xmlns:a="http://schemas.openxmlformats.org/drawingml/2006/main" noGrp="1"/>
          </p:cNvSpPr>
          <p:nvPr/>
        </p:nvSpPr>
        <p:spPr>
          <a:xfrm xmlns:a="http://schemas.openxmlformats.org/drawingml/2006/main">
            <a:off x="1019175" y="2022495"/>
            <a:ext cx="503080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200" spc="-455" kern="400000">
                <a:solidFill>
                  <a:srgbClr val="3A3745"/>
                </a:solidFill>
                <a:latin typeface="Deck-Semi-Bold"/>
                <a:ea typeface="Deck-Semi-Bold"/>
                <a:cs typeface="Deck-Semi-Bold"/>
              </a:defRPr>
            </a:pPr>
            <a:r>
              <a:rPr sz="7200" b="0" i="0" kern="400000" spc="-455">
                <a:solidFill>
                  <a:srgbClr val="3A3745">
                    <a:alpha val="100000"/>
                  </a:srgbClr>
                </a:solidFill>
                <a:latin typeface="Deck-Semi-Bold"/>
                <a:ea typeface="Deck-Semi-Bold"/>
                <a:cs typeface="Deck-Semi-Bold"/>
              </a:rPr>
              <a:t xml:space="preserve">Talk through</a:t>
            </a:r>
            <a:endParaRPr lang="en-US" sz="7200" spc="-455" kern="400000">
              <a:latin typeface="Deck-Semi-Bold"/>
            </a:endParaRPr>
          </a:p>
        </p:txBody>
      </p:sp>
      <p:sp>
        <p:nvSpPr>
          <p:cNvPr id="3" name="s14-t001">
            <a:extLst xmlns:a="http://schemas.openxmlformats.org/drawingml/2006/main">
              <a:ext uri="{FF2B5EF4-FFF2-40B4-BE49-F238E27FC236}">
                <a16:creationId xmlns:a16="http://schemas.microsoft.com/office/drawing/2014/main" id="{282C1C58-F575-480F-9BE8-5F055854826F}"/>
              </a:ext>
            </a:extLst>
          </p:cNvPr>
          <p:cNvSpPr>
            <a:spLocks xmlns:a="http://schemas.openxmlformats.org/drawingml/2006/main" noGrp="1"/>
          </p:cNvSpPr>
          <p:nvPr/>
        </p:nvSpPr>
        <p:spPr>
          <a:xfrm xmlns:a="http://schemas.openxmlformats.org/drawingml/2006/main">
            <a:off x="1019175" y="2978043"/>
            <a:ext cx="5394122"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200" spc="-400" kern="400000">
                <a:solidFill>
                  <a:srgbClr val="4F7A66"/>
                </a:solidFill>
                <a:latin typeface="Deck-Semi-Bold"/>
                <a:ea typeface="Deck-Semi-Bold"/>
                <a:cs typeface="Deck-Semi-Bold"/>
              </a:defRPr>
            </a:pPr>
            <a:r>
              <a:rPr sz="7200" b="0" i="0" kern="400000" spc="-400">
                <a:solidFill>
                  <a:srgbClr val="4F7A66">
                    <a:alpha val="100000"/>
                  </a:srgbClr>
                </a:solidFill>
                <a:latin typeface="Deck-Semi-Bold"/>
                <a:ea typeface="Deck-Semi-Bold"/>
                <a:cs typeface="Deck-Semi-Bold"/>
              </a:rPr>
              <a:t xml:space="preserve">the next step.</a:t>
            </a:r>
            <a:endParaRPr lang="en-US" sz="7200" spc="-400" kern="400000">
              <a:latin typeface="Deck-Semi-Bold"/>
            </a:endParaRPr>
          </a:p>
        </p:txBody>
      </p:sp>
      <p:sp>
        <p:nvSpPr>
          <p:cNvPr id="4" name="s14-t002">
            <a:extLst xmlns:a="http://schemas.openxmlformats.org/drawingml/2006/main">
              <a:ext uri="{FF2B5EF4-FFF2-40B4-BE49-F238E27FC236}">
                <a16:creationId xmlns:a16="http://schemas.microsoft.com/office/drawing/2014/main" id="{8A7723ED-636A-4679-9868-A5A3A72D046A}"/>
              </a:ext>
            </a:extLst>
          </p:cNvPr>
          <p:cNvSpPr>
            <a:spLocks xmlns:a="http://schemas.openxmlformats.org/drawingml/2006/main" noGrp="1"/>
          </p:cNvSpPr>
          <p:nvPr/>
        </p:nvSpPr>
        <p:spPr>
          <a:xfrm xmlns:a="http://schemas.openxmlformats.org/drawingml/2006/main">
            <a:off x="1019175" y="1524005"/>
            <a:ext cx="34282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3A3745"/>
                </a:solidFill>
                <a:latin typeface="Deck-Medium"/>
                <a:ea typeface="Deck-Medium"/>
                <a:cs typeface="Deck-Medium"/>
              </a:defRPr>
            </a:pPr>
            <a:r>
              <a:rPr sz="1725" b="0" i="0" kern="400000" spc="285">
                <a:solidFill>
                  <a:srgbClr val="6C6971">
                    <a:alpha val="100000"/>
                  </a:srgbClr>
                </a:solidFill>
                <a:latin typeface="Deck-Medium"/>
                <a:ea typeface="Deck-Medium"/>
                <a:cs typeface="Deck-Medium"/>
              </a:rPr>
              <a:t xml:space="preserve">BUDDY &amp; CARE ACCESS</a:t>
            </a:r>
            <a:endParaRPr lang="en-US" sz="1725" spc="285" kern="400000">
              <a:latin typeface="Deck-Medium"/>
            </a:endParaRPr>
          </a:p>
        </p:txBody>
      </p:sp>
      <p:sp>
        <p:nvSpPr>
          <p:cNvPr id="5" name="s14-t003">
            <a:extLst xmlns:a="http://schemas.openxmlformats.org/drawingml/2006/main">
              <a:ext uri="{FF2B5EF4-FFF2-40B4-BE49-F238E27FC236}">
                <a16:creationId xmlns:a16="http://schemas.microsoft.com/office/drawing/2014/main" id="{D79FDFAB-5824-4E8F-B5EE-9BB2A818773F}"/>
              </a:ext>
            </a:extLst>
          </p:cNvPr>
          <p:cNvSpPr>
            <a:spLocks xmlns:a="http://schemas.openxmlformats.org/drawingml/2006/main" noGrp="1"/>
          </p:cNvSpPr>
          <p:nvPr/>
        </p:nvSpPr>
        <p:spPr>
          <a:xfrm xmlns:a="http://schemas.openxmlformats.org/drawingml/2006/main">
            <a:off x="1066800" y="5467193"/>
            <a:ext cx="3829555"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2" kern="400000">
                <a:solidFill>
                  <a:srgbClr val="3A3745"/>
                </a:solidFill>
                <a:latin typeface="Deck"/>
                <a:ea typeface="Deck"/>
                <a:cs typeface="Deck"/>
              </a:defRPr>
            </a:pPr>
            <a:r>
              <a:rPr sz="2325" b="0" i="0" kern="400000" spc="-2">
                <a:solidFill>
                  <a:srgbClr val="3A3745">
                    <a:alpha val="100000"/>
                  </a:srgbClr>
                </a:solidFill>
                <a:latin typeface="Deck"/>
                <a:ea typeface="Deck"/>
                <a:cs typeface="Deck"/>
              </a:rPr>
              <a:t xml:space="preserve">Routines and appointment</a:t>
            </a:r>
            <a:endParaRPr lang="en-US" sz="2325" spc="-2" kern="400000">
              <a:latin typeface="Deck"/>
            </a:endParaRPr>
          </a:p>
        </p:txBody>
      </p:sp>
      <p:sp>
        <p:nvSpPr>
          <p:cNvPr id="6" name="s14-t004">
            <a:extLst xmlns:a="http://schemas.openxmlformats.org/drawingml/2006/main">
              <a:ext uri="{FF2B5EF4-FFF2-40B4-BE49-F238E27FC236}">
                <a16:creationId xmlns:a16="http://schemas.microsoft.com/office/drawing/2014/main" id="{87AE1C9C-2435-4C61-94FA-B6CA6C70B3EC}"/>
              </a:ext>
            </a:extLst>
          </p:cNvPr>
          <p:cNvSpPr>
            <a:spLocks xmlns:a="http://schemas.openxmlformats.org/drawingml/2006/main" noGrp="1"/>
          </p:cNvSpPr>
          <p:nvPr/>
        </p:nvSpPr>
        <p:spPr>
          <a:xfrm xmlns:a="http://schemas.openxmlformats.org/drawingml/2006/main">
            <a:off x="1066800" y="5895342"/>
            <a:ext cx="2695699"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21" kern="400000">
                <a:solidFill>
                  <a:srgbClr val="3A3745"/>
                </a:solidFill>
                <a:latin typeface="Deck"/>
                <a:ea typeface="Deck"/>
                <a:cs typeface="Deck"/>
              </a:defRPr>
            </a:pPr>
            <a:r>
              <a:rPr sz="2325" b="0" i="0" kern="400000" spc="-21">
                <a:solidFill>
                  <a:srgbClr val="3A3745">
                    <a:alpha val="100000"/>
                  </a:srgbClr>
                </a:solidFill>
                <a:latin typeface="Deck"/>
                <a:ea typeface="Deck"/>
                <a:cs typeface="Deck"/>
              </a:rPr>
              <a:t xml:space="preserve">preparation today.</a:t>
            </a:r>
            <a:endParaRPr lang="en-US" sz="2325" spc="-21" kern="400000">
              <a:latin typeface="Deck"/>
            </a:endParaRPr>
          </a:p>
        </p:txBody>
      </p:sp>
      <p:sp>
        <p:nvSpPr>
          <p:cNvPr id="7" name="s14-t005">
            <a:extLst xmlns:a="http://schemas.openxmlformats.org/drawingml/2006/main">
              <a:ext uri="{FF2B5EF4-FFF2-40B4-BE49-F238E27FC236}">
                <a16:creationId xmlns:a16="http://schemas.microsoft.com/office/drawing/2014/main" id="{B97FE851-6EEB-412A-AA44-2317A5FD23F8}"/>
              </a:ext>
            </a:extLst>
          </p:cNvPr>
          <p:cNvSpPr>
            <a:spLocks xmlns:a="http://schemas.openxmlformats.org/drawingml/2006/main" noGrp="1"/>
          </p:cNvSpPr>
          <p:nvPr/>
        </p:nvSpPr>
        <p:spPr>
          <a:xfrm xmlns:a="http://schemas.openxmlformats.org/drawingml/2006/main">
            <a:off x="1066800" y="6751639"/>
            <a:ext cx="4819021"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4" kern="400000">
                <a:solidFill>
                  <a:srgbClr val="3A3745"/>
                </a:solidFill>
                <a:latin typeface="Deck"/>
                <a:ea typeface="Deck"/>
                <a:cs typeface="Deck"/>
              </a:defRPr>
            </a:pPr>
            <a:r>
              <a:rPr sz="2325" b="0" i="0" kern="400000" spc="-4">
                <a:solidFill>
                  <a:srgbClr val="3A3745">
                    <a:alpha val="100000"/>
                  </a:srgbClr>
                </a:solidFill>
                <a:latin typeface="Deck"/>
                <a:ea typeface="Deck"/>
                <a:cs typeface="Deck"/>
              </a:rPr>
              <a:t xml:space="preserve">WhiteCoat teleconsult connection</a:t>
            </a:r>
            <a:endParaRPr lang="en-US" sz="2325" spc="-4" kern="400000">
              <a:latin typeface="Deck"/>
            </a:endParaRPr>
          </a:p>
        </p:txBody>
      </p:sp>
      <p:sp>
        <p:nvSpPr>
          <p:cNvPr id="8" name="s14-t006">
            <a:extLst xmlns:a="http://schemas.openxmlformats.org/drawingml/2006/main">
              <a:ext uri="{FF2B5EF4-FFF2-40B4-BE49-F238E27FC236}">
                <a16:creationId xmlns:a16="http://schemas.microsoft.com/office/drawing/2014/main" id="{0066C4AB-3DC7-470B-9132-6807E17F51A5}"/>
              </a:ext>
            </a:extLst>
          </p:cNvPr>
          <p:cNvSpPr>
            <a:spLocks xmlns:a="http://schemas.openxmlformats.org/drawingml/2006/main" noGrp="1"/>
          </p:cNvSpPr>
          <p:nvPr/>
        </p:nvSpPr>
        <p:spPr>
          <a:xfrm xmlns:a="http://schemas.openxmlformats.org/drawingml/2006/main">
            <a:off x="1066800" y="7179788"/>
            <a:ext cx="2073554"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8" kern="400000">
                <a:solidFill>
                  <a:srgbClr val="3A3745"/>
                </a:solidFill>
                <a:latin typeface="Deck"/>
                <a:ea typeface="Deck"/>
                <a:cs typeface="Deck"/>
              </a:defRPr>
            </a:pPr>
            <a:r>
              <a:rPr sz="2325" b="0" i="0" kern="400000" spc="-8">
                <a:solidFill>
                  <a:srgbClr val="3A3745">
                    <a:alpha val="100000"/>
                  </a:srgbClr>
                </a:solidFill>
                <a:latin typeface="Deck"/>
                <a:ea typeface="Deck"/>
                <a:cs typeface="Deck"/>
              </a:rPr>
              <a:t xml:space="preserve">is a next step.</a:t>
            </a:r>
            <a:endParaRPr lang="en-US" sz="2325" spc="-8" kern="400000">
              <a:latin typeface="Deck"/>
            </a:endParaRPr>
          </a:p>
        </p:txBody>
      </p:sp>
      <p:sp>
        <p:nvSpPr>
          <p:cNvPr id="9" name="s14-t007">
            <a:extLst xmlns:a="http://schemas.openxmlformats.org/drawingml/2006/main">
              <a:ext uri="{FF2B5EF4-FFF2-40B4-BE49-F238E27FC236}">
                <a16:creationId xmlns:a16="http://schemas.microsoft.com/office/drawing/2014/main" id="{996FD434-A6D6-4706-B781-123F8C9F2539}"/>
              </a:ext>
            </a:extLst>
          </p:cNvPr>
          <p:cNvSpPr>
            <a:spLocks xmlns:a="http://schemas.openxmlformats.org/drawingml/2006/main" noGrp="1"/>
          </p:cNvSpPr>
          <p:nvPr/>
        </p:nvSpPr>
        <p:spPr>
          <a:xfrm xmlns:a="http://schemas.openxmlformats.org/drawingml/2006/main">
            <a:off x="952500" y="9730387"/>
            <a:ext cx="7435796"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GP planning only; no verified WhiteCoat redirect or booking</a:t>
            </a:r>
            <a:endParaRPr lang="en-US" sz="1350" spc="3" kern="400000">
              <a:latin typeface="Deck"/>
            </a:endParaRPr>
          </a:p>
        </p:txBody>
      </p:sp>
      <p:sp>
        <p:nvSpPr>
          <p:cNvPr id="10" name="s14-t008">
            <a:extLst xmlns:a="http://schemas.openxmlformats.org/drawingml/2006/main">
              <a:ext uri="{FF2B5EF4-FFF2-40B4-BE49-F238E27FC236}">
                <a16:creationId xmlns:a16="http://schemas.microsoft.com/office/drawing/2014/main" id="{20EA9B2C-C398-411C-9D4B-CDC16E40D485}"/>
              </a:ext>
            </a:extLst>
          </p:cNvPr>
          <p:cNvSpPr>
            <a:spLocks xmlns:a="http://schemas.openxmlformats.org/drawingml/2006/main" noGrp="1"/>
          </p:cNvSpPr>
          <p:nvPr/>
        </p:nvSpPr>
        <p:spPr>
          <a:xfrm xmlns:a="http://schemas.openxmlformats.org/drawingml/2006/main">
            <a:off x="17170725" y="9730387"/>
            <a:ext cx="401831"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14</a:t>
            </a:r>
            <a:endParaRPr lang="en-US" sz="1350" spc="7" kern="400000">
              <a:latin typeface="Deck"/>
            </a:endParaRPr>
          </a:p>
        </p:txBody>
      </p:sp>
    </p:spTree>
    <p:extLst>
      <p:ext uri="{BB962C8B-B14F-4D97-AF65-F5344CB8AC3E}">
        <p14:creationId xmlns:p14="http://schemas.microsoft.com/office/powerpoint/2010/main" val="1035804382"/>
      </p:ext>
    </p:extLst>
  </p:cSld>
</p:sld>
</file>

<file path=ppt/slides/slide15.xml><?xml version="1.0" encoding="utf-8"?>
<p:sld xmlns:p="http://schemas.openxmlformats.org/presentationml/2006/main">
  <p:cSld>
    <p:bg>
      <p:bgPr>
        <a:solidFill xmlns:a="http://schemas.openxmlformats.org/drawingml/2006/main">
          <a:srgbClr val="0C0F0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a78a69c6c734d7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15-t000">
            <a:extLst xmlns:a="http://schemas.openxmlformats.org/drawingml/2006/main">
              <a:ext uri="{FF2B5EF4-FFF2-40B4-BE49-F238E27FC236}">
                <a16:creationId xmlns:a16="http://schemas.microsoft.com/office/drawing/2014/main" id="{B5F8BDF3-A1DE-478C-B157-0791DC9035FE}"/>
              </a:ext>
            </a:extLst>
          </p:cNvPr>
          <p:cNvSpPr>
            <a:spLocks xmlns:a="http://schemas.openxmlformats.org/drawingml/2006/main" noGrp="1"/>
          </p:cNvSpPr>
          <p:nvPr/>
        </p:nvSpPr>
        <p:spPr>
          <a:xfrm xmlns:a="http://schemas.openxmlformats.org/drawingml/2006/main">
            <a:off x="981075" y="1777291"/>
            <a:ext cx="3670516"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21" kern="400000">
                <a:solidFill>
                  <a:srgbClr val="FAF6F0"/>
                </a:solidFill>
                <a:latin typeface="Deck-Semi-Bold"/>
                <a:ea typeface="Deck-Semi-Bold"/>
                <a:cs typeface="Deck-Semi-Bold"/>
              </a:defRPr>
            </a:pPr>
            <a:r>
              <a:rPr sz="8850" b="0" i="0" kern="400000" spc="-421">
                <a:solidFill>
                  <a:srgbClr val="FAF6F0">
                    <a:alpha val="100000"/>
                  </a:srgbClr>
                </a:solidFill>
                <a:latin typeface="Deck-Semi-Bold"/>
                <a:ea typeface="Deck-Semi-Bold"/>
                <a:cs typeface="Deck-Semi-Bold"/>
              </a:rPr>
              <a:t xml:space="preserve">Notice.</a:t>
            </a:r>
            <a:endParaRPr lang="en-US" sz="8850" spc="-421" kern="400000">
              <a:latin typeface="Deck-Semi-Bold"/>
            </a:endParaRPr>
          </a:p>
        </p:txBody>
      </p:sp>
      <p:sp>
        <p:nvSpPr>
          <p:cNvPr id="3" name="s15-t001">
            <a:extLst xmlns:a="http://schemas.openxmlformats.org/drawingml/2006/main">
              <a:ext uri="{FF2B5EF4-FFF2-40B4-BE49-F238E27FC236}">
                <a16:creationId xmlns:a16="http://schemas.microsoft.com/office/drawing/2014/main" id="{51E135A5-C2B7-4744-BE02-92261CF08195}"/>
              </a:ext>
            </a:extLst>
          </p:cNvPr>
          <p:cNvSpPr>
            <a:spLocks xmlns:a="http://schemas.openxmlformats.org/drawingml/2006/main" noGrp="1"/>
          </p:cNvSpPr>
          <p:nvPr/>
        </p:nvSpPr>
        <p:spPr>
          <a:xfrm xmlns:a="http://schemas.openxmlformats.org/drawingml/2006/main">
            <a:off x="981075" y="2968678"/>
            <a:ext cx="5825452"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72" kern="400000">
                <a:solidFill>
                  <a:srgbClr val="FAF6F0"/>
                </a:solidFill>
                <a:latin typeface="Deck-Semi-Bold"/>
                <a:ea typeface="Deck-Semi-Bold"/>
                <a:cs typeface="Deck-Semi-Bold"/>
              </a:defRPr>
            </a:pPr>
            <a:r>
              <a:rPr sz="8850" b="0" i="0" kern="400000" spc="-472">
                <a:solidFill>
                  <a:srgbClr val="FAF6F0">
                    <a:alpha val="100000"/>
                  </a:srgbClr>
                </a:solidFill>
                <a:latin typeface="Deck-Semi-Bold"/>
                <a:ea typeface="Deck-Semi-Bold"/>
                <a:cs typeface="Deck-Semi-Bold"/>
              </a:rPr>
              <a:t xml:space="preserve">Remember.</a:t>
            </a:r>
            <a:endParaRPr lang="en-US" sz="8850" spc="-472" kern="400000">
              <a:latin typeface="Deck-Semi-Bold"/>
            </a:endParaRPr>
          </a:p>
        </p:txBody>
      </p:sp>
      <p:sp>
        <p:nvSpPr>
          <p:cNvPr id="4" name="s15-t002">
            <a:extLst xmlns:a="http://schemas.openxmlformats.org/drawingml/2006/main">
              <a:ext uri="{FF2B5EF4-FFF2-40B4-BE49-F238E27FC236}">
                <a16:creationId xmlns:a16="http://schemas.microsoft.com/office/drawing/2014/main" id="{92B2867A-1E2D-4A6E-AADA-E177B6380A3D}"/>
              </a:ext>
            </a:extLst>
          </p:cNvPr>
          <p:cNvSpPr>
            <a:spLocks xmlns:a="http://schemas.openxmlformats.org/drawingml/2006/main" noGrp="1"/>
          </p:cNvSpPr>
          <p:nvPr/>
        </p:nvSpPr>
        <p:spPr>
          <a:xfrm xmlns:a="http://schemas.openxmlformats.org/drawingml/2006/main">
            <a:off x="981075" y="4160065"/>
            <a:ext cx="7686561"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05" kern="400000">
                <a:solidFill>
                  <a:srgbClr val="9BDAB6"/>
                </a:solidFill>
                <a:latin typeface="Deck-Semi-Bold"/>
                <a:ea typeface="Deck-Semi-Bold"/>
                <a:cs typeface="Deck-Semi-Bold"/>
              </a:defRPr>
            </a:pPr>
            <a:r>
              <a:rPr sz="8850" b="0" i="0" kern="400000" spc="-405">
                <a:solidFill>
                  <a:srgbClr val="9BDAB6">
                    <a:alpha val="100000"/>
                  </a:srgbClr>
                </a:solidFill>
                <a:latin typeface="Deck-Semi-Bold"/>
                <a:ea typeface="Deck-Semi-Bold"/>
                <a:cs typeface="Deck-Semi-Bold"/>
              </a:rPr>
              <a:t xml:space="preserve">Follow through.</a:t>
            </a:r>
            <a:endParaRPr lang="en-US" sz="8850" spc="-405" kern="400000">
              <a:latin typeface="Deck-Semi-Bold"/>
            </a:endParaRPr>
          </a:p>
        </p:txBody>
      </p:sp>
      <p:sp>
        <p:nvSpPr>
          <p:cNvPr id="5" name="s15-t003">
            <a:extLst xmlns:a="http://schemas.openxmlformats.org/drawingml/2006/main">
              <a:ext uri="{FF2B5EF4-FFF2-40B4-BE49-F238E27FC236}">
                <a16:creationId xmlns:a16="http://schemas.microsoft.com/office/drawing/2014/main" id="{92D6395D-CE0D-4FB3-8796-A2D8A2C80CA0}"/>
              </a:ext>
            </a:extLst>
          </p:cNvPr>
          <p:cNvSpPr>
            <a:spLocks xmlns:a="http://schemas.openxmlformats.org/drawingml/2006/main" noGrp="1"/>
          </p:cNvSpPr>
          <p:nvPr/>
        </p:nvSpPr>
        <p:spPr>
          <a:xfrm xmlns:a="http://schemas.openxmlformats.org/drawingml/2006/main">
            <a:off x="981075" y="5889035"/>
            <a:ext cx="4480941"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8" kern="400000">
                <a:solidFill>
                  <a:srgbClr val="E4E7DF"/>
                </a:solidFill>
                <a:latin typeface="Deck"/>
                <a:ea typeface="Deck"/>
                <a:cs typeface="Deck"/>
              </a:defRPr>
            </a:pPr>
            <a:r>
              <a:rPr sz="2400" b="0" i="0" kern="400000" spc="-8">
                <a:solidFill>
                  <a:srgbClr val="E4E7DF">
                    <a:alpha val="100000"/>
                  </a:srgbClr>
                </a:solidFill>
                <a:latin typeface="Deck"/>
                <a:ea typeface="Deck"/>
                <a:cs typeface="Deck"/>
              </a:rPr>
              <a:t xml:space="preserve">Make the next care step easier</a:t>
            </a:r>
            <a:endParaRPr lang="en-US" sz="2400" spc="-8" kern="400000">
              <a:latin typeface="Deck"/>
            </a:endParaRPr>
          </a:p>
        </p:txBody>
      </p:sp>
      <p:sp>
        <p:nvSpPr>
          <p:cNvPr id="6" name="s15-t004">
            <a:extLst xmlns:a="http://schemas.openxmlformats.org/drawingml/2006/main">
              <a:ext uri="{FF2B5EF4-FFF2-40B4-BE49-F238E27FC236}">
                <a16:creationId xmlns:a16="http://schemas.microsoft.com/office/drawing/2014/main" id="{08F66600-0106-426F-9845-3A656525A21B}"/>
              </a:ext>
            </a:extLst>
          </p:cNvPr>
          <p:cNvSpPr>
            <a:spLocks xmlns:a="http://schemas.openxmlformats.org/drawingml/2006/main" noGrp="1"/>
          </p:cNvSpPr>
          <p:nvPr/>
        </p:nvSpPr>
        <p:spPr>
          <a:xfrm xmlns:a="http://schemas.openxmlformats.org/drawingml/2006/main">
            <a:off x="981075" y="6340139"/>
            <a:ext cx="4423943"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3" kern="400000">
                <a:solidFill>
                  <a:srgbClr val="E4E7DF"/>
                </a:solidFill>
                <a:latin typeface="Deck"/>
                <a:ea typeface="Deck"/>
                <a:cs typeface="Deck"/>
              </a:defRPr>
            </a:pPr>
            <a:r>
              <a:rPr sz="2400" b="0" i="0" kern="400000" spc="-13">
                <a:solidFill>
                  <a:srgbClr val="E4E7DF">
                    <a:alpha val="100000"/>
                  </a:srgbClr>
                </a:solidFill>
                <a:latin typeface="Deck"/>
                <a:ea typeface="Deck"/>
                <a:cs typeface="Deck"/>
              </a:rPr>
              <a:t xml:space="preserve">to see, discuss and remember.</a:t>
            </a:r>
            <a:endParaRPr lang="en-US" sz="2400" spc="-13" kern="400000">
              <a:latin typeface="Deck"/>
            </a:endParaRPr>
          </a:p>
        </p:txBody>
      </p:sp>
      <p:sp>
        <p:nvSpPr>
          <p:cNvPr id="7" name="s15-t005">
            <a:extLst xmlns:a="http://schemas.openxmlformats.org/drawingml/2006/main">
              <a:ext uri="{FF2B5EF4-FFF2-40B4-BE49-F238E27FC236}">
                <a16:creationId xmlns:a16="http://schemas.microsoft.com/office/drawing/2014/main" id="{24342B14-62CB-49B8-9751-8ECD81CA45E8}"/>
              </a:ext>
            </a:extLst>
          </p:cNvPr>
          <p:cNvSpPr>
            <a:spLocks xmlns:a="http://schemas.openxmlformats.org/drawingml/2006/main" noGrp="1"/>
          </p:cNvSpPr>
          <p:nvPr/>
        </p:nvSpPr>
        <p:spPr>
          <a:xfrm xmlns:a="http://schemas.openxmlformats.org/drawingml/2006/main">
            <a:off x="981075" y="1285880"/>
            <a:ext cx="345520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5" kern="400000">
                <a:solidFill>
                  <a:srgbClr val="FAF6F0"/>
                </a:solidFill>
                <a:latin typeface="Deck-Medium"/>
                <a:ea typeface="Deck-Medium"/>
                <a:cs typeface="Deck-Medium"/>
              </a:defRPr>
            </a:pPr>
            <a:r>
              <a:rPr sz="1725" b="0" i="0" kern="400000" spc="295">
                <a:solidFill>
                  <a:srgbClr val="BCB9B4">
                    <a:alpha val="100000"/>
                  </a:srgbClr>
                </a:solidFill>
                <a:latin typeface="Deck-Medium"/>
                <a:ea typeface="Deck-Medium"/>
                <a:cs typeface="Deck-Medium"/>
              </a:rPr>
              <a:t xml:space="preserve">KEEPING CARE IN VIEW</a:t>
            </a:r>
            <a:endParaRPr lang="en-US" sz="1725" spc="295" kern="400000">
              <a:latin typeface="Deck-Medium"/>
            </a:endParaRPr>
          </a:p>
        </p:txBody>
      </p:sp>
      <p:sp>
        <p:nvSpPr>
          <p:cNvPr id="8" name="s15-t006">
            <a:extLst xmlns:a="http://schemas.openxmlformats.org/drawingml/2006/main">
              <a:ext uri="{FF2B5EF4-FFF2-40B4-BE49-F238E27FC236}">
                <a16:creationId xmlns:a16="http://schemas.microsoft.com/office/drawing/2014/main" id="{CB81A6AE-907D-4128-A257-1D6047877F9C}"/>
              </a:ext>
            </a:extLst>
          </p:cNvPr>
          <p:cNvSpPr>
            <a:spLocks xmlns:a="http://schemas.openxmlformats.org/drawingml/2006/main" noGrp="1"/>
          </p:cNvSpPr>
          <p:nvPr/>
        </p:nvSpPr>
        <p:spPr>
          <a:xfrm xmlns:a="http://schemas.openxmlformats.org/drawingml/2006/main">
            <a:off x="952500" y="9730387"/>
            <a:ext cx="491519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5" kern="400000">
                <a:solidFill>
                  <a:srgbClr val="FAF6F0"/>
                </a:solidFill>
                <a:latin typeface="Deck"/>
                <a:ea typeface="Deck"/>
                <a:cs typeface="Deck"/>
              </a:defRPr>
            </a:pPr>
            <a:r>
              <a:rPr sz="1350" b="0" i="0" kern="400000" spc="5">
                <a:solidFill>
                  <a:srgbClr val="A09F9A">
                    <a:alpha val="100000"/>
                  </a:srgbClr>
                </a:solidFill>
                <a:latin typeface="Deck"/>
                <a:ea typeface="Deck"/>
                <a:cs typeface="Deck"/>
              </a:rPr>
              <a:t xml:space="preserve">Intended value · Clinical outcomes have not been evaluated</a:t>
            </a:r>
            <a:endParaRPr lang="en-US" sz="1350" spc="5" kern="400000">
              <a:latin typeface="Deck"/>
            </a:endParaRPr>
          </a:p>
        </p:txBody>
      </p:sp>
      <p:sp>
        <p:nvSpPr>
          <p:cNvPr id="9" name="s15-t007">
            <a:extLst xmlns:a="http://schemas.openxmlformats.org/drawingml/2006/main">
              <a:ext uri="{FF2B5EF4-FFF2-40B4-BE49-F238E27FC236}">
                <a16:creationId xmlns:a16="http://schemas.microsoft.com/office/drawing/2014/main" id="{EE393BEC-88B9-41F3-874D-0161031BD8B4}"/>
              </a:ext>
            </a:extLst>
          </p:cNvPr>
          <p:cNvSpPr>
            <a:spLocks xmlns:a="http://schemas.openxmlformats.org/drawingml/2006/main" noGrp="1"/>
          </p:cNvSpPr>
          <p:nvPr/>
        </p:nvSpPr>
        <p:spPr>
          <a:xfrm xmlns:a="http://schemas.openxmlformats.org/drawingml/2006/main">
            <a:off x="17176725" y="9730387"/>
            <a:ext cx="3958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8A29E">
                    <a:alpha val="100000"/>
                  </a:srgbClr>
                </a:solidFill>
                <a:latin typeface="Deck"/>
                <a:ea typeface="Deck"/>
                <a:cs typeface="Deck"/>
              </a:rPr>
              <a:t xml:space="preserve">15</a:t>
            </a:r>
            <a:endParaRPr lang="en-US" sz="1350" spc="7" kern="400000">
              <a:latin typeface="Deck"/>
            </a:endParaRPr>
          </a:p>
        </p:txBody>
      </p:sp>
    </p:spTree>
    <p:extLst>
      <p:ext uri="{BB962C8B-B14F-4D97-AF65-F5344CB8AC3E}">
        <p14:creationId xmlns:p14="http://schemas.microsoft.com/office/powerpoint/2010/main" val="24539218"/>
      </p:ext>
    </p:extLst>
  </p:cSld>
</p:sld>
</file>

<file path=ppt/slides/slide16.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9" name="s16-source-rule-0">
            <a:extLst xmlns:a="http://schemas.openxmlformats.org/drawingml/2006/main">
              <a:ext uri="{FF2B5EF4-FFF2-40B4-BE49-F238E27FC236}">
                <a16:creationId xmlns:a16="http://schemas.microsoft.com/office/drawing/2014/main" id="{22960F29-F77A-4403-B497-36488B65023D}"/>
              </a:ext>
            </a:extLst>
          </p:cNvPr>
          <p:cNvSpPr>
            <a:spLocks xmlns:a="http://schemas.openxmlformats.org/drawingml/2006/main" noGrp="1"/>
          </p:cNvSpPr>
          <p:nvPr/>
        </p:nvSpPr>
        <p:spPr>
          <a:xfrm xmlns:a="http://schemas.openxmlformats.org/drawingml/2006/main">
            <a:off x="5746440" y="4400550"/>
            <a:ext cx="11096625" cy="2862392"/>
          </a:xfrm>
          <a:prstGeom xmlns:a="http://schemas.openxmlformats.org/drawingml/2006/main" prst="rect">
            <a:avLst/>
          </a:prstGeom>
          <a:noFill xmlns:a="http://schemas.openxmlformats.org/drawingml/2006/main"/>
          <a:ln xmlns:a="http://schemas.openxmlformats.org/drawingml/2006/main" w="14288">
            <a:solidFill>
              <a:srgbClr val="537968"/>
            </a:solidFill>
          </a:ln>
        </p:spPr>
      </p:sp>
      <p:sp>
        <p:nvSpPr>
          <p:cNvPr id="2" name="s16-source-rule-1">
            <a:extLst xmlns:a="http://schemas.openxmlformats.org/drawingml/2006/main">
              <a:ext uri="{FF2B5EF4-FFF2-40B4-BE49-F238E27FC236}">
                <a16:creationId xmlns:a16="http://schemas.microsoft.com/office/drawing/2014/main" id="{CA07A478-367C-493C-A390-A6A94545AD96}"/>
              </a:ext>
            </a:extLst>
          </p:cNvPr>
          <p:cNvSpPr>
            <a:spLocks xmlns:a="http://schemas.openxmlformats.org/drawingml/2006/main" noGrp="1"/>
          </p:cNvSpPr>
          <p:nvPr/>
        </p:nvSpPr>
        <p:spPr>
          <a:xfrm xmlns:a="http://schemas.openxmlformats.org/drawingml/2006/main">
            <a:off x="1019175"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3" name="s16-source-rule-2">
            <a:extLst xmlns:a="http://schemas.openxmlformats.org/drawingml/2006/main">
              <a:ext uri="{FF2B5EF4-FFF2-40B4-BE49-F238E27FC236}">
                <a16:creationId xmlns:a16="http://schemas.microsoft.com/office/drawing/2014/main" id="{53C6BA6D-6F3C-4D53-9D71-25B823C3B732}"/>
              </a:ext>
            </a:extLst>
          </p:cNvPr>
          <p:cNvSpPr>
            <a:spLocks xmlns:a="http://schemas.openxmlformats.org/drawingml/2006/main" noGrp="1"/>
          </p:cNvSpPr>
          <p:nvPr/>
        </p:nvSpPr>
        <p:spPr>
          <a:xfrm xmlns:a="http://schemas.openxmlformats.org/drawingml/2006/main">
            <a:off x="6591300"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4" name="s16-source-rule-3">
            <a:extLst xmlns:a="http://schemas.openxmlformats.org/drawingml/2006/main">
              <a:ext uri="{FF2B5EF4-FFF2-40B4-BE49-F238E27FC236}">
                <a16:creationId xmlns:a16="http://schemas.microsoft.com/office/drawing/2014/main" id="{FA273BA4-98BE-48B0-97A9-57AC74254956}"/>
              </a:ext>
            </a:extLst>
          </p:cNvPr>
          <p:cNvSpPr>
            <a:spLocks xmlns:a="http://schemas.openxmlformats.org/drawingml/2006/main" noGrp="1"/>
          </p:cNvSpPr>
          <p:nvPr/>
        </p:nvSpPr>
        <p:spPr>
          <a:xfrm xmlns:a="http://schemas.openxmlformats.org/drawingml/2006/main">
            <a:off x="12163425"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5" name="s16-t000">
            <a:extLst xmlns:a="http://schemas.openxmlformats.org/drawingml/2006/main">
              <a:ext uri="{FF2B5EF4-FFF2-40B4-BE49-F238E27FC236}">
                <a16:creationId xmlns:a16="http://schemas.microsoft.com/office/drawing/2014/main" id="{B4A81A28-0BB9-4E23-B304-73EBA874FE49}"/>
              </a:ext>
            </a:extLst>
          </p:cNvPr>
          <p:cNvSpPr>
            <a:spLocks xmlns:a="http://schemas.openxmlformats.org/drawingml/2006/main" noGrp="1"/>
          </p:cNvSpPr>
          <p:nvPr/>
        </p:nvSpPr>
        <p:spPr>
          <a:xfrm xmlns:a="http://schemas.openxmlformats.org/drawingml/2006/main">
            <a:off x="990600" y="800105"/>
            <a:ext cx="3219231"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1" kern="400000">
                <a:solidFill>
                  <a:srgbClr val="FAF6F0"/>
                </a:solidFill>
                <a:latin typeface="Deck-Medium"/>
                <a:ea typeface="Deck-Medium"/>
                <a:cs typeface="Deck-Medium"/>
              </a:defRPr>
            </a:pPr>
            <a:r>
              <a:rPr sz="1725" b="0" i="0" kern="400000" spc="291">
                <a:solidFill>
                  <a:srgbClr val="BBBAB6">
                    <a:alpha val="100000"/>
                  </a:srgbClr>
                </a:solidFill>
                <a:latin typeface="Deck-Medium"/>
                <a:ea typeface="Deck-Medium"/>
                <a:cs typeface="Deck-Medium"/>
              </a:rPr>
              <a:t xml:space="preserve">TEAM ARCHITECTURE</a:t>
            </a:r>
            <a:endParaRPr lang="en-US" sz="1725" spc="291" kern="400000">
              <a:latin typeface="Deck-Medium"/>
            </a:endParaRPr>
          </a:p>
        </p:txBody>
      </p:sp>
      <p:sp>
        <p:nvSpPr>
          <p:cNvPr id="6" name="s16-t001">
            <a:extLst xmlns:a="http://schemas.openxmlformats.org/drawingml/2006/main">
              <a:ext uri="{FF2B5EF4-FFF2-40B4-BE49-F238E27FC236}">
                <a16:creationId xmlns:a16="http://schemas.microsoft.com/office/drawing/2014/main" id="{9DCFBEF4-98B0-4225-96D1-726C1D90A38F}"/>
              </a:ext>
            </a:extLst>
          </p:cNvPr>
          <p:cNvSpPr>
            <a:spLocks xmlns:a="http://schemas.openxmlformats.org/drawingml/2006/main" noGrp="1"/>
          </p:cNvSpPr>
          <p:nvPr/>
        </p:nvSpPr>
        <p:spPr>
          <a:xfrm xmlns:a="http://schemas.openxmlformats.org/drawingml/2006/main">
            <a:off x="962025" y="1334987"/>
            <a:ext cx="5424164" cy="1241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950" spc="-384" kern="400000">
                <a:solidFill>
                  <a:srgbClr val="FAF6F0"/>
                </a:solidFill>
                <a:latin typeface="Deck-Semi-Bold"/>
                <a:ea typeface="Deck-Semi-Bold"/>
                <a:cs typeface="Deck-Semi-Bold"/>
              </a:defRPr>
            </a:pPr>
            <a:r>
              <a:rPr sz="7950" b="0" i="0" kern="400000" spc="-384">
                <a:solidFill>
                  <a:srgbClr val="FAF6F0">
                    <a:alpha val="100000"/>
                  </a:srgbClr>
                </a:solidFill>
                <a:latin typeface="Deck-Semi-Bold"/>
                <a:ea typeface="Deck-Semi-Bold"/>
                <a:cs typeface="Deck-Semi-Bold"/>
              </a:rPr>
              <a:t xml:space="preserve">Built around</a:t>
            </a:r>
            <a:endParaRPr lang="en-US" sz="7950" spc="-384" kern="400000">
              <a:latin typeface="Deck-Semi-Bold"/>
            </a:endParaRPr>
          </a:p>
        </p:txBody>
      </p:sp>
      <p:sp>
        <p:nvSpPr>
          <p:cNvPr id="7" name="s16-t002">
            <a:extLst xmlns:a="http://schemas.openxmlformats.org/drawingml/2006/main">
              <a:ext uri="{FF2B5EF4-FFF2-40B4-BE49-F238E27FC236}">
                <a16:creationId xmlns:a16="http://schemas.microsoft.com/office/drawing/2014/main" id="{E55438FD-E819-4A4E-8EB9-8E5DF46013A9}"/>
              </a:ext>
            </a:extLst>
          </p:cNvPr>
          <p:cNvSpPr>
            <a:spLocks xmlns:a="http://schemas.openxmlformats.org/drawingml/2006/main" noGrp="1"/>
          </p:cNvSpPr>
          <p:nvPr/>
        </p:nvSpPr>
        <p:spPr>
          <a:xfrm xmlns:a="http://schemas.openxmlformats.org/drawingml/2006/main">
            <a:off x="962025" y="2390071"/>
            <a:ext cx="3932187" cy="1241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950" spc="-518" kern="400000">
                <a:solidFill>
                  <a:srgbClr val="9BDAB6"/>
                </a:solidFill>
                <a:latin typeface="Deck-Semi-Bold"/>
                <a:ea typeface="Deck-Semi-Bold"/>
                <a:cs typeface="Deck-Semi-Bold"/>
              </a:defRPr>
            </a:pPr>
            <a:r>
              <a:rPr sz="7950" b="0" i="0" kern="400000" spc="-518">
                <a:solidFill>
                  <a:srgbClr val="9BDAB6">
                    <a:alpha val="100000"/>
                  </a:srgbClr>
                </a:solidFill>
                <a:latin typeface="Deck-Semi-Bold"/>
                <a:ea typeface="Deck-Semi-Bold"/>
                <a:cs typeface="Deck-Semi-Bold"/>
              </a:rPr>
              <a:t xml:space="preserve">Tencent.</a:t>
            </a:r>
            <a:endParaRPr lang="en-US" sz="7950" spc="-518" kern="400000">
              <a:latin typeface="Deck-Semi-Bold"/>
            </a:endParaRPr>
          </a:p>
        </p:txBody>
      </p:sp>
      <p:sp>
        <p:nvSpPr>
          <p:cNvPr id="8" name="s16-t003">
            <a:extLst xmlns:a="http://schemas.openxmlformats.org/drawingml/2006/main">
              <a:ext uri="{FF2B5EF4-FFF2-40B4-BE49-F238E27FC236}">
                <a16:creationId xmlns:a16="http://schemas.microsoft.com/office/drawing/2014/main" id="{ADACEBA6-6EC0-45DA-958A-CC59F39DFB4C}"/>
              </a:ext>
            </a:extLst>
          </p:cNvPr>
          <p:cNvSpPr>
            <a:spLocks xmlns:a="http://schemas.openxmlformats.org/drawingml/2006/main" noGrp="1"/>
          </p:cNvSpPr>
          <p:nvPr/>
        </p:nvSpPr>
        <p:spPr>
          <a:xfrm xmlns:a="http://schemas.openxmlformats.org/drawingml/2006/main">
            <a:off x="1019175" y="4949411"/>
            <a:ext cx="1614792" cy="222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425" spc="150" kern="400000">
                <a:solidFill>
                  <a:srgbClr val="8FA697"/>
                </a:solidFill>
                <a:latin typeface="Deck"/>
                <a:ea typeface="Deck"/>
                <a:cs typeface="Deck"/>
              </a:defRPr>
            </a:pPr>
            <a:r>
              <a:rPr sz="1425" b="0" i="0" kern="400000" spc="150">
                <a:solidFill>
                  <a:srgbClr val="8FA697">
                    <a:alpha val="100000"/>
                  </a:srgbClr>
                </a:solidFill>
                <a:latin typeface="Deck"/>
                <a:ea typeface="Deck"/>
                <a:cs typeface="Deck"/>
              </a:rPr>
              <a:t xml:space="preserve">USER DEVICE</a:t>
            </a:r>
            <a:endParaRPr lang="en-US" sz="1425" spc="150" kern="400000">
              <a:latin typeface="Deck"/>
            </a:endParaRPr>
          </a:p>
        </p:txBody>
      </p:sp>
      <p:sp>
        <p:nvSpPr>
          <p:cNvPr id="9" name="s16-t004">
            <a:extLst xmlns:a="http://schemas.openxmlformats.org/drawingml/2006/main">
              <a:ext uri="{FF2B5EF4-FFF2-40B4-BE49-F238E27FC236}">
                <a16:creationId xmlns:a16="http://schemas.microsoft.com/office/drawing/2014/main" id="{532EBDAB-4FB1-4523-827D-3C64B355C776}"/>
              </a:ext>
            </a:extLst>
          </p:cNvPr>
          <p:cNvSpPr>
            <a:spLocks xmlns:a="http://schemas.openxmlformats.org/drawingml/2006/main" noGrp="1"/>
          </p:cNvSpPr>
          <p:nvPr/>
        </p:nvSpPr>
        <p:spPr>
          <a:xfrm xmlns:a="http://schemas.openxmlformats.org/drawingml/2006/main">
            <a:off x="1019175" y="5357245"/>
            <a:ext cx="2287953" cy="5037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225" spc="-99" kern="400000">
                <a:solidFill>
                  <a:srgbClr val="FAF6F0"/>
                </a:solidFill>
                <a:latin typeface="Deck-Bold"/>
                <a:ea typeface="Deck-Bold"/>
                <a:cs typeface="Deck-Bold"/>
              </a:defRPr>
            </a:pPr>
            <a:r>
              <a:rPr sz="3225" b="0" i="0" kern="400000" spc="-99">
                <a:solidFill>
                  <a:srgbClr val="FAF6F0">
                    <a:alpha val="100000"/>
                  </a:srgbClr>
                </a:solidFill>
                <a:latin typeface="Deck-Bold"/>
                <a:ea typeface="Deck-Bold"/>
                <a:cs typeface="Deck-Bold"/>
              </a:rPr>
              <a:t xml:space="preserve">CareBuddy</a:t>
            </a:r>
            <a:endParaRPr lang="en-US" sz="3225" spc="-99" kern="400000">
              <a:latin typeface="Deck-Bold"/>
            </a:endParaRPr>
          </a:p>
        </p:txBody>
      </p:sp>
      <p:sp>
        <p:nvSpPr>
          <p:cNvPr id="10" name="s16-t005">
            <a:extLst xmlns:a="http://schemas.openxmlformats.org/drawingml/2006/main">
              <a:ext uri="{FF2B5EF4-FFF2-40B4-BE49-F238E27FC236}">
                <a16:creationId xmlns:a16="http://schemas.microsoft.com/office/drawing/2014/main" id="{72EA4464-FE30-413D-B25C-5392811AE4E9}"/>
              </a:ext>
            </a:extLst>
          </p:cNvPr>
          <p:cNvSpPr>
            <a:spLocks xmlns:a="http://schemas.openxmlformats.org/drawingml/2006/main" noGrp="1"/>
          </p:cNvSpPr>
          <p:nvPr/>
        </p:nvSpPr>
        <p:spPr>
          <a:xfrm xmlns:a="http://schemas.openxmlformats.org/drawingml/2006/main">
            <a:off x="1019175" y="6043398"/>
            <a:ext cx="3428524"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4" kern="400000">
                <a:solidFill>
                  <a:srgbClr val="A9BAAF"/>
                </a:solidFill>
                <a:latin typeface="Deck"/>
                <a:ea typeface="Deck"/>
                <a:cs typeface="Deck"/>
              </a:defRPr>
            </a:pPr>
            <a:r>
              <a:rPr sz="1875" b="0" i="0" kern="400000" spc="-4">
                <a:solidFill>
                  <a:srgbClr val="A9BAAF">
                    <a:alpha val="100000"/>
                  </a:srgbClr>
                </a:solidFill>
                <a:latin typeface="Deck"/>
                <a:ea typeface="Deck"/>
                <a:cs typeface="Deck"/>
              </a:rPr>
              <a:t xml:space="preserve">Care circle · Routines · Health</a:t>
            </a:r>
            <a:endParaRPr lang="en-US" sz="1875" spc="-4" kern="400000">
              <a:latin typeface="Deck"/>
            </a:endParaRPr>
          </a:p>
        </p:txBody>
      </p:sp>
      <p:sp>
        <p:nvSpPr>
          <p:cNvPr id="11" name="s16-t006">
            <a:extLst xmlns:a="http://schemas.openxmlformats.org/drawingml/2006/main">
              <a:ext uri="{FF2B5EF4-FFF2-40B4-BE49-F238E27FC236}">
                <a16:creationId xmlns:a16="http://schemas.microsoft.com/office/drawing/2014/main" id="{78A4AD27-A54E-4365-A62D-B5B9BD6A7C93}"/>
              </a:ext>
            </a:extLst>
          </p:cNvPr>
          <p:cNvSpPr>
            <a:spLocks xmlns:a="http://schemas.openxmlformats.org/drawingml/2006/main" noGrp="1"/>
          </p:cNvSpPr>
          <p:nvPr/>
        </p:nvSpPr>
        <p:spPr>
          <a:xfrm xmlns:a="http://schemas.openxmlformats.org/drawingml/2006/main">
            <a:off x="1019175" y="6395823"/>
            <a:ext cx="843201"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3" kern="400000">
                <a:solidFill>
                  <a:srgbClr val="A9BAAF"/>
                </a:solidFill>
                <a:latin typeface="Deck"/>
                <a:ea typeface="Deck"/>
                <a:cs typeface="Deck"/>
              </a:defRPr>
            </a:pPr>
            <a:r>
              <a:rPr sz="1875" b="0" i="0" kern="400000" spc="-3">
                <a:solidFill>
                  <a:srgbClr val="A9BAAF">
                    <a:alpha val="100000"/>
                  </a:srgbClr>
                </a:solidFill>
                <a:latin typeface="Deck"/>
                <a:ea typeface="Deck"/>
                <a:cs typeface="Deck"/>
              </a:rPr>
              <a:t xml:space="preserve">views</a:t>
            </a:r>
            <a:endParaRPr lang="en-US" sz="1875" spc="-3" kern="400000">
              <a:latin typeface="Deck"/>
            </a:endParaRPr>
          </a:p>
        </p:txBody>
      </p:sp>
      <p:sp>
        <p:nvSpPr>
          <p:cNvPr id="12" name="s16-t007">
            <a:extLst xmlns:a="http://schemas.openxmlformats.org/drawingml/2006/main">
              <a:ext uri="{FF2B5EF4-FFF2-40B4-BE49-F238E27FC236}">
                <a16:creationId xmlns:a16="http://schemas.microsoft.com/office/drawing/2014/main" id="{C6E0B514-B48F-44F5-8DE4-6C53316E9AE1}"/>
              </a:ext>
            </a:extLst>
          </p:cNvPr>
          <p:cNvSpPr>
            <a:spLocks xmlns:a="http://schemas.openxmlformats.org/drawingml/2006/main" noGrp="1"/>
          </p:cNvSpPr>
          <p:nvPr/>
        </p:nvSpPr>
        <p:spPr>
          <a:xfrm xmlns:a="http://schemas.openxmlformats.org/drawingml/2006/main">
            <a:off x="4876800" y="5485165"/>
            <a:ext cx="726767" cy="7146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4575" spc="0" kern="400000">
                <a:solidFill>
                  <a:srgbClr val="9BDAB6"/>
                </a:solidFill>
                <a:latin typeface="Deck"/>
                <a:ea typeface="Deck"/>
                <a:cs typeface="Deck"/>
              </a:defRPr>
            </a:pPr>
            <a:r>
              <a:rPr sz="4575" b="0" i="0" kern="400000" spc="0">
                <a:solidFill>
                  <a:srgbClr val="9BDAB6">
                    <a:alpha val="100000"/>
                  </a:srgbClr>
                </a:solidFill>
                <a:latin typeface="Deck"/>
                <a:ea typeface="Deck"/>
                <a:cs typeface="Deck"/>
              </a:rPr>
              <a:t xml:space="preserve">→</a:t>
            </a:r>
            <a:endParaRPr lang="en-US" sz="4575" spc="0" kern="400000">
              <a:latin typeface="Deck"/>
            </a:endParaRPr>
          </a:p>
        </p:txBody>
      </p:sp>
      <p:sp>
        <p:nvSpPr>
          <p:cNvPr id="13" name="s16-t008">
            <a:extLst xmlns:a="http://schemas.openxmlformats.org/drawingml/2006/main">
              <a:ext uri="{FF2B5EF4-FFF2-40B4-BE49-F238E27FC236}">
                <a16:creationId xmlns:a16="http://schemas.microsoft.com/office/drawing/2014/main" id="{0E17BAF0-8FC0-4A2B-8B1F-C3EF6817B430}"/>
              </a:ext>
            </a:extLst>
          </p:cNvPr>
          <p:cNvSpPr>
            <a:spLocks xmlns:a="http://schemas.openxmlformats.org/drawingml/2006/main" noGrp="1"/>
          </p:cNvSpPr>
          <p:nvPr/>
        </p:nvSpPr>
        <p:spPr>
          <a:xfrm xmlns:a="http://schemas.openxmlformats.org/drawingml/2006/main">
            <a:off x="6189352" y="4710110"/>
            <a:ext cx="5668137" cy="210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142" kern="400000">
                <a:solidFill>
                  <a:srgbClr val="9BDAB6"/>
                </a:solidFill>
                <a:latin typeface="Deck"/>
                <a:ea typeface="Deck"/>
                <a:cs typeface="Deck"/>
              </a:defRPr>
            </a:pPr>
            <a:r>
              <a:rPr sz="1350" b="0" i="0" kern="400000" spc="142">
                <a:solidFill>
                  <a:srgbClr val="9BDAB6">
                    <a:alpha val="100000"/>
                  </a:srgbClr>
                </a:solidFill>
                <a:latin typeface="Deck"/>
                <a:ea typeface="Deck"/>
                <a:cs typeface="Deck"/>
              </a:rPr>
              <a:t xml:space="preserve">TENCENT CLOUD · INTENDED APPLICATION BOUNDARY</a:t>
            </a:r>
            <a:endParaRPr lang="en-US" sz="1350" spc="142" kern="400000">
              <a:latin typeface="Deck"/>
            </a:endParaRPr>
          </a:p>
        </p:txBody>
      </p:sp>
      <p:sp>
        <p:nvSpPr>
          <p:cNvPr id="14" name="s16-t009">
            <a:extLst xmlns:a="http://schemas.openxmlformats.org/drawingml/2006/main">
              <a:ext uri="{FF2B5EF4-FFF2-40B4-BE49-F238E27FC236}">
                <a16:creationId xmlns:a16="http://schemas.microsoft.com/office/drawing/2014/main" id="{97D40EAE-8425-4D92-8373-C4A6D5E072A5}"/>
              </a:ext>
            </a:extLst>
          </p:cNvPr>
          <p:cNvSpPr>
            <a:spLocks xmlns:a="http://schemas.openxmlformats.org/drawingml/2006/main" noGrp="1"/>
          </p:cNvSpPr>
          <p:nvPr/>
        </p:nvSpPr>
        <p:spPr>
          <a:xfrm xmlns:a="http://schemas.openxmlformats.org/drawingml/2006/main">
            <a:off x="6189352" y="5249194"/>
            <a:ext cx="3150413" cy="410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625" spc="-96" kern="400000">
                <a:solidFill>
                  <a:srgbClr val="FAF6F0"/>
                </a:solidFill>
                <a:latin typeface="Deck-Bold"/>
                <a:ea typeface="Deck-Bold"/>
                <a:cs typeface="Deck-Bold"/>
              </a:defRPr>
            </a:pPr>
            <a:r>
              <a:rPr sz="2625" b="0" i="0" kern="400000" spc="-96">
                <a:solidFill>
                  <a:srgbClr val="FAF6F0">
                    <a:alpha val="100000"/>
                  </a:srgbClr>
                </a:solidFill>
                <a:latin typeface="Deck-Bold"/>
                <a:ea typeface="Deck-Bold"/>
                <a:cs typeface="Deck-Bold"/>
              </a:rPr>
              <a:t xml:space="preserve">CareBuddy services</a:t>
            </a:r>
            <a:endParaRPr lang="en-US" sz="2625" spc="-96" kern="400000">
              <a:latin typeface="Deck-Bold"/>
            </a:endParaRPr>
          </a:p>
        </p:txBody>
      </p:sp>
      <p:sp>
        <p:nvSpPr>
          <p:cNvPr id="15" name="s16-t010">
            <a:extLst xmlns:a="http://schemas.openxmlformats.org/drawingml/2006/main">
              <a:ext uri="{FF2B5EF4-FFF2-40B4-BE49-F238E27FC236}">
                <a16:creationId xmlns:a16="http://schemas.microsoft.com/office/drawing/2014/main" id="{60DADFBB-DE33-4EF3-B840-4D7A52F6E4DC}"/>
              </a:ext>
            </a:extLst>
          </p:cNvPr>
          <p:cNvSpPr>
            <a:spLocks xmlns:a="http://schemas.openxmlformats.org/drawingml/2006/main" noGrp="1"/>
          </p:cNvSpPr>
          <p:nvPr/>
        </p:nvSpPr>
        <p:spPr>
          <a:xfrm xmlns:a="http://schemas.openxmlformats.org/drawingml/2006/main">
            <a:off x="6189352" y="5804700"/>
            <a:ext cx="2428342"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14" kern="400000">
                <a:solidFill>
                  <a:srgbClr val="B8C7BD"/>
                </a:solidFill>
                <a:latin typeface="Deck"/>
                <a:ea typeface="Deck"/>
                <a:cs typeface="Deck"/>
              </a:defRPr>
            </a:pPr>
            <a:r>
              <a:rPr sz="1800" b="0" i="0" kern="400000" spc="-14">
                <a:solidFill>
                  <a:srgbClr val="B8C7BD">
                    <a:alpha val="100000"/>
                  </a:srgbClr>
                </a:solidFill>
                <a:latin typeface="Deck"/>
                <a:ea typeface="Deck"/>
                <a:cs typeface="Deck"/>
              </a:rPr>
              <a:t xml:space="preserve">Identity, care records</a:t>
            </a:r>
            <a:endParaRPr lang="en-US" sz="1800" spc="-14" kern="400000">
              <a:latin typeface="Deck"/>
            </a:endParaRPr>
          </a:p>
        </p:txBody>
      </p:sp>
      <p:sp>
        <p:nvSpPr>
          <p:cNvPr id="16" name="s16-t011">
            <a:extLst xmlns:a="http://schemas.openxmlformats.org/drawingml/2006/main">
              <a:ext uri="{FF2B5EF4-FFF2-40B4-BE49-F238E27FC236}">
                <a16:creationId xmlns:a16="http://schemas.microsoft.com/office/drawing/2014/main" id="{E7F2DE51-77BF-4CB5-8C81-182628D0E82D}"/>
              </a:ext>
            </a:extLst>
          </p:cNvPr>
          <p:cNvSpPr>
            <a:spLocks xmlns:a="http://schemas.openxmlformats.org/drawingml/2006/main" noGrp="1"/>
          </p:cNvSpPr>
          <p:nvPr/>
        </p:nvSpPr>
        <p:spPr>
          <a:xfrm xmlns:a="http://schemas.openxmlformats.org/drawingml/2006/main">
            <a:off x="6189352" y="6143028"/>
            <a:ext cx="2416226"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1" kern="400000">
                <a:solidFill>
                  <a:srgbClr val="B8C7BD"/>
                </a:solidFill>
                <a:latin typeface="Deck"/>
                <a:ea typeface="Deck"/>
                <a:cs typeface="Deck"/>
              </a:defRPr>
            </a:pPr>
            <a:r>
              <a:rPr sz="1800" b="0" i="0" kern="400000" spc="-1">
                <a:solidFill>
                  <a:srgbClr val="B8C7BD">
                    <a:alpha val="100000"/>
                  </a:srgbClr>
                </a:solidFill>
                <a:latin typeface="Deck"/>
                <a:ea typeface="Deck"/>
                <a:cs typeface="Deck"/>
              </a:rPr>
              <a:t xml:space="preserve">and action validation</a:t>
            </a:r>
            <a:endParaRPr lang="en-US" sz="1800" spc="-1" kern="400000">
              <a:latin typeface="Deck"/>
            </a:endParaRPr>
          </a:p>
        </p:txBody>
      </p:sp>
      <p:sp>
        <p:nvSpPr>
          <p:cNvPr id="17" name="s16-t012">
            <a:extLst xmlns:a="http://schemas.openxmlformats.org/drawingml/2006/main">
              <a:ext uri="{FF2B5EF4-FFF2-40B4-BE49-F238E27FC236}">
                <a16:creationId xmlns:a16="http://schemas.microsoft.com/office/drawing/2014/main" id="{6F35B3C2-100A-4813-8D31-46C7C1011D0A}"/>
              </a:ext>
            </a:extLst>
          </p:cNvPr>
          <p:cNvSpPr>
            <a:spLocks xmlns:a="http://schemas.openxmlformats.org/drawingml/2006/main" noGrp="1"/>
          </p:cNvSpPr>
          <p:nvPr/>
        </p:nvSpPr>
        <p:spPr>
          <a:xfrm xmlns:a="http://schemas.openxmlformats.org/drawingml/2006/main">
            <a:off x="11106503" y="5781276"/>
            <a:ext cx="614620"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0" kern="400000">
                <a:solidFill>
                  <a:srgbClr val="9BDAB6"/>
                </a:solidFill>
                <a:latin typeface="Deck"/>
                <a:ea typeface="Deck"/>
                <a:cs typeface="Deck"/>
              </a:defRPr>
            </a:pPr>
            <a:r>
              <a:rPr sz="3525" b="0" i="0" kern="400000" spc="0">
                <a:solidFill>
                  <a:srgbClr val="9BDAB6">
                    <a:alpha val="100000"/>
                  </a:srgbClr>
                </a:solidFill>
                <a:latin typeface="Deck"/>
                <a:ea typeface="Deck"/>
                <a:cs typeface="Deck"/>
              </a:rPr>
              <a:t xml:space="preserve">→</a:t>
            </a:r>
            <a:endParaRPr lang="en-US" sz="3525" spc="0" kern="400000">
              <a:latin typeface="Deck"/>
            </a:endParaRPr>
          </a:p>
        </p:txBody>
      </p:sp>
      <p:sp>
        <p:nvSpPr>
          <p:cNvPr id="18" name="s16-t013">
            <a:extLst xmlns:a="http://schemas.openxmlformats.org/drawingml/2006/main">
              <a:ext uri="{FF2B5EF4-FFF2-40B4-BE49-F238E27FC236}">
                <a16:creationId xmlns:a16="http://schemas.microsoft.com/office/drawing/2014/main" id="{45F539DE-8365-4A02-9EF6-5DA68FC8E06F}"/>
              </a:ext>
            </a:extLst>
          </p:cNvPr>
          <p:cNvSpPr>
            <a:spLocks xmlns:a="http://schemas.openxmlformats.org/drawingml/2006/main" noGrp="1"/>
          </p:cNvSpPr>
          <p:nvPr/>
        </p:nvSpPr>
        <p:spPr>
          <a:xfrm xmlns:a="http://schemas.openxmlformats.org/drawingml/2006/main">
            <a:off x="11949726" y="5249194"/>
            <a:ext cx="2953083" cy="410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625" spc="-147" kern="400000">
                <a:solidFill>
                  <a:srgbClr val="FAF6F0"/>
                </a:solidFill>
                <a:latin typeface="Deck-Bold"/>
                <a:ea typeface="Deck-Bold"/>
                <a:cs typeface="Deck-Bold"/>
              </a:defRPr>
            </a:pPr>
            <a:r>
              <a:rPr sz="2625" b="0" i="0" kern="400000" spc="-147">
                <a:solidFill>
                  <a:srgbClr val="FAF6F0">
                    <a:alpha val="100000"/>
                  </a:srgbClr>
                </a:solidFill>
                <a:latin typeface="Deck-Bold"/>
                <a:ea typeface="Deck-Bold"/>
                <a:cs typeface="Deck-Bold"/>
              </a:rPr>
              <a:t xml:space="preserve">Tencent TokenHub</a:t>
            </a:r>
            <a:endParaRPr lang="en-US" sz="2625" spc="-147" kern="400000">
              <a:latin typeface="Deck-Bold"/>
            </a:endParaRPr>
          </a:p>
        </p:txBody>
      </p:sp>
      <p:sp>
        <p:nvSpPr>
          <p:cNvPr id="19" name="s16-t014">
            <a:extLst xmlns:a="http://schemas.openxmlformats.org/drawingml/2006/main">
              <a:ext uri="{FF2B5EF4-FFF2-40B4-BE49-F238E27FC236}">
                <a16:creationId xmlns:a16="http://schemas.microsoft.com/office/drawing/2014/main" id="{D02F9E11-1014-49CA-9D75-86257E9F0DBF}"/>
              </a:ext>
            </a:extLst>
          </p:cNvPr>
          <p:cNvSpPr>
            <a:spLocks xmlns:a="http://schemas.openxmlformats.org/drawingml/2006/main" noGrp="1"/>
          </p:cNvSpPr>
          <p:nvPr/>
        </p:nvSpPr>
        <p:spPr>
          <a:xfrm xmlns:a="http://schemas.openxmlformats.org/drawingml/2006/main">
            <a:off x="11949726" y="5804700"/>
            <a:ext cx="1921993"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6" kern="400000">
                <a:solidFill>
                  <a:srgbClr val="B8C7BD"/>
                </a:solidFill>
                <a:latin typeface="Deck"/>
                <a:ea typeface="Deck"/>
                <a:cs typeface="Deck"/>
              </a:defRPr>
            </a:pPr>
            <a:r>
              <a:rPr sz="1800" b="0" i="0" kern="400000" spc="-6">
                <a:solidFill>
                  <a:srgbClr val="B8C7BD">
                    <a:alpha val="100000"/>
                  </a:srgbClr>
                </a:solidFill>
                <a:latin typeface="Deck"/>
                <a:ea typeface="Deck"/>
                <a:cs typeface="Deck"/>
              </a:rPr>
              <a:t xml:space="preserve">Model inference</a:t>
            </a:r>
            <a:endParaRPr lang="en-US" sz="1800" spc="-6" kern="400000">
              <a:latin typeface="Deck"/>
            </a:endParaRPr>
          </a:p>
        </p:txBody>
      </p:sp>
      <p:sp>
        <p:nvSpPr>
          <p:cNvPr id="20" name="s16-t015">
            <a:extLst xmlns:a="http://schemas.openxmlformats.org/drawingml/2006/main">
              <a:ext uri="{FF2B5EF4-FFF2-40B4-BE49-F238E27FC236}">
                <a16:creationId xmlns:a16="http://schemas.microsoft.com/office/drawing/2014/main" id="{A58A99A3-4781-4EC0-AD4D-605C226721C9}"/>
              </a:ext>
            </a:extLst>
          </p:cNvPr>
          <p:cNvSpPr>
            <a:spLocks xmlns:a="http://schemas.openxmlformats.org/drawingml/2006/main" noGrp="1"/>
          </p:cNvSpPr>
          <p:nvPr/>
        </p:nvSpPr>
        <p:spPr>
          <a:xfrm xmlns:a="http://schemas.openxmlformats.org/drawingml/2006/main">
            <a:off x="11949726" y="6143028"/>
            <a:ext cx="125836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8" kern="400000">
                <a:solidFill>
                  <a:srgbClr val="B8C7BD"/>
                </a:solidFill>
                <a:latin typeface="Deck"/>
                <a:ea typeface="Deck"/>
                <a:cs typeface="Deck"/>
              </a:defRPr>
            </a:pPr>
            <a:r>
              <a:rPr sz="1800" b="0" i="0" kern="400000" spc="-8">
                <a:solidFill>
                  <a:srgbClr val="B8C7BD">
                    <a:alpha val="100000"/>
                  </a:srgbClr>
                </a:solidFill>
                <a:latin typeface="Deck"/>
                <a:ea typeface="Deck"/>
                <a:cs typeface="Deck"/>
              </a:rPr>
              <a:t xml:space="preserve">for Buddy</a:t>
            </a:r>
            <a:endParaRPr lang="en-US" sz="1800" spc="-8" kern="400000">
              <a:latin typeface="Deck"/>
            </a:endParaRPr>
          </a:p>
        </p:txBody>
      </p:sp>
      <p:sp>
        <p:nvSpPr>
          <p:cNvPr id="21" name="s16-t016">
            <a:extLst xmlns:a="http://schemas.openxmlformats.org/drawingml/2006/main">
              <a:ext uri="{FF2B5EF4-FFF2-40B4-BE49-F238E27FC236}">
                <a16:creationId xmlns:a16="http://schemas.microsoft.com/office/drawing/2014/main" id="{ADA98C3B-8274-45CC-AC35-C5F194737D4F}"/>
              </a:ext>
            </a:extLst>
          </p:cNvPr>
          <p:cNvSpPr>
            <a:spLocks xmlns:a="http://schemas.openxmlformats.org/drawingml/2006/main" noGrp="1"/>
          </p:cNvSpPr>
          <p:nvPr/>
        </p:nvSpPr>
        <p:spPr>
          <a:xfrm xmlns:a="http://schemas.openxmlformats.org/drawingml/2006/main">
            <a:off x="1019175" y="8220076"/>
            <a:ext cx="2799074"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2" kern="400000">
                <a:solidFill>
                  <a:srgbClr val="FAF6F0"/>
                </a:solidFill>
                <a:latin typeface="Deck-Medium"/>
                <a:ea typeface="Deck-Medium"/>
                <a:cs typeface="Deck-Medium"/>
              </a:defRPr>
            </a:pPr>
            <a:r>
              <a:rPr sz="2025" b="0" i="0" kern="400000" spc="-2">
                <a:solidFill>
                  <a:srgbClr val="FAF6F0">
                    <a:alpha val="100000"/>
                  </a:srgbClr>
                </a:solidFill>
                <a:latin typeface="Deck-Medium"/>
                <a:ea typeface="Deck-Medium"/>
                <a:cs typeface="Deck-Medium"/>
              </a:rPr>
              <a:t xml:space="preserve">Built with CodeBuddy</a:t>
            </a:r>
            <a:endParaRPr lang="en-US" sz="2025" spc="-2" kern="400000">
              <a:latin typeface="Deck-Medium"/>
            </a:endParaRPr>
          </a:p>
        </p:txBody>
      </p:sp>
      <p:sp>
        <p:nvSpPr>
          <p:cNvPr id="22" name="s16-t017">
            <a:extLst xmlns:a="http://schemas.openxmlformats.org/drawingml/2006/main">
              <a:ext uri="{FF2B5EF4-FFF2-40B4-BE49-F238E27FC236}">
                <a16:creationId xmlns:a16="http://schemas.microsoft.com/office/drawing/2014/main" id="{5098B34F-E52C-414E-B460-ADD2225E4A66}"/>
              </a:ext>
            </a:extLst>
          </p:cNvPr>
          <p:cNvSpPr>
            <a:spLocks xmlns:a="http://schemas.openxmlformats.org/drawingml/2006/main" noGrp="1"/>
          </p:cNvSpPr>
          <p:nvPr/>
        </p:nvSpPr>
        <p:spPr>
          <a:xfrm xmlns:a="http://schemas.openxmlformats.org/drawingml/2006/main">
            <a:off x="1019175" y="8612612"/>
            <a:ext cx="244741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0" kern="400000">
                <a:solidFill>
                  <a:srgbClr val="9EB0A4"/>
                </a:solidFill>
                <a:latin typeface="Deck"/>
                <a:ea typeface="Deck"/>
                <a:cs typeface="Deck"/>
              </a:defRPr>
            </a:pPr>
            <a:r>
              <a:rPr sz="1650" b="0" i="0" kern="400000" spc="0">
                <a:solidFill>
                  <a:srgbClr val="9EB0A4">
                    <a:alpha val="100000"/>
                  </a:srgbClr>
                </a:solidFill>
                <a:latin typeface="Deck"/>
                <a:ea typeface="Deck"/>
                <a:cs typeface="Deck"/>
              </a:rPr>
              <a:t xml:space="preserve">Development workflow</a:t>
            </a:r>
            <a:endParaRPr lang="en-US" sz="1650" spc="0" kern="400000">
              <a:latin typeface="Deck"/>
            </a:endParaRPr>
          </a:p>
        </p:txBody>
      </p:sp>
      <p:sp>
        <p:nvSpPr>
          <p:cNvPr id="23" name="s16-t018">
            <a:extLst xmlns:a="http://schemas.openxmlformats.org/drawingml/2006/main">
              <a:ext uri="{FF2B5EF4-FFF2-40B4-BE49-F238E27FC236}">
                <a16:creationId xmlns:a16="http://schemas.microsoft.com/office/drawing/2014/main" id="{7FD7A3A2-674C-4350-B933-52797AE44420}"/>
              </a:ext>
            </a:extLst>
          </p:cNvPr>
          <p:cNvSpPr>
            <a:spLocks xmlns:a="http://schemas.openxmlformats.org/drawingml/2006/main" noGrp="1"/>
          </p:cNvSpPr>
          <p:nvPr/>
        </p:nvSpPr>
        <p:spPr>
          <a:xfrm xmlns:a="http://schemas.openxmlformats.org/drawingml/2006/main">
            <a:off x="6591300" y="8220076"/>
            <a:ext cx="3118742"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9" kern="400000">
                <a:solidFill>
                  <a:srgbClr val="FAF6F0"/>
                </a:solidFill>
                <a:latin typeface="Deck-Medium"/>
                <a:ea typeface="Deck-Medium"/>
                <a:cs typeface="Deck-Medium"/>
              </a:defRPr>
            </a:pPr>
            <a:r>
              <a:rPr sz="2025" b="0" i="0" kern="400000" spc="-9">
                <a:solidFill>
                  <a:srgbClr val="FAF6F0">
                    <a:alpha val="100000"/>
                  </a:srgbClr>
                </a:solidFill>
                <a:latin typeface="Deck-Medium"/>
                <a:ea typeface="Deck-Medium"/>
                <a:cs typeface="Deck-Medium"/>
              </a:rPr>
              <a:t xml:space="preserve">Review before execution</a:t>
            </a:r>
            <a:endParaRPr lang="en-US" sz="2025" spc="-9" kern="400000">
              <a:latin typeface="Deck-Medium"/>
            </a:endParaRPr>
          </a:p>
        </p:txBody>
      </p:sp>
      <p:sp>
        <p:nvSpPr>
          <p:cNvPr id="24" name="s16-t019">
            <a:extLst xmlns:a="http://schemas.openxmlformats.org/drawingml/2006/main">
              <a:ext uri="{FF2B5EF4-FFF2-40B4-BE49-F238E27FC236}">
                <a16:creationId xmlns:a16="http://schemas.microsoft.com/office/drawing/2014/main" id="{ECEDE7B1-5A5E-4FF6-ACA9-D16F7E3E37F2}"/>
              </a:ext>
            </a:extLst>
          </p:cNvPr>
          <p:cNvSpPr>
            <a:spLocks xmlns:a="http://schemas.openxmlformats.org/drawingml/2006/main" noGrp="1"/>
          </p:cNvSpPr>
          <p:nvPr/>
        </p:nvSpPr>
        <p:spPr>
          <a:xfrm xmlns:a="http://schemas.openxmlformats.org/drawingml/2006/main">
            <a:off x="6591300" y="8612612"/>
            <a:ext cx="375563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2" kern="400000">
                <a:solidFill>
                  <a:srgbClr val="9EB0A4"/>
                </a:solidFill>
                <a:latin typeface="Deck"/>
                <a:ea typeface="Deck"/>
                <a:cs typeface="Deck"/>
              </a:defRPr>
            </a:pPr>
            <a:r>
              <a:rPr sz="1650" b="0" i="0" kern="400000" spc="-2">
                <a:solidFill>
                  <a:srgbClr val="9EB0A4">
                    <a:alpha val="100000"/>
                  </a:srgbClr>
                </a:solidFill>
                <a:latin typeface="Deck"/>
                <a:ea typeface="Deck"/>
                <a:cs typeface="Deck"/>
              </a:rPr>
              <a:t xml:space="preserve">AI proposals pass application checks</a:t>
            </a:r>
            <a:endParaRPr lang="en-US" sz="1650" spc="-2" kern="400000">
              <a:latin typeface="Deck"/>
            </a:endParaRPr>
          </a:p>
        </p:txBody>
      </p:sp>
      <p:sp>
        <p:nvSpPr>
          <p:cNvPr id="25" name="s16-t020">
            <a:extLst xmlns:a="http://schemas.openxmlformats.org/drawingml/2006/main">
              <a:ext uri="{FF2B5EF4-FFF2-40B4-BE49-F238E27FC236}">
                <a16:creationId xmlns:a16="http://schemas.microsoft.com/office/drawing/2014/main" id="{10D14627-966E-419D-AEDD-52FF14F8DDB2}"/>
              </a:ext>
            </a:extLst>
          </p:cNvPr>
          <p:cNvSpPr>
            <a:spLocks xmlns:a="http://schemas.openxmlformats.org/drawingml/2006/main" noGrp="1"/>
          </p:cNvSpPr>
          <p:nvPr/>
        </p:nvSpPr>
        <p:spPr>
          <a:xfrm xmlns:a="http://schemas.openxmlformats.org/drawingml/2006/main">
            <a:off x="12163425" y="8220076"/>
            <a:ext cx="2968809"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6" kern="400000">
                <a:solidFill>
                  <a:srgbClr val="FAF6F0"/>
                </a:solidFill>
                <a:latin typeface="Deck-Medium"/>
                <a:ea typeface="Deck-Medium"/>
                <a:cs typeface="Deck-Medium"/>
              </a:defRPr>
            </a:pPr>
            <a:r>
              <a:rPr sz="2025" b="0" i="0" kern="400000" spc="-6">
                <a:solidFill>
                  <a:srgbClr val="FAF6F0">
                    <a:alpha val="100000"/>
                  </a:srgbClr>
                </a:solidFill>
                <a:latin typeface="Deck-Medium"/>
                <a:ea typeface="Deck-Medium"/>
                <a:cs typeface="Deck-Medium"/>
              </a:rPr>
              <a:t xml:space="preserve">External care providers</a:t>
            </a:r>
            <a:endParaRPr lang="en-US" sz="2025" spc="-6" kern="400000">
              <a:latin typeface="Deck-Medium"/>
            </a:endParaRPr>
          </a:p>
        </p:txBody>
      </p:sp>
      <p:sp>
        <p:nvSpPr>
          <p:cNvPr id="26" name="s16-t021">
            <a:extLst xmlns:a="http://schemas.openxmlformats.org/drawingml/2006/main">
              <a:ext uri="{FF2B5EF4-FFF2-40B4-BE49-F238E27FC236}">
                <a16:creationId xmlns:a16="http://schemas.microsoft.com/office/drawing/2014/main" id="{AD0C9F9F-F7F0-44CC-9396-33D59128E135}"/>
              </a:ext>
            </a:extLst>
          </p:cNvPr>
          <p:cNvSpPr>
            <a:spLocks xmlns:a="http://schemas.openxmlformats.org/drawingml/2006/main" noGrp="1"/>
          </p:cNvSpPr>
          <p:nvPr/>
        </p:nvSpPr>
        <p:spPr>
          <a:xfrm xmlns:a="http://schemas.openxmlformats.org/drawingml/2006/main">
            <a:off x="12163425" y="8612612"/>
            <a:ext cx="3661334"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4" kern="400000">
                <a:solidFill>
                  <a:srgbClr val="9EB0A4"/>
                </a:solidFill>
                <a:latin typeface="Deck"/>
                <a:ea typeface="Deck"/>
                <a:cs typeface="Deck"/>
              </a:defRPr>
            </a:pPr>
            <a:r>
              <a:rPr sz="1650" b="0" i="0" kern="400000" spc="-4">
                <a:solidFill>
                  <a:srgbClr val="9EB0A4">
                    <a:alpha val="100000"/>
                  </a:srgbClr>
                </a:solidFill>
                <a:latin typeface="Deck"/>
                <a:ea typeface="Deck"/>
                <a:cs typeface="Deck"/>
              </a:rPr>
              <a:t xml:space="preserve">Separate boundary; explicit handoff</a:t>
            </a:r>
            <a:endParaRPr lang="en-US" sz="1650" spc="-4" kern="400000">
              <a:latin typeface="Deck"/>
            </a:endParaRPr>
          </a:p>
        </p:txBody>
      </p:sp>
      <p:sp>
        <p:nvSpPr>
          <p:cNvPr id="27" name="s16-t022">
            <a:extLst xmlns:a="http://schemas.openxmlformats.org/drawingml/2006/main">
              <a:ext uri="{FF2B5EF4-FFF2-40B4-BE49-F238E27FC236}">
                <a16:creationId xmlns:a16="http://schemas.microsoft.com/office/drawing/2014/main" id="{56C098F4-AEB3-4409-9D0A-A6FD2D0F6ACD}"/>
              </a:ext>
            </a:extLst>
          </p:cNvPr>
          <p:cNvSpPr>
            <a:spLocks xmlns:a="http://schemas.openxmlformats.org/drawingml/2006/main" noGrp="1"/>
          </p:cNvSpPr>
          <p:nvPr/>
        </p:nvSpPr>
        <p:spPr>
          <a:xfrm xmlns:a="http://schemas.openxmlformats.org/drawingml/2006/main">
            <a:off x="1028700" y="9309096"/>
            <a:ext cx="8431768" cy="222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425" spc="-5" kern="400000">
                <a:solidFill>
                  <a:srgbClr val="97A99D"/>
                </a:solidFill>
                <a:latin typeface="Deck"/>
                <a:ea typeface="Deck"/>
                <a:cs typeface="Deck"/>
              </a:defRPr>
            </a:pPr>
            <a:r>
              <a:rPr sz="1425" b="0" i="0" kern="400000" spc="-5">
                <a:solidFill>
                  <a:srgbClr val="97A99D">
                    <a:alpha val="100000"/>
                  </a:srgbClr>
                </a:solidFill>
                <a:latin typeface="Deck"/>
                <a:ea typeface="Deck"/>
                <a:cs typeface="Deck"/>
              </a:rPr>
              <a:t xml:space="preserve">Team-stated Tencent stack. Service-level deployment and data-flow evidence still need verification.</a:t>
            </a:r>
            <a:endParaRPr lang="en-US" sz="1425" spc="-5" kern="400000">
              <a:latin typeface="Deck"/>
            </a:endParaRPr>
          </a:p>
        </p:txBody>
      </p:sp>
      <p:sp>
        <p:nvSpPr>
          <p:cNvPr id="28" name="s16-t023">
            <a:extLst xmlns:a="http://schemas.openxmlformats.org/drawingml/2006/main">
              <a:ext uri="{FF2B5EF4-FFF2-40B4-BE49-F238E27FC236}">
                <a16:creationId xmlns:a16="http://schemas.microsoft.com/office/drawing/2014/main" id="{A264D294-17F8-4F9D-91A1-AB97B2EAC2F7}"/>
              </a:ext>
            </a:extLst>
          </p:cNvPr>
          <p:cNvSpPr>
            <a:spLocks xmlns:a="http://schemas.openxmlformats.org/drawingml/2006/main" noGrp="1"/>
          </p:cNvSpPr>
          <p:nvPr/>
        </p:nvSpPr>
        <p:spPr>
          <a:xfrm xmlns:a="http://schemas.openxmlformats.org/drawingml/2006/main">
            <a:off x="17171413" y="9730387"/>
            <a:ext cx="40114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16</a:t>
            </a:r>
            <a:endParaRPr lang="en-US" sz="1350" spc="6" kern="400000">
              <a:latin typeface="Deck"/>
            </a:endParaRPr>
          </a:p>
        </p:txBody>
      </p:sp>
    </p:spTree>
    <p:extLst>
      <p:ext uri="{BB962C8B-B14F-4D97-AF65-F5344CB8AC3E}">
        <p14:creationId xmlns:p14="http://schemas.microsoft.com/office/powerpoint/2010/main" val="376038455"/>
      </p:ext>
    </p:extLst>
  </p:cSld>
</p:sld>
</file>

<file path=ppt/slides/slide17.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0" name="s17-source-rule-0">
            <a:extLst xmlns:a="http://schemas.openxmlformats.org/drawingml/2006/main">
              <a:ext uri="{FF2B5EF4-FFF2-40B4-BE49-F238E27FC236}">
                <a16:creationId xmlns:a16="http://schemas.microsoft.com/office/drawing/2014/main" id="{D91A3D7C-2EB0-4B3D-8DA4-9354A517C219}"/>
              </a:ext>
            </a:extLst>
          </p:cNvPr>
          <p:cNvSpPr>
            <a:spLocks xmlns:a="http://schemas.openxmlformats.org/drawingml/2006/main" noGrp="1"/>
          </p:cNvSpPr>
          <p:nvPr/>
        </p:nvSpPr>
        <p:spPr>
          <a:xfrm xmlns:a="http://schemas.openxmlformats.org/drawingml/2006/main">
            <a:off x="8972550" y="3634555"/>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2" name="s17-source-rule-1">
            <a:extLst xmlns:a="http://schemas.openxmlformats.org/drawingml/2006/main">
              <a:ext uri="{FF2B5EF4-FFF2-40B4-BE49-F238E27FC236}">
                <a16:creationId xmlns:a16="http://schemas.microsoft.com/office/drawing/2014/main" id="{D3E4D45F-C8C3-4E3C-AF20-16959D98D268}"/>
              </a:ext>
            </a:extLst>
          </p:cNvPr>
          <p:cNvSpPr>
            <a:spLocks xmlns:a="http://schemas.openxmlformats.org/drawingml/2006/main" noGrp="1"/>
          </p:cNvSpPr>
          <p:nvPr/>
        </p:nvSpPr>
        <p:spPr>
          <a:xfrm xmlns:a="http://schemas.openxmlformats.org/drawingml/2006/main">
            <a:off x="8972550" y="5202186"/>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3" name="s17-source-rule-2">
            <a:extLst xmlns:a="http://schemas.openxmlformats.org/drawingml/2006/main">
              <a:ext uri="{FF2B5EF4-FFF2-40B4-BE49-F238E27FC236}">
                <a16:creationId xmlns:a16="http://schemas.microsoft.com/office/drawing/2014/main" id="{97D1BE0D-CE2C-4A2A-9DC0-B736F0322A80}"/>
              </a:ext>
            </a:extLst>
          </p:cNvPr>
          <p:cNvSpPr>
            <a:spLocks xmlns:a="http://schemas.openxmlformats.org/drawingml/2006/main" noGrp="1"/>
          </p:cNvSpPr>
          <p:nvPr/>
        </p:nvSpPr>
        <p:spPr>
          <a:xfrm xmlns:a="http://schemas.openxmlformats.org/drawingml/2006/main">
            <a:off x="8972550" y="7164532"/>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4" name="s17-t000">
            <a:extLst xmlns:a="http://schemas.openxmlformats.org/drawingml/2006/main">
              <a:ext uri="{FF2B5EF4-FFF2-40B4-BE49-F238E27FC236}">
                <a16:creationId xmlns:a16="http://schemas.microsoft.com/office/drawing/2014/main" id="{0EC86735-B379-4EF0-A253-D62EFF68744D}"/>
              </a:ext>
            </a:extLst>
          </p:cNvPr>
          <p:cNvSpPr>
            <a:spLocks xmlns:a="http://schemas.openxmlformats.org/drawingml/2006/main" noGrp="1"/>
          </p:cNvSpPr>
          <p:nvPr/>
        </p:nvSpPr>
        <p:spPr>
          <a:xfrm xmlns:a="http://schemas.openxmlformats.org/drawingml/2006/main">
            <a:off x="990600" y="1000130"/>
            <a:ext cx="2670867"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6" kern="400000">
                <a:solidFill>
                  <a:srgbClr val="3A3745"/>
                </a:solidFill>
                <a:latin typeface="Deck-Medium"/>
                <a:ea typeface="Deck-Medium"/>
                <a:cs typeface="Deck-Medium"/>
              </a:defRPr>
            </a:pPr>
            <a:r>
              <a:rPr sz="1725" b="0" i="0" kern="400000" spc="286">
                <a:solidFill>
                  <a:srgbClr val="6C6971">
                    <a:alpha val="100000"/>
                  </a:srgbClr>
                </a:solidFill>
                <a:latin typeface="Deck-Medium"/>
                <a:ea typeface="Deck-Medium"/>
                <a:cs typeface="Deck-Medium"/>
              </a:rPr>
              <a:t xml:space="preserve">TRUST BY DESIGN</a:t>
            </a:r>
            <a:endParaRPr lang="en-US" sz="1725" spc="286" kern="400000">
              <a:latin typeface="Deck-Medium"/>
            </a:endParaRPr>
          </a:p>
        </p:txBody>
      </p:sp>
      <p:sp>
        <p:nvSpPr>
          <p:cNvPr id="5" name="s17-t001">
            <a:extLst xmlns:a="http://schemas.openxmlformats.org/drawingml/2006/main">
              <a:ext uri="{FF2B5EF4-FFF2-40B4-BE49-F238E27FC236}">
                <a16:creationId xmlns:a16="http://schemas.microsoft.com/office/drawing/2014/main" id="{262B6CFC-07BD-427C-B7E9-87568B0F19A5}"/>
              </a:ext>
            </a:extLst>
          </p:cNvPr>
          <p:cNvSpPr>
            <a:spLocks xmlns:a="http://schemas.openxmlformats.org/drawingml/2006/main" noGrp="1"/>
          </p:cNvSpPr>
          <p:nvPr/>
        </p:nvSpPr>
        <p:spPr>
          <a:xfrm xmlns:a="http://schemas.openxmlformats.org/drawingml/2006/main">
            <a:off x="971550" y="1636966"/>
            <a:ext cx="5276164" cy="1288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250" spc="-388" kern="400000">
                <a:solidFill>
                  <a:srgbClr val="3A3745"/>
                </a:solidFill>
                <a:latin typeface="Deck-Semi-Bold"/>
                <a:ea typeface="Deck-Semi-Bold"/>
                <a:cs typeface="Deck-Semi-Bold"/>
              </a:defRPr>
            </a:pPr>
            <a:r>
              <a:rPr sz="8250" b="0" i="0" kern="400000" spc="-388">
                <a:solidFill>
                  <a:srgbClr val="3A3745">
                    <a:alpha val="100000"/>
                  </a:srgbClr>
                </a:solidFill>
                <a:latin typeface="Deck-Semi-Bold"/>
                <a:ea typeface="Deck-Semi-Bold"/>
                <a:cs typeface="Deck-Semi-Bold"/>
              </a:rPr>
              <a:t xml:space="preserve">Care needs</a:t>
            </a:r>
            <a:endParaRPr lang="en-US" sz="8250" spc="-388" kern="400000">
              <a:latin typeface="Deck-Semi-Bold"/>
            </a:endParaRPr>
          </a:p>
        </p:txBody>
      </p:sp>
      <p:sp>
        <p:nvSpPr>
          <p:cNvPr id="6" name="s17-t002">
            <a:extLst xmlns:a="http://schemas.openxmlformats.org/drawingml/2006/main">
              <a:ext uri="{FF2B5EF4-FFF2-40B4-BE49-F238E27FC236}">
                <a16:creationId xmlns:a16="http://schemas.microsoft.com/office/drawing/2014/main" id="{CADC908E-4DE4-4E68-858D-05CF5671C8AD}"/>
              </a:ext>
            </a:extLst>
          </p:cNvPr>
          <p:cNvSpPr>
            <a:spLocks xmlns:a="http://schemas.openxmlformats.org/drawingml/2006/main" noGrp="1"/>
          </p:cNvSpPr>
          <p:nvPr/>
        </p:nvSpPr>
        <p:spPr>
          <a:xfrm xmlns:a="http://schemas.openxmlformats.org/drawingml/2006/main">
            <a:off x="971550" y="2731865"/>
            <a:ext cx="7822902" cy="1288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250" spc="-380" kern="400000">
                <a:solidFill>
                  <a:srgbClr val="4F7A66"/>
                </a:solidFill>
                <a:latin typeface="Deck-Semi-Bold"/>
                <a:ea typeface="Deck-Semi-Bold"/>
                <a:cs typeface="Deck-Semi-Bold"/>
              </a:defRPr>
            </a:pPr>
            <a:r>
              <a:rPr sz="8250" b="0" i="0" kern="400000" spc="-380">
                <a:solidFill>
                  <a:srgbClr val="4F7A66">
                    <a:alpha val="100000"/>
                  </a:srgbClr>
                </a:solidFill>
                <a:latin typeface="Deck-Semi-Bold"/>
                <a:ea typeface="Deck-Semi-Bold"/>
                <a:cs typeface="Deck-Semi-Bold"/>
              </a:rPr>
              <a:t xml:space="preserve">clear boundaries.</a:t>
            </a:r>
            <a:endParaRPr lang="en-US" sz="8250" spc="-380" kern="400000">
              <a:latin typeface="Deck-Semi-Bold"/>
            </a:endParaRPr>
          </a:p>
        </p:txBody>
      </p:sp>
      <p:sp>
        <p:nvSpPr>
          <p:cNvPr id="7" name="s17-t003">
            <a:extLst xmlns:a="http://schemas.openxmlformats.org/drawingml/2006/main">
              <a:ext uri="{FF2B5EF4-FFF2-40B4-BE49-F238E27FC236}">
                <a16:creationId xmlns:a16="http://schemas.microsoft.com/office/drawing/2014/main" id="{E0BFB2D5-235B-4A17-B47C-2A326D921B2A}"/>
              </a:ext>
            </a:extLst>
          </p:cNvPr>
          <p:cNvSpPr>
            <a:spLocks xmlns:a="http://schemas.openxmlformats.org/drawingml/2006/main" noGrp="1"/>
          </p:cNvSpPr>
          <p:nvPr/>
        </p:nvSpPr>
        <p:spPr>
          <a:xfrm xmlns:a="http://schemas.openxmlformats.org/drawingml/2006/main">
            <a:off x="8972550" y="2333622"/>
            <a:ext cx="3123428"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81" kern="400000">
                <a:solidFill>
                  <a:srgbClr val="365E4B"/>
                </a:solidFill>
                <a:latin typeface="Deck-Bold"/>
                <a:ea typeface="Deck-Bold"/>
                <a:cs typeface="Deck-Bold"/>
              </a:defRPr>
            </a:pPr>
            <a:r>
              <a:rPr sz="2775" b="0" i="0" kern="400000" spc="-81">
                <a:solidFill>
                  <a:srgbClr val="365E4B">
                    <a:alpha val="100000"/>
                  </a:srgbClr>
                </a:solidFill>
                <a:latin typeface="Deck-Bold"/>
                <a:ea typeface="Deck-Bold"/>
                <a:cs typeface="Deck-Bold"/>
              </a:rPr>
              <a:t xml:space="preserve">Permissioned care</a:t>
            </a:r>
            <a:endParaRPr lang="en-US" sz="2775" spc="-81" kern="400000">
              <a:latin typeface="Deck-Bold"/>
            </a:endParaRPr>
          </a:p>
        </p:txBody>
      </p:sp>
      <p:sp>
        <p:nvSpPr>
          <p:cNvPr id="8" name="s17-t004">
            <a:extLst xmlns:a="http://schemas.openxmlformats.org/drawingml/2006/main">
              <a:ext uri="{FF2B5EF4-FFF2-40B4-BE49-F238E27FC236}">
                <a16:creationId xmlns:a16="http://schemas.microsoft.com/office/drawing/2014/main" id="{044297E5-FCB2-4127-8369-2E7989BAE608}"/>
              </a:ext>
            </a:extLst>
          </p:cNvPr>
          <p:cNvSpPr>
            <a:spLocks xmlns:a="http://schemas.openxmlformats.org/drawingml/2006/main" noGrp="1"/>
          </p:cNvSpPr>
          <p:nvPr/>
        </p:nvSpPr>
        <p:spPr>
          <a:xfrm xmlns:a="http://schemas.openxmlformats.org/drawingml/2006/main">
            <a:off x="8972550" y="2916162"/>
            <a:ext cx="6647459"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5" kern="400000">
                <a:solidFill>
                  <a:srgbClr val="747079"/>
                </a:solidFill>
                <a:latin typeface="Deck"/>
                <a:ea typeface="Deck"/>
                <a:cs typeface="Deck"/>
              </a:defRPr>
            </a:pPr>
            <a:r>
              <a:rPr sz="2100" b="0" i="0" kern="400000" spc="-5">
                <a:solidFill>
                  <a:srgbClr val="747079">
                    <a:alpha val="100000"/>
                  </a:srgbClr>
                </a:solidFill>
                <a:latin typeface="Deck"/>
                <a:ea typeface="Deck"/>
                <a:cs typeface="Deck"/>
              </a:rPr>
              <a:t xml:space="preserve">Family visibility should follow explicit access choices.</a:t>
            </a:r>
            <a:endParaRPr lang="en-US" sz="2100" spc="-5" kern="400000">
              <a:latin typeface="Deck"/>
            </a:endParaRPr>
          </a:p>
        </p:txBody>
      </p:sp>
      <p:sp>
        <p:nvSpPr>
          <p:cNvPr id="9" name="s17-t005">
            <a:extLst xmlns:a="http://schemas.openxmlformats.org/drawingml/2006/main">
              <a:ext uri="{FF2B5EF4-FFF2-40B4-BE49-F238E27FC236}">
                <a16:creationId xmlns:a16="http://schemas.microsoft.com/office/drawing/2014/main" id="{8CF8A536-F304-4111-9D10-95FDEDE7C23A}"/>
              </a:ext>
            </a:extLst>
          </p:cNvPr>
          <p:cNvSpPr>
            <a:spLocks xmlns:a="http://schemas.openxmlformats.org/drawingml/2006/main" noGrp="1"/>
          </p:cNvSpPr>
          <p:nvPr/>
        </p:nvSpPr>
        <p:spPr>
          <a:xfrm xmlns:a="http://schemas.openxmlformats.org/drawingml/2006/main">
            <a:off x="8972550" y="3901252"/>
            <a:ext cx="2524658"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74" kern="400000">
                <a:solidFill>
                  <a:srgbClr val="365E4B"/>
                </a:solidFill>
                <a:latin typeface="Deck-Bold"/>
                <a:ea typeface="Deck-Bold"/>
                <a:cs typeface="Deck-Bold"/>
              </a:defRPr>
            </a:pPr>
            <a:r>
              <a:rPr sz="2775" b="0" i="0" kern="400000" spc="-74">
                <a:solidFill>
                  <a:srgbClr val="365E4B">
                    <a:alpha val="100000"/>
                  </a:srgbClr>
                </a:solidFill>
                <a:latin typeface="Deck-Bold"/>
                <a:ea typeface="Deck-Bold"/>
                <a:cs typeface="Deck-Bold"/>
              </a:rPr>
              <a:t xml:space="preserve">Visible actions</a:t>
            </a:r>
            <a:endParaRPr lang="en-US" sz="2775" spc="-74" kern="400000">
              <a:latin typeface="Deck-Bold"/>
            </a:endParaRPr>
          </a:p>
        </p:txBody>
      </p:sp>
      <p:sp>
        <p:nvSpPr>
          <p:cNvPr id="10" name="s17-t006">
            <a:extLst xmlns:a="http://schemas.openxmlformats.org/drawingml/2006/main">
              <a:ext uri="{FF2B5EF4-FFF2-40B4-BE49-F238E27FC236}">
                <a16:creationId xmlns:a16="http://schemas.microsoft.com/office/drawing/2014/main" id="{CB6AF82D-0399-408A-9400-705B0139F6B0}"/>
              </a:ext>
            </a:extLst>
          </p:cNvPr>
          <p:cNvSpPr>
            <a:spLocks xmlns:a="http://schemas.openxmlformats.org/drawingml/2006/main" noGrp="1"/>
          </p:cNvSpPr>
          <p:nvPr/>
        </p:nvSpPr>
        <p:spPr>
          <a:xfrm xmlns:a="http://schemas.openxmlformats.org/drawingml/2006/main">
            <a:off x="8972550" y="4483792"/>
            <a:ext cx="845728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5" kern="400000">
                <a:solidFill>
                  <a:srgbClr val="747079"/>
                </a:solidFill>
                <a:latin typeface="Deck"/>
                <a:ea typeface="Deck"/>
                <a:cs typeface="Deck"/>
              </a:defRPr>
            </a:pPr>
            <a:r>
              <a:rPr sz="2100" b="0" i="0" kern="400000" spc="-5">
                <a:solidFill>
                  <a:srgbClr val="747079">
                    <a:alpha val="100000"/>
                  </a:srgbClr>
                </a:solidFill>
                <a:latin typeface="Deck"/>
                <a:ea typeface="Deck"/>
                <a:cs typeface="Deck"/>
              </a:rPr>
              <a:t xml:space="preserve">Let people review consequential proposals before saving or sharing.</a:t>
            </a:r>
            <a:endParaRPr lang="en-US" sz="2100" spc="-5" kern="400000">
              <a:latin typeface="Deck"/>
            </a:endParaRPr>
          </a:p>
        </p:txBody>
      </p:sp>
      <p:sp>
        <p:nvSpPr>
          <p:cNvPr id="11" name="s17-t007">
            <a:extLst xmlns:a="http://schemas.openxmlformats.org/drawingml/2006/main">
              <a:ext uri="{FF2B5EF4-FFF2-40B4-BE49-F238E27FC236}">
                <a16:creationId xmlns:a16="http://schemas.microsoft.com/office/drawing/2014/main" id="{757B3C16-086B-4DB4-8AFA-1B5CB7930310}"/>
              </a:ext>
            </a:extLst>
          </p:cNvPr>
          <p:cNvSpPr>
            <a:spLocks xmlns:a="http://schemas.openxmlformats.org/drawingml/2006/main" noGrp="1"/>
          </p:cNvSpPr>
          <p:nvPr/>
        </p:nvSpPr>
        <p:spPr>
          <a:xfrm xmlns:a="http://schemas.openxmlformats.org/drawingml/2006/main">
            <a:off x="8972550" y="5468882"/>
            <a:ext cx="2332234"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75" kern="400000">
                <a:solidFill>
                  <a:srgbClr val="365E4B"/>
                </a:solidFill>
                <a:latin typeface="Deck-Bold"/>
                <a:ea typeface="Deck-Bold"/>
                <a:cs typeface="Deck-Bold"/>
              </a:defRPr>
            </a:pPr>
            <a:r>
              <a:rPr sz="2775" b="0" i="0" kern="400000" spc="-75">
                <a:solidFill>
                  <a:srgbClr val="365E4B">
                    <a:alpha val="100000"/>
                  </a:srgbClr>
                </a:solidFill>
                <a:latin typeface="Deck-Bold"/>
                <a:ea typeface="Deck-Bold"/>
                <a:cs typeface="Deck-Bold"/>
              </a:rPr>
              <a:t xml:space="preserve">Clinical limits</a:t>
            </a:r>
            <a:endParaRPr lang="en-US" sz="2775" spc="-75" kern="400000">
              <a:latin typeface="Deck-Bold"/>
            </a:endParaRPr>
          </a:p>
        </p:txBody>
      </p:sp>
      <p:sp>
        <p:nvSpPr>
          <p:cNvPr id="12" name="s17-t008">
            <a:extLst xmlns:a="http://schemas.openxmlformats.org/drawingml/2006/main">
              <a:ext uri="{FF2B5EF4-FFF2-40B4-BE49-F238E27FC236}">
                <a16:creationId xmlns:a16="http://schemas.microsoft.com/office/drawing/2014/main" id="{7A62F26A-AACB-410D-8E71-CACEB672506C}"/>
              </a:ext>
            </a:extLst>
          </p:cNvPr>
          <p:cNvSpPr>
            <a:spLocks xmlns:a="http://schemas.openxmlformats.org/drawingml/2006/main" noGrp="1"/>
          </p:cNvSpPr>
          <p:nvPr/>
        </p:nvSpPr>
        <p:spPr>
          <a:xfrm xmlns:a="http://schemas.openxmlformats.org/drawingml/2006/main">
            <a:off x="8972550" y="6051423"/>
            <a:ext cx="7495832"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6" kern="400000">
                <a:solidFill>
                  <a:srgbClr val="747079"/>
                </a:solidFill>
                <a:latin typeface="Deck"/>
                <a:ea typeface="Deck"/>
                <a:cs typeface="Deck"/>
              </a:defRPr>
            </a:pPr>
            <a:r>
              <a:rPr sz="2100" b="0" i="0" kern="400000" spc="-6">
                <a:solidFill>
                  <a:srgbClr val="747079">
                    <a:alpha val="100000"/>
                  </a:srgbClr>
                </a:solidFill>
                <a:latin typeface="Deck"/>
                <a:ea typeface="Deck"/>
                <a:cs typeface="Deck"/>
              </a:rPr>
              <a:t xml:space="preserve">Support routines and preparation. Refer clinical decisions to</a:t>
            </a:r>
            <a:endParaRPr lang="en-US" sz="2100" spc="-6" kern="400000">
              <a:latin typeface="Deck"/>
            </a:endParaRPr>
          </a:p>
        </p:txBody>
      </p:sp>
      <p:sp>
        <p:nvSpPr>
          <p:cNvPr id="13" name="s17-t009">
            <a:extLst xmlns:a="http://schemas.openxmlformats.org/drawingml/2006/main">
              <a:ext uri="{FF2B5EF4-FFF2-40B4-BE49-F238E27FC236}">
                <a16:creationId xmlns:a16="http://schemas.microsoft.com/office/drawing/2014/main" id="{53FC93CC-FD21-4904-9D7B-2EB77895746F}"/>
              </a:ext>
            </a:extLst>
          </p:cNvPr>
          <p:cNvSpPr>
            <a:spLocks xmlns:a="http://schemas.openxmlformats.org/drawingml/2006/main" noGrp="1"/>
          </p:cNvSpPr>
          <p:nvPr/>
        </p:nvSpPr>
        <p:spPr>
          <a:xfrm xmlns:a="http://schemas.openxmlformats.org/drawingml/2006/main">
            <a:off x="8972550" y="6446139"/>
            <a:ext cx="195140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1" kern="400000">
                <a:solidFill>
                  <a:srgbClr val="747079"/>
                </a:solidFill>
                <a:latin typeface="Deck"/>
                <a:ea typeface="Deck"/>
                <a:cs typeface="Deck"/>
              </a:defRPr>
            </a:pPr>
            <a:r>
              <a:rPr sz="2100" b="0" i="0" kern="400000" spc="-1">
                <a:solidFill>
                  <a:srgbClr val="747079">
                    <a:alpha val="100000"/>
                  </a:srgbClr>
                </a:solidFill>
                <a:latin typeface="Deck"/>
                <a:ea typeface="Deck"/>
                <a:cs typeface="Deck"/>
              </a:rPr>
              <a:t xml:space="preserve">qualified care.</a:t>
            </a:r>
            <a:endParaRPr lang="en-US" sz="2100" spc="-1" kern="400000">
              <a:latin typeface="Deck"/>
            </a:endParaRPr>
          </a:p>
        </p:txBody>
      </p:sp>
      <p:sp>
        <p:nvSpPr>
          <p:cNvPr id="14" name="s17-t010">
            <a:extLst xmlns:a="http://schemas.openxmlformats.org/drawingml/2006/main">
              <a:ext uri="{FF2B5EF4-FFF2-40B4-BE49-F238E27FC236}">
                <a16:creationId xmlns:a16="http://schemas.microsoft.com/office/drawing/2014/main" id="{D60EACB9-007C-4CB4-A4AA-F1731100241E}"/>
              </a:ext>
            </a:extLst>
          </p:cNvPr>
          <p:cNvSpPr>
            <a:spLocks xmlns:a="http://schemas.openxmlformats.org/drawingml/2006/main" noGrp="1"/>
          </p:cNvSpPr>
          <p:nvPr/>
        </p:nvSpPr>
        <p:spPr>
          <a:xfrm xmlns:a="http://schemas.openxmlformats.org/drawingml/2006/main">
            <a:off x="1038225" y="6885754"/>
            <a:ext cx="2161022"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218" kern="400000">
                <a:solidFill>
                  <a:srgbClr val="858174"/>
                </a:solidFill>
                <a:latin typeface="Deck"/>
                <a:ea typeface="Deck"/>
                <a:cs typeface="Deck"/>
              </a:defRPr>
            </a:pPr>
            <a:r>
              <a:rPr sz="1575" b="0" i="0" kern="400000" spc="218">
                <a:solidFill>
                  <a:srgbClr val="858174">
                    <a:alpha val="100000"/>
                  </a:srgbClr>
                </a:solidFill>
                <a:latin typeface="Deck"/>
                <a:ea typeface="Deck"/>
                <a:cs typeface="Deck"/>
              </a:rPr>
              <a:t xml:space="preserve">THE TRADE-OFF</a:t>
            </a:r>
            <a:endParaRPr lang="en-US" sz="1575" spc="218" kern="400000">
              <a:latin typeface="Deck"/>
            </a:endParaRPr>
          </a:p>
        </p:txBody>
      </p:sp>
      <p:sp>
        <p:nvSpPr>
          <p:cNvPr id="15" name="s17-t011">
            <a:extLst xmlns:a="http://schemas.openxmlformats.org/drawingml/2006/main">
              <a:ext uri="{FF2B5EF4-FFF2-40B4-BE49-F238E27FC236}">
                <a16:creationId xmlns:a16="http://schemas.microsoft.com/office/drawing/2014/main" id="{02B98E1B-F4C2-4726-8FEE-DB13AE1526ED}"/>
              </a:ext>
            </a:extLst>
          </p:cNvPr>
          <p:cNvSpPr>
            <a:spLocks xmlns:a="http://schemas.openxmlformats.org/drawingml/2006/main" noGrp="1"/>
          </p:cNvSpPr>
          <p:nvPr/>
        </p:nvSpPr>
        <p:spPr>
          <a:xfrm xmlns:a="http://schemas.openxmlformats.org/drawingml/2006/main">
            <a:off x="1038225" y="7368733"/>
            <a:ext cx="1956245"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5" kern="400000">
                <a:solidFill>
                  <a:srgbClr val="3A3745"/>
                </a:solidFill>
                <a:latin typeface="Deck"/>
                <a:ea typeface="Deck"/>
                <a:cs typeface="Deck"/>
              </a:defRPr>
            </a:pPr>
            <a:r>
              <a:rPr sz="3000" b="0" i="0" kern="400000" spc="-95">
                <a:solidFill>
                  <a:srgbClr val="3A3745">
                    <a:alpha val="100000"/>
                  </a:srgbClr>
                </a:solidFill>
                <a:latin typeface="Deck"/>
                <a:ea typeface="Deck"/>
                <a:cs typeface="Deck"/>
              </a:rPr>
              <a:t xml:space="preserve">Less silent</a:t>
            </a:r>
            <a:endParaRPr lang="en-US" sz="3000" spc="-95" kern="400000">
              <a:latin typeface="Deck"/>
            </a:endParaRPr>
          </a:p>
        </p:txBody>
      </p:sp>
      <p:sp>
        <p:nvSpPr>
          <p:cNvPr id="16" name="s17-t012">
            <a:extLst xmlns:a="http://schemas.openxmlformats.org/drawingml/2006/main">
              <a:ext uri="{FF2B5EF4-FFF2-40B4-BE49-F238E27FC236}">
                <a16:creationId xmlns:a16="http://schemas.microsoft.com/office/drawing/2014/main" id="{79F53716-6AF1-4B27-9090-19A530740239}"/>
              </a:ext>
            </a:extLst>
          </p:cNvPr>
          <p:cNvSpPr>
            <a:spLocks xmlns:a="http://schemas.openxmlformats.org/drawingml/2006/main" noGrp="1"/>
          </p:cNvSpPr>
          <p:nvPr/>
        </p:nvSpPr>
        <p:spPr>
          <a:xfrm xmlns:a="http://schemas.openxmlformats.org/drawingml/2006/main">
            <a:off x="1038225" y="7856413"/>
            <a:ext cx="2227898"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4" kern="400000">
                <a:solidFill>
                  <a:srgbClr val="3A3745"/>
                </a:solidFill>
                <a:latin typeface="Deck"/>
                <a:ea typeface="Deck"/>
                <a:cs typeface="Deck"/>
              </a:defRPr>
            </a:pPr>
            <a:r>
              <a:rPr sz="3000" b="0" i="0" kern="400000" spc="-94">
                <a:solidFill>
                  <a:srgbClr val="3A3745">
                    <a:alpha val="100000"/>
                  </a:srgbClr>
                </a:solidFill>
                <a:latin typeface="Deck"/>
                <a:ea typeface="Deck"/>
                <a:cs typeface="Deck"/>
              </a:rPr>
              <a:t xml:space="preserve">automation.</a:t>
            </a:r>
            <a:endParaRPr lang="en-US" sz="3000" spc="-94" kern="400000">
              <a:latin typeface="Deck"/>
            </a:endParaRPr>
          </a:p>
        </p:txBody>
      </p:sp>
      <p:sp>
        <p:nvSpPr>
          <p:cNvPr id="17" name="s17-t013">
            <a:extLst xmlns:a="http://schemas.openxmlformats.org/drawingml/2006/main">
              <a:ext uri="{FF2B5EF4-FFF2-40B4-BE49-F238E27FC236}">
                <a16:creationId xmlns:a16="http://schemas.microsoft.com/office/drawing/2014/main" id="{7C2F4DD5-65B3-4175-AC37-28C985D9A36A}"/>
              </a:ext>
            </a:extLst>
          </p:cNvPr>
          <p:cNvSpPr>
            <a:spLocks xmlns:a="http://schemas.openxmlformats.org/drawingml/2006/main" noGrp="1"/>
          </p:cNvSpPr>
          <p:nvPr/>
        </p:nvSpPr>
        <p:spPr>
          <a:xfrm xmlns:a="http://schemas.openxmlformats.org/drawingml/2006/main">
            <a:off x="1038225" y="8344093"/>
            <a:ext cx="3676917"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8" kern="400000">
                <a:solidFill>
                  <a:srgbClr val="4F7A66"/>
                </a:solidFill>
                <a:latin typeface="Deck-Medium"/>
                <a:ea typeface="Deck-Medium"/>
                <a:cs typeface="Deck-Medium"/>
              </a:defRPr>
            </a:pPr>
            <a:r>
              <a:rPr sz="3000" b="0" i="0" kern="400000" spc="-98">
                <a:solidFill>
                  <a:srgbClr val="4F7A66">
                    <a:alpha val="100000"/>
                  </a:srgbClr>
                </a:solidFill>
                <a:latin typeface="Deck-Medium"/>
                <a:ea typeface="Deck-Medium"/>
                <a:cs typeface="Deck-Medium"/>
              </a:rPr>
              <a:t xml:space="preserve">More human control.</a:t>
            </a:r>
            <a:endParaRPr lang="en-US" sz="3000" spc="-98" kern="400000">
              <a:latin typeface="Deck-Medium"/>
            </a:endParaRPr>
          </a:p>
        </p:txBody>
      </p:sp>
      <p:sp>
        <p:nvSpPr>
          <p:cNvPr id="18" name="s17-t014">
            <a:extLst xmlns:a="http://schemas.openxmlformats.org/drawingml/2006/main">
              <a:ext uri="{FF2B5EF4-FFF2-40B4-BE49-F238E27FC236}">
                <a16:creationId xmlns:a16="http://schemas.microsoft.com/office/drawing/2014/main" id="{73C946F1-0B8B-49E8-85AC-3E0226A6B761}"/>
              </a:ext>
            </a:extLst>
          </p:cNvPr>
          <p:cNvSpPr>
            <a:spLocks xmlns:a="http://schemas.openxmlformats.org/drawingml/2006/main" noGrp="1"/>
          </p:cNvSpPr>
          <p:nvPr/>
        </p:nvSpPr>
        <p:spPr>
          <a:xfrm xmlns:a="http://schemas.openxmlformats.org/drawingml/2006/main">
            <a:off x="952500" y="9730387"/>
            <a:ext cx="489173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2" kern="400000">
                <a:solidFill>
                  <a:srgbClr val="3A3745"/>
                </a:solidFill>
                <a:latin typeface="Deck"/>
                <a:ea typeface="Deck"/>
                <a:cs typeface="Deck"/>
              </a:defRPr>
            </a:pPr>
            <a:r>
              <a:rPr sz="1350" b="0" i="0" kern="400000" spc="2">
                <a:solidFill>
                  <a:srgbClr val="817E84">
                    <a:alpha val="100000"/>
                  </a:srgbClr>
                </a:solidFill>
                <a:latin typeface="Deck"/>
                <a:ea typeface="Deck"/>
                <a:cs typeface="Deck"/>
              </a:rPr>
              <a:t xml:space="preserve">Production design requirements · Validation remains ahead</a:t>
            </a:r>
            <a:endParaRPr lang="en-US" sz="1350" spc="2" kern="400000">
              <a:latin typeface="Deck"/>
            </a:endParaRPr>
          </a:p>
        </p:txBody>
      </p:sp>
      <p:sp>
        <p:nvSpPr>
          <p:cNvPr id="19" name="s17-t015">
            <a:extLst xmlns:a="http://schemas.openxmlformats.org/drawingml/2006/main">
              <a:ext uri="{FF2B5EF4-FFF2-40B4-BE49-F238E27FC236}">
                <a16:creationId xmlns:a16="http://schemas.microsoft.com/office/drawing/2014/main" id="{FE14FC15-0545-43FA-A760-645A42F78432}"/>
              </a:ext>
            </a:extLst>
          </p:cNvPr>
          <p:cNvSpPr>
            <a:spLocks xmlns:a="http://schemas.openxmlformats.org/drawingml/2006/main" noGrp="1"/>
          </p:cNvSpPr>
          <p:nvPr/>
        </p:nvSpPr>
        <p:spPr>
          <a:xfrm xmlns:a="http://schemas.openxmlformats.org/drawingml/2006/main">
            <a:off x="17186668" y="9730387"/>
            <a:ext cx="385886"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17</a:t>
            </a:r>
            <a:endParaRPr lang="en-US" sz="1350" spc="7" kern="400000">
              <a:latin typeface="Deck"/>
            </a:endParaRPr>
          </a:p>
        </p:txBody>
      </p:sp>
    </p:spTree>
    <p:extLst>
      <p:ext uri="{BB962C8B-B14F-4D97-AF65-F5344CB8AC3E}">
        <p14:creationId xmlns:p14="http://schemas.microsoft.com/office/powerpoint/2010/main" val="609523272"/>
      </p:ext>
    </p:extLst>
  </p:cSld>
</p:sld>
</file>

<file path=ppt/slides/slide18.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2" name="s18-source-rule-0">
            <a:extLst xmlns:a="http://schemas.openxmlformats.org/drawingml/2006/main">
              <a:ext uri="{FF2B5EF4-FFF2-40B4-BE49-F238E27FC236}">
                <a16:creationId xmlns:a16="http://schemas.microsoft.com/office/drawing/2014/main" id="{4478532B-DD9C-4575-8BA5-7CC3887A0F88}"/>
              </a:ext>
            </a:extLst>
          </p:cNvPr>
          <p:cNvSpPr>
            <a:spLocks xmlns:a="http://schemas.openxmlformats.org/drawingml/2006/main" noGrp="1"/>
          </p:cNvSpPr>
          <p:nvPr/>
        </p:nvSpPr>
        <p:spPr>
          <a:xfrm xmlns:a="http://schemas.openxmlformats.org/drawingml/2006/main">
            <a:off x="8896350" y="2727467"/>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2" name="s18-source-rule-1">
            <a:extLst xmlns:a="http://schemas.openxmlformats.org/drawingml/2006/main">
              <a:ext uri="{FF2B5EF4-FFF2-40B4-BE49-F238E27FC236}">
                <a16:creationId xmlns:a16="http://schemas.microsoft.com/office/drawing/2014/main" id="{A6D84AD9-DE92-414D-BB44-14D9B1C7B40E}"/>
              </a:ext>
            </a:extLst>
          </p:cNvPr>
          <p:cNvSpPr>
            <a:spLocks xmlns:a="http://schemas.openxmlformats.org/drawingml/2006/main" noGrp="1"/>
          </p:cNvSpPr>
          <p:nvPr/>
        </p:nvSpPr>
        <p:spPr>
          <a:xfrm xmlns:a="http://schemas.openxmlformats.org/drawingml/2006/main">
            <a:off x="8896350" y="4273834"/>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3" name="s18-source-rule-2">
            <a:extLst xmlns:a="http://schemas.openxmlformats.org/drawingml/2006/main">
              <a:ext uri="{FF2B5EF4-FFF2-40B4-BE49-F238E27FC236}">
                <a16:creationId xmlns:a16="http://schemas.microsoft.com/office/drawing/2014/main" id="{0F19C7E4-BA89-49B4-A252-3D4EB2D6E3CF}"/>
              </a:ext>
            </a:extLst>
          </p:cNvPr>
          <p:cNvSpPr>
            <a:spLocks xmlns:a="http://schemas.openxmlformats.org/drawingml/2006/main" noGrp="1"/>
          </p:cNvSpPr>
          <p:nvPr/>
        </p:nvSpPr>
        <p:spPr>
          <a:xfrm xmlns:a="http://schemas.openxmlformats.org/drawingml/2006/main">
            <a:off x="8896350" y="5820201"/>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4" name="s18-source-rule-3">
            <a:extLst xmlns:a="http://schemas.openxmlformats.org/drawingml/2006/main">
              <a:ext uri="{FF2B5EF4-FFF2-40B4-BE49-F238E27FC236}">
                <a16:creationId xmlns:a16="http://schemas.microsoft.com/office/drawing/2014/main" id="{7AC58022-04CE-4BD2-9CE0-B0DF3D64AAB7}"/>
              </a:ext>
            </a:extLst>
          </p:cNvPr>
          <p:cNvSpPr>
            <a:spLocks xmlns:a="http://schemas.openxmlformats.org/drawingml/2006/main" noGrp="1"/>
          </p:cNvSpPr>
          <p:nvPr/>
        </p:nvSpPr>
        <p:spPr>
          <a:xfrm xmlns:a="http://schemas.openxmlformats.org/drawingml/2006/main">
            <a:off x="8896350" y="7366568"/>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5" name="s18-t000">
            <a:extLst xmlns:a="http://schemas.openxmlformats.org/drawingml/2006/main">
              <a:ext uri="{FF2B5EF4-FFF2-40B4-BE49-F238E27FC236}">
                <a16:creationId xmlns:a16="http://schemas.microsoft.com/office/drawing/2014/main" id="{423AAC5A-7BE0-47FD-A9EA-A060964E9F4A}"/>
              </a:ext>
            </a:extLst>
          </p:cNvPr>
          <p:cNvSpPr>
            <a:spLocks xmlns:a="http://schemas.openxmlformats.org/drawingml/2006/main" noGrp="1"/>
          </p:cNvSpPr>
          <p:nvPr/>
        </p:nvSpPr>
        <p:spPr>
          <a:xfrm xmlns:a="http://schemas.openxmlformats.org/drawingml/2006/main">
            <a:off x="990600" y="1066805"/>
            <a:ext cx="2896295"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4" kern="400000">
                <a:solidFill>
                  <a:srgbClr val="FAF6F0"/>
                </a:solidFill>
                <a:latin typeface="Deck-Medium"/>
                <a:ea typeface="Deck-Medium"/>
                <a:cs typeface="Deck-Medium"/>
              </a:defRPr>
            </a:pPr>
            <a:r>
              <a:rPr sz="1725" b="0" i="0" kern="400000" spc="284">
                <a:solidFill>
                  <a:srgbClr val="BBBAB6">
                    <a:alpha val="100000"/>
                  </a:srgbClr>
                </a:solidFill>
                <a:latin typeface="Deck-Medium"/>
                <a:ea typeface="Deck-Medium"/>
                <a:cs typeface="Deck-Medium"/>
              </a:rPr>
              <a:t xml:space="preserve">WHAT COMES NEXT</a:t>
            </a:r>
            <a:endParaRPr lang="en-US" sz="1725" spc="284" kern="400000">
              <a:latin typeface="Deck-Medium"/>
            </a:endParaRPr>
          </a:p>
        </p:txBody>
      </p:sp>
      <p:sp>
        <p:nvSpPr>
          <p:cNvPr id="6" name="s18-t001">
            <a:extLst xmlns:a="http://schemas.openxmlformats.org/drawingml/2006/main">
              <a:ext uri="{FF2B5EF4-FFF2-40B4-BE49-F238E27FC236}">
                <a16:creationId xmlns:a16="http://schemas.microsoft.com/office/drawing/2014/main" id="{DB44E8FE-38A9-4F10-8E47-0211E6250ACC}"/>
              </a:ext>
            </a:extLst>
          </p:cNvPr>
          <p:cNvSpPr>
            <a:spLocks xmlns:a="http://schemas.openxmlformats.org/drawingml/2006/main" noGrp="1"/>
          </p:cNvSpPr>
          <p:nvPr/>
        </p:nvSpPr>
        <p:spPr>
          <a:xfrm xmlns:a="http://schemas.openxmlformats.org/drawingml/2006/main">
            <a:off x="962025" y="1702594"/>
            <a:ext cx="5791114" cy="1464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375" spc="-450" kern="400000">
                <a:solidFill>
                  <a:srgbClr val="FAF6F0"/>
                </a:solidFill>
                <a:latin typeface="Deck-Semi-Bold"/>
                <a:ea typeface="Deck-Semi-Bold"/>
                <a:cs typeface="Deck-Semi-Bold"/>
              </a:defRPr>
            </a:pPr>
            <a:r>
              <a:rPr sz="9375" b="0" i="0" kern="400000" spc="-450">
                <a:solidFill>
                  <a:srgbClr val="FAF6F0">
                    <a:alpha val="100000"/>
                  </a:srgbClr>
                </a:solidFill>
                <a:latin typeface="Deck-Semi-Bold"/>
                <a:ea typeface="Deck-Semi-Bold"/>
                <a:cs typeface="Deck-Semi-Bold"/>
              </a:rPr>
              <a:t xml:space="preserve">More ways</a:t>
            </a:r>
            <a:endParaRPr lang="en-US" sz="9375" spc="-450" kern="400000">
              <a:latin typeface="Deck-Semi-Bold"/>
            </a:endParaRPr>
          </a:p>
        </p:txBody>
      </p:sp>
      <p:sp>
        <p:nvSpPr>
          <p:cNvPr id="7" name="s18-t002">
            <a:extLst xmlns:a="http://schemas.openxmlformats.org/drawingml/2006/main">
              <a:ext uri="{FF2B5EF4-FFF2-40B4-BE49-F238E27FC236}">
                <a16:creationId xmlns:a16="http://schemas.microsoft.com/office/drawing/2014/main" id="{C4FFE51C-553F-4BAF-AFC3-5320247A4D07}"/>
              </a:ext>
            </a:extLst>
          </p:cNvPr>
          <p:cNvSpPr>
            <a:spLocks xmlns:a="http://schemas.openxmlformats.org/drawingml/2006/main" noGrp="1"/>
          </p:cNvSpPr>
          <p:nvPr/>
        </p:nvSpPr>
        <p:spPr>
          <a:xfrm xmlns:a="http://schemas.openxmlformats.org/drawingml/2006/main">
            <a:off x="962025" y="2946797"/>
            <a:ext cx="4028256" cy="1464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375" spc="-432" kern="400000">
                <a:solidFill>
                  <a:srgbClr val="9BDAB6"/>
                </a:solidFill>
                <a:latin typeface="Deck-Semi-Bold"/>
                <a:ea typeface="Deck-Semi-Bold"/>
                <a:cs typeface="Deck-Semi-Bold"/>
              </a:defRPr>
            </a:pPr>
            <a:r>
              <a:rPr sz="9375" b="0" i="0" kern="400000" spc="-432">
                <a:solidFill>
                  <a:srgbClr val="9BDAB6">
                    <a:alpha val="100000"/>
                  </a:srgbClr>
                </a:solidFill>
                <a:latin typeface="Deck-Semi-Bold"/>
                <a:ea typeface="Deck-Semi-Bold"/>
                <a:cs typeface="Deck-Semi-Bold"/>
              </a:rPr>
              <a:t xml:space="preserve">to care.</a:t>
            </a:r>
            <a:endParaRPr lang="en-US" sz="9375" spc="-432" kern="400000">
              <a:latin typeface="Deck-Semi-Bold"/>
            </a:endParaRPr>
          </a:p>
        </p:txBody>
      </p:sp>
      <p:sp>
        <p:nvSpPr>
          <p:cNvPr id="8" name="s18-t003">
            <a:extLst xmlns:a="http://schemas.openxmlformats.org/drawingml/2006/main">
              <a:ext uri="{FF2B5EF4-FFF2-40B4-BE49-F238E27FC236}">
                <a16:creationId xmlns:a16="http://schemas.microsoft.com/office/drawing/2014/main" id="{EA167684-C166-463E-A535-670E373BEBED}"/>
              </a:ext>
            </a:extLst>
          </p:cNvPr>
          <p:cNvSpPr>
            <a:spLocks xmlns:a="http://schemas.openxmlformats.org/drawingml/2006/main" noGrp="1"/>
          </p:cNvSpPr>
          <p:nvPr/>
        </p:nvSpPr>
        <p:spPr>
          <a:xfrm xmlns:a="http://schemas.openxmlformats.org/drawingml/2006/main">
            <a:off x="9639300" y="1485904"/>
            <a:ext cx="3215526"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0" kern="400000">
                <a:solidFill>
                  <a:srgbClr val="FAF6F0"/>
                </a:solidFill>
                <a:latin typeface="Deck-Medium"/>
                <a:ea typeface="Deck-Medium"/>
                <a:cs typeface="Deck-Medium"/>
              </a:defRPr>
            </a:pPr>
            <a:r>
              <a:rPr sz="2700" b="0" i="0" kern="400000" spc="-80">
                <a:solidFill>
                  <a:srgbClr val="FAF6F0">
                    <a:alpha val="100000"/>
                  </a:srgbClr>
                </a:solidFill>
                <a:latin typeface="Deck-Medium"/>
                <a:ea typeface="Deck-Medium"/>
                <a:cs typeface="Deck-Medium"/>
              </a:rPr>
              <a:t xml:space="preserve">Benefits, connected</a:t>
            </a:r>
            <a:endParaRPr lang="en-US" sz="2700" spc="-80" kern="400000">
              <a:latin typeface="Deck-Medium"/>
            </a:endParaRPr>
          </a:p>
        </p:txBody>
      </p:sp>
      <p:sp>
        <p:nvSpPr>
          <p:cNvPr id="9" name="s18-t004">
            <a:extLst xmlns:a="http://schemas.openxmlformats.org/drawingml/2006/main">
              <a:ext uri="{FF2B5EF4-FFF2-40B4-BE49-F238E27FC236}">
                <a16:creationId xmlns:a16="http://schemas.microsoft.com/office/drawing/2014/main" id="{C69317AE-BE8C-49F6-A6D7-3AB437CC8650}"/>
              </a:ext>
            </a:extLst>
          </p:cNvPr>
          <p:cNvSpPr>
            <a:spLocks xmlns:a="http://schemas.openxmlformats.org/drawingml/2006/main" noGrp="1"/>
          </p:cNvSpPr>
          <p:nvPr/>
        </p:nvSpPr>
        <p:spPr>
          <a:xfrm xmlns:a="http://schemas.openxmlformats.org/drawingml/2006/main">
            <a:off x="9639300" y="2063490"/>
            <a:ext cx="6013571"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3" kern="400000">
                <a:solidFill>
                  <a:srgbClr val="A8BCB0"/>
                </a:solidFill>
                <a:latin typeface="Deck"/>
                <a:ea typeface="Deck"/>
                <a:cs typeface="Deck"/>
              </a:defRPr>
            </a:pPr>
            <a:r>
              <a:rPr sz="1950" b="0" i="0" kern="400000" spc="-3">
                <a:solidFill>
                  <a:srgbClr val="A8BCB0">
                    <a:alpha val="100000"/>
                  </a:srgbClr>
                </a:solidFill>
                <a:latin typeface="Deck"/>
                <a:ea typeface="Deck"/>
                <a:cs typeface="Deck"/>
              </a:rPr>
              <a:t xml:space="preserve">Insurance information and clearer benefit guidance</a:t>
            </a:r>
            <a:endParaRPr lang="en-US" sz="1950" spc="-3" kern="400000">
              <a:latin typeface="Deck"/>
            </a:endParaRPr>
          </a:p>
        </p:txBody>
      </p:sp>
      <p:sp>
        <p:nvSpPr>
          <p:cNvPr id="10" name="s18-t005">
            <a:extLst xmlns:a="http://schemas.openxmlformats.org/drawingml/2006/main">
              <a:ext uri="{FF2B5EF4-FFF2-40B4-BE49-F238E27FC236}">
                <a16:creationId xmlns:a16="http://schemas.microsoft.com/office/drawing/2014/main" id="{26BEF18C-E214-48ED-8DF6-35F358C270BB}"/>
              </a:ext>
            </a:extLst>
          </p:cNvPr>
          <p:cNvSpPr>
            <a:spLocks xmlns:a="http://schemas.openxmlformats.org/drawingml/2006/main" noGrp="1"/>
          </p:cNvSpPr>
          <p:nvPr/>
        </p:nvSpPr>
        <p:spPr>
          <a:xfrm xmlns:a="http://schemas.openxmlformats.org/drawingml/2006/main">
            <a:off x="8896350" y="1571630"/>
            <a:ext cx="4750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01</a:t>
            </a:r>
            <a:endParaRPr lang="en-US" sz="1725" spc="150" kern="400000">
              <a:latin typeface="Deck"/>
            </a:endParaRPr>
          </a:p>
        </p:txBody>
      </p:sp>
      <p:sp>
        <p:nvSpPr>
          <p:cNvPr id="11" name="s18-t006">
            <a:extLst xmlns:a="http://schemas.openxmlformats.org/drawingml/2006/main">
              <a:ext uri="{FF2B5EF4-FFF2-40B4-BE49-F238E27FC236}">
                <a16:creationId xmlns:a16="http://schemas.microsoft.com/office/drawing/2014/main" id="{1B69D9F5-0F79-4FC5-92E0-CD730F4FD27C}"/>
              </a:ext>
            </a:extLst>
          </p:cNvPr>
          <p:cNvSpPr>
            <a:spLocks xmlns:a="http://schemas.openxmlformats.org/drawingml/2006/main" noGrp="1"/>
          </p:cNvSpPr>
          <p:nvPr/>
        </p:nvSpPr>
        <p:spPr>
          <a:xfrm xmlns:a="http://schemas.openxmlformats.org/drawingml/2006/main">
            <a:off x="9639300" y="3032271"/>
            <a:ext cx="290863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3" kern="400000">
                <a:solidFill>
                  <a:srgbClr val="FAF6F0"/>
                </a:solidFill>
                <a:latin typeface="Deck-Medium"/>
                <a:ea typeface="Deck-Medium"/>
                <a:cs typeface="Deck-Medium"/>
              </a:defRPr>
            </a:pPr>
            <a:r>
              <a:rPr sz="2700" b="0" i="0" kern="400000" spc="-83">
                <a:solidFill>
                  <a:srgbClr val="FAF6F0">
                    <a:alpha val="100000"/>
                  </a:srgbClr>
                </a:solidFill>
                <a:latin typeface="Deck-Medium"/>
                <a:ea typeface="Deck-Medium"/>
                <a:cs typeface="Deck-Medium"/>
              </a:rPr>
              <a:t xml:space="preserve">A more useful day</a:t>
            </a:r>
            <a:endParaRPr lang="en-US" sz="2700" spc="-83" kern="400000">
              <a:latin typeface="Deck-Medium"/>
            </a:endParaRPr>
          </a:p>
        </p:txBody>
      </p:sp>
      <p:sp>
        <p:nvSpPr>
          <p:cNvPr id="12" name="s18-t007">
            <a:extLst xmlns:a="http://schemas.openxmlformats.org/drawingml/2006/main">
              <a:ext uri="{FF2B5EF4-FFF2-40B4-BE49-F238E27FC236}">
                <a16:creationId xmlns:a16="http://schemas.microsoft.com/office/drawing/2014/main" id="{5DDD7535-9906-454C-922D-48A998DACC44}"/>
              </a:ext>
            </a:extLst>
          </p:cNvPr>
          <p:cNvSpPr>
            <a:spLocks xmlns:a="http://schemas.openxmlformats.org/drawingml/2006/main" noGrp="1"/>
          </p:cNvSpPr>
          <p:nvPr/>
        </p:nvSpPr>
        <p:spPr>
          <a:xfrm xmlns:a="http://schemas.openxmlformats.org/drawingml/2006/main">
            <a:off x="9639300" y="3609857"/>
            <a:ext cx="5130203"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7" kern="400000">
                <a:solidFill>
                  <a:srgbClr val="A8BCB0"/>
                </a:solidFill>
                <a:latin typeface="Deck"/>
                <a:ea typeface="Deck"/>
                <a:cs typeface="Deck"/>
              </a:defRPr>
            </a:pPr>
            <a:r>
              <a:rPr sz="1950" b="0" i="0" kern="400000" spc="-7">
                <a:solidFill>
                  <a:srgbClr val="A8BCB0">
                    <a:alpha val="100000"/>
                  </a:srgbClr>
                </a:solidFill>
                <a:latin typeface="Deck"/>
                <a:ea typeface="Deck"/>
                <a:cs typeface="Deck"/>
              </a:rPr>
              <a:t xml:space="preserve">Relevant news, weather and timely routines</a:t>
            </a:r>
            <a:endParaRPr lang="en-US" sz="1950" spc="-7" kern="400000">
              <a:latin typeface="Deck"/>
            </a:endParaRPr>
          </a:p>
        </p:txBody>
      </p:sp>
      <p:sp>
        <p:nvSpPr>
          <p:cNvPr id="13" name="s18-t008">
            <a:extLst xmlns:a="http://schemas.openxmlformats.org/drawingml/2006/main">
              <a:ext uri="{FF2B5EF4-FFF2-40B4-BE49-F238E27FC236}">
                <a16:creationId xmlns:a16="http://schemas.microsoft.com/office/drawing/2014/main" id="{5EEB6AFE-2449-4389-8DE0-FE3E302921C6}"/>
              </a:ext>
            </a:extLst>
          </p:cNvPr>
          <p:cNvSpPr>
            <a:spLocks xmlns:a="http://schemas.openxmlformats.org/drawingml/2006/main" noGrp="1"/>
          </p:cNvSpPr>
          <p:nvPr/>
        </p:nvSpPr>
        <p:spPr>
          <a:xfrm xmlns:a="http://schemas.openxmlformats.org/drawingml/2006/main">
            <a:off x="8896350" y="3117997"/>
            <a:ext cx="52391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02</a:t>
            </a:r>
            <a:endParaRPr lang="en-US" sz="1725" spc="150" kern="400000">
              <a:latin typeface="Deck"/>
            </a:endParaRPr>
          </a:p>
        </p:txBody>
      </p:sp>
      <p:sp>
        <p:nvSpPr>
          <p:cNvPr id="14" name="s18-t009">
            <a:extLst xmlns:a="http://schemas.openxmlformats.org/drawingml/2006/main">
              <a:ext uri="{FF2B5EF4-FFF2-40B4-BE49-F238E27FC236}">
                <a16:creationId xmlns:a16="http://schemas.microsoft.com/office/drawing/2014/main" id="{0F7CF28A-75E9-4B77-BD3D-8BB1328A9DFB}"/>
              </a:ext>
            </a:extLst>
          </p:cNvPr>
          <p:cNvSpPr>
            <a:spLocks xmlns:a="http://schemas.openxmlformats.org/drawingml/2006/main" noGrp="1"/>
          </p:cNvSpPr>
          <p:nvPr/>
        </p:nvSpPr>
        <p:spPr>
          <a:xfrm xmlns:a="http://schemas.openxmlformats.org/drawingml/2006/main">
            <a:off x="9639300" y="4578638"/>
            <a:ext cx="284005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3" kern="400000">
                <a:solidFill>
                  <a:srgbClr val="FAF6F0"/>
                </a:solidFill>
                <a:latin typeface="Deck-Medium"/>
                <a:ea typeface="Deck-Medium"/>
                <a:cs typeface="Deck-Medium"/>
              </a:defRPr>
            </a:pPr>
            <a:r>
              <a:rPr sz="2700" b="0" i="0" kern="400000" spc="-83">
                <a:solidFill>
                  <a:srgbClr val="FAF6F0">
                    <a:alpha val="100000"/>
                  </a:srgbClr>
                </a:solidFill>
                <a:latin typeface="Deck-Medium"/>
                <a:ea typeface="Deck-Medium"/>
                <a:cs typeface="Deck-Medium"/>
              </a:rPr>
              <a:t xml:space="preserve">Care within reach</a:t>
            </a:r>
            <a:endParaRPr lang="en-US" sz="2700" spc="-83" kern="400000">
              <a:latin typeface="Deck-Medium"/>
            </a:endParaRPr>
          </a:p>
        </p:txBody>
      </p:sp>
      <p:sp>
        <p:nvSpPr>
          <p:cNvPr id="15" name="s18-t010">
            <a:extLst xmlns:a="http://schemas.openxmlformats.org/drawingml/2006/main">
              <a:ext uri="{FF2B5EF4-FFF2-40B4-BE49-F238E27FC236}">
                <a16:creationId xmlns:a16="http://schemas.microsoft.com/office/drawing/2014/main" id="{EDC82963-AA3A-4B10-AB26-55CE85E524FD}"/>
              </a:ext>
            </a:extLst>
          </p:cNvPr>
          <p:cNvSpPr>
            <a:spLocks xmlns:a="http://schemas.openxmlformats.org/drawingml/2006/main" noGrp="1"/>
          </p:cNvSpPr>
          <p:nvPr/>
        </p:nvSpPr>
        <p:spPr>
          <a:xfrm xmlns:a="http://schemas.openxmlformats.org/drawingml/2006/main">
            <a:off x="9639300" y="5156224"/>
            <a:ext cx="6045765"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5" kern="400000">
                <a:solidFill>
                  <a:srgbClr val="A8BCB0"/>
                </a:solidFill>
                <a:latin typeface="Deck"/>
                <a:ea typeface="Deck"/>
                <a:cs typeface="Deck"/>
              </a:defRPr>
            </a:pPr>
            <a:r>
              <a:rPr sz="1950" b="0" i="0" kern="400000" spc="-5">
                <a:solidFill>
                  <a:srgbClr val="A8BCB0">
                    <a:alpha val="100000"/>
                  </a:srgbClr>
                </a:solidFill>
                <a:latin typeface="Deck"/>
                <a:ea typeface="Deck"/>
                <a:cs typeface="Deck"/>
              </a:rPr>
              <a:t xml:space="preserve">Doctor discovery and WhiteCoat teleconsult access</a:t>
            </a:r>
            <a:endParaRPr lang="en-US" sz="1950" spc="-5" kern="400000">
              <a:latin typeface="Deck"/>
            </a:endParaRPr>
          </a:p>
        </p:txBody>
      </p:sp>
      <p:sp>
        <p:nvSpPr>
          <p:cNvPr id="16" name="s18-t011">
            <a:extLst xmlns:a="http://schemas.openxmlformats.org/drawingml/2006/main">
              <a:ext uri="{FF2B5EF4-FFF2-40B4-BE49-F238E27FC236}">
                <a16:creationId xmlns:a16="http://schemas.microsoft.com/office/drawing/2014/main" id="{0601BCCE-C81D-4B90-AE18-327F0360A35C}"/>
              </a:ext>
            </a:extLst>
          </p:cNvPr>
          <p:cNvSpPr>
            <a:spLocks xmlns:a="http://schemas.openxmlformats.org/drawingml/2006/main" noGrp="1"/>
          </p:cNvSpPr>
          <p:nvPr/>
        </p:nvSpPr>
        <p:spPr>
          <a:xfrm xmlns:a="http://schemas.openxmlformats.org/drawingml/2006/main">
            <a:off x="8896350" y="4664364"/>
            <a:ext cx="52698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03</a:t>
            </a:r>
            <a:endParaRPr lang="en-US" sz="1725" spc="150" kern="400000">
              <a:latin typeface="Deck"/>
            </a:endParaRPr>
          </a:p>
        </p:txBody>
      </p:sp>
      <p:sp>
        <p:nvSpPr>
          <p:cNvPr id="17" name="s18-t012">
            <a:extLst xmlns:a="http://schemas.openxmlformats.org/drawingml/2006/main">
              <a:ext uri="{FF2B5EF4-FFF2-40B4-BE49-F238E27FC236}">
                <a16:creationId xmlns:a16="http://schemas.microsoft.com/office/drawing/2014/main" id="{5B9F15DD-52D0-4780-915B-D2F260AF8C35}"/>
              </a:ext>
            </a:extLst>
          </p:cNvPr>
          <p:cNvSpPr>
            <a:spLocks xmlns:a="http://schemas.openxmlformats.org/drawingml/2006/main" noGrp="1"/>
          </p:cNvSpPr>
          <p:nvPr/>
        </p:nvSpPr>
        <p:spPr>
          <a:xfrm xmlns:a="http://schemas.openxmlformats.org/drawingml/2006/main">
            <a:off x="9639300" y="6125005"/>
            <a:ext cx="408512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91" kern="400000">
                <a:solidFill>
                  <a:srgbClr val="FAF6F0"/>
                </a:solidFill>
                <a:latin typeface="Deck-Medium"/>
                <a:ea typeface="Deck-Medium"/>
                <a:cs typeface="Deck-Medium"/>
              </a:defRPr>
            </a:pPr>
            <a:r>
              <a:rPr sz="2700" b="0" i="0" kern="400000" spc="-91">
                <a:solidFill>
                  <a:srgbClr val="FAF6F0">
                    <a:alpha val="100000"/>
                  </a:srgbClr>
                </a:solidFill>
                <a:latin typeface="Deck-Medium"/>
                <a:ea typeface="Deck-Medium"/>
                <a:cs typeface="Deck-Medium"/>
              </a:rPr>
              <a:t xml:space="preserve">CareBuddy, alongside you</a:t>
            </a:r>
            <a:endParaRPr lang="en-US" sz="2700" spc="-91" kern="400000">
              <a:latin typeface="Deck-Medium"/>
            </a:endParaRPr>
          </a:p>
        </p:txBody>
      </p:sp>
      <p:sp>
        <p:nvSpPr>
          <p:cNvPr id="18" name="s18-t013">
            <a:extLst xmlns:a="http://schemas.openxmlformats.org/drawingml/2006/main">
              <a:ext uri="{FF2B5EF4-FFF2-40B4-BE49-F238E27FC236}">
                <a16:creationId xmlns:a16="http://schemas.microsoft.com/office/drawing/2014/main" id="{3C256608-EACE-4B5A-80A0-E10CE7600BB8}"/>
              </a:ext>
            </a:extLst>
          </p:cNvPr>
          <p:cNvSpPr>
            <a:spLocks xmlns:a="http://schemas.openxmlformats.org/drawingml/2006/main" noGrp="1"/>
          </p:cNvSpPr>
          <p:nvPr/>
        </p:nvSpPr>
        <p:spPr>
          <a:xfrm xmlns:a="http://schemas.openxmlformats.org/drawingml/2006/main">
            <a:off x="9639300" y="6702591"/>
            <a:ext cx="6808527"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6" kern="400000">
                <a:solidFill>
                  <a:srgbClr val="A8BCB0"/>
                </a:solidFill>
                <a:latin typeface="Deck"/>
                <a:ea typeface="Deck"/>
                <a:cs typeface="Deck"/>
              </a:defRPr>
            </a:pPr>
            <a:r>
              <a:rPr sz="1950" b="0" i="0" kern="400000" spc="-6">
                <a:solidFill>
                  <a:srgbClr val="A8BCB0">
                    <a:alpha val="100000"/>
                  </a:srgbClr>
                </a:solidFill>
                <a:latin typeface="Deck"/>
                <a:ea typeface="Deck"/>
                <a:cs typeface="Deck"/>
              </a:rPr>
              <a:t xml:space="preserve">A plugin experience, including hydration prompts in Codex</a:t>
            </a:r>
            <a:endParaRPr lang="en-US" sz="1950" spc="-6" kern="400000">
              <a:latin typeface="Deck"/>
            </a:endParaRPr>
          </a:p>
        </p:txBody>
      </p:sp>
      <p:sp>
        <p:nvSpPr>
          <p:cNvPr id="19" name="s18-t014">
            <a:extLst xmlns:a="http://schemas.openxmlformats.org/drawingml/2006/main">
              <a:ext uri="{FF2B5EF4-FFF2-40B4-BE49-F238E27FC236}">
                <a16:creationId xmlns:a16="http://schemas.microsoft.com/office/drawing/2014/main" id="{51EAC7E3-415F-423F-B2D0-5C08E025D3C0}"/>
              </a:ext>
            </a:extLst>
          </p:cNvPr>
          <p:cNvSpPr>
            <a:spLocks xmlns:a="http://schemas.openxmlformats.org/drawingml/2006/main" noGrp="1"/>
          </p:cNvSpPr>
          <p:nvPr/>
        </p:nvSpPr>
        <p:spPr>
          <a:xfrm xmlns:a="http://schemas.openxmlformats.org/drawingml/2006/main">
            <a:off x="8896350" y="6210731"/>
            <a:ext cx="5346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1" kern="400000">
                <a:solidFill>
                  <a:srgbClr val="9BDAB6"/>
                </a:solidFill>
                <a:latin typeface="Deck"/>
                <a:ea typeface="Deck"/>
                <a:cs typeface="Deck"/>
              </a:defRPr>
            </a:pPr>
            <a:r>
              <a:rPr sz="1725" b="0" i="0" kern="400000" spc="151">
                <a:solidFill>
                  <a:srgbClr val="9BDAB6">
                    <a:alpha val="100000"/>
                  </a:srgbClr>
                </a:solidFill>
                <a:latin typeface="Deck"/>
                <a:ea typeface="Deck"/>
                <a:cs typeface="Deck"/>
              </a:rPr>
              <a:t xml:space="preserve">04</a:t>
            </a:r>
            <a:endParaRPr lang="en-US" sz="1725" spc="151" kern="400000">
              <a:latin typeface="Deck"/>
            </a:endParaRPr>
          </a:p>
        </p:txBody>
      </p:sp>
      <p:sp>
        <p:nvSpPr>
          <p:cNvPr id="20" name="s18-t015">
            <a:extLst xmlns:a="http://schemas.openxmlformats.org/drawingml/2006/main">
              <a:ext uri="{FF2B5EF4-FFF2-40B4-BE49-F238E27FC236}">
                <a16:creationId xmlns:a16="http://schemas.microsoft.com/office/drawing/2014/main" id="{4B6B4496-CD46-4D9F-9E04-07D82DB86EAF}"/>
              </a:ext>
            </a:extLst>
          </p:cNvPr>
          <p:cNvSpPr>
            <a:spLocks xmlns:a="http://schemas.openxmlformats.org/drawingml/2006/main" noGrp="1"/>
          </p:cNvSpPr>
          <p:nvPr/>
        </p:nvSpPr>
        <p:spPr>
          <a:xfrm xmlns:a="http://schemas.openxmlformats.org/drawingml/2006/main">
            <a:off x="952500" y="9730387"/>
            <a:ext cx="477494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FAF6F0"/>
                </a:solidFill>
                <a:latin typeface="Deck"/>
                <a:ea typeface="Deck"/>
                <a:cs typeface="Deck"/>
              </a:defRPr>
            </a:pPr>
            <a:r>
              <a:rPr sz="1350" b="0" i="0" kern="400000" spc="4">
                <a:solidFill>
                  <a:srgbClr val="A0A19D">
                    <a:alpha val="100000"/>
                  </a:srgbClr>
                </a:solidFill>
                <a:latin typeface="Deck"/>
                <a:ea typeface="Deck"/>
                <a:cs typeface="Deck"/>
              </a:rPr>
              <a:t xml:space="preserve">Roadmap · Integrations and clinical workflows are not live</a:t>
            </a:r>
            <a:endParaRPr lang="en-US" sz="1350" spc="4" kern="400000">
              <a:latin typeface="Deck"/>
            </a:endParaRPr>
          </a:p>
        </p:txBody>
      </p:sp>
      <p:sp>
        <p:nvSpPr>
          <p:cNvPr id="21" name="s18-t016">
            <a:extLst xmlns:a="http://schemas.openxmlformats.org/drawingml/2006/main">
              <a:ext uri="{FF2B5EF4-FFF2-40B4-BE49-F238E27FC236}">
                <a16:creationId xmlns:a16="http://schemas.microsoft.com/office/drawing/2014/main" id="{9A9AE364-FA1E-4177-9CA9-B70262ED8DA2}"/>
              </a:ext>
            </a:extLst>
          </p:cNvPr>
          <p:cNvSpPr>
            <a:spLocks xmlns:a="http://schemas.openxmlformats.org/drawingml/2006/main" noGrp="1"/>
          </p:cNvSpPr>
          <p:nvPr/>
        </p:nvSpPr>
        <p:spPr>
          <a:xfrm xmlns:a="http://schemas.openxmlformats.org/drawingml/2006/main">
            <a:off x="17174157" y="9730387"/>
            <a:ext cx="398402"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18</a:t>
            </a:r>
            <a:endParaRPr lang="en-US" sz="1350" spc="7" kern="400000">
              <a:latin typeface="Deck"/>
            </a:endParaRPr>
          </a:p>
        </p:txBody>
      </p:sp>
    </p:spTree>
    <p:extLst>
      <p:ext uri="{BB962C8B-B14F-4D97-AF65-F5344CB8AC3E}">
        <p14:creationId xmlns:p14="http://schemas.microsoft.com/office/powerpoint/2010/main" val="1696436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84df58a9b0c4977"/>
          <a:stretch xmlns:a="http://schemas.openxmlformats.org/drawingml/2006/main"/>
        </p:blipFill>
        <p:spPr>
          <a:xfrm xmlns:a="http://schemas.openxmlformats.org/drawingml/2006/main">
            <a:off x="7334250" y="666750"/>
            <a:ext cx="3619500" cy="2571750"/>
          </a:xfrm>
          <a:prstGeom xmlns:a="http://schemas.openxmlformats.org/drawingml/2006/main" prst="rect">
            <a:avLst/>
          </a:prstGeom>
        </p:spPr>
      </p:pic>
      <p:sp>
        <p:nvSpPr>
          <p:cNvPr id="2" name="s19-t000">
            <a:extLst xmlns:a="http://schemas.openxmlformats.org/drawingml/2006/main">
              <a:ext uri="{FF2B5EF4-FFF2-40B4-BE49-F238E27FC236}">
                <a16:creationId xmlns:a16="http://schemas.microsoft.com/office/drawing/2014/main" id="{9B3DF65E-B0D3-4035-BA29-F551366FEFEA}"/>
              </a:ext>
            </a:extLst>
          </p:cNvPr>
          <p:cNvSpPr>
            <a:spLocks xmlns:a="http://schemas.openxmlformats.org/drawingml/2006/main" noGrp="1"/>
          </p:cNvSpPr>
          <p:nvPr/>
        </p:nvSpPr>
        <p:spPr>
          <a:xfrm xmlns:a="http://schemas.openxmlformats.org/drawingml/2006/main">
            <a:off x="4273288" y="3718170"/>
            <a:ext cx="10043331" cy="151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675" spc="-439" kern="400000">
                <a:solidFill>
                  <a:srgbClr val="3A3745"/>
                </a:solidFill>
                <a:latin typeface="Deck-Semi-Bold"/>
                <a:ea typeface="Deck-Semi-Bold"/>
                <a:cs typeface="Deck-Semi-Bold"/>
              </a:defRPr>
            </a:pPr>
            <a:r>
              <a:rPr sz="9675" b="0" i="0" kern="400000" spc="-439">
                <a:solidFill>
                  <a:srgbClr val="3A3745">
                    <a:alpha val="100000"/>
                  </a:srgbClr>
                </a:solidFill>
                <a:latin typeface="Deck-Semi-Bold"/>
                <a:ea typeface="Deck-Semi-Bold"/>
                <a:cs typeface="Deck-Semi-Bold"/>
              </a:rPr>
              <a:t xml:space="preserve">Less to remember.</a:t>
            </a:r>
            <a:endParaRPr lang="en-US" sz="9675" spc="-439" kern="400000">
              <a:latin typeface="Deck-Semi-Bold"/>
            </a:endParaRPr>
          </a:p>
        </p:txBody>
      </p:sp>
      <p:sp>
        <p:nvSpPr>
          <p:cNvPr id="3" name="s19-t001">
            <a:extLst xmlns:a="http://schemas.openxmlformats.org/drawingml/2006/main">
              <a:ext uri="{FF2B5EF4-FFF2-40B4-BE49-F238E27FC236}">
                <a16:creationId xmlns:a16="http://schemas.microsoft.com/office/drawing/2014/main" id="{EB01245E-B25E-47E5-ABE4-92E2A210423C}"/>
              </a:ext>
            </a:extLst>
          </p:cNvPr>
          <p:cNvSpPr>
            <a:spLocks xmlns:a="http://schemas.openxmlformats.org/drawingml/2006/main" noGrp="1"/>
          </p:cNvSpPr>
          <p:nvPr/>
        </p:nvSpPr>
        <p:spPr>
          <a:xfrm xmlns:a="http://schemas.openxmlformats.org/drawingml/2006/main">
            <a:off x="4177294" y="5032906"/>
            <a:ext cx="10236394" cy="151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675" spc="-417" kern="400000">
                <a:solidFill>
                  <a:srgbClr val="4F7A66"/>
                </a:solidFill>
                <a:latin typeface="Deck-Semi-Bold"/>
                <a:ea typeface="Deck-Semi-Bold"/>
                <a:cs typeface="Deck-Semi-Bold"/>
              </a:defRPr>
            </a:pPr>
            <a:r>
              <a:rPr sz="9675" b="0" i="0" kern="400000" spc="-417">
                <a:solidFill>
                  <a:srgbClr val="4F7A66">
                    <a:alpha val="100000"/>
                  </a:srgbClr>
                </a:solidFill>
                <a:latin typeface="Deck-Semi-Bold"/>
                <a:ea typeface="Deck-Semi-Bold"/>
                <a:cs typeface="Deck-Semi-Bold"/>
              </a:rPr>
              <a:t xml:space="preserve">More room to care.</a:t>
            </a:r>
            <a:endParaRPr lang="en-US" sz="9675" spc="-417" kern="400000">
              <a:latin typeface="Deck-Semi-Bold"/>
            </a:endParaRPr>
          </a:p>
        </p:txBody>
      </p:sp>
      <p:sp>
        <p:nvSpPr>
          <p:cNvPr id="4" name="s19-t002">
            <a:hlinkClick xmlns:r="http://schemas.openxmlformats.org/officeDocument/2006/relationships" xmlns:a="http://schemas.openxmlformats.org/drawingml/2006/main" r:id="Rea0d6863fbef4d5d"/>
            <a:extLst xmlns:a="http://schemas.openxmlformats.org/drawingml/2006/main">
              <a:ext uri="{FF2B5EF4-FFF2-40B4-BE49-F238E27FC236}">
                <a16:creationId xmlns:a16="http://schemas.microsoft.com/office/drawing/2014/main" id="{CA998AFF-B2FE-4BC6-98B5-CA635C4652DF}"/>
              </a:ext>
            </a:extLst>
          </p:cNvPr>
          <p:cNvSpPr>
            <a:spLocks xmlns:a="http://schemas.openxmlformats.org/drawingml/2006/main" noGrp="1"/>
          </p:cNvSpPr>
          <p:nvPr/>
        </p:nvSpPr>
        <p:spPr>
          <a:xfrm xmlns:a="http://schemas.openxmlformats.org/drawingml/2006/main">
            <a:off x="7720324" y="7099482"/>
            <a:ext cx="3085477"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71" kern="400000" u="none">
                <a:solidFill>
                  <a:srgbClr val="4F7A66"/>
                </a:solidFill>
                <a:latin typeface="Deck-Medium"/>
                <a:ea typeface="Deck-Medium"/>
                <a:cs typeface="Deck-Medium"/>
              </a:defRPr>
            </a:pPr>
            <a:r>
              <a:rPr sz="2850" b="0" i="0" kern="400000" spc="71" u="none">
                <a:solidFill>
                  <a:srgbClr val="4F7A66">
                    <a:alpha val="100000"/>
                  </a:srgbClr>
                </a:solidFill>
                <a:latin typeface="Deck-Medium"/>
                <a:ea typeface="Deck-Medium"/>
                <a:cs typeface="Deck-Medium"/>
              </a:rPr>
              <a:t xml:space="preserve">carebuddy.life ↗</a:t>
            </a:r>
            <a:endParaRPr lang="en-US" sz="2850" spc="71" kern="400000">
              <a:latin typeface="Deck-Medium"/>
            </a:endParaRPr>
          </a:p>
        </p:txBody>
      </p:sp>
      <p:sp>
        <p:nvSpPr>
          <p:cNvPr id="5" name="s19-t003">
            <a:extLst xmlns:a="http://schemas.openxmlformats.org/drawingml/2006/main">
              <a:ext uri="{FF2B5EF4-FFF2-40B4-BE49-F238E27FC236}">
                <a16:creationId xmlns:a16="http://schemas.microsoft.com/office/drawing/2014/main" id="{F66517CE-8A34-4D58-8A71-0E370C45040B}"/>
              </a:ext>
            </a:extLst>
          </p:cNvPr>
          <p:cNvSpPr>
            <a:spLocks xmlns:a="http://schemas.openxmlformats.org/drawingml/2006/main" noGrp="1"/>
          </p:cNvSpPr>
          <p:nvPr/>
        </p:nvSpPr>
        <p:spPr>
          <a:xfrm xmlns:a="http://schemas.openxmlformats.org/drawingml/2006/main">
            <a:off x="6727561" y="8667582"/>
            <a:ext cx="5072253"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17" kern="400000">
                <a:solidFill>
                  <a:srgbClr val="807C7B"/>
                </a:solidFill>
                <a:latin typeface="Deck"/>
                <a:ea typeface="Deck"/>
                <a:cs typeface="Deck"/>
              </a:defRPr>
            </a:pPr>
            <a:r>
              <a:rPr sz="1950" b="0" i="0" kern="400000" spc="-17">
                <a:solidFill>
                  <a:srgbClr val="807C7B">
                    <a:alpha val="100000"/>
                  </a:srgbClr>
                </a:solidFill>
                <a:latin typeface="Deck"/>
                <a:ea typeface="Deck"/>
                <a:cs typeface="Deck"/>
              </a:rPr>
              <a:t xml:space="preserve">Alex Lew · Shao Quan Chew · Yau Boon Tan</a:t>
            </a:r>
            <a:endParaRPr lang="en-US" sz="1950" spc="-17" kern="400000">
              <a:latin typeface="Deck"/>
            </a:endParaRPr>
          </a:p>
        </p:txBody>
      </p:sp>
      <p:sp>
        <p:nvSpPr>
          <p:cNvPr id="6" name="s19-t004">
            <a:extLst xmlns:a="http://schemas.openxmlformats.org/drawingml/2006/main">
              <a:ext uri="{FF2B5EF4-FFF2-40B4-BE49-F238E27FC236}">
                <a16:creationId xmlns:a16="http://schemas.microsoft.com/office/drawing/2014/main" id="{9F17FC99-94DF-4A5B-9D8C-7A54FC03A508}"/>
              </a:ext>
            </a:extLst>
          </p:cNvPr>
          <p:cNvSpPr>
            <a:spLocks xmlns:a="http://schemas.openxmlformats.org/drawingml/2006/main" noGrp="1"/>
          </p:cNvSpPr>
          <p:nvPr/>
        </p:nvSpPr>
        <p:spPr>
          <a:xfrm xmlns:a="http://schemas.openxmlformats.org/drawingml/2006/main">
            <a:off x="952500" y="9730387"/>
            <a:ext cx="469473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0" kern="400000">
                <a:solidFill>
                  <a:srgbClr val="3A3745"/>
                </a:solidFill>
                <a:latin typeface="Deck"/>
                <a:ea typeface="Deck"/>
                <a:cs typeface="Deck"/>
              </a:defRPr>
            </a:pPr>
            <a:r>
              <a:rPr sz="1350" b="0" i="0" kern="400000" spc="0">
                <a:solidFill>
                  <a:srgbClr val="83818A">
                    <a:alpha val="100000"/>
                  </a:srgbClr>
                </a:solidFill>
                <a:latin typeface="Deck"/>
                <a:ea typeface="Deck"/>
                <a:cs typeface="Deck"/>
              </a:rPr>
              <a:t xml:space="preserve">Tencent Cloud AI CAN DO IT Hackathon Singapore 2026</a:t>
            </a:r>
            <a:endParaRPr lang="en-US" sz="1350" spc="0" kern="400000">
              <a:latin typeface="Deck"/>
            </a:endParaRPr>
          </a:p>
        </p:txBody>
      </p:sp>
      <p:sp>
        <p:nvSpPr>
          <p:cNvPr id="7" name="s19-t005">
            <a:extLst xmlns:a="http://schemas.openxmlformats.org/drawingml/2006/main">
              <a:ext uri="{FF2B5EF4-FFF2-40B4-BE49-F238E27FC236}">
                <a16:creationId xmlns:a16="http://schemas.microsoft.com/office/drawing/2014/main" id="{26D4A3D3-AA90-42D7-8C52-F7ED78F8A81D}"/>
              </a:ext>
            </a:extLst>
          </p:cNvPr>
          <p:cNvSpPr>
            <a:spLocks xmlns:a="http://schemas.openxmlformats.org/drawingml/2006/main" noGrp="1"/>
          </p:cNvSpPr>
          <p:nvPr/>
        </p:nvSpPr>
        <p:spPr>
          <a:xfrm xmlns:a="http://schemas.openxmlformats.org/drawingml/2006/main">
            <a:off x="17171237" y="9730387"/>
            <a:ext cx="40131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3818A">
                    <a:alpha val="100000"/>
                  </a:srgbClr>
                </a:solidFill>
                <a:latin typeface="Deck"/>
                <a:ea typeface="Deck"/>
                <a:cs typeface="Deck"/>
              </a:rPr>
              <a:t xml:space="preserve">19</a:t>
            </a:r>
            <a:endParaRPr lang="en-US" sz="1350" spc="7" kern="400000">
              <a:latin typeface="Deck"/>
            </a:endParaRPr>
          </a:p>
        </p:txBody>
      </p:sp>
    </p:spTree>
    <p:extLst>
      <p:ext uri="{BB962C8B-B14F-4D97-AF65-F5344CB8AC3E}">
        <p14:creationId xmlns:p14="http://schemas.microsoft.com/office/powerpoint/2010/main" val="134065747"/>
      </p:ext>
    </p:extLst>
  </p:cSld>
</p:sld>
</file>

<file path=ppt/slides/slide2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s20-source-rule-0">
            <a:extLst xmlns:a="http://schemas.openxmlformats.org/drawingml/2006/main">
              <a:ext uri="{FF2B5EF4-FFF2-40B4-BE49-F238E27FC236}">
                <a16:creationId xmlns:a16="http://schemas.microsoft.com/office/drawing/2014/main" id="{F1413B17-1780-43B0-AC75-DC6791721669}"/>
              </a:ext>
            </a:extLst>
          </p:cNvPr>
          <p:cNvSpPr>
            <a:spLocks xmlns:a="http://schemas.openxmlformats.org/drawingml/2006/main" noGrp="1"/>
          </p:cNvSpPr>
          <p:nvPr/>
        </p:nvSpPr>
        <p:spPr>
          <a:xfrm xmlns:a="http://schemas.openxmlformats.org/drawingml/2006/main">
            <a:off x="1009650" y="3951060"/>
            <a:ext cx="7524750" cy="9525"/>
          </a:xfrm>
          <a:prstGeom xmlns:a="http://schemas.openxmlformats.org/drawingml/2006/main" prst="rect">
            <a:avLst/>
          </a:prstGeom>
          <a:solidFill xmlns:a="http://schemas.openxmlformats.org/drawingml/2006/main">
            <a:srgbClr val="C8C9BF"/>
          </a:solidFill>
          <a:ln xmlns:a="http://schemas.openxmlformats.org/drawingml/2006/main" w="0">
            <a:noFill/>
          </a:ln>
        </p:spPr>
      </p:sp>
      <p:sp>
        <p:nvSpPr>
          <p:cNvPr id="2" name="s20-source-rule-1">
            <a:extLst xmlns:a="http://schemas.openxmlformats.org/drawingml/2006/main">
              <a:ext uri="{FF2B5EF4-FFF2-40B4-BE49-F238E27FC236}">
                <a16:creationId xmlns:a16="http://schemas.microsoft.com/office/drawing/2014/main" id="{F21BF2E6-B8EE-4668-8CC6-B351B7F5F849}"/>
              </a:ext>
            </a:extLst>
          </p:cNvPr>
          <p:cNvSpPr>
            <a:spLocks xmlns:a="http://schemas.openxmlformats.org/drawingml/2006/main" noGrp="1"/>
          </p:cNvSpPr>
          <p:nvPr/>
        </p:nvSpPr>
        <p:spPr>
          <a:xfrm xmlns:a="http://schemas.openxmlformats.org/drawingml/2006/main">
            <a:off x="9677400" y="3951060"/>
            <a:ext cx="7524750" cy="9525"/>
          </a:xfrm>
          <a:prstGeom xmlns:a="http://schemas.openxmlformats.org/drawingml/2006/main" prst="rect">
            <a:avLst/>
          </a:prstGeom>
          <a:solidFill xmlns:a="http://schemas.openxmlformats.org/drawingml/2006/main">
            <a:srgbClr val="C8C9BF"/>
          </a:solidFill>
          <a:ln xmlns:a="http://schemas.openxmlformats.org/drawingml/2006/main" w="0">
            <a:noFill/>
          </a:ln>
        </p:spPr>
      </p:sp>
      <p:sp>
        <p:nvSpPr>
          <p:cNvPr id="3" name="s20-t000">
            <a:extLst xmlns:a="http://schemas.openxmlformats.org/drawingml/2006/main">
              <a:ext uri="{FF2B5EF4-FFF2-40B4-BE49-F238E27FC236}">
                <a16:creationId xmlns:a16="http://schemas.microsoft.com/office/drawing/2014/main" id="{E5CF9150-4688-4C19-A094-D9676129914A}"/>
              </a:ext>
            </a:extLst>
          </p:cNvPr>
          <p:cNvSpPr>
            <a:spLocks xmlns:a="http://schemas.openxmlformats.org/drawingml/2006/main" noGrp="1"/>
          </p:cNvSpPr>
          <p:nvPr/>
        </p:nvSpPr>
        <p:spPr>
          <a:xfrm xmlns:a="http://schemas.openxmlformats.org/drawingml/2006/main">
            <a:off x="1009650" y="1415010"/>
            <a:ext cx="5991330"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6975" spc="-369" kern="400000">
                <a:solidFill>
                  <a:srgbClr val="3A3745"/>
                </a:solidFill>
                <a:latin typeface="Deck-Semi-Bold"/>
                <a:ea typeface="Deck-Semi-Bold"/>
                <a:cs typeface="Deck-Semi-Bold"/>
              </a:defRPr>
            </a:pPr>
            <a:r>
              <a:rPr sz="6975" b="0" i="0" kern="400000" spc="-369">
                <a:solidFill>
                  <a:srgbClr val="3A3745">
                    <a:alpha val="100000"/>
                  </a:srgbClr>
                </a:solidFill>
                <a:latin typeface="Deck-Semi-Bold"/>
                <a:ea typeface="Deck-Semi-Bold"/>
                <a:cs typeface="Deck-Semi-Bold"/>
              </a:rPr>
              <a:t xml:space="preserve">What the demo</a:t>
            </a:r>
            <a:endParaRPr lang="en-US" sz="6975" spc="-369" kern="400000">
              <a:latin typeface="Deck-Semi-Bold"/>
            </a:endParaRPr>
          </a:p>
        </p:txBody>
      </p:sp>
      <p:sp>
        <p:nvSpPr>
          <p:cNvPr id="4" name="s20-t001">
            <a:extLst xmlns:a="http://schemas.openxmlformats.org/drawingml/2006/main">
              <a:ext uri="{FF2B5EF4-FFF2-40B4-BE49-F238E27FC236}">
                <a16:creationId xmlns:a16="http://schemas.microsoft.com/office/drawing/2014/main" id="{3B454573-EB3B-4951-8445-E6FA4EBFDA4C}"/>
              </a:ext>
            </a:extLst>
          </p:cNvPr>
          <p:cNvSpPr>
            <a:spLocks xmlns:a="http://schemas.openxmlformats.org/drawingml/2006/main" noGrp="1"/>
          </p:cNvSpPr>
          <p:nvPr/>
        </p:nvSpPr>
        <p:spPr>
          <a:xfrm xmlns:a="http://schemas.openxmlformats.org/drawingml/2006/main">
            <a:off x="1009650" y="2340697"/>
            <a:ext cx="5047945"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6975" spc="-426" kern="400000">
                <a:solidFill>
                  <a:srgbClr val="4F7A66"/>
                </a:solidFill>
                <a:latin typeface="Deck-Semi-Bold"/>
                <a:ea typeface="Deck-Semi-Bold"/>
                <a:cs typeface="Deck-Semi-Bold"/>
              </a:defRPr>
            </a:pPr>
            <a:r>
              <a:rPr sz="6975" b="0" i="0" kern="400000" spc="-426">
                <a:solidFill>
                  <a:srgbClr val="4F7A66">
                    <a:alpha val="100000"/>
                  </a:srgbClr>
                </a:solidFill>
                <a:latin typeface="Deck-Semi-Bold"/>
                <a:ea typeface="Deck-Semi-Bold"/>
                <a:cs typeface="Deck-Semi-Bold"/>
              </a:rPr>
              <a:t xml:space="preserve">shows today.</a:t>
            </a:r>
            <a:endParaRPr lang="en-US" sz="6975" spc="-426" kern="400000">
              <a:latin typeface="Deck-Semi-Bold"/>
            </a:endParaRPr>
          </a:p>
        </p:txBody>
      </p:sp>
      <p:sp>
        <p:nvSpPr>
          <p:cNvPr id="5" name="s20-t016">
            <a:extLst xmlns:a="http://schemas.openxmlformats.org/drawingml/2006/main">
              <a:ext uri="{FF2B5EF4-FFF2-40B4-BE49-F238E27FC236}">
                <a16:creationId xmlns:a16="http://schemas.microsoft.com/office/drawing/2014/main" id="{C2584EAA-4960-4441-97C6-D6133536DADF}"/>
              </a:ext>
            </a:extLst>
          </p:cNvPr>
          <p:cNvSpPr>
            <a:spLocks xmlns:a="http://schemas.openxmlformats.org/drawingml/2006/main" noGrp="1"/>
          </p:cNvSpPr>
          <p:nvPr/>
        </p:nvSpPr>
        <p:spPr>
          <a:xfrm xmlns:a="http://schemas.openxmlformats.org/drawingml/2006/main">
            <a:off x="1009650" y="914405"/>
            <a:ext cx="286431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3A3745"/>
                </a:solidFill>
                <a:latin typeface="Deck-Medium"/>
                <a:ea typeface="Deck-Medium"/>
                <a:cs typeface="Deck-Medium"/>
              </a:defRPr>
            </a:pPr>
            <a:r>
              <a:rPr sz="1725" b="0" i="0" kern="400000" spc="285">
                <a:solidFill>
                  <a:srgbClr val="6C6971">
                    <a:alpha val="100000"/>
                  </a:srgbClr>
                </a:solidFill>
                <a:latin typeface="Deck-Medium"/>
                <a:ea typeface="Deck-Medium"/>
                <a:cs typeface="Deck-Medium"/>
              </a:rPr>
              <a:t xml:space="preserve">PROTOTYPE SCOPE</a:t>
            </a:r>
            <a:endParaRPr lang="en-US" sz="1725" spc="285" kern="400000">
              <a:latin typeface="Deck-Medium"/>
            </a:endParaRPr>
          </a:p>
        </p:txBody>
      </p:sp>
      <p:sp>
        <p:nvSpPr>
          <p:cNvPr id="6" name="s20-t017">
            <a:extLst xmlns:a="http://schemas.openxmlformats.org/drawingml/2006/main">
              <a:ext uri="{FF2B5EF4-FFF2-40B4-BE49-F238E27FC236}">
                <a16:creationId xmlns:a16="http://schemas.microsoft.com/office/drawing/2014/main" id="{7CDAC01D-E43E-4FAB-BDDB-21A4F306D253}"/>
              </a:ext>
            </a:extLst>
          </p:cNvPr>
          <p:cNvSpPr>
            <a:spLocks xmlns:a="http://schemas.openxmlformats.org/drawingml/2006/main" noGrp="1"/>
          </p:cNvSpPr>
          <p:nvPr/>
        </p:nvSpPr>
        <p:spPr>
          <a:xfrm xmlns:a="http://schemas.openxmlformats.org/drawingml/2006/main">
            <a:off x="1019175" y="8895624"/>
            <a:ext cx="1184414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767177"/>
                </a:solidFill>
                <a:latin typeface="Deck"/>
                <a:ea typeface="Deck"/>
                <a:cs typeface="Deck"/>
              </a:defRPr>
            </a:pPr>
            <a:r>
              <a:rPr sz="1800" b="0" i="0" kern="400000" spc="-7">
                <a:solidFill>
                  <a:srgbClr val="767177">
                    <a:alpha val="100000"/>
                  </a:srgbClr>
                </a:solidFill>
                <a:latin typeface="Deck"/>
                <a:ea typeface="Deck"/>
                <a:cs typeface="Deck"/>
              </a:rPr>
              <a:t xml:space="preserve">Screens are captured from carebuddy.life. Fictional records and illustrative flows are used throughout the demo.</a:t>
            </a:r>
            <a:endParaRPr lang="en-US" sz="1800" spc="-7" kern="400000">
              <a:latin typeface="Deck"/>
            </a:endParaRPr>
          </a:p>
        </p:txBody>
      </p:sp>
      <p:sp>
        <p:nvSpPr>
          <p:cNvPr id="7" name="s20-t018">
            <a:extLst xmlns:a="http://schemas.openxmlformats.org/drawingml/2006/main">
              <a:ext uri="{FF2B5EF4-FFF2-40B4-BE49-F238E27FC236}">
                <a16:creationId xmlns:a16="http://schemas.microsoft.com/office/drawing/2014/main" id="{8EB3590A-22BF-45A2-8ECD-CA4EC07E3EB4}"/>
              </a:ext>
            </a:extLst>
          </p:cNvPr>
          <p:cNvSpPr>
            <a:spLocks xmlns:a="http://schemas.openxmlformats.org/drawingml/2006/main" noGrp="1"/>
          </p:cNvSpPr>
          <p:nvPr/>
        </p:nvSpPr>
        <p:spPr>
          <a:xfrm xmlns:a="http://schemas.openxmlformats.org/drawingml/2006/main">
            <a:off x="952500" y="9730387"/>
            <a:ext cx="2290953"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3A3745"/>
                </a:solidFill>
                <a:latin typeface="Deck"/>
                <a:ea typeface="Deck"/>
                <a:cs typeface="Deck"/>
              </a:defRPr>
            </a:pPr>
            <a:r>
              <a:rPr sz="1350" b="0" i="0" kern="400000" spc="4">
                <a:solidFill>
                  <a:srgbClr val="817E84">
                    <a:alpha val="100000"/>
                  </a:srgbClr>
                </a:solidFill>
                <a:latin typeface="Deck"/>
                <a:ea typeface="Deck"/>
                <a:cs typeface="Deck"/>
              </a:rPr>
              <a:t xml:space="preserve">Observed 8 October 2026</a:t>
            </a:r>
            <a:endParaRPr lang="en-US" sz="1350" spc="4" kern="400000">
              <a:latin typeface="Deck"/>
            </a:endParaRPr>
          </a:p>
        </p:txBody>
      </p:sp>
      <p:sp>
        <p:nvSpPr>
          <p:cNvPr id="8" name="s20-t019">
            <a:extLst xmlns:a="http://schemas.openxmlformats.org/drawingml/2006/main">
              <a:ext uri="{FF2B5EF4-FFF2-40B4-BE49-F238E27FC236}">
                <a16:creationId xmlns:a16="http://schemas.microsoft.com/office/drawing/2014/main" id="{370BFC12-2830-4D87-ABE7-29C14EEAE360}"/>
              </a:ext>
            </a:extLst>
          </p:cNvPr>
          <p:cNvSpPr>
            <a:spLocks xmlns:a="http://schemas.openxmlformats.org/drawingml/2006/main" noGrp="1"/>
          </p:cNvSpPr>
          <p:nvPr/>
        </p:nvSpPr>
        <p:spPr>
          <a:xfrm xmlns:a="http://schemas.openxmlformats.org/drawingml/2006/main">
            <a:off x="17124942" y="9730387"/>
            <a:ext cx="44760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20</a:t>
            </a:r>
            <a:endParaRPr lang="en-US" sz="1350" spc="6" kern="400000">
              <a:latin typeface="Deck"/>
            </a:endParaRPr>
          </a:p>
        </p:txBody>
      </p:sp>
      <p:graphicFrame>
        <p:nvGraphicFramePr>
          <p:cNvPr id="19" name=""/>
          <p:cNvGraphicFramePr/>
          <p:nvPr/>
        </p:nvGraphicFramePr>
        <p:xfrm>
          <a:off xmlns:a="http://schemas.openxmlformats.org/drawingml/2006/main" x="1009650" y="4209438"/>
          <a:ext xmlns:a="http://schemas.openxmlformats.org/drawingml/2006/main" cx="7524750" cy="3484247"/>
        </p:xfrm>
        <a:graphic xmlns:a="http://schemas.openxmlformats.org/drawingml/2006/main">
          <a:graphicData uri="http://schemas.openxmlformats.org/drawingml/2006/table">
            <a:tbl>
              <a:tblPr firstRow="0" firstCol="0" lastCol="0" bandRow="0" bandCol="0"/>
              <a:tblGrid>
                <a:gridCol w="7524750"/>
              </a:tblGrid>
              <a:tr h="749620">
                <a:tc>
                  <a:txBody>
                    <a:bodyPr wrap="square" lIns="0" tIns="0" rIns="0" bIns="0" anchor="t" anchorCtr="0" horzOverflow="overflow" vertOverflow="overflow">
                      <a:noAutofit/>
                    </a:bodyPr>
                    <a:lstStyle/>
                    <a:p>
                      <a:pPr algn="l">
                        <a:defRPr sz="2700" b="0" i="0" kern="400000" spc="-93">
                          <a:solidFill>
                            <a:srgbClr val="4F7A66">
                              <a:alpha val="100000"/>
                            </a:srgbClr>
                          </a:solidFill>
                          <a:latin typeface="Deck-Bold"/>
                          <a:ea typeface="Deck-Bold"/>
                          <a:cs typeface="Deck-Bold"/>
                        </a:defRPr>
                      </a:pPr>
                      <a:r>
                        <a:rPr sz="2700" b="0" i="0" kern="400000" spc="-93">
                          <a:solidFill>
                            <a:srgbClr val="4F7A66">
                              <a:alpha val="100000"/>
                            </a:srgbClr>
                          </a:solidFill>
                          <a:latin typeface="Deck-Bold"/>
                          <a:ea typeface="Deck-Bold"/>
                          <a:cs typeface="Deck-Bold"/>
                        </a:rPr>
                        <a:t xml:space="preserve">Visible in the prototype</a:t>
                      </a:r>
                      <a:endParaRPr lang="en-US" sz="2700" spc="-93" kern="400000">
                        <a:latin typeface="Deck-Bold"/>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Onboarding and fictional family profiles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Daily routines and medication actions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Illustrative sleep and health views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4">
                          <a:solidFill>
                            <a:srgbClr val="3A3745">
                              <a:alpha val="100000"/>
                            </a:srgbClr>
                          </a:solidFill>
                          <a:latin typeface="Deck"/>
                          <a:ea typeface="Deck"/>
                          <a:cs typeface="Deck"/>
                        </a:defRPr>
                      </a:pPr>
                      <a:r>
                        <a:rPr sz="2175" b="0" i="0" kern="400000" spc="-4">
                          <a:solidFill>
                            <a:srgbClr val="3A3745">
                              <a:alpha val="100000"/>
                            </a:srgbClr>
                          </a:solidFill>
                          <a:latin typeface="Deck"/>
                          <a:ea typeface="Deck"/>
                          <a:cs typeface="Deck"/>
                        </a:rPr>
                        <a:t xml:space="preserve">Benefit notes and Buddy entry screen</a:t>
                      </a:r>
                      <a:endParaRPr lang="en-US" sz="2175" spc="-4"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4">
                          <a:solidFill>
                            <a:srgbClr val="3A3745">
                              <a:alpha val="100000"/>
                            </a:srgbClr>
                          </a:solidFill>
                          <a:latin typeface="Deck"/>
                          <a:ea typeface="Deck"/>
                          <a:cs typeface="Deck"/>
                        </a:defRPr>
                      </a:pPr>
                      <a:r>
                        <a:rPr sz="2175" b="0" i="0" kern="400000" spc="-4">
                          <a:solidFill>
                            <a:srgbClr val="3A3745">
                              <a:alpha val="100000"/>
                            </a:srgbClr>
                          </a:solidFill>
                          <a:latin typeface="Deck"/>
                          <a:ea typeface="Deck"/>
                          <a:cs typeface="Deck"/>
                        </a:rPr>
                        <a:t xml:space="preserve">GP appointment planning</a:t>
                      </a:r>
                      <a:endParaRPr lang="en-US" sz="2175" spc="-4"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10">
                          <a:solidFill>
                            <a:srgbClr val="3A3745">
                              <a:alpha val="100000"/>
                            </a:srgbClr>
                          </a:solidFill>
                          <a:latin typeface="Deck"/>
                          <a:ea typeface="Deck"/>
                          <a:cs typeface="Deck"/>
                        </a:defRPr>
                      </a:pPr>
                      <a:r>
                        <a:rPr sz="2175" b="0" i="0" kern="400000" spc="-10">
                          <a:solidFill>
                            <a:srgbClr val="3A3745">
                              <a:alpha val="100000"/>
                            </a:srgbClr>
                          </a:solidFill>
                          <a:latin typeface="Deck"/>
                          <a:ea typeface="Deck"/>
                          <a:cs typeface="Deck"/>
                        </a:rPr>
                        <a:t xml:space="preserve">Manual WorkBuddy context handoff</a:t>
                      </a:r>
                      <a:endParaRPr lang="en-US" sz="2175" spc="-10" kern="400000">
                        <a:latin typeface="Deck"/>
                      </a:endParaRPr>
                    </a:p>
                  </a:txBody>
                  <a:tcPr marL="0" marR="0" marT="0" marB="0" anchor="t">
                    <a:lnL w="0">
                      <a:noFill/>
                    </a:lnL>
                    <a:lnR w="0">
                      <a:noFill/>
                    </a:lnR>
                    <a:lnT w="0">
                      <a:noFill/>
                    </a:lnT>
                    <a:lnB w="0">
                      <a:noFill/>
                    </a:lnB>
                    <a:lnTlToBr w="0">
                      <a:noFill/>
                    </a:lnTlToBr>
                    <a:lnBlToTr w="0">
                      <a:noFill/>
                    </a:lnBlToTr>
                    <a:noFill/>
                  </a:tcPr>
                </a:tc>
              </a:tr>
            </a:tbl>
          </a:graphicData>
        </a:graphic>
      </p:graphicFrame>
      <p:graphicFrame>
        <p:nvGraphicFramePr>
          <p:cNvPr id="20" name=""/>
          <p:cNvGraphicFramePr/>
          <p:nvPr/>
        </p:nvGraphicFramePr>
        <p:xfrm>
          <a:off xmlns:a="http://schemas.openxmlformats.org/drawingml/2006/main" x="9677400" y="4209438"/>
          <a:ext xmlns:a="http://schemas.openxmlformats.org/drawingml/2006/main" cx="7524750" cy="3484247"/>
        </p:xfrm>
        <a:graphic xmlns:a="http://schemas.openxmlformats.org/drawingml/2006/main">
          <a:graphicData uri="http://schemas.openxmlformats.org/drawingml/2006/table">
            <a:tbl>
              <a:tblPr firstRow="0" firstCol="0" lastCol="0" bandRow="0" bandCol="0"/>
              <a:tblGrid>
                <a:gridCol w="7524750"/>
              </a:tblGrid>
              <a:tr h="749620">
                <a:tc>
                  <a:txBody>
                    <a:bodyPr wrap="square" lIns="0" tIns="0" rIns="0" bIns="0" anchor="t" anchorCtr="0" horzOverflow="overflow" vertOverflow="overflow">
                      <a:noAutofit/>
                    </a:bodyPr>
                    <a:lstStyle/>
                    <a:p>
                      <a:pPr algn="l">
                        <a:defRPr sz="2700" b="0" i="0" kern="400000" spc="-89">
                          <a:solidFill>
                            <a:srgbClr val="4F7A66">
                              <a:alpha val="100000"/>
                            </a:srgbClr>
                          </a:solidFill>
                          <a:latin typeface="Deck-Bold"/>
                          <a:ea typeface="Deck-Bold"/>
                          <a:cs typeface="Deck-Bold"/>
                        </a:defRPr>
                      </a:pPr>
                      <a:r>
                        <a:rPr sz="2700" b="0" i="0" kern="400000" spc="-89">
                          <a:solidFill>
                            <a:srgbClr val="4F7A66">
                              <a:alpha val="100000"/>
                            </a:srgbClr>
                          </a:solidFill>
                          <a:latin typeface="Deck-Bold"/>
                          <a:ea typeface="Deck-Bold"/>
                          <a:cs typeface="Deck-Bold"/>
                        </a:rPr>
                        <a:t xml:space="preserve">Still ahead</a:t>
                      </a:r>
                      <a:endParaRPr lang="en-US" sz="2700" spc="-89" kern="400000">
                        <a:latin typeface="Deck-Bold"/>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Verified sign-up and authentication</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6">
                          <a:solidFill>
                            <a:srgbClr val="3A3745">
                              <a:alpha val="100000"/>
                            </a:srgbClr>
                          </a:solidFill>
                          <a:latin typeface="Deck"/>
                          <a:ea typeface="Deck"/>
                          <a:cs typeface="Deck"/>
                        </a:defRPr>
                      </a:pPr>
                      <a:r>
                        <a:rPr sz="2175" b="0" i="0" kern="400000" spc="-6">
                          <a:solidFill>
                            <a:srgbClr val="3A3745">
                              <a:alpha val="100000"/>
                            </a:srgbClr>
                          </a:solidFill>
                          <a:latin typeface="Deck"/>
                          <a:ea typeface="Deck"/>
                          <a:cs typeface="Deck"/>
                        </a:rPr>
                        <a:t xml:space="preserve">Connected wearable measurements</a:t>
                      </a:r>
                      <a:endParaRPr lang="en-US" sz="2175" spc="-6"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Live insurance eligibility checks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Push notifications and background sync</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8">
                          <a:solidFill>
                            <a:srgbClr val="3A3745">
                              <a:alpha val="100000"/>
                            </a:srgbClr>
                          </a:solidFill>
                          <a:latin typeface="Deck"/>
                          <a:ea typeface="Deck"/>
                          <a:cs typeface="Deck"/>
                        </a:defRPr>
                      </a:pPr>
                      <a:r>
                        <a:rPr sz="2175" b="0" i="0" kern="400000" spc="-8">
                          <a:solidFill>
                            <a:srgbClr val="3A3745">
                              <a:alpha val="100000"/>
                            </a:srgbClr>
                          </a:solidFill>
                          <a:latin typeface="Deck"/>
                          <a:ea typeface="Deck"/>
                          <a:cs typeface="Deck"/>
                        </a:rPr>
                        <a:t xml:space="preserve">Live WorkBuddy or Codex connection</a:t>
                      </a:r>
                      <a:endParaRPr lang="en-US" sz="2175" spc="-8"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5">
                          <a:solidFill>
                            <a:srgbClr val="3A3745">
                              <a:alpha val="100000"/>
                            </a:srgbClr>
                          </a:solidFill>
                          <a:latin typeface="Deck"/>
                          <a:ea typeface="Deck"/>
                          <a:cs typeface="Deck"/>
                        </a:defRPr>
                      </a:pPr>
                      <a:r>
                        <a:rPr sz="2175" b="0" i="0" kern="400000" spc="-5">
                          <a:solidFill>
                            <a:srgbClr val="3A3745">
                              <a:alpha val="100000"/>
                            </a:srgbClr>
                          </a:solidFill>
                          <a:latin typeface="Deck"/>
                          <a:ea typeface="Deck"/>
                          <a:cs typeface="Deck"/>
                        </a:rPr>
                        <a:t xml:space="preserve">WhiteCoat redirect and teleconsult booking</a:t>
                      </a:r>
                      <a:endParaRPr lang="en-US" sz="2175" spc="-5" kern="400000">
                        <a:latin typeface="Deck"/>
                      </a:endParaRPr>
                    </a:p>
                  </a:txBody>
                  <a:tcPr marL="0" marR="0" marT="0" marB="0" anchor="t">
                    <a:lnL w="0">
                      <a:noFill/>
                    </a:lnL>
                    <a:lnR w="0">
                      <a:noFill/>
                    </a:lnR>
                    <a:lnT w="0">
                      <a:noFill/>
                    </a:lnT>
                    <a:lnB w="0">
                      <a:noFill/>
                    </a:lnB>
                    <a:lnTlToBr w="0">
                      <a:noFill/>
                    </a:lnTlToBr>
                    <a:lnBlToTr w="0">
                      <a:noFill/>
                    </a:lnBlToTr>
                    <a:noFill/>
                  </a:tcPr>
                </a:tc>
              </a:tr>
            </a:tbl>
          </a:graphicData>
        </a:graphic>
      </p:graphicFrame>
    </p:spTree>
    <p:extLst>
      <p:ext uri="{BB962C8B-B14F-4D97-AF65-F5344CB8AC3E}">
        <p14:creationId xmlns:p14="http://schemas.microsoft.com/office/powerpoint/2010/main" val="1670865884"/>
      </p:ext>
    </p:extLst>
  </p:cSld>
</p:sld>
</file>

<file path=ppt/slides/slide21.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8" name="s21-source-rule-0">
            <a:extLst xmlns:a="http://schemas.openxmlformats.org/drawingml/2006/main">
              <a:ext uri="{FF2B5EF4-FFF2-40B4-BE49-F238E27FC236}">
                <a16:creationId xmlns:a16="http://schemas.microsoft.com/office/drawing/2014/main" id="{B02EF675-037D-4066-BE58-FAD3412C1112}"/>
              </a:ext>
            </a:extLst>
          </p:cNvPr>
          <p:cNvSpPr>
            <a:spLocks xmlns:a="http://schemas.openxmlformats.org/drawingml/2006/main" noGrp="1"/>
          </p:cNvSpPr>
          <p:nvPr/>
        </p:nvSpPr>
        <p:spPr>
          <a:xfrm xmlns:a="http://schemas.openxmlformats.org/drawingml/2006/main">
            <a:off x="1009650" y="4921648"/>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2" name="s21-source-rule-1">
            <a:extLst xmlns:a="http://schemas.openxmlformats.org/drawingml/2006/main">
              <a:ext uri="{FF2B5EF4-FFF2-40B4-BE49-F238E27FC236}">
                <a16:creationId xmlns:a16="http://schemas.microsoft.com/office/drawing/2014/main" id="{9D293504-6A77-435B-9B1C-0728A109F93D}"/>
              </a:ext>
            </a:extLst>
          </p:cNvPr>
          <p:cNvSpPr>
            <a:spLocks xmlns:a="http://schemas.openxmlformats.org/drawingml/2006/main" noGrp="1"/>
          </p:cNvSpPr>
          <p:nvPr/>
        </p:nvSpPr>
        <p:spPr>
          <a:xfrm xmlns:a="http://schemas.openxmlformats.org/drawingml/2006/main">
            <a:off x="1009650" y="6377201"/>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3" name="s21-source-rule-2">
            <a:extLst xmlns:a="http://schemas.openxmlformats.org/drawingml/2006/main">
              <a:ext uri="{FF2B5EF4-FFF2-40B4-BE49-F238E27FC236}">
                <a16:creationId xmlns:a16="http://schemas.microsoft.com/office/drawing/2014/main" id="{E3F42F8C-B4E5-4BC8-A620-10C6307535F6}"/>
              </a:ext>
            </a:extLst>
          </p:cNvPr>
          <p:cNvSpPr>
            <a:spLocks xmlns:a="http://schemas.openxmlformats.org/drawingml/2006/main" noGrp="1"/>
          </p:cNvSpPr>
          <p:nvPr/>
        </p:nvSpPr>
        <p:spPr>
          <a:xfrm xmlns:a="http://schemas.openxmlformats.org/drawingml/2006/main">
            <a:off x="1009650" y="7832754"/>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4" name="s21-t000">
            <a:extLst xmlns:a="http://schemas.openxmlformats.org/drawingml/2006/main">
              <a:ext uri="{FF2B5EF4-FFF2-40B4-BE49-F238E27FC236}">
                <a16:creationId xmlns:a16="http://schemas.microsoft.com/office/drawing/2014/main" id="{B6BCF772-D549-4B68-AB67-8C1EE08596A8}"/>
              </a:ext>
            </a:extLst>
          </p:cNvPr>
          <p:cNvSpPr>
            <a:spLocks xmlns:a="http://schemas.openxmlformats.org/drawingml/2006/main" noGrp="1"/>
          </p:cNvSpPr>
          <p:nvPr/>
        </p:nvSpPr>
        <p:spPr>
          <a:xfrm xmlns:a="http://schemas.openxmlformats.org/drawingml/2006/main">
            <a:off x="1009650" y="1563179"/>
            <a:ext cx="7202891" cy="1159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425" spc="-421" kern="400000">
                <a:solidFill>
                  <a:srgbClr val="FAF6F0"/>
                </a:solidFill>
                <a:latin typeface="Deck-Semi-Bold"/>
                <a:ea typeface="Deck-Semi-Bold"/>
                <a:cs typeface="Deck-Semi-Bold"/>
              </a:defRPr>
            </a:pPr>
            <a:r>
              <a:rPr sz="7425" b="0" i="0" kern="400000" spc="-421">
                <a:solidFill>
                  <a:srgbClr val="FAF6F0">
                    <a:alpha val="100000"/>
                  </a:srgbClr>
                </a:solidFill>
                <a:latin typeface="Deck-Semi-Bold"/>
                <a:ea typeface="Deck-Semi-Bold"/>
                <a:cs typeface="Deck-Semi-Bold"/>
              </a:rPr>
              <a:t xml:space="preserve">See it for yourself.</a:t>
            </a:r>
            <a:endParaRPr lang="en-US" sz="7425" spc="-421" kern="400000">
              <a:latin typeface="Deck-Semi-Bold"/>
            </a:endParaRPr>
          </a:p>
        </p:txBody>
      </p:sp>
      <p:sp>
        <p:nvSpPr>
          <p:cNvPr id="5" name="s21-t001">
            <a:extLst xmlns:a="http://schemas.openxmlformats.org/drawingml/2006/main">
              <a:ext uri="{FF2B5EF4-FFF2-40B4-BE49-F238E27FC236}">
                <a16:creationId xmlns:a16="http://schemas.microsoft.com/office/drawing/2014/main" id="{092B559A-FFF4-4B12-B120-CCBD4EA90364}"/>
              </a:ext>
            </a:extLst>
          </p:cNvPr>
          <p:cNvSpPr>
            <a:spLocks xmlns:a="http://schemas.openxmlformats.org/drawingml/2006/main" noGrp="1"/>
          </p:cNvSpPr>
          <p:nvPr/>
        </p:nvSpPr>
        <p:spPr>
          <a:xfrm xmlns:a="http://schemas.openxmlformats.org/drawingml/2006/main">
            <a:off x="1009650" y="8417373"/>
            <a:ext cx="9787528"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3" kern="400000">
                <a:solidFill>
                  <a:srgbClr val="8BA494"/>
                </a:solidFill>
                <a:latin typeface="Deck"/>
                <a:ea typeface="Deck"/>
                <a:cs typeface="Deck"/>
              </a:defRPr>
            </a:pPr>
            <a:r>
              <a:rPr sz="1650" b="0" i="0" kern="400000" spc="-13">
                <a:solidFill>
                  <a:srgbClr val="8BA494">
                    <a:alpha val="100000"/>
                  </a:srgbClr>
                </a:solidFill>
                <a:latin typeface="Deck"/>
                <a:ea typeface="Deck"/>
                <a:cs typeface="Deck"/>
              </a:rPr>
              <a:t xml:space="preserve">Product screenshots captured 8 October 2026. Team: Alex Lew, Shao Quan Chew and Yau Boon Tan.</a:t>
            </a:r>
            <a:endParaRPr lang="en-US" sz="1650" spc="-13" kern="400000">
              <a:latin typeface="Deck"/>
            </a:endParaRPr>
          </a:p>
        </p:txBody>
      </p:sp>
      <p:sp>
        <p:nvSpPr>
          <p:cNvPr id="6" name="s21-t002">
            <a:extLst xmlns:a="http://schemas.openxmlformats.org/drawingml/2006/main">
              <a:ext uri="{FF2B5EF4-FFF2-40B4-BE49-F238E27FC236}">
                <a16:creationId xmlns:a16="http://schemas.microsoft.com/office/drawing/2014/main" id="{C2F3E37D-93E1-42F7-AAF8-B514D633AA2E}"/>
              </a:ext>
            </a:extLst>
          </p:cNvPr>
          <p:cNvSpPr>
            <a:spLocks xmlns:a="http://schemas.openxmlformats.org/drawingml/2006/main" noGrp="1"/>
          </p:cNvSpPr>
          <p:nvPr/>
        </p:nvSpPr>
        <p:spPr>
          <a:xfrm xmlns:a="http://schemas.openxmlformats.org/drawingml/2006/main">
            <a:off x="1009650" y="8731698"/>
            <a:ext cx="10746429"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5" kern="400000">
                <a:solidFill>
                  <a:srgbClr val="8BA494"/>
                </a:solidFill>
                <a:latin typeface="Deck"/>
                <a:ea typeface="Deck"/>
                <a:cs typeface="Deck"/>
              </a:defRPr>
            </a:pPr>
            <a:r>
              <a:rPr sz="1650" b="0" i="0" kern="400000" spc="-5">
                <a:solidFill>
                  <a:srgbClr val="8BA494">
                    <a:alpha val="100000"/>
                  </a:srgbClr>
                </a:solidFill>
                <a:latin typeface="Deck"/>
                <a:ea typeface="Deck"/>
                <a:cs typeface="Deck"/>
              </a:rPr>
              <a:t xml:space="preserve">Human imagery is illustrative. Additional source detail and presenter notes are included with the HTML source.</a:t>
            </a:r>
            <a:endParaRPr lang="en-US" sz="1650" spc="-5" kern="400000">
              <a:latin typeface="Deck"/>
            </a:endParaRPr>
          </a:p>
        </p:txBody>
      </p:sp>
      <p:sp>
        <p:nvSpPr>
          <p:cNvPr id="7" name="s21-t003">
            <a:extLst xmlns:a="http://schemas.openxmlformats.org/drawingml/2006/main">
              <a:ext uri="{FF2B5EF4-FFF2-40B4-BE49-F238E27FC236}">
                <a16:creationId xmlns:a16="http://schemas.microsoft.com/office/drawing/2014/main" id="{8F29C7DE-CE92-4673-8538-28D9B97447BE}"/>
              </a:ext>
            </a:extLst>
          </p:cNvPr>
          <p:cNvSpPr>
            <a:spLocks xmlns:a="http://schemas.openxmlformats.org/drawingml/2006/main" noGrp="1"/>
          </p:cNvSpPr>
          <p:nvPr/>
        </p:nvSpPr>
        <p:spPr>
          <a:xfrm xmlns:a="http://schemas.openxmlformats.org/drawingml/2006/main">
            <a:off x="1009650" y="942980"/>
            <a:ext cx="4813306"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0" kern="400000">
                <a:solidFill>
                  <a:srgbClr val="FAF6F0"/>
                </a:solidFill>
                <a:latin typeface="Deck-Medium"/>
                <a:ea typeface="Deck-Medium"/>
                <a:cs typeface="Deck-Medium"/>
              </a:defRPr>
            </a:pPr>
            <a:r>
              <a:rPr sz="1725" b="0" i="0" kern="400000" spc="290">
                <a:solidFill>
                  <a:srgbClr val="BBBAB6">
                    <a:alpha val="100000"/>
                  </a:srgbClr>
                </a:solidFill>
                <a:latin typeface="Deck-Medium"/>
                <a:ea typeface="Deck-Medium"/>
                <a:cs typeface="Deck-Medium"/>
              </a:rPr>
              <a:t xml:space="preserve">REFERENCES &amp; DEMONSTRATION</a:t>
            </a:r>
            <a:endParaRPr lang="en-US" sz="1725" spc="290" kern="400000">
              <a:latin typeface="Deck-Medium"/>
            </a:endParaRPr>
          </a:p>
        </p:txBody>
      </p:sp>
      <p:sp>
        <p:nvSpPr>
          <p:cNvPr id="8" name="s21-t004">
            <a:hlinkClick xmlns:r="http://schemas.openxmlformats.org/officeDocument/2006/relationships" xmlns:a="http://schemas.openxmlformats.org/drawingml/2006/main" r:id="R23e81c7488d84ca2"/>
            <a:extLst xmlns:a="http://schemas.openxmlformats.org/drawingml/2006/main">
              <a:ext uri="{FF2B5EF4-FFF2-40B4-BE49-F238E27FC236}">
                <a16:creationId xmlns:a16="http://schemas.microsoft.com/office/drawing/2014/main" id="{B7896C4A-9446-4FCA-9039-F554A4E42D0D}"/>
              </a:ext>
            </a:extLst>
          </p:cNvPr>
          <p:cNvSpPr>
            <a:spLocks xmlns:a="http://schemas.openxmlformats.org/drawingml/2006/main" noGrp="1"/>
          </p:cNvSpPr>
          <p:nvPr/>
        </p:nvSpPr>
        <p:spPr>
          <a:xfrm xmlns:a="http://schemas.openxmlformats.org/drawingml/2006/main">
            <a:off x="1771650" y="3732793"/>
            <a:ext cx="4997101"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71" kern="400000" u="none">
                <a:solidFill>
                  <a:srgbClr val="9BDAB6"/>
                </a:solidFill>
                <a:latin typeface="Deck"/>
                <a:ea typeface="Deck"/>
                <a:cs typeface="Deck"/>
              </a:defRPr>
            </a:pPr>
            <a:r>
              <a:rPr sz="2850" b="0" i="0" kern="400000" spc="-71" u="none">
                <a:solidFill>
                  <a:srgbClr val="9BDAB6">
                    <a:alpha val="100000"/>
                  </a:srgbClr>
                </a:solidFill>
                <a:latin typeface="Deck"/>
                <a:ea typeface="Deck"/>
                <a:cs typeface="Deck"/>
              </a:rPr>
              <a:t xml:space="preserve">CareBuddy product &amp; brand ↗</a:t>
            </a:r>
            <a:endParaRPr lang="en-US" sz="2850" spc="-71" kern="400000">
              <a:latin typeface="Deck"/>
            </a:endParaRPr>
          </a:p>
        </p:txBody>
      </p:sp>
      <p:sp>
        <p:nvSpPr>
          <p:cNvPr id="9" name="s21-t005">
            <a:extLst xmlns:a="http://schemas.openxmlformats.org/drawingml/2006/main">
              <a:ext uri="{FF2B5EF4-FFF2-40B4-BE49-F238E27FC236}">
                <a16:creationId xmlns:a16="http://schemas.microsoft.com/office/drawing/2014/main" id="{D2D54BE4-475B-4A2F-8D49-63B3B7B8BC30}"/>
              </a:ext>
            </a:extLst>
          </p:cNvPr>
          <p:cNvSpPr>
            <a:spLocks xmlns:a="http://schemas.openxmlformats.org/drawingml/2006/main" noGrp="1"/>
          </p:cNvSpPr>
          <p:nvPr/>
        </p:nvSpPr>
        <p:spPr>
          <a:xfrm xmlns:a="http://schemas.openxmlformats.org/drawingml/2006/main">
            <a:off x="1771650" y="4314440"/>
            <a:ext cx="6058891"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5" kern="400000">
                <a:solidFill>
                  <a:srgbClr val="AEBCB3"/>
                </a:solidFill>
                <a:latin typeface="Deck"/>
                <a:ea typeface="Deck"/>
                <a:cs typeface="Deck"/>
              </a:defRPr>
            </a:pPr>
            <a:r>
              <a:rPr sz="1950" b="0" i="0" kern="400000" spc="-5">
                <a:solidFill>
                  <a:srgbClr val="AEBCB3">
                    <a:alpha val="100000"/>
                  </a:srgbClr>
                </a:solidFill>
                <a:latin typeface="Deck"/>
                <a:ea typeface="Deck"/>
                <a:cs typeface="Deck"/>
              </a:rPr>
              <a:t xml:space="preserve">Current slogan, visual identity and public prototype.</a:t>
            </a:r>
            <a:endParaRPr lang="en-US" sz="1950" spc="-5" kern="400000">
              <a:latin typeface="Deck"/>
            </a:endParaRPr>
          </a:p>
        </p:txBody>
      </p:sp>
      <p:sp>
        <p:nvSpPr>
          <p:cNvPr id="10" name="s21-t006">
            <a:extLst xmlns:a="http://schemas.openxmlformats.org/drawingml/2006/main">
              <a:ext uri="{FF2B5EF4-FFF2-40B4-BE49-F238E27FC236}">
                <a16:creationId xmlns:a16="http://schemas.microsoft.com/office/drawing/2014/main" id="{DABD6220-9BAB-4AD4-B091-50B6D012A4A1}"/>
              </a:ext>
            </a:extLst>
          </p:cNvPr>
          <p:cNvSpPr>
            <a:spLocks xmlns:a="http://schemas.openxmlformats.org/drawingml/2006/main" noGrp="1"/>
          </p:cNvSpPr>
          <p:nvPr/>
        </p:nvSpPr>
        <p:spPr>
          <a:xfrm xmlns:a="http://schemas.openxmlformats.org/drawingml/2006/main">
            <a:off x="1009650" y="3761374"/>
            <a:ext cx="4750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01</a:t>
            </a:r>
            <a:endParaRPr lang="en-US" sz="1725" spc="150" kern="400000">
              <a:latin typeface="Deck"/>
            </a:endParaRPr>
          </a:p>
        </p:txBody>
      </p:sp>
      <p:sp>
        <p:nvSpPr>
          <p:cNvPr id="11" name="s21-t007">
            <a:hlinkClick xmlns:r="http://schemas.openxmlformats.org/officeDocument/2006/relationships" xmlns:a="http://schemas.openxmlformats.org/drawingml/2006/main" r:id="R977ab59221c74515"/>
            <a:extLst xmlns:a="http://schemas.openxmlformats.org/drawingml/2006/main">
              <a:ext uri="{FF2B5EF4-FFF2-40B4-BE49-F238E27FC236}">
                <a16:creationId xmlns:a16="http://schemas.microsoft.com/office/drawing/2014/main" id="{93586D50-CC11-40EC-8F39-9363FFBFD9A1}"/>
              </a:ext>
            </a:extLst>
          </p:cNvPr>
          <p:cNvSpPr>
            <a:spLocks xmlns:a="http://schemas.openxmlformats.org/drawingml/2006/main" noGrp="1"/>
          </p:cNvSpPr>
          <p:nvPr/>
        </p:nvSpPr>
        <p:spPr>
          <a:xfrm xmlns:a="http://schemas.openxmlformats.org/drawingml/2006/main">
            <a:off x="1771650" y="5188346"/>
            <a:ext cx="3332998"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68" kern="400000" u="none">
                <a:solidFill>
                  <a:srgbClr val="9BDAB6"/>
                </a:solidFill>
                <a:latin typeface="Deck"/>
                <a:ea typeface="Deck"/>
                <a:cs typeface="Deck"/>
              </a:defRPr>
            </a:pPr>
            <a:r>
              <a:rPr sz="2850" b="0" i="0" kern="400000" spc="-68" u="none">
                <a:solidFill>
                  <a:srgbClr val="9BDAB6">
                    <a:alpha val="100000"/>
                  </a:srgbClr>
                </a:solidFill>
                <a:latin typeface="Deck"/>
                <a:ea typeface="Deck"/>
                <a:cs typeface="Deck"/>
              </a:rPr>
              <a:t xml:space="preserve">CareBuddy demo ↗</a:t>
            </a:r>
            <a:endParaRPr lang="en-US" sz="2850" spc="-68" kern="400000">
              <a:latin typeface="Deck"/>
            </a:endParaRPr>
          </a:p>
        </p:txBody>
      </p:sp>
      <p:sp>
        <p:nvSpPr>
          <p:cNvPr id="12" name="s21-t008">
            <a:extLst xmlns:a="http://schemas.openxmlformats.org/drawingml/2006/main">
              <a:ext uri="{FF2B5EF4-FFF2-40B4-BE49-F238E27FC236}">
                <a16:creationId xmlns:a16="http://schemas.microsoft.com/office/drawing/2014/main" id="{D0AD99B4-EEDA-4EDD-AF35-3AF8BA27B624}"/>
              </a:ext>
            </a:extLst>
          </p:cNvPr>
          <p:cNvSpPr>
            <a:spLocks xmlns:a="http://schemas.openxmlformats.org/drawingml/2006/main" noGrp="1"/>
          </p:cNvSpPr>
          <p:nvPr/>
        </p:nvSpPr>
        <p:spPr>
          <a:xfrm xmlns:a="http://schemas.openxmlformats.org/drawingml/2006/main">
            <a:off x="1771650" y="5769993"/>
            <a:ext cx="8753570"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13" kern="400000">
                <a:solidFill>
                  <a:srgbClr val="AEBCB3"/>
                </a:solidFill>
                <a:latin typeface="Deck"/>
                <a:ea typeface="Deck"/>
                <a:cs typeface="Deck"/>
              </a:defRPr>
            </a:pPr>
            <a:r>
              <a:rPr sz="1950" b="0" i="0" kern="400000" spc="-13">
                <a:solidFill>
                  <a:srgbClr val="AEBCB3">
                    <a:alpha val="100000"/>
                  </a:srgbClr>
                </a:solidFill>
                <a:latin typeface="Deck"/>
                <a:ea typeface="Deck"/>
                <a:cs typeface="Deck"/>
              </a:rPr>
              <a:t xml:space="preserve">Original screens: Today, Family, Health, Sleep, Benefits, Buddy and Settings.</a:t>
            </a:r>
            <a:endParaRPr lang="en-US" sz="1950" spc="-13" kern="400000">
              <a:latin typeface="Deck"/>
            </a:endParaRPr>
          </a:p>
        </p:txBody>
      </p:sp>
      <p:sp>
        <p:nvSpPr>
          <p:cNvPr id="13" name="s21-t009">
            <a:extLst xmlns:a="http://schemas.openxmlformats.org/drawingml/2006/main">
              <a:ext uri="{FF2B5EF4-FFF2-40B4-BE49-F238E27FC236}">
                <a16:creationId xmlns:a16="http://schemas.microsoft.com/office/drawing/2014/main" id="{DD85B413-8CC6-43FA-A358-77FD46D3A405}"/>
              </a:ext>
            </a:extLst>
          </p:cNvPr>
          <p:cNvSpPr>
            <a:spLocks xmlns:a="http://schemas.openxmlformats.org/drawingml/2006/main" noGrp="1"/>
          </p:cNvSpPr>
          <p:nvPr/>
        </p:nvSpPr>
        <p:spPr>
          <a:xfrm xmlns:a="http://schemas.openxmlformats.org/drawingml/2006/main">
            <a:off x="1009650" y="5216927"/>
            <a:ext cx="52391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02</a:t>
            </a:r>
            <a:endParaRPr lang="en-US" sz="1725" spc="150" kern="400000">
              <a:latin typeface="Deck"/>
            </a:endParaRPr>
          </a:p>
        </p:txBody>
      </p:sp>
      <p:sp>
        <p:nvSpPr>
          <p:cNvPr id="14" name="s21-t010">
            <a:hlinkClick xmlns:r="http://schemas.openxmlformats.org/officeDocument/2006/relationships" xmlns:a="http://schemas.openxmlformats.org/drawingml/2006/main" r:id="R3ed6cdc3ef654af7"/>
            <a:extLst xmlns:a="http://schemas.openxmlformats.org/drawingml/2006/main">
              <a:ext uri="{FF2B5EF4-FFF2-40B4-BE49-F238E27FC236}">
                <a16:creationId xmlns:a16="http://schemas.microsoft.com/office/drawing/2014/main" id="{4FB56056-C6CB-4D94-B628-0CADCDC2E1E9}"/>
              </a:ext>
            </a:extLst>
          </p:cNvPr>
          <p:cNvSpPr>
            <a:spLocks xmlns:a="http://schemas.openxmlformats.org/drawingml/2006/main" noGrp="1"/>
          </p:cNvSpPr>
          <p:nvPr/>
        </p:nvSpPr>
        <p:spPr>
          <a:xfrm xmlns:a="http://schemas.openxmlformats.org/drawingml/2006/main">
            <a:off x="1771650" y="6643899"/>
            <a:ext cx="3509439"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110" kern="400000" u="none">
                <a:solidFill>
                  <a:srgbClr val="9BDAB6"/>
                </a:solidFill>
                <a:latin typeface="Deck"/>
                <a:ea typeface="Deck"/>
                <a:cs typeface="Deck"/>
              </a:defRPr>
            </a:pPr>
            <a:r>
              <a:rPr sz="2850" b="0" i="0" kern="400000" spc="-110" u="none">
                <a:solidFill>
                  <a:srgbClr val="9BDAB6">
                    <a:alpha val="100000"/>
                  </a:srgbClr>
                </a:solidFill>
                <a:latin typeface="Deck"/>
                <a:ea typeface="Deck"/>
                <a:cs typeface="Deck"/>
              </a:rPr>
              <a:t xml:space="preserve">Tencent TokenHub ↗</a:t>
            </a:r>
            <a:endParaRPr lang="en-US" sz="2850" spc="-110" kern="400000">
              <a:latin typeface="Deck"/>
            </a:endParaRPr>
          </a:p>
        </p:txBody>
      </p:sp>
      <p:sp>
        <p:nvSpPr>
          <p:cNvPr id="15" name="s21-t011">
            <a:extLst xmlns:a="http://schemas.openxmlformats.org/drawingml/2006/main">
              <a:ext uri="{FF2B5EF4-FFF2-40B4-BE49-F238E27FC236}">
                <a16:creationId xmlns:a16="http://schemas.microsoft.com/office/drawing/2014/main" id="{CC82E5B2-F293-4101-B84B-E139C0839B06}"/>
              </a:ext>
            </a:extLst>
          </p:cNvPr>
          <p:cNvSpPr>
            <a:spLocks xmlns:a="http://schemas.openxmlformats.org/drawingml/2006/main" noGrp="1"/>
          </p:cNvSpPr>
          <p:nvPr/>
        </p:nvSpPr>
        <p:spPr>
          <a:xfrm xmlns:a="http://schemas.openxmlformats.org/drawingml/2006/main">
            <a:off x="1771650" y="7225547"/>
            <a:ext cx="9202560"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6" kern="400000">
                <a:solidFill>
                  <a:srgbClr val="AEBCB3"/>
                </a:solidFill>
                <a:latin typeface="Deck"/>
                <a:ea typeface="Deck"/>
                <a:cs typeface="Deck"/>
              </a:defRPr>
            </a:pPr>
            <a:r>
              <a:rPr sz="1950" b="0" i="0" kern="400000" spc="-6">
                <a:solidFill>
                  <a:srgbClr val="AEBCB3">
                    <a:alpha val="100000"/>
                  </a:srgbClr>
                </a:solidFill>
                <a:latin typeface="Deck"/>
                <a:ea typeface="Deck"/>
                <a:cs typeface="Deck"/>
              </a:rPr>
              <a:t xml:space="preserve">Architecture names are supplied by the team; deployment evidence is separate.</a:t>
            </a:r>
            <a:endParaRPr lang="en-US" sz="1950" spc="-6" kern="400000">
              <a:latin typeface="Deck"/>
            </a:endParaRPr>
          </a:p>
        </p:txBody>
      </p:sp>
      <p:sp>
        <p:nvSpPr>
          <p:cNvPr id="16" name="s21-t012">
            <a:extLst xmlns:a="http://schemas.openxmlformats.org/drawingml/2006/main">
              <a:ext uri="{FF2B5EF4-FFF2-40B4-BE49-F238E27FC236}">
                <a16:creationId xmlns:a16="http://schemas.microsoft.com/office/drawing/2014/main" id="{1067A211-A871-453E-BC82-F990619FB8EE}"/>
              </a:ext>
            </a:extLst>
          </p:cNvPr>
          <p:cNvSpPr>
            <a:spLocks xmlns:a="http://schemas.openxmlformats.org/drawingml/2006/main" noGrp="1"/>
          </p:cNvSpPr>
          <p:nvPr/>
        </p:nvSpPr>
        <p:spPr>
          <a:xfrm xmlns:a="http://schemas.openxmlformats.org/drawingml/2006/main">
            <a:off x="1009650" y="6672481"/>
            <a:ext cx="52698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03</a:t>
            </a:r>
            <a:endParaRPr lang="en-US" sz="1725" spc="150" kern="400000">
              <a:latin typeface="Deck"/>
            </a:endParaRPr>
          </a:p>
        </p:txBody>
      </p:sp>
      <p:sp>
        <p:nvSpPr>
          <p:cNvPr id="17" name="s21-t013">
            <a:extLst xmlns:a="http://schemas.openxmlformats.org/drawingml/2006/main">
              <a:ext uri="{FF2B5EF4-FFF2-40B4-BE49-F238E27FC236}">
                <a16:creationId xmlns:a16="http://schemas.microsoft.com/office/drawing/2014/main" id="{F17BC578-0E95-4E99-8F4D-CC6849957D70}"/>
              </a:ext>
            </a:extLst>
          </p:cNvPr>
          <p:cNvSpPr>
            <a:spLocks xmlns:a="http://schemas.openxmlformats.org/drawingml/2006/main" noGrp="1"/>
          </p:cNvSpPr>
          <p:nvPr/>
        </p:nvSpPr>
        <p:spPr>
          <a:xfrm xmlns:a="http://schemas.openxmlformats.org/drawingml/2006/main">
            <a:off x="17179124" y="9730387"/>
            <a:ext cx="3934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21</a:t>
            </a:r>
            <a:endParaRPr lang="en-US" sz="1350" spc="6" kern="400000">
              <a:latin typeface="Deck"/>
            </a:endParaRPr>
          </a:p>
        </p:txBody>
      </p:sp>
    </p:spTree>
    <p:extLst>
      <p:ext uri="{BB962C8B-B14F-4D97-AF65-F5344CB8AC3E}">
        <p14:creationId xmlns:p14="http://schemas.microsoft.com/office/powerpoint/2010/main" val="1791565596"/>
      </p:ext>
    </p:extLst>
  </p:cSld>
</p:sld>
</file>

<file path=ppt/slides/slide22.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cxnSp>
        <p:nvCxnSpPr>
          <p:cNvPr id="43" name=""/>
          <p:cNvCxnSpPr>
            <a:stCxn xmlns:a="http://schemas.openxmlformats.org/drawingml/2006/main" id="14" idx="3"/>
            <a:endCxn xmlns:a="http://schemas.openxmlformats.org/drawingml/2006/main" id="24" idx="1"/>
          </p:cNvCxnSpPr>
          <p:nvPr/>
        </p:nvCxnSpPr>
        <p:spPr>
          <a:xfrm xmlns:a="http://schemas.openxmlformats.org/drawingml/2006/main" flipV="1">
            <a:off x="10191750" y="4924425"/>
            <a:ext cx="3619500" cy="1905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4" name=""/>
          <p:cNvCxnSpPr>
            <a:stCxn xmlns:a="http://schemas.openxmlformats.org/drawingml/2006/main" id="17" idx="3"/>
            <a:endCxn xmlns:a="http://schemas.openxmlformats.org/drawingml/2006/main" id="20" idx="1"/>
          </p:cNvCxnSpPr>
          <p:nvPr/>
        </p:nvCxnSpPr>
        <p:spPr>
          <a:xfrm xmlns:a="http://schemas.openxmlformats.org/drawingml/2006/main" flipV="1">
            <a:off x="10191750" y="5857875"/>
            <a:ext cx="628650" cy="1038225"/>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5" name=""/>
          <p:cNvCxnSpPr>
            <a:stCxn xmlns:a="http://schemas.openxmlformats.org/drawingml/2006/main" id="14" idx="3"/>
            <a:endCxn xmlns:a="http://schemas.openxmlformats.org/drawingml/2006/main" id="20" idx="1"/>
          </p:cNvCxnSpPr>
          <p:nvPr/>
        </p:nvCxnSpPr>
        <p:spPr>
          <a:xfrm xmlns:a="http://schemas.openxmlformats.org/drawingml/2006/main">
            <a:off x="10191750" y="4943475"/>
            <a:ext cx="628650" cy="91440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6" name=""/>
          <p:cNvCxnSpPr>
            <a:stCxn xmlns:a="http://schemas.openxmlformats.org/drawingml/2006/main" id="9" idx="3"/>
            <a:endCxn xmlns:a="http://schemas.openxmlformats.org/drawingml/2006/main" id="17" idx="1"/>
          </p:cNvCxnSpPr>
          <p:nvPr/>
        </p:nvCxnSpPr>
        <p:spPr>
          <a:xfrm xmlns:a="http://schemas.openxmlformats.org/drawingml/2006/main">
            <a:off x="6953250" y="5762625"/>
            <a:ext cx="838200" cy="1133475"/>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7" name=""/>
          <p:cNvCxnSpPr>
            <a:stCxn xmlns:a="http://schemas.openxmlformats.org/drawingml/2006/main" id="9" idx="3"/>
            <a:endCxn xmlns:a="http://schemas.openxmlformats.org/drawingml/2006/main" id="14" idx="1"/>
          </p:cNvCxnSpPr>
          <p:nvPr/>
        </p:nvCxnSpPr>
        <p:spPr>
          <a:xfrm xmlns:a="http://schemas.openxmlformats.org/drawingml/2006/main" flipV="1">
            <a:off x="6953250" y="4943475"/>
            <a:ext cx="838200" cy="81915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8" name=""/>
          <p:cNvCxnSpPr>
            <a:stCxn xmlns:a="http://schemas.openxmlformats.org/drawingml/2006/main" id="6" idx="3"/>
            <a:endCxn xmlns:a="http://schemas.openxmlformats.org/drawingml/2006/main" id="9" idx="1"/>
          </p:cNvCxnSpPr>
          <p:nvPr/>
        </p:nvCxnSpPr>
        <p:spPr>
          <a:xfrm xmlns:a="http://schemas.openxmlformats.org/drawingml/2006/main">
            <a:off x="3438525" y="5762625"/>
            <a:ext cx="752475" cy="0"/>
          </a:xfrm>
          <a:prstGeom xmlns:a="http://schemas.openxmlformats.org/drawingml/2006/main" prst="straightConnector1">
            <a:avLst/>
          </a:prstGeom>
          <a:ln xmlns:a="http://schemas.openxmlformats.org/drawingml/2006/main" w="19050">
            <a:solidFill>
              <a:srgbClr val="9BDAB6"/>
            </a:solidFill>
            <a:tailEnd type="triangle" w="med" len="med"/>
          </a:ln>
        </p:spPr>
      </p:cxnSp>
      <p:sp>
        <p:nvSpPr>
          <p:cNvPr id="49" name="appendix-text-1">
            <a:extLst xmlns:a="http://schemas.openxmlformats.org/drawingml/2006/main">
              <a:ext uri="{FF2B5EF4-FFF2-40B4-BE49-F238E27FC236}">
                <a16:creationId xmlns:a16="http://schemas.microsoft.com/office/drawing/2014/main" id="{7BA94566-6CC2-46C5-9DE1-FD3EB917D1BB}"/>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STRATEGY &amp; PRODUCTION APPENDIX</a:t>
            </a:r>
          </a:p>
        </p:txBody>
      </p:sp>
      <p:sp>
        <p:nvSpPr>
          <p:cNvPr id="2" name="appendix-text-2">
            <a:extLst xmlns:a="http://schemas.openxmlformats.org/drawingml/2006/main">
              <a:ext uri="{FF2B5EF4-FFF2-40B4-BE49-F238E27FC236}">
                <a16:creationId xmlns:a16="http://schemas.microsoft.com/office/drawing/2014/main" id="{6F6EBF7A-D114-4079-8757-D0F3FC203825}"/>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FAF6F0"/>
                </a:solidFill>
                <a:latin typeface="Deck-Semi-Bold"/>
                <a:ea typeface="Deck-Semi-Bold"/>
                <a:cs typeface="Deck-Semi-Bold"/>
              </a:defRPr>
            </a:pPr>
            <a:r>
              <a:rPr sz="6525">
                <a:solidFill>
                  <a:srgbClr val="FAF6F0"/>
                </a:solidFill>
                <a:latin typeface="Deck-Semi-Bold"/>
                <a:ea typeface="Deck-Semi-Bold"/>
                <a:cs typeface="Deck-Semi-Bold"/>
              </a:rPr>
              <a:t>High availability architecture</a:t>
            </a:r>
          </a:p>
        </p:txBody>
      </p:sp>
      <p:sp>
        <p:nvSpPr>
          <p:cNvPr id="3" name="appendix-text-3">
            <a:extLst xmlns:a="http://schemas.openxmlformats.org/drawingml/2006/main">
              <a:ext uri="{FF2B5EF4-FFF2-40B4-BE49-F238E27FC236}">
                <a16:creationId xmlns:a16="http://schemas.microsoft.com/office/drawing/2014/main" id="{2B25E3A0-3B15-4F0A-9A78-F92E325C2591}"/>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Proposed Tencent Cloud deployment in Singapore</a:t>
            </a:r>
          </a:p>
        </p:txBody>
      </p:sp>
      <p:sp>
        <p:nvSpPr>
          <p:cNvPr id="4" name="Singapore-region-boundary">
            <a:extLst xmlns:a="http://schemas.openxmlformats.org/drawingml/2006/main">
              <a:ext uri="{FF2B5EF4-FFF2-40B4-BE49-F238E27FC236}">
                <a16:creationId xmlns:a16="http://schemas.microsoft.com/office/drawing/2014/main" id="{B2B20CFD-397C-4EDE-A699-3F66EE25F63D}"/>
              </a:ext>
            </a:extLst>
          </p:cNvPr>
          <p:cNvSpPr>
            <a:spLocks xmlns:a="http://schemas.openxmlformats.org/drawingml/2006/main" noGrp="1"/>
          </p:cNvSpPr>
          <p:nvPr/>
        </p:nvSpPr>
        <p:spPr>
          <a:xfrm xmlns:a="http://schemas.openxmlformats.org/drawingml/2006/main">
            <a:off x="3876675" y="3333750"/>
            <a:ext cx="9382125" cy="4667250"/>
          </a:xfrm>
          <a:prstGeom xmlns:a="http://schemas.openxmlformats.org/drawingml/2006/main" prst="rect">
            <a:avLst/>
          </a:prstGeom>
          <a:noFill xmlns:a="http://schemas.openxmlformats.org/drawingml/2006/main"/>
          <a:ln xmlns:a="http://schemas.openxmlformats.org/drawingml/2006/main" w="14288">
            <a:solidFill>
              <a:srgbClr val="557C63"/>
            </a:solidFill>
          </a:ln>
        </p:spPr>
      </p:sp>
      <p:sp>
        <p:nvSpPr>
          <p:cNvPr id="5" name="appendix-text-4">
            <a:extLst xmlns:a="http://schemas.openxmlformats.org/drawingml/2006/main">
              <a:ext uri="{FF2B5EF4-FFF2-40B4-BE49-F238E27FC236}">
                <a16:creationId xmlns:a16="http://schemas.microsoft.com/office/drawing/2014/main" id="{39F0EFFC-0B95-436C-AE47-149AE912489D}"/>
              </a:ext>
            </a:extLst>
          </p:cNvPr>
          <p:cNvSpPr>
            <a:spLocks xmlns:a="http://schemas.openxmlformats.org/drawingml/2006/main" noGrp="1"/>
          </p:cNvSpPr>
          <p:nvPr/>
        </p:nvSpPr>
        <p:spPr>
          <a:xfrm xmlns:a="http://schemas.openxmlformats.org/drawingml/2006/main">
            <a:off x="4095750" y="3524250"/>
            <a:ext cx="8905875"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9BDAB6"/>
                </a:solidFill>
                <a:latin typeface="Deck-Medium"/>
                <a:ea typeface="Deck-Medium"/>
                <a:cs typeface="Deck-Medium"/>
              </a:defRPr>
            </a:pPr>
            <a:r>
              <a:rPr sz="1650">
                <a:solidFill>
                  <a:srgbClr val="9BDAB6"/>
                </a:solidFill>
                <a:latin typeface="Deck-Medium"/>
                <a:ea typeface="Deck-Medium"/>
                <a:cs typeface="Deck-Medium"/>
              </a:rPr>
              <a:t>SINGAPORE REGION · SAME VPC, TWO AVAILABILITY ZONES</a:t>
            </a:r>
          </a:p>
        </p:txBody>
      </p:sp>
      <p:sp>
        <p:nvSpPr>
          <p:cNvPr id="6" name="CareBuddy-PWA">
            <a:extLst xmlns:a="http://schemas.openxmlformats.org/drawingml/2006/main">
              <a:ext uri="{FF2B5EF4-FFF2-40B4-BE49-F238E27FC236}">
                <a16:creationId xmlns:a16="http://schemas.microsoft.com/office/drawing/2014/main" id="{0BE8B5E1-EA77-4D49-8D4D-C083E92880F8}"/>
              </a:ext>
            </a:extLst>
          </p:cNvPr>
          <p:cNvSpPr>
            <a:spLocks xmlns:a="http://schemas.openxmlformats.org/drawingml/2006/main" noGrp="1"/>
          </p:cNvSpPr>
          <p:nvPr/>
        </p:nvSpPr>
        <p:spPr>
          <a:xfrm xmlns:a="http://schemas.openxmlformats.org/drawingml/2006/main">
            <a:off x="990600" y="5191125"/>
            <a:ext cx="2447925" cy="11430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7" name="appendix-text-5">
            <a:extLst xmlns:a="http://schemas.openxmlformats.org/drawingml/2006/main">
              <a:ext uri="{FF2B5EF4-FFF2-40B4-BE49-F238E27FC236}">
                <a16:creationId xmlns:a16="http://schemas.microsoft.com/office/drawing/2014/main" id="{05527D46-641B-4706-81A9-7993AEC03AD4}"/>
              </a:ext>
            </a:extLst>
          </p:cNvPr>
          <p:cNvSpPr>
            <a:spLocks xmlns:a="http://schemas.openxmlformats.org/drawingml/2006/main" noGrp="1"/>
          </p:cNvSpPr>
          <p:nvPr/>
        </p:nvSpPr>
        <p:spPr>
          <a:xfrm xmlns:a="http://schemas.openxmlformats.org/drawingml/2006/main">
            <a:off x="1143000" y="5381625"/>
            <a:ext cx="2143125"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CareBuddy PWA</a:t>
            </a:r>
          </a:p>
        </p:txBody>
      </p:sp>
      <p:sp>
        <p:nvSpPr>
          <p:cNvPr id="8" name="appendix-text-6">
            <a:extLst xmlns:a="http://schemas.openxmlformats.org/drawingml/2006/main">
              <a:ext uri="{FF2B5EF4-FFF2-40B4-BE49-F238E27FC236}">
                <a16:creationId xmlns:a16="http://schemas.microsoft.com/office/drawing/2014/main" id="{BBE1AFEE-3A8D-4E56-8729-AACB53BD23FB}"/>
              </a:ext>
            </a:extLst>
          </p:cNvPr>
          <p:cNvSpPr>
            <a:spLocks xmlns:a="http://schemas.openxmlformats.org/drawingml/2006/main" noGrp="1"/>
          </p:cNvSpPr>
          <p:nvPr/>
        </p:nvSpPr>
        <p:spPr>
          <a:xfrm xmlns:a="http://schemas.openxmlformats.org/drawingml/2006/main">
            <a:off x="1143000" y="5819775"/>
            <a:ext cx="21431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Family &amp; caregivers</a:t>
            </a:r>
          </a:p>
        </p:txBody>
      </p:sp>
      <p:sp>
        <p:nvSpPr>
          <p:cNvPr id="9" name="regional-load-balancer">
            <a:extLst xmlns:a="http://schemas.openxmlformats.org/drawingml/2006/main">
              <a:ext uri="{FF2B5EF4-FFF2-40B4-BE49-F238E27FC236}">
                <a16:creationId xmlns:a16="http://schemas.microsoft.com/office/drawing/2014/main" id="{BAD0AC37-8C8B-4D21-A45C-CF8E6CE3496E}"/>
              </a:ext>
            </a:extLst>
          </p:cNvPr>
          <p:cNvSpPr>
            <a:spLocks xmlns:a="http://schemas.openxmlformats.org/drawingml/2006/main" noGrp="1"/>
          </p:cNvSpPr>
          <p:nvPr/>
        </p:nvSpPr>
        <p:spPr>
          <a:xfrm xmlns:a="http://schemas.openxmlformats.org/drawingml/2006/main">
            <a:off x="4191000" y="5191125"/>
            <a:ext cx="2762250" cy="11430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0" name="appendix-text-7">
            <a:extLst xmlns:a="http://schemas.openxmlformats.org/drawingml/2006/main">
              <a:ext uri="{FF2B5EF4-FFF2-40B4-BE49-F238E27FC236}">
                <a16:creationId xmlns:a16="http://schemas.microsoft.com/office/drawing/2014/main" id="{3703D929-9687-4C3E-8D1B-9CC5AB4BA0BB}"/>
              </a:ext>
            </a:extLst>
          </p:cNvPr>
          <p:cNvSpPr>
            <a:spLocks xmlns:a="http://schemas.openxmlformats.org/drawingml/2006/main" noGrp="1"/>
          </p:cNvSpPr>
          <p:nvPr/>
        </p:nvSpPr>
        <p:spPr>
          <a:xfrm xmlns:a="http://schemas.openxmlformats.org/drawingml/2006/main">
            <a:off x="4343400" y="538162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Medium"/>
                <a:ea typeface="Deck-Medium"/>
                <a:cs typeface="Deck-Medium"/>
              </a:defRPr>
            </a:pPr>
            <a:r>
              <a:rPr sz="2100">
                <a:solidFill>
                  <a:srgbClr val="FAF6F0"/>
                </a:solidFill>
                <a:latin typeface="Deck-Medium"/>
                <a:ea typeface="Deck-Medium"/>
                <a:cs typeface="Deck-Medium"/>
              </a:rPr>
              <a:t>WAF + regional CLB</a:t>
            </a:r>
          </a:p>
        </p:txBody>
      </p:sp>
      <p:sp>
        <p:nvSpPr>
          <p:cNvPr id="11" name="appendix-text-8">
            <a:extLst xmlns:a="http://schemas.openxmlformats.org/drawingml/2006/main">
              <a:ext uri="{FF2B5EF4-FFF2-40B4-BE49-F238E27FC236}">
                <a16:creationId xmlns:a16="http://schemas.microsoft.com/office/drawing/2014/main" id="{AEE72CA2-DC85-4E43-A78C-FA09EF24BD44}"/>
              </a:ext>
            </a:extLst>
          </p:cNvPr>
          <p:cNvSpPr>
            <a:spLocks xmlns:a="http://schemas.openxmlformats.org/drawingml/2006/main" noGrp="1"/>
          </p:cNvSpPr>
          <p:nvPr/>
        </p:nvSpPr>
        <p:spPr>
          <a:xfrm xmlns:a="http://schemas.openxmlformats.org/drawingml/2006/main">
            <a:off x="4343400" y="5819775"/>
            <a:ext cx="24574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Healthy replicas only</a:t>
            </a:r>
          </a:p>
        </p:txBody>
      </p:sp>
      <p:sp>
        <p:nvSpPr>
          <p:cNvPr id="12" name="appendix-text-9">
            <a:extLst xmlns:a="http://schemas.openxmlformats.org/drawingml/2006/main">
              <a:ext uri="{FF2B5EF4-FFF2-40B4-BE49-F238E27FC236}">
                <a16:creationId xmlns:a16="http://schemas.microsoft.com/office/drawing/2014/main" id="{8EC6228C-39B1-4EED-B556-0D1CE10FA111}"/>
              </a:ext>
            </a:extLst>
          </p:cNvPr>
          <p:cNvSpPr>
            <a:spLocks xmlns:a="http://schemas.openxmlformats.org/drawingml/2006/main" noGrp="1"/>
          </p:cNvSpPr>
          <p:nvPr/>
        </p:nvSpPr>
        <p:spPr>
          <a:xfrm xmlns:a="http://schemas.openxmlformats.org/drawingml/2006/main">
            <a:off x="7791450" y="406717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500">
                <a:solidFill>
                  <a:srgbClr val="9BDAB6"/>
                </a:solidFill>
                <a:latin typeface="Deck-Medium"/>
                <a:ea typeface="Deck-Medium"/>
                <a:cs typeface="Deck-Medium"/>
              </a:defRPr>
            </a:pPr>
            <a:r>
              <a:rPr sz="1500">
                <a:solidFill>
                  <a:srgbClr val="9BDAB6"/>
                </a:solidFill>
                <a:latin typeface="Deck-Medium"/>
                <a:ea typeface="Deck-Medium"/>
                <a:cs typeface="Deck-Medium"/>
              </a:rPr>
              <a:t>SINGAPORE ZONE 1</a:t>
            </a:r>
          </a:p>
        </p:txBody>
      </p:sp>
      <p:sp>
        <p:nvSpPr>
          <p:cNvPr id="13" name="appendix-text-10">
            <a:extLst xmlns:a="http://schemas.openxmlformats.org/drawingml/2006/main">
              <a:ext uri="{FF2B5EF4-FFF2-40B4-BE49-F238E27FC236}">
                <a16:creationId xmlns:a16="http://schemas.microsoft.com/office/drawing/2014/main" id="{52F0B40D-7178-49DF-8A62-693A40D3EFDF}"/>
              </a:ext>
            </a:extLst>
          </p:cNvPr>
          <p:cNvSpPr>
            <a:spLocks xmlns:a="http://schemas.openxmlformats.org/drawingml/2006/main" noGrp="1"/>
          </p:cNvSpPr>
          <p:nvPr/>
        </p:nvSpPr>
        <p:spPr>
          <a:xfrm xmlns:a="http://schemas.openxmlformats.org/drawingml/2006/main">
            <a:off x="7791450" y="6019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500">
                <a:solidFill>
                  <a:srgbClr val="9BDAB6"/>
                </a:solidFill>
                <a:latin typeface="Deck-Medium"/>
                <a:ea typeface="Deck-Medium"/>
                <a:cs typeface="Deck-Medium"/>
              </a:defRPr>
            </a:pPr>
            <a:r>
              <a:rPr sz="1500">
                <a:solidFill>
                  <a:srgbClr val="9BDAB6"/>
                </a:solidFill>
                <a:latin typeface="Deck-Medium"/>
                <a:ea typeface="Deck-Medium"/>
                <a:cs typeface="Deck-Medium"/>
              </a:rPr>
              <a:t>SINGAPORE ZONE 2</a:t>
            </a:r>
          </a:p>
        </p:txBody>
      </p:sp>
      <p:sp>
        <p:nvSpPr>
          <p:cNvPr id="14" name="API-replica-zone-1">
            <a:extLst xmlns:a="http://schemas.openxmlformats.org/drawingml/2006/main">
              <a:ext uri="{FF2B5EF4-FFF2-40B4-BE49-F238E27FC236}">
                <a16:creationId xmlns:a16="http://schemas.microsoft.com/office/drawing/2014/main" id="{1D5EE665-BEA2-4CC8-A6F2-9A9825F71B8C}"/>
              </a:ext>
            </a:extLst>
          </p:cNvPr>
          <p:cNvSpPr>
            <a:spLocks xmlns:a="http://schemas.openxmlformats.org/drawingml/2006/main" noGrp="1"/>
          </p:cNvSpPr>
          <p:nvPr/>
        </p:nvSpPr>
        <p:spPr>
          <a:xfrm xmlns:a="http://schemas.openxmlformats.org/drawingml/2006/main">
            <a:off x="7791450" y="4410075"/>
            <a:ext cx="2400300" cy="10668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5" name="appendix-text-11">
            <a:extLst xmlns:a="http://schemas.openxmlformats.org/drawingml/2006/main">
              <a:ext uri="{FF2B5EF4-FFF2-40B4-BE49-F238E27FC236}">
                <a16:creationId xmlns:a16="http://schemas.microsoft.com/office/drawing/2014/main" id="{7DBFFF4F-7D62-4914-8D9D-414DB84C953C}"/>
              </a:ext>
            </a:extLst>
          </p:cNvPr>
          <p:cNvSpPr>
            <a:spLocks xmlns:a="http://schemas.openxmlformats.org/drawingml/2006/main" noGrp="1"/>
          </p:cNvSpPr>
          <p:nvPr/>
        </p:nvSpPr>
        <p:spPr>
          <a:xfrm xmlns:a="http://schemas.openxmlformats.org/drawingml/2006/main">
            <a:off x="7943850" y="4600575"/>
            <a:ext cx="2095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Stateless API</a:t>
            </a:r>
          </a:p>
        </p:txBody>
      </p:sp>
      <p:sp>
        <p:nvSpPr>
          <p:cNvPr id="16" name="appendix-text-12">
            <a:extLst xmlns:a="http://schemas.openxmlformats.org/drawingml/2006/main">
              <a:ext uri="{FF2B5EF4-FFF2-40B4-BE49-F238E27FC236}">
                <a16:creationId xmlns:a16="http://schemas.microsoft.com/office/drawing/2014/main" id="{561747E3-30C5-4830-80BE-87A8950FE9DA}"/>
              </a:ext>
            </a:extLst>
          </p:cNvPr>
          <p:cNvSpPr>
            <a:spLocks xmlns:a="http://schemas.openxmlformats.org/drawingml/2006/main" noGrp="1"/>
          </p:cNvSpPr>
          <p:nvPr/>
        </p:nvSpPr>
        <p:spPr>
          <a:xfrm xmlns:a="http://schemas.openxmlformats.org/drawingml/2006/main">
            <a:off x="7943850" y="5038725"/>
            <a:ext cx="20955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Replica + worker</a:t>
            </a:r>
          </a:p>
        </p:txBody>
      </p:sp>
      <p:sp>
        <p:nvSpPr>
          <p:cNvPr id="17" name="API-replica-zone-2">
            <a:extLst xmlns:a="http://schemas.openxmlformats.org/drawingml/2006/main">
              <a:ext uri="{FF2B5EF4-FFF2-40B4-BE49-F238E27FC236}">
                <a16:creationId xmlns:a16="http://schemas.microsoft.com/office/drawing/2014/main" id="{81CE6D2D-7ABE-4FDC-AEC5-444991E2C7EA}"/>
              </a:ext>
            </a:extLst>
          </p:cNvPr>
          <p:cNvSpPr>
            <a:spLocks xmlns:a="http://schemas.openxmlformats.org/drawingml/2006/main" noGrp="1"/>
          </p:cNvSpPr>
          <p:nvPr/>
        </p:nvSpPr>
        <p:spPr>
          <a:xfrm xmlns:a="http://schemas.openxmlformats.org/drawingml/2006/main">
            <a:off x="7791450" y="6362700"/>
            <a:ext cx="2400300" cy="10668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8" name="appendix-text-13">
            <a:extLst xmlns:a="http://schemas.openxmlformats.org/drawingml/2006/main">
              <a:ext uri="{FF2B5EF4-FFF2-40B4-BE49-F238E27FC236}">
                <a16:creationId xmlns:a16="http://schemas.microsoft.com/office/drawing/2014/main" id="{75E0208F-87A1-4E75-AB1B-A6B8D2B599C8}"/>
              </a:ext>
            </a:extLst>
          </p:cNvPr>
          <p:cNvSpPr>
            <a:spLocks xmlns:a="http://schemas.openxmlformats.org/drawingml/2006/main" noGrp="1"/>
          </p:cNvSpPr>
          <p:nvPr/>
        </p:nvSpPr>
        <p:spPr>
          <a:xfrm xmlns:a="http://schemas.openxmlformats.org/drawingml/2006/main">
            <a:off x="7943850" y="6553200"/>
            <a:ext cx="2095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Stateless API</a:t>
            </a:r>
          </a:p>
        </p:txBody>
      </p:sp>
      <p:sp>
        <p:nvSpPr>
          <p:cNvPr id="19" name="appendix-text-14">
            <a:extLst xmlns:a="http://schemas.openxmlformats.org/drawingml/2006/main">
              <a:ext uri="{FF2B5EF4-FFF2-40B4-BE49-F238E27FC236}">
                <a16:creationId xmlns:a16="http://schemas.microsoft.com/office/drawing/2014/main" id="{E8D6C717-4CB2-46FC-8369-9813BEA75992}"/>
              </a:ext>
            </a:extLst>
          </p:cNvPr>
          <p:cNvSpPr>
            <a:spLocks xmlns:a="http://schemas.openxmlformats.org/drawingml/2006/main" noGrp="1"/>
          </p:cNvSpPr>
          <p:nvPr/>
        </p:nvSpPr>
        <p:spPr>
          <a:xfrm xmlns:a="http://schemas.openxmlformats.org/drawingml/2006/main">
            <a:off x="7943850" y="6991350"/>
            <a:ext cx="20955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Replica + worker</a:t>
            </a:r>
          </a:p>
        </p:txBody>
      </p:sp>
      <p:sp>
        <p:nvSpPr>
          <p:cNvPr id="20" name="managed-database">
            <a:extLst xmlns:a="http://schemas.openxmlformats.org/drawingml/2006/main">
              <a:ext uri="{FF2B5EF4-FFF2-40B4-BE49-F238E27FC236}">
                <a16:creationId xmlns:a16="http://schemas.microsoft.com/office/drawing/2014/main" id="{4A8ED98A-70AA-44C2-834D-1A579C4F9A73}"/>
              </a:ext>
            </a:extLst>
          </p:cNvPr>
          <p:cNvSpPr>
            <a:spLocks xmlns:a="http://schemas.openxmlformats.org/drawingml/2006/main" noGrp="1"/>
          </p:cNvSpPr>
          <p:nvPr/>
        </p:nvSpPr>
        <p:spPr>
          <a:xfrm xmlns:a="http://schemas.openxmlformats.org/drawingml/2006/main">
            <a:off x="10820400" y="5191125"/>
            <a:ext cx="2162175" cy="13335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21" name="appendix-text-15">
            <a:extLst xmlns:a="http://schemas.openxmlformats.org/drawingml/2006/main">
              <a:ext uri="{FF2B5EF4-FFF2-40B4-BE49-F238E27FC236}">
                <a16:creationId xmlns:a16="http://schemas.microsoft.com/office/drawing/2014/main" id="{4FBFCB61-EC9A-492C-837F-898970111E02}"/>
              </a:ext>
            </a:extLst>
          </p:cNvPr>
          <p:cNvSpPr>
            <a:spLocks xmlns:a="http://schemas.openxmlformats.org/drawingml/2006/main" noGrp="1"/>
          </p:cNvSpPr>
          <p:nvPr/>
        </p:nvSpPr>
        <p:spPr>
          <a:xfrm xmlns:a="http://schemas.openxmlformats.org/drawingml/2006/main">
            <a:off x="10972800" y="538162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Medium"/>
                <a:ea typeface="Deck-Medium"/>
                <a:cs typeface="Deck-Medium"/>
              </a:defRPr>
            </a:pPr>
            <a:r>
              <a:rPr sz="2100">
                <a:solidFill>
                  <a:srgbClr val="FAF6F0"/>
                </a:solidFill>
                <a:latin typeface="Deck-Medium"/>
                <a:ea typeface="Deck-Medium"/>
                <a:cs typeface="Deck-Medium"/>
              </a:rPr>
              <a:t>Managed SQL</a:t>
            </a:r>
          </a:p>
        </p:txBody>
      </p:sp>
      <p:sp>
        <p:nvSpPr>
          <p:cNvPr id="22" name="appendix-text-16">
            <a:extLst xmlns:a="http://schemas.openxmlformats.org/drawingml/2006/main">
              <a:ext uri="{FF2B5EF4-FFF2-40B4-BE49-F238E27FC236}">
                <a16:creationId xmlns:a16="http://schemas.microsoft.com/office/drawing/2014/main" id="{95208A88-434B-4C4C-B96B-26C9E9AC6F16}"/>
              </a:ext>
            </a:extLst>
          </p:cNvPr>
          <p:cNvSpPr>
            <a:spLocks xmlns:a="http://schemas.openxmlformats.org/drawingml/2006/main" noGrp="1"/>
          </p:cNvSpPr>
          <p:nvPr/>
        </p:nvSpPr>
        <p:spPr>
          <a:xfrm xmlns:a="http://schemas.openxmlformats.org/drawingml/2006/main">
            <a:off x="10972800" y="5819775"/>
            <a:ext cx="185737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Primary, standby</a:t>
            </a:r>
          </a:p>
        </p:txBody>
      </p:sp>
      <p:sp>
        <p:nvSpPr>
          <p:cNvPr id="23" name="appendix-text-17">
            <a:extLst xmlns:a="http://schemas.openxmlformats.org/drawingml/2006/main">
              <a:ext uri="{FF2B5EF4-FFF2-40B4-BE49-F238E27FC236}">
                <a16:creationId xmlns:a16="http://schemas.microsoft.com/office/drawing/2014/main" id="{25BB2670-BFEC-40DB-9589-CB9D89CEF085}"/>
              </a:ext>
            </a:extLst>
          </p:cNvPr>
          <p:cNvSpPr>
            <a:spLocks xmlns:a="http://schemas.openxmlformats.org/drawingml/2006/main" noGrp="1"/>
          </p:cNvSpPr>
          <p:nvPr/>
        </p:nvSpPr>
        <p:spPr>
          <a:xfrm xmlns:a="http://schemas.openxmlformats.org/drawingml/2006/main">
            <a:off x="10972800" y="6124575"/>
            <a:ext cx="185737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Across zones</a:t>
            </a:r>
          </a:p>
        </p:txBody>
      </p:sp>
      <p:sp>
        <p:nvSpPr>
          <p:cNvPr id="24" name="external-AI-dependency">
            <a:extLst xmlns:a="http://schemas.openxmlformats.org/drawingml/2006/main">
              <a:ext uri="{FF2B5EF4-FFF2-40B4-BE49-F238E27FC236}">
                <a16:creationId xmlns:a16="http://schemas.microsoft.com/office/drawing/2014/main" id="{F8B92DBA-C4A3-4EBF-AD8B-6A682FFB3067}"/>
              </a:ext>
            </a:extLst>
          </p:cNvPr>
          <p:cNvSpPr>
            <a:spLocks xmlns:a="http://schemas.openxmlformats.org/drawingml/2006/main" noGrp="1"/>
          </p:cNvSpPr>
          <p:nvPr/>
        </p:nvSpPr>
        <p:spPr>
          <a:xfrm xmlns:a="http://schemas.openxmlformats.org/drawingml/2006/main">
            <a:off x="13811250" y="4305300"/>
            <a:ext cx="3476625" cy="123825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25" name="appendix-text-18">
            <a:extLst xmlns:a="http://schemas.openxmlformats.org/drawingml/2006/main">
              <a:ext uri="{FF2B5EF4-FFF2-40B4-BE49-F238E27FC236}">
                <a16:creationId xmlns:a16="http://schemas.microsoft.com/office/drawing/2014/main" id="{A395D509-343D-4406-BB04-3F6CECB75D93}"/>
              </a:ext>
            </a:extLst>
          </p:cNvPr>
          <p:cNvSpPr>
            <a:spLocks xmlns:a="http://schemas.openxmlformats.org/drawingml/2006/main" noGrp="1"/>
          </p:cNvSpPr>
          <p:nvPr/>
        </p:nvSpPr>
        <p:spPr>
          <a:xfrm xmlns:a="http://schemas.openxmlformats.org/drawingml/2006/main">
            <a:off x="13963650" y="4495800"/>
            <a:ext cx="3171825"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FAF6F0"/>
                </a:solidFill>
                <a:latin typeface="Deck-Medium"/>
                <a:ea typeface="Deck-Medium"/>
                <a:cs typeface="Deck-Medium"/>
              </a:defRPr>
            </a:pPr>
            <a:r>
              <a:rPr sz="2475">
                <a:solidFill>
                  <a:srgbClr val="FAF6F0"/>
                </a:solidFill>
                <a:latin typeface="Deck-Medium"/>
                <a:ea typeface="Deck-Medium"/>
                <a:cs typeface="Deck-Medium"/>
              </a:rPr>
              <a:t>Tencent TokenHub</a:t>
            </a:r>
          </a:p>
        </p:txBody>
      </p:sp>
      <p:sp>
        <p:nvSpPr>
          <p:cNvPr id="26" name="appendix-text-19">
            <a:extLst xmlns:a="http://schemas.openxmlformats.org/drawingml/2006/main">
              <a:ext uri="{FF2B5EF4-FFF2-40B4-BE49-F238E27FC236}">
                <a16:creationId xmlns:a16="http://schemas.microsoft.com/office/drawing/2014/main" id="{7634FB96-6120-4AF7-8AAD-0DB0C64B70AF}"/>
              </a:ext>
            </a:extLst>
          </p:cNvPr>
          <p:cNvSpPr>
            <a:spLocks xmlns:a="http://schemas.openxmlformats.org/drawingml/2006/main" noGrp="1"/>
          </p:cNvSpPr>
          <p:nvPr/>
        </p:nvSpPr>
        <p:spPr>
          <a:xfrm xmlns:a="http://schemas.openxmlformats.org/drawingml/2006/main">
            <a:off x="13963650" y="4933950"/>
            <a:ext cx="31718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External model inference</a:t>
            </a:r>
          </a:p>
        </p:txBody>
      </p:sp>
      <p:sp>
        <p:nvSpPr>
          <p:cNvPr id="33" name="appendix-text-20">
            <a:extLst xmlns:a="http://schemas.openxmlformats.org/drawingml/2006/main">
              <a:ext uri="{FF2B5EF4-FFF2-40B4-BE49-F238E27FC236}">
                <a16:creationId xmlns:a16="http://schemas.microsoft.com/office/drawing/2014/main" id="{C3F58370-0751-4FBC-9F37-009ED6D3EB25}"/>
              </a:ext>
            </a:extLst>
          </p:cNvPr>
          <p:cNvSpPr>
            <a:spLocks xmlns:a="http://schemas.openxmlformats.org/drawingml/2006/main" noGrp="1"/>
          </p:cNvSpPr>
          <p:nvPr/>
        </p:nvSpPr>
        <p:spPr>
          <a:xfrm xmlns:a="http://schemas.openxmlformats.org/drawingml/2006/main">
            <a:off x="4133850" y="7620000"/>
            <a:ext cx="88106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Durable outbox + retries · encrypted backups · probes &amp; alerts</a:t>
            </a:r>
          </a:p>
        </p:txBody>
      </p:sp>
      <p:sp>
        <p:nvSpPr>
          <p:cNvPr id="34" name="appendix-text-21">
            <a:extLst xmlns:a="http://schemas.openxmlformats.org/drawingml/2006/main">
              <a:ext uri="{FF2B5EF4-FFF2-40B4-BE49-F238E27FC236}">
                <a16:creationId xmlns:a16="http://schemas.microsoft.com/office/drawing/2014/main" id="{DEF6F7E8-BBC4-46F8-8982-4E9A6552B962}"/>
              </a:ext>
            </a:extLst>
          </p:cNvPr>
          <p:cNvSpPr>
            <a:spLocks xmlns:a="http://schemas.openxmlformats.org/drawingml/2006/main" noGrp="1"/>
          </p:cNvSpPr>
          <p:nvPr/>
        </p:nvSpPr>
        <p:spPr>
          <a:xfrm xmlns:a="http://schemas.openxmlformats.org/drawingml/2006/main">
            <a:off x="13811250" y="5962650"/>
            <a:ext cx="34766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
                <a:ea typeface="Deck"/>
                <a:cs typeface="Deck"/>
              </a:defRPr>
            </a:pPr>
            <a:r>
              <a:rPr sz="2025">
                <a:solidFill>
                  <a:srgbClr val="9BDAB6"/>
                </a:solidFill>
                <a:latin typeface="Deck"/>
                <a:ea typeface="Deck"/>
                <a:cs typeface="Deck"/>
              </a:rPr>
              <a:t>Timeout + circuit breaker</a:t>
            </a:r>
          </a:p>
        </p:txBody>
      </p:sp>
      <p:sp>
        <p:nvSpPr>
          <p:cNvPr id="35" name="appendix-text-22">
            <a:extLst xmlns:a="http://schemas.openxmlformats.org/drawingml/2006/main">
              <a:ext uri="{FF2B5EF4-FFF2-40B4-BE49-F238E27FC236}">
                <a16:creationId xmlns:a16="http://schemas.microsoft.com/office/drawing/2014/main" id="{E6780E08-D84F-4F37-9E94-B4E1E306B46D}"/>
              </a:ext>
            </a:extLst>
          </p:cNvPr>
          <p:cNvSpPr>
            <a:spLocks xmlns:a="http://schemas.openxmlformats.org/drawingml/2006/main" noGrp="1"/>
          </p:cNvSpPr>
          <p:nvPr/>
        </p:nvSpPr>
        <p:spPr>
          <a:xfrm xmlns:a="http://schemas.openxmlformats.org/drawingml/2006/main">
            <a:off x="13811250" y="6353175"/>
            <a:ext cx="34766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
                <a:ea typeface="Deck"/>
                <a:cs typeface="Deck"/>
              </a:defRPr>
            </a:pPr>
            <a:r>
              <a:rPr sz="2025">
                <a:solidFill>
                  <a:srgbClr val="9BDAB6"/>
                </a:solidFill>
                <a:latin typeface="Deck"/>
                <a:ea typeface="Deck"/>
                <a:cs typeface="Deck"/>
              </a:rPr>
              <a:t>Manual actions still work</a:t>
            </a:r>
          </a:p>
        </p:txBody>
      </p:sp>
      <p:sp>
        <p:nvSpPr>
          <p:cNvPr id="36" name="appendix-text-23">
            <a:extLst xmlns:a="http://schemas.openxmlformats.org/drawingml/2006/main">
              <a:ext uri="{FF2B5EF4-FFF2-40B4-BE49-F238E27FC236}">
                <a16:creationId xmlns:a16="http://schemas.microsoft.com/office/drawing/2014/main" id="{58AB7F7E-53B7-4B27-9FED-30FE6A3E937D}"/>
              </a:ext>
            </a:extLst>
          </p:cNvPr>
          <p:cNvSpPr>
            <a:spLocks xmlns:a="http://schemas.openxmlformats.org/drawingml/2006/main" noGrp="1"/>
          </p:cNvSpPr>
          <p:nvPr/>
        </p:nvSpPr>
        <p:spPr>
          <a:xfrm xmlns:a="http://schemas.openxmlformats.org/drawingml/2006/main">
            <a:off x="13811250" y="705802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00">
                <a:solidFill>
                  <a:srgbClr val="A8BCB0"/>
                </a:solidFill>
                <a:latin typeface="Deck"/>
                <a:ea typeface="Deck"/>
                <a:cs typeface="Deck"/>
              </a:defRPr>
            </a:pPr>
            <a:r>
              <a:rPr sz="1800">
                <a:solidFill>
                  <a:srgbClr val="A8BCB0"/>
                </a:solidFill>
                <a:latin typeface="Deck"/>
                <a:ea typeface="Deck"/>
                <a:cs typeface="Deck"/>
              </a:rPr>
              <a:t>Review model data-processing</a:t>
            </a:r>
          </a:p>
        </p:txBody>
      </p:sp>
      <p:sp>
        <p:nvSpPr>
          <p:cNvPr id="37" name="appendix-text-24">
            <a:extLst xmlns:a="http://schemas.openxmlformats.org/drawingml/2006/main">
              <a:ext uri="{FF2B5EF4-FFF2-40B4-BE49-F238E27FC236}">
                <a16:creationId xmlns:a16="http://schemas.microsoft.com/office/drawing/2014/main" id="{117D1895-95CA-4A74-9ACE-6F2D73306724}"/>
              </a:ext>
            </a:extLst>
          </p:cNvPr>
          <p:cNvSpPr>
            <a:spLocks xmlns:a="http://schemas.openxmlformats.org/drawingml/2006/main" noGrp="1"/>
          </p:cNvSpPr>
          <p:nvPr/>
        </p:nvSpPr>
        <p:spPr>
          <a:xfrm xmlns:a="http://schemas.openxmlformats.org/drawingml/2006/main">
            <a:off x="13811250" y="739140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00">
                <a:solidFill>
                  <a:srgbClr val="A8BCB0"/>
                </a:solidFill>
                <a:latin typeface="Deck"/>
                <a:ea typeface="Deck"/>
                <a:cs typeface="Deck"/>
              </a:defRPr>
            </a:pPr>
            <a:r>
              <a:rPr sz="1800">
                <a:solidFill>
                  <a:srgbClr val="A8BCB0"/>
                </a:solidFill>
                <a:latin typeface="Deck"/>
                <a:ea typeface="Deck"/>
                <a:cs typeface="Deck"/>
              </a:rPr>
              <a:t>locations before the pilot</a:t>
            </a:r>
          </a:p>
        </p:txBody>
      </p:sp>
      <p:sp>
        <p:nvSpPr>
          <p:cNvPr id="38" name="appendix-text-25">
            <a:extLst xmlns:a="http://schemas.openxmlformats.org/drawingml/2006/main">
              <a:ext uri="{FF2B5EF4-FFF2-40B4-BE49-F238E27FC236}">
                <a16:creationId xmlns:a16="http://schemas.microsoft.com/office/drawing/2014/main" id="{3153CBFD-6F09-4986-9B03-F720C737D29A}"/>
              </a:ext>
            </a:extLst>
          </p:cNvPr>
          <p:cNvSpPr>
            <a:spLocks xmlns:a="http://schemas.openxmlformats.org/drawingml/2006/main" noGrp="1"/>
          </p:cNvSpPr>
          <p:nvPr/>
        </p:nvSpPr>
        <p:spPr>
          <a:xfrm xmlns:a="http://schemas.openxmlformats.org/drawingml/2006/main">
            <a:off x="1009650" y="8543925"/>
            <a:ext cx="33337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9BDAB6"/>
                </a:solidFill>
                <a:latin typeface="Deck-Medium"/>
                <a:ea typeface="Deck-Medium"/>
                <a:cs typeface="Deck-Medium"/>
              </a:defRPr>
            </a:pPr>
            <a:r>
              <a:rPr sz="2250">
                <a:solidFill>
                  <a:srgbClr val="9BDAB6"/>
                </a:solidFill>
                <a:latin typeface="Deck-Medium"/>
                <a:ea typeface="Deck-Medium"/>
                <a:cs typeface="Deck-Medium"/>
              </a:rPr>
              <a:t>Targets to validate</a:t>
            </a:r>
          </a:p>
        </p:txBody>
      </p:sp>
      <p:sp>
        <p:nvSpPr>
          <p:cNvPr id="39" name="appendix-text-26">
            <a:extLst xmlns:a="http://schemas.openxmlformats.org/drawingml/2006/main">
              <a:ext uri="{FF2B5EF4-FFF2-40B4-BE49-F238E27FC236}">
                <a16:creationId xmlns:a16="http://schemas.microsoft.com/office/drawing/2014/main" id="{2481DFD2-0E8F-44CB-AF09-5C2BA7B834B3}"/>
              </a:ext>
            </a:extLst>
          </p:cNvPr>
          <p:cNvSpPr>
            <a:spLocks xmlns:a="http://schemas.openxmlformats.org/drawingml/2006/main" noGrp="1"/>
          </p:cNvSpPr>
          <p:nvPr/>
        </p:nvSpPr>
        <p:spPr>
          <a:xfrm xmlns:a="http://schemas.openxmlformats.org/drawingml/2006/main">
            <a:off x="4381500" y="8543925"/>
            <a:ext cx="12620625"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99.9% core availability · restore ≤30 min · data loss ≤15 min</a:t>
            </a:r>
          </a:p>
        </p:txBody>
      </p:sp>
      <p:sp>
        <p:nvSpPr>
          <p:cNvPr id="40" name="appendix-text-27">
            <a:extLst xmlns:a="http://schemas.openxmlformats.org/drawingml/2006/main">
              <a:ext uri="{FF2B5EF4-FFF2-40B4-BE49-F238E27FC236}">
                <a16:creationId xmlns:a16="http://schemas.microsoft.com/office/drawing/2014/main" id="{9DA1C90D-5900-4FC2-A4F5-E0619B59FD62}"/>
              </a:ext>
            </a:extLst>
          </p:cNvPr>
          <p:cNvSpPr>
            <a:spLocks xmlns:a="http://schemas.openxmlformats.org/drawingml/2006/main" noGrp="1"/>
          </p:cNvSpPr>
          <p:nvPr/>
        </p:nvSpPr>
        <p:spPr>
          <a:xfrm xmlns:a="http://schemas.openxmlformats.org/drawingml/2006/main">
            <a:off x="1009650" y="9077325"/>
            <a:ext cx="160020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Regional disaster recovery needs a separate approved location and recovery plan.</a:t>
            </a:r>
          </a:p>
        </p:txBody>
      </p:sp>
      <p:sp>
        <p:nvSpPr>
          <p:cNvPr id="41" name="appendix-text-28">
            <a:extLst xmlns:a="http://schemas.openxmlformats.org/drawingml/2006/main">
              <a:ext uri="{FF2B5EF4-FFF2-40B4-BE49-F238E27FC236}">
                <a16:creationId xmlns:a16="http://schemas.microsoft.com/office/drawing/2014/main" id="{A8629C51-F564-4570-923D-9981421CB365}"/>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design; deployment choices and failover/restore drills still required. Source: Tencent Cloud Regions and Zones.</a:t>
            </a:r>
          </a:p>
        </p:txBody>
      </p:sp>
      <p:sp>
        <p:nvSpPr>
          <p:cNvPr id="42" name="appendix-text-29">
            <a:extLst xmlns:a="http://schemas.openxmlformats.org/drawingml/2006/main">
              <a:ext uri="{FF2B5EF4-FFF2-40B4-BE49-F238E27FC236}">
                <a16:creationId xmlns:a16="http://schemas.microsoft.com/office/drawing/2014/main" id="{D970E851-1549-4B02-AF86-A7030294FF12}"/>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22</a:t>
            </a:r>
          </a:p>
        </p:txBody>
      </p:sp>
    </p:spTree>
    <p:extLst>
      <p:ext uri="{BB962C8B-B14F-4D97-AF65-F5344CB8AC3E}">
        <p14:creationId xmlns:p14="http://schemas.microsoft.com/office/powerpoint/2010/main" val="1567535765"/>
      </p:ext>
    </p:extLst>
  </p:cSld>
</p:sld>
</file>

<file path=ppt/slides/slide2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41" name=""/>
          <p:cNvCxnSpPr>
            <a:stCxn xmlns:a="http://schemas.openxmlformats.org/drawingml/2006/main" id="14" idx="2"/>
            <a:endCxn xmlns:a="http://schemas.openxmlformats.org/drawingml/2006/main" id="20" idx="0"/>
          </p:cNvCxnSpPr>
          <p:nvPr/>
        </p:nvCxnSpPr>
        <p:spPr>
          <a:xfrm xmlns:a="http://schemas.openxmlformats.org/drawingml/2006/main">
            <a:off x="5343525" y="6934200"/>
            <a:ext cx="0" cy="800100"/>
          </a:xfrm>
          <a:prstGeom xmlns:a="http://schemas.openxmlformats.org/drawingml/2006/main" prst="straightConnector1">
            <a:avLst/>
          </a:prstGeom>
          <a:ln xmlns:a="http://schemas.openxmlformats.org/drawingml/2006/main" w="19050">
            <a:solidFill>
              <a:srgbClr val="4F7A66"/>
            </a:solidFill>
            <a:tailEnd type="triangle" w="med" len="med"/>
          </a:ln>
        </p:spPr>
      </p:cxnSp>
      <p:cxnSp>
        <p:nvCxnSpPr>
          <p:cNvPr id="42" name=""/>
          <p:cNvCxnSpPr>
            <a:stCxn xmlns:a="http://schemas.openxmlformats.org/drawingml/2006/main" id="11" idx="2"/>
            <a:endCxn xmlns:a="http://schemas.openxmlformats.org/drawingml/2006/main" id="14" idx="0"/>
          </p:cNvCxnSpPr>
          <p:nvPr/>
        </p:nvCxnSpPr>
        <p:spPr>
          <a:xfrm xmlns:a="http://schemas.openxmlformats.org/drawingml/2006/main" flipH="1">
            <a:off x="5343525" y="4972050"/>
            <a:ext cx="3048000" cy="866775"/>
          </a:xfrm>
          <a:prstGeom xmlns:a="http://schemas.openxmlformats.org/drawingml/2006/main" prst="bentConnector4">
            <a:avLst>
              <a:gd name="adj1" fmla="val 0"/>
              <a:gd name="adj2" fmla="val 50000"/>
            </a:avLst>
          </a:prstGeom>
          <a:ln xmlns:a="http://schemas.openxmlformats.org/drawingml/2006/main" w="19050">
            <a:solidFill>
              <a:srgbClr val="4F7A66"/>
            </a:solidFill>
            <a:tailEnd type="triangle" w="med" len="med"/>
          </a:ln>
        </p:spPr>
      </p:cxnSp>
      <p:cxnSp>
        <p:nvCxnSpPr>
          <p:cNvPr id="43" name=""/>
          <p:cNvCxnSpPr>
            <a:stCxn xmlns:a="http://schemas.openxmlformats.org/drawingml/2006/main" id="8" idx="2"/>
            <a:endCxn xmlns:a="http://schemas.openxmlformats.org/drawingml/2006/main" id="14" idx="0"/>
          </p:cNvCxnSpPr>
          <p:nvPr/>
        </p:nvCxnSpPr>
        <p:spPr>
          <a:xfrm xmlns:a="http://schemas.openxmlformats.org/drawingml/2006/main">
            <a:off x="5343525" y="4972050"/>
            <a:ext cx="0" cy="866775"/>
          </a:xfrm>
          <a:prstGeom xmlns:a="http://schemas.openxmlformats.org/drawingml/2006/main" prst="straightConnector1">
            <a:avLst/>
          </a:prstGeom>
          <a:ln xmlns:a="http://schemas.openxmlformats.org/drawingml/2006/main" w="19050">
            <a:solidFill>
              <a:srgbClr val="4F7A66"/>
            </a:solidFill>
            <a:tailEnd type="triangle" w="med" len="med"/>
          </a:ln>
        </p:spPr>
      </p:cxnSp>
      <p:cxnSp>
        <p:nvCxnSpPr>
          <p:cNvPr id="44" name=""/>
          <p:cNvCxnSpPr>
            <a:stCxn xmlns:a="http://schemas.openxmlformats.org/drawingml/2006/main" id="5" idx="2"/>
            <a:endCxn xmlns:a="http://schemas.openxmlformats.org/drawingml/2006/main" id="14" idx="0"/>
          </p:cNvCxnSpPr>
          <p:nvPr/>
        </p:nvCxnSpPr>
        <p:spPr>
          <a:xfrm xmlns:a="http://schemas.openxmlformats.org/drawingml/2006/main">
            <a:off x="2295525" y="4972050"/>
            <a:ext cx="3048000" cy="866775"/>
          </a:xfrm>
          <a:prstGeom xmlns:a="http://schemas.openxmlformats.org/drawingml/2006/main" prst="bentConnector4">
            <a:avLst>
              <a:gd name="adj1" fmla="val 0"/>
              <a:gd name="adj2" fmla="val 50000"/>
            </a:avLst>
          </a:prstGeom>
          <a:ln xmlns:a="http://schemas.openxmlformats.org/drawingml/2006/main" w="19050">
            <a:solidFill>
              <a:srgbClr val="4F7A66"/>
            </a:solidFill>
            <a:tailEnd type="triangle" w="med" len="med"/>
          </a:ln>
        </p:spPr>
      </p:cxnSp>
      <p:sp>
        <p:nvSpPr>
          <p:cNvPr id="45" name="appendix-text-30">
            <a:extLst xmlns:a="http://schemas.openxmlformats.org/drawingml/2006/main">
              <a:ext uri="{FF2B5EF4-FFF2-40B4-BE49-F238E27FC236}">
                <a16:creationId xmlns:a16="http://schemas.microsoft.com/office/drawing/2014/main" id="{57D1C5E7-BF57-4DFB-A92D-54746FF16C9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31">
            <a:extLst xmlns:a="http://schemas.openxmlformats.org/drawingml/2006/main">
              <a:ext uri="{FF2B5EF4-FFF2-40B4-BE49-F238E27FC236}">
                <a16:creationId xmlns:a16="http://schemas.microsoft.com/office/drawing/2014/main" id="{50A04727-0F9B-4A79-9E13-2A6EABFDA161}"/>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Multi-tenancy</a:t>
            </a:r>
          </a:p>
        </p:txBody>
      </p:sp>
      <p:sp>
        <p:nvSpPr>
          <p:cNvPr id="3" name="appendix-text-32">
            <a:extLst xmlns:a="http://schemas.openxmlformats.org/drawingml/2006/main">
              <a:ext uri="{FF2B5EF4-FFF2-40B4-BE49-F238E27FC236}">
                <a16:creationId xmlns:a16="http://schemas.microsoft.com/office/drawing/2014/main" id="{67260436-8316-4484-A2EC-4EBB435FA07F}"/>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One platform; organisation boundaries and consent within each care circle</a:t>
            </a:r>
          </a:p>
        </p:txBody>
      </p:sp>
      <p:sp>
        <p:nvSpPr>
          <p:cNvPr id="4" name="appendix-text-33">
            <a:extLst xmlns:a="http://schemas.openxmlformats.org/drawingml/2006/main">
              <a:ext uri="{FF2B5EF4-FFF2-40B4-BE49-F238E27FC236}">
                <a16:creationId xmlns:a16="http://schemas.microsoft.com/office/drawing/2014/main" id="{E874857C-D69A-4668-B6F2-1D8F86744C58}"/>
              </a:ext>
            </a:extLst>
          </p:cNvPr>
          <p:cNvSpPr>
            <a:spLocks xmlns:a="http://schemas.openxmlformats.org/drawingml/2006/main" noGrp="1"/>
          </p:cNvSpPr>
          <p:nvPr/>
        </p:nvSpPr>
        <p:spPr>
          <a:xfrm xmlns:a="http://schemas.openxmlformats.org/drawingml/2006/main">
            <a:off x="1009650" y="3409950"/>
            <a:ext cx="857250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4F7A66"/>
                </a:solidFill>
                <a:latin typeface="Deck-Medium"/>
                <a:ea typeface="Deck-Medium"/>
                <a:cs typeface="Deck-Medium"/>
              </a:defRPr>
            </a:pPr>
            <a:r>
              <a:rPr sz="1650">
                <a:solidFill>
                  <a:srgbClr val="4F7A66"/>
                </a:solidFill>
                <a:latin typeface="Deck-Medium"/>
                <a:ea typeface="Deck-Medium"/>
                <a:cs typeface="Deck-Medium"/>
              </a:rPr>
              <a:t>TENANT = ORGANISATION OR DIRECT FAMILY ACCOUNT</a:t>
            </a:r>
          </a:p>
        </p:txBody>
      </p:sp>
      <p:sp>
        <p:nvSpPr>
          <p:cNvPr id="5" name="tenant-A">
            <a:extLst xmlns:a="http://schemas.openxmlformats.org/drawingml/2006/main">
              <a:ext uri="{FF2B5EF4-FFF2-40B4-BE49-F238E27FC236}">
                <a16:creationId xmlns:a16="http://schemas.microsoft.com/office/drawing/2014/main" id="{3E2955E5-5414-4720-BE16-639462A97D74}"/>
              </a:ext>
            </a:extLst>
          </p:cNvPr>
          <p:cNvSpPr>
            <a:spLocks xmlns:a="http://schemas.openxmlformats.org/drawingml/2006/main" noGrp="1"/>
          </p:cNvSpPr>
          <p:nvPr/>
        </p:nvSpPr>
        <p:spPr>
          <a:xfrm xmlns:a="http://schemas.openxmlformats.org/drawingml/2006/main">
            <a:off x="1009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6" name="appendix-text-34">
            <a:extLst xmlns:a="http://schemas.openxmlformats.org/drawingml/2006/main">
              <a:ext uri="{FF2B5EF4-FFF2-40B4-BE49-F238E27FC236}">
                <a16:creationId xmlns:a16="http://schemas.microsoft.com/office/drawing/2014/main" id="{29731904-9F06-4A27-9600-94523D0D5051}"/>
              </a:ext>
            </a:extLst>
          </p:cNvPr>
          <p:cNvSpPr>
            <a:spLocks xmlns:a="http://schemas.openxmlformats.org/drawingml/2006/main" noGrp="1"/>
          </p:cNvSpPr>
          <p:nvPr/>
        </p:nvSpPr>
        <p:spPr>
          <a:xfrm xmlns:a="http://schemas.openxmlformats.org/drawingml/2006/main">
            <a:off x="1162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Partner A</a:t>
            </a:r>
          </a:p>
        </p:txBody>
      </p:sp>
      <p:sp>
        <p:nvSpPr>
          <p:cNvPr id="7" name="appendix-text-35">
            <a:extLst xmlns:a="http://schemas.openxmlformats.org/drawingml/2006/main">
              <a:ext uri="{FF2B5EF4-FFF2-40B4-BE49-F238E27FC236}">
                <a16:creationId xmlns:a16="http://schemas.microsoft.com/office/drawing/2014/main" id="{0FE9F989-5601-408C-A10E-F34A4DA2E0B5}"/>
              </a:ext>
            </a:extLst>
          </p:cNvPr>
          <p:cNvSpPr>
            <a:spLocks xmlns:a="http://schemas.openxmlformats.org/drawingml/2006/main" noGrp="1"/>
          </p:cNvSpPr>
          <p:nvPr/>
        </p:nvSpPr>
        <p:spPr>
          <a:xfrm xmlns:a="http://schemas.openxmlformats.org/drawingml/2006/main">
            <a:off x="1162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Care circles A1, A2</a:t>
            </a:r>
          </a:p>
        </p:txBody>
      </p:sp>
      <p:sp>
        <p:nvSpPr>
          <p:cNvPr id="8" name="tenant-B">
            <a:extLst xmlns:a="http://schemas.openxmlformats.org/drawingml/2006/main">
              <a:ext uri="{FF2B5EF4-FFF2-40B4-BE49-F238E27FC236}">
                <a16:creationId xmlns:a16="http://schemas.microsoft.com/office/drawing/2014/main" id="{8D11E90C-2694-434A-86C6-1C1C2471721E}"/>
              </a:ext>
            </a:extLst>
          </p:cNvPr>
          <p:cNvSpPr>
            <a:spLocks xmlns:a="http://schemas.openxmlformats.org/drawingml/2006/main" noGrp="1"/>
          </p:cNvSpPr>
          <p:nvPr/>
        </p:nvSpPr>
        <p:spPr>
          <a:xfrm xmlns:a="http://schemas.openxmlformats.org/drawingml/2006/main">
            <a:off x="4057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9" name="appendix-text-36">
            <a:extLst xmlns:a="http://schemas.openxmlformats.org/drawingml/2006/main">
              <a:ext uri="{FF2B5EF4-FFF2-40B4-BE49-F238E27FC236}">
                <a16:creationId xmlns:a16="http://schemas.microsoft.com/office/drawing/2014/main" id="{6862209A-B183-433F-BFB6-377F5D17758D}"/>
              </a:ext>
            </a:extLst>
          </p:cNvPr>
          <p:cNvSpPr>
            <a:spLocks xmlns:a="http://schemas.openxmlformats.org/drawingml/2006/main" noGrp="1"/>
          </p:cNvSpPr>
          <p:nvPr/>
        </p:nvSpPr>
        <p:spPr>
          <a:xfrm xmlns:a="http://schemas.openxmlformats.org/drawingml/2006/main">
            <a:off x="4210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Partner B</a:t>
            </a:r>
          </a:p>
        </p:txBody>
      </p:sp>
      <p:sp>
        <p:nvSpPr>
          <p:cNvPr id="10" name="appendix-text-37">
            <a:extLst xmlns:a="http://schemas.openxmlformats.org/drawingml/2006/main">
              <a:ext uri="{FF2B5EF4-FFF2-40B4-BE49-F238E27FC236}">
                <a16:creationId xmlns:a16="http://schemas.microsoft.com/office/drawing/2014/main" id="{2AF7DA4A-3E72-41AE-96D0-07EAACEB487B}"/>
              </a:ext>
            </a:extLst>
          </p:cNvPr>
          <p:cNvSpPr>
            <a:spLocks xmlns:a="http://schemas.openxmlformats.org/drawingml/2006/main" noGrp="1"/>
          </p:cNvSpPr>
          <p:nvPr/>
        </p:nvSpPr>
        <p:spPr>
          <a:xfrm xmlns:a="http://schemas.openxmlformats.org/drawingml/2006/main">
            <a:off x="4210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Care circles B1, B2</a:t>
            </a:r>
          </a:p>
        </p:txBody>
      </p:sp>
      <p:sp>
        <p:nvSpPr>
          <p:cNvPr id="11" name="direct-family">
            <a:extLst xmlns:a="http://schemas.openxmlformats.org/drawingml/2006/main">
              <a:ext uri="{FF2B5EF4-FFF2-40B4-BE49-F238E27FC236}">
                <a16:creationId xmlns:a16="http://schemas.microsoft.com/office/drawing/2014/main" id="{E492AAAD-CC76-4589-A650-907F00A6FA37}"/>
              </a:ext>
            </a:extLst>
          </p:cNvPr>
          <p:cNvSpPr>
            <a:spLocks xmlns:a="http://schemas.openxmlformats.org/drawingml/2006/main" noGrp="1"/>
          </p:cNvSpPr>
          <p:nvPr/>
        </p:nvSpPr>
        <p:spPr>
          <a:xfrm xmlns:a="http://schemas.openxmlformats.org/drawingml/2006/main">
            <a:off x="7105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12" name="appendix-text-38">
            <a:extLst xmlns:a="http://schemas.openxmlformats.org/drawingml/2006/main">
              <a:ext uri="{FF2B5EF4-FFF2-40B4-BE49-F238E27FC236}">
                <a16:creationId xmlns:a16="http://schemas.microsoft.com/office/drawing/2014/main" id="{12D4EAF7-4359-4DDB-9C2D-8E74B666F889}"/>
              </a:ext>
            </a:extLst>
          </p:cNvPr>
          <p:cNvSpPr>
            <a:spLocks xmlns:a="http://schemas.openxmlformats.org/drawingml/2006/main" noGrp="1"/>
          </p:cNvSpPr>
          <p:nvPr/>
        </p:nvSpPr>
        <p:spPr>
          <a:xfrm xmlns:a="http://schemas.openxmlformats.org/drawingml/2006/main">
            <a:off x="7258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Direct family</a:t>
            </a:r>
          </a:p>
        </p:txBody>
      </p:sp>
      <p:sp>
        <p:nvSpPr>
          <p:cNvPr id="13" name="appendix-text-39">
            <a:extLst xmlns:a="http://schemas.openxmlformats.org/drawingml/2006/main">
              <a:ext uri="{FF2B5EF4-FFF2-40B4-BE49-F238E27FC236}">
                <a16:creationId xmlns:a16="http://schemas.microsoft.com/office/drawing/2014/main" id="{92A186B1-6160-4163-AAA5-F5A02511E514}"/>
              </a:ext>
            </a:extLst>
          </p:cNvPr>
          <p:cNvSpPr>
            <a:spLocks xmlns:a="http://schemas.openxmlformats.org/drawingml/2006/main" noGrp="1"/>
          </p:cNvSpPr>
          <p:nvPr/>
        </p:nvSpPr>
        <p:spPr>
          <a:xfrm xmlns:a="http://schemas.openxmlformats.org/drawingml/2006/main">
            <a:off x="7258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Private care circle</a:t>
            </a:r>
          </a:p>
        </p:txBody>
      </p:sp>
      <p:sp>
        <p:nvSpPr>
          <p:cNvPr id="14" name="shared-policy-enforcement">
            <a:extLst xmlns:a="http://schemas.openxmlformats.org/drawingml/2006/main">
              <a:ext uri="{FF2B5EF4-FFF2-40B4-BE49-F238E27FC236}">
                <a16:creationId xmlns:a16="http://schemas.microsoft.com/office/drawing/2014/main" id="{F8AA21EC-D853-4A38-AA6C-698A57E3A583}"/>
              </a:ext>
            </a:extLst>
          </p:cNvPr>
          <p:cNvSpPr>
            <a:spLocks xmlns:a="http://schemas.openxmlformats.org/drawingml/2006/main" noGrp="1"/>
          </p:cNvSpPr>
          <p:nvPr/>
        </p:nvSpPr>
        <p:spPr>
          <a:xfrm xmlns:a="http://schemas.openxmlformats.org/drawingml/2006/main">
            <a:off x="1009650" y="5838825"/>
            <a:ext cx="8667750" cy="109537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15" name="appendix-text-40">
            <a:extLst xmlns:a="http://schemas.openxmlformats.org/drawingml/2006/main">
              <a:ext uri="{FF2B5EF4-FFF2-40B4-BE49-F238E27FC236}">
                <a16:creationId xmlns:a16="http://schemas.microsoft.com/office/drawing/2014/main" id="{8C42E14E-8174-4484-9D7B-C9939754113C}"/>
              </a:ext>
            </a:extLst>
          </p:cNvPr>
          <p:cNvSpPr>
            <a:spLocks xmlns:a="http://schemas.openxmlformats.org/drawingml/2006/main" noGrp="1"/>
          </p:cNvSpPr>
          <p:nvPr/>
        </p:nvSpPr>
        <p:spPr>
          <a:xfrm xmlns:a="http://schemas.openxmlformats.org/drawingml/2006/main">
            <a:off x="1162050" y="6029325"/>
            <a:ext cx="8362950" cy="4167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3A3745"/>
                </a:solidFill>
                <a:latin typeface="Deck-Medium"/>
                <a:ea typeface="Deck-Medium"/>
                <a:cs typeface="Deck-Medium"/>
              </a:defRPr>
            </a:pPr>
            <a:r>
              <a:rPr sz="2625">
                <a:solidFill>
                  <a:srgbClr val="3A3745"/>
                </a:solidFill>
                <a:latin typeface="Deck-Medium"/>
                <a:ea typeface="Deck-Medium"/>
                <a:cs typeface="Deck-Medium"/>
              </a:rPr>
              <a:t>Shared application + access policy</a:t>
            </a:r>
          </a:p>
        </p:txBody>
      </p:sp>
      <p:sp>
        <p:nvSpPr>
          <p:cNvPr id="16" name="appendix-text-41">
            <a:extLst xmlns:a="http://schemas.openxmlformats.org/drawingml/2006/main">
              <a:ext uri="{FF2B5EF4-FFF2-40B4-BE49-F238E27FC236}">
                <a16:creationId xmlns:a16="http://schemas.microsoft.com/office/drawing/2014/main" id="{A1F27AF7-6444-42A6-8AB0-A8086EED7628}"/>
              </a:ext>
            </a:extLst>
          </p:cNvPr>
          <p:cNvSpPr>
            <a:spLocks xmlns:a="http://schemas.openxmlformats.org/drawingml/2006/main" noGrp="1"/>
          </p:cNvSpPr>
          <p:nvPr/>
        </p:nvSpPr>
        <p:spPr>
          <a:xfrm xmlns:a="http://schemas.openxmlformats.org/drawingml/2006/main">
            <a:off x="1162050" y="6467475"/>
            <a:ext cx="8362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Verified identity → tenant membership → circle permission</a:t>
            </a:r>
          </a:p>
        </p:txBody>
      </p:sp>
      <p:sp>
        <p:nvSpPr>
          <p:cNvPr id="20" name="tenant-scoped-data">
            <a:extLst xmlns:a="http://schemas.openxmlformats.org/drawingml/2006/main">
              <a:ext uri="{FF2B5EF4-FFF2-40B4-BE49-F238E27FC236}">
                <a16:creationId xmlns:a16="http://schemas.microsoft.com/office/drawing/2014/main" id="{37C4E31E-7F49-4A68-8E15-09BBA95434AD}"/>
              </a:ext>
            </a:extLst>
          </p:cNvPr>
          <p:cNvSpPr>
            <a:spLocks xmlns:a="http://schemas.openxmlformats.org/drawingml/2006/main" noGrp="1"/>
          </p:cNvSpPr>
          <p:nvPr/>
        </p:nvSpPr>
        <p:spPr>
          <a:xfrm xmlns:a="http://schemas.openxmlformats.org/drawingml/2006/main">
            <a:off x="1009650" y="7734300"/>
            <a:ext cx="8667750" cy="1104900"/>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21" name="appendix-text-42">
            <a:extLst xmlns:a="http://schemas.openxmlformats.org/drawingml/2006/main">
              <a:ext uri="{FF2B5EF4-FFF2-40B4-BE49-F238E27FC236}">
                <a16:creationId xmlns:a16="http://schemas.microsoft.com/office/drawing/2014/main" id="{B9014924-CA61-4155-A9C0-E932BE34F58A}"/>
              </a:ext>
            </a:extLst>
          </p:cNvPr>
          <p:cNvSpPr>
            <a:spLocks xmlns:a="http://schemas.openxmlformats.org/drawingml/2006/main" noGrp="1"/>
          </p:cNvSpPr>
          <p:nvPr/>
        </p:nvSpPr>
        <p:spPr>
          <a:xfrm xmlns:a="http://schemas.openxmlformats.org/drawingml/2006/main">
            <a:off x="1162050" y="7924800"/>
            <a:ext cx="836295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3A3745"/>
                </a:solidFill>
                <a:latin typeface="Deck-Medium"/>
                <a:ea typeface="Deck-Medium"/>
                <a:cs typeface="Deck-Medium"/>
              </a:defRPr>
            </a:pPr>
            <a:r>
              <a:rPr sz="2475">
                <a:solidFill>
                  <a:srgbClr val="3A3745"/>
                </a:solidFill>
                <a:latin typeface="Deck-Medium"/>
                <a:ea typeface="Deck-Medium"/>
                <a:cs typeface="Deck-Medium"/>
              </a:rPr>
              <a:t>Tenant-scoped records, files and AI context</a:t>
            </a:r>
          </a:p>
        </p:txBody>
      </p:sp>
      <p:sp>
        <p:nvSpPr>
          <p:cNvPr id="22" name="appendix-text-43">
            <a:extLst xmlns:a="http://schemas.openxmlformats.org/drawingml/2006/main">
              <a:ext uri="{FF2B5EF4-FFF2-40B4-BE49-F238E27FC236}">
                <a16:creationId xmlns:a16="http://schemas.microsoft.com/office/drawing/2014/main" id="{C667B014-D188-4745-BECD-1BC93BC727B9}"/>
              </a:ext>
            </a:extLst>
          </p:cNvPr>
          <p:cNvSpPr>
            <a:spLocks xmlns:a="http://schemas.openxmlformats.org/drawingml/2006/main" noGrp="1"/>
          </p:cNvSpPr>
          <p:nvPr/>
        </p:nvSpPr>
        <p:spPr>
          <a:xfrm xmlns:a="http://schemas.openxmlformats.org/drawingml/2006/main">
            <a:off x="1162050" y="8362950"/>
            <a:ext cx="8362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tenant_id + care_circle_id on every operation</a:t>
            </a:r>
          </a:p>
        </p:txBody>
      </p:sp>
      <p:sp>
        <p:nvSpPr>
          <p:cNvPr id="24" name="appendix-text-44">
            <a:extLst xmlns:a="http://schemas.openxmlformats.org/drawingml/2006/main">
              <a:ext uri="{FF2B5EF4-FFF2-40B4-BE49-F238E27FC236}">
                <a16:creationId xmlns:a16="http://schemas.microsoft.com/office/drawing/2014/main" id="{C45E3D41-FC78-48B6-9BEF-B3DFF1CE9E8C}"/>
              </a:ext>
            </a:extLst>
          </p:cNvPr>
          <p:cNvSpPr>
            <a:spLocks xmlns:a="http://schemas.openxmlformats.org/drawingml/2006/main" noGrp="1"/>
          </p:cNvSpPr>
          <p:nvPr/>
        </p:nvSpPr>
        <p:spPr>
          <a:xfrm xmlns:a="http://schemas.openxmlformats.org/drawingml/2006/main">
            <a:off x="10591800" y="35909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Access within a circle</a:t>
            </a:r>
          </a:p>
        </p:txBody>
      </p:sp>
      <p:sp>
        <p:nvSpPr>
          <p:cNvPr id="25" name="appendix-text-45">
            <a:extLst xmlns:a="http://schemas.openxmlformats.org/drawingml/2006/main">
              <a:ext uri="{FF2B5EF4-FFF2-40B4-BE49-F238E27FC236}">
                <a16:creationId xmlns:a16="http://schemas.microsoft.com/office/drawing/2014/main" id="{3920537C-88EA-45E6-B919-3B6083F988BB}"/>
              </a:ext>
            </a:extLst>
          </p:cNvPr>
          <p:cNvSpPr>
            <a:spLocks xmlns:a="http://schemas.openxmlformats.org/drawingml/2006/main" noGrp="1"/>
          </p:cNvSpPr>
          <p:nvPr/>
        </p:nvSpPr>
        <p:spPr>
          <a:xfrm xmlns:a="http://schemas.openxmlformats.org/drawingml/2006/main">
            <a:off x="10591800" y="409575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The family owner grants view or edit rights.</a:t>
            </a:r>
          </a:p>
        </p:txBody>
      </p:sp>
      <p:sp>
        <p:nvSpPr>
          <p:cNvPr id="26" name="appendix-text-46">
            <a:extLst xmlns:a="http://schemas.openxmlformats.org/drawingml/2006/main">
              <a:ext uri="{FF2B5EF4-FFF2-40B4-BE49-F238E27FC236}">
                <a16:creationId xmlns:a16="http://schemas.microsoft.com/office/drawing/2014/main" id="{56482517-CA4B-4439-A3BC-2CB08D2268D0}"/>
              </a:ext>
            </a:extLst>
          </p:cNvPr>
          <p:cNvSpPr>
            <a:spLocks xmlns:a="http://schemas.openxmlformats.org/drawingml/2006/main" noGrp="1"/>
          </p:cNvSpPr>
          <p:nvPr/>
        </p:nvSpPr>
        <p:spPr>
          <a:xfrm xmlns:a="http://schemas.openxmlformats.org/drawingml/2006/main">
            <a:off x="10591800" y="448627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Sponsor access follows explicit consent.</a:t>
            </a:r>
          </a:p>
        </p:txBody>
      </p:sp>
      <p:sp>
        <p:nvSpPr>
          <p:cNvPr id="27" name="">
            <a:extLst xmlns:a="http://schemas.openxmlformats.org/drawingml/2006/main">
              <a:ext uri="{FF2B5EF4-FFF2-40B4-BE49-F238E27FC236}">
                <a16:creationId xmlns:a16="http://schemas.microsoft.com/office/drawing/2014/main" id="{BBC20FF3-94A8-4638-B19F-A86AE6A676CB}"/>
              </a:ext>
            </a:extLst>
          </p:cNvPr>
          <p:cNvSpPr>
            <a:spLocks xmlns:a="http://schemas.openxmlformats.org/drawingml/2006/main" noGrp="1"/>
          </p:cNvSpPr>
          <p:nvPr/>
        </p:nvSpPr>
        <p:spPr>
          <a:xfrm xmlns:a="http://schemas.openxmlformats.org/drawingml/2006/main">
            <a:off x="10591800" y="4838700"/>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8" name="appendix-text-47">
            <a:extLst xmlns:a="http://schemas.openxmlformats.org/drawingml/2006/main">
              <a:ext uri="{FF2B5EF4-FFF2-40B4-BE49-F238E27FC236}">
                <a16:creationId xmlns:a16="http://schemas.microsoft.com/office/drawing/2014/main" id="{66C88D5A-32F7-4326-BDEA-893367FDA363}"/>
              </a:ext>
            </a:extLst>
          </p:cNvPr>
          <p:cNvSpPr>
            <a:spLocks xmlns:a="http://schemas.openxmlformats.org/drawingml/2006/main" noGrp="1"/>
          </p:cNvSpPr>
          <p:nvPr/>
        </p:nvSpPr>
        <p:spPr>
          <a:xfrm xmlns:a="http://schemas.openxmlformats.org/drawingml/2006/main">
            <a:off x="10591800" y="49911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Isolation across tenants</a:t>
            </a:r>
          </a:p>
        </p:txBody>
      </p:sp>
      <p:sp>
        <p:nvSpPr>
          <p:cNvPr id="29" name="appendix-text-48">
            <a:extLst xmlns:a="http://schemas.openxmlformats.org/drawingml/2006/main">
              <a:ext uri="{FF2B5EF4-FFF2-40B4-BE49-F238E27FC236}">
                <a16:creationId xmlns:a16="http://schemas.microsoft.com/office/drawing/2014/main" id="{7DC70346-2B67-4E51-AAA4-72499675BB67}"/>
              </a:ext>
            </a:extLst>
          </p:cNvPr>
          <p:cNvSpPr>
            <a:spLocks xmlns:a="http://schemas.openxmlformats.org/drawingml/2006/main" noGrp="1"/>
          </p:cNvSpPr>
          <p:nvPr/>
        </p:nvSpPr>
        <p:spPr>
          <a:xfrm xmlns:a="http://schemas.openxmlformats.org/drawingml/2006/main">
            <a:off x="10591800" y="549592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Validate tenant and circle scope on every</a:t>
            </a:r>
          </a:p>
        </p:txBody>
      </p:sp>
      <p:sp>
        <p:nvSpPr>
          <p:cNvPr id="30" name="appendix-text-49">
            <a:extLst xmlns:a="http://schemas.openxmlformats.org/drawingml/2006/main">
              <a:ext uri="{FF2B5EF4-FFF2-40B4-BE49-F238E27FC236}">
                <a16:creationId xmlns:a16="http://schemas.microsoft.com/office/drawing/2014/main" id="{9CE9CB1F-89C3-431D-BC9E-542DB49B52F4}"/>
              </a:ext>
            </a:extLst>
          </p:cNvPr>
          <p:cNvSpPr>
            <a:spLocks xmlns:a="http://schemas.openxmlformats.org/drawingml/2006/main" noGrp="1"/>
          </p:cNvSpPr>
          <p:nvPr/>
        </p:nvSpPr>
        <p:spPr>
          <a:xfrm xmlns:a="http://schemas.openxmlformats.org/drawingml/2006/main">
            <a:off x="10591800" y="588645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query, object path, job and AI request.</a:t>
            </a:r>
          </a:p>
        </p:txBody>
      </p:sp>
      <p:sp>
        <p:nvSpPr>
          <p:cNvPr id="31" name="">
            <a:extLst xmlns:a="http://schemas.openxmlformats.org/drawingml/2006/main">
              <a:ext uri="{FF2B5EF4-FFF2-40B4-BE49-F238E27FC236}">
                <a16:creationId xmlns:a16="http://schemas.microsoft.com/office/drawing/2014/main" id="{1447558F-0B0E-4DA0-8B93-B1397F6107D7}"/>
              </a:ext>
            </a:extLst>
          </p:cNvPr>
          <p:cNvSpPr>
            <a:spLocks xmlns:a="http://schemas.openxmlformats.org/drawingml/2006/main" noGrp="1"/>
          </p:cNvSpPr>
          <p:nvPr/>
        </p:nvSpPr>
        <p:spPr>
          <a:xfrm xmlns:a="http://schemas.openxmlformats.org/drawingml/2006/main">
            <a:off x="10591800" y="6238875"/>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2" name="appendix-text-50">
            <a:extLst xmlns:a="http://schemas.openxmlformats.org/drawingml/2006/main">
              <a:ext uri="{FF2B5EF4-FFF2-40B4-BE49-F238E27FC236}">
                <a16:creationId xmlns:a16="http://schemas.microsoft.com/office/drawing/2014/main" id="{C2E72D44-82F3-42F6-B862-2B811FE44AC7}"/>
              </a:ext>
            </a:extLst>
          </p:cNvPr>
          <p:cNvSpPr>
            <a:spLocks xmlns:a="http://schemas.openxmlformats.org/drawingml/2006/main" noGrp="1"/>
          </p:cNvSpPr>
          <p:nvPr/>
        </p:nvSpPr>
        <p:spPr>
          <a:xfrm xmlns:a="http://schemas.openxmlformats.org/drawingml/2006/main">
            <a:off x="10591800" y="63912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Operations at scale</a:t>
            </a:r>
          </a:p>
        </p:txBody>
      </p:sp>
      <p:sp>
        <p:nvSpPr>
          <p:cNvPr id="33" name="appendix-text-51">
            <a:extLst xmlns:a="http://schemas.openxmlformats.org/drawingml/2006/main">
              <a:ext uri="{FF2B5EF4-FFF2-40B4-BE49-F238E27FC236}">
                <a16:creationId xmlns:a16="http://schemas.microsoft.com/office/drawing/2014/main" id="{73127312-B3C4-4E99-A955-E8E703186B12}"/>
              </a:ext>
            </a:extLst>
          </p:cNvPr>
          <p:cNvSpPr>
            <a:spLocks xmlns:a="http://schemas.openxmlformats.org/drawingml/2006/main" noGrp="1"/>
          </p:cNvSpPr>
          <p:nvPr/>
        </p:nvSpPr>
        <p:spPr>
          <a:xfrm xmlns:a="http://schemas.openxmlformats.org/drawingml/2006/main">
            <a:off x="10591800" y="689610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Separate quotas, audit logs and billing.</a:t>
            </a:r>
          </a:p>
        </p:txBody>
      </p:sp>
      <p:sp>
        <p:nvSpPr>
          <p:cNvPr id="34" name="appendix-text-52">
            <a:extLst xmlns:a="http://schemas.openxmlformats.org/drawingml/2006/main">
              <a:ext uri="{FF2B5EF4-FFF2-40B4-BE49-F238E27FC236}">
                <a16:creationId xmlns:a16="http://schemas.microsoft.com/office/drawing/2014/main" id="{34180E16-D2B1-49A5-9033-0BB20247350D}"/>
              </a:ext>
            </a:extLst>
          </p:cNvPr>
          <p:cNvSpPr>
            <a:spLocks xmlns:a="http://schemas.openxmlformats.org/drawingml/2006/main" noGrp="1"/>
          </p:cNvSpPr>
          <p:nvPr/>
        </p:nvSpPr>
        <p:spPr>
          <a:xfrm xmlns:a="http://schemas.openxmlformats.org/drawingml/2006/main">
            <a:off x="10591800" y="728662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Test denied access across tenant boundaries.</a:t>
            </a:r>
          </a:p>
        </p:txBody>
      </p:sp>
      <p:sp>
        <p:nvSpPr>
          <p:cNvPr id="35" name="">
            <a:extLst xmlns:a="http://schemas.openxmlformats.org/drawingml/2006/main">
              <a:ext uri="{FF2B5EF4-FFF2-40B4-BE49-F238E27FC236}">
                <a16:creationId xmlns:a16="http://schemas.microsoft.com/office/drawing/2014/main" id="{398521B4-2515-4A9D-A820-AD2CCC480C7E}"/>
              </a:ext>
            </a:extLst>
          </p:cNvPr>
          <p:cNvSpPr>
            <a:spLocks xmlns:a="http://schemas.openxmlformats.org/drawingml/2006/main" noGrp="1"/>
          </p:cNvSpPr>
          <p:nvPr/>
        </p:nvSpPr>
        <p:spPr>
          <a:xfrm xmlns:a="http://schemas.openxmlformats.org/drawingml/2006/main">
            <a:off x="10591800" y="7639050"/>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6" name="appendix-text-53">
            <a:extLst xmlns:a="http://schemas.openxmlformats.org/drawingml/2006/main">
              <a:ext uri="{FF2B5EF4-FFF2-40B4-BE49-F238E27FC236}">
                <a16:creationId xmlns:a16="http://schemas.microsoft.com/office/drawing/2014/main" id="{77B52BB8-D598-4139-BED2-3FAF13D76919}"/>
              </a:ext>
            </a:extLst>
          </p:cNvPr>
          <p:cNvSpPr>
            <a:spLocks xmlns:a="http://schemas.openxmlformats.org/drawingml/2006/main" noGrp="1"/>
          </p:cNvSpPr>
          <p:nvPr/>
        </p:nvSpPr>
        <p:spPr>
          <a:xfrm xmlns:a="http://schemas.openxmlformats.org/drawingml/2006/main">
            <a:off x="10591800" y="77914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Enterprise option</a:t>
            </a:r>
          </a:p>
        </p:txBody>
      </p:sp>
      <p:sp>
        <p:nvSpPr>
          <p:cNvPr id="37" name="appendix-text-54">
            <a:extLst xmlns:a="http://schemas.openxmlformats.org/drawingml/2006/main">
              <a:ext uri="{FF2B5EF4-FFF2-40B4-BE49-F238E27FC236}">
                <a16:creationId xmlns:a16="http://schemas.microsoft.com/office/drawing/2014/main" id="{6711DBD8-FF37-4838-ACBF-FADA6A2093F7}"/>
              </a:ext>
            </a:extLst>
          </p:cNvPr>
          <p:cNvSpPr>
            <a:spLocks xmlns:a="http://schemas.openxmlformats.org/drawingml/2006/main" noGrp="1"/>
          </p:cNvSpPr>
          <p:nvPr/>
        </p:nvSpPr>
        <p:spPr>
          <a:xfrm xmlns:a="http://schemas.openxmlformats.org/drawingml/2006/main">
            <a:off x="10591800" y="829627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Offer a dedicated database when contracts</a:t>
            </a:r>
          </a:p>
        </p:txBody>
      </p:sp>
      <p:sp>
        <p:nvSpPr>
          <p:cNvPr id="38" name="appendix-text-55">
            <a:extLst xmlns:a="http://schemas.openxmlformats.org/drawingml/2006/main">
              <a:ext uri="{FF2B5EF4-FFF2-40B4-BE49-F238E27FC236}">
                <a16:creationId xmlns:a16="http://schemas.microsoft.com/office/drawing/2014/main" id="{B39F2237-99BB-4C73-9918-87F2D49F184C}"/>
              </a:ext>
            </a:extLst>
          </p:cNvPr>
          <p:cNvSpPr>
            <a:spLocks xmlns:a="http://schemas.openxmlformats.org/drawingml/2006/main" noGrp="1"/>
          </p:cNvSpPr>
          <p:nvPr/>
        </p:nvSpPr>
        <p:spPr>
          <a:xfrm xmlns:a="http://schemas.openxmlformats.org/drawingml/2006/main">
            <a:off x="10591800" y="868680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require stronger physical separation.</a:t>
            </a:r>
          </a:p>
        </p:txBody>
      </p:sp>
      <p:sp>
        <p:nvSpPr>
          <p:cNvPr id="39" name="appendix-text-56">
            <a:extLst xmlns:a="http://schemas.openxmlformats.org/drawingml/2006/main">
              <a:ext uri="{FF2B5EF4-FFF2-40B4-BE49-F238E27FC236}">
                <a16:creationId xmlns:a16="http://schemas.microsoft.com/office/drawing/2014/main" id="{00A93027-8A54-4B11-ADF5-465827D630F1}"/>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model; production identity, consent enforcement and server-side tenant storage remain implementation work.</a:t>
            </a:r>
          </a:p>
        </p:txBody>
      </p:sp>
      <p:sp>
        <p:nvSpPr>
          <p:cNvPr id="40" name="appendix-text-57">
            <a:extLst xmlns:a="http://schemas.openxmlformats.org/drawingml/2006/main">
              <a:ext uri="{FF2B5EF4-FFF2-40B4-BE49-F238E27FC236}">
                <a16:creationId xmlns:a16="http://schemas.microsoft.com/office/drawing/2014/main" id="{B17AFFB1-74B4-47BB-B52F-438C70F942AA}"/>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23</a:t>
            </a:r>
          </a:p>
        </p:txBody>
      </p:sp>
    </p:spTree>
    <p:extLst>
      <p:ext uri="{BB962C8B-B14F-4D97-AF65-F5344CB8AC3E}">
        <p14:creationId xmlns:p14="http://schemas.microsoft.com/office/powerpoint/2010/main" val="1499621995"/>
      </p:ext>
    </p:extLst>
  </p:cSld>
</p:sld>
</file>

<file path=ppt/slides/slide2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58">
            <a:extLst xmlns:a="http://schemas.openxmlformats.org/drawingml/2006/main">
              <a:ext uri="{FF2B5EF4-FFF2-40B4-BE49-F238E27FC236}">
                <a16:creationId xmlns:a16="http://schemas.microsoft.com/office/drawing/2014/main" id="{DE8D07A5-2C71-4A9A-AD38-9C8F63F3B659}"/>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59">
            <a:extLst xmlns:a="http://schemas.openxmlformats.org/drawingml/2006/main">
              <a:ext uri="{FF2B5EF4-FFF2-40B4-BE49-F238E27FC236}">
                <a16:creationId xmlns:a16="http://schemas.microsoft.com/office/drawing/2014/main" id="{9BB61787-81CB-4D57-812C-7D1B17675FC4}"/>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Singapore TAM, SAM &amp; SOM</a:t>
            </a:r>
          </a:p>
        </p:txBody>
      </p:sp>
      <p:sp>
        <p:nvSpPr>
          <p:cNvPr id="3" name="appendix-text-60">
            <a:extLst xmlns:a="http://schemas.openxmlformats.org/drawingml/2006/main">
              <a:ext uri="{FF2B5EF4-FFF2-40B4-BE49-F238E27FC236}">
                <a16:creationId xmlns:a16="http://schemas.microsoft.com/office/drawing/2014/main" id="{681687B4-A9D8-4107-8BF0-BFDCEB11B856}"/>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Illustrative annual revenue potential at S$120 per care circle</a:t>
            </a:r>
          </a:p>
        </p:txBody>
      </p:sp>
      <p:graphicFrame>
        <p:nvGraphicFramePr>
          <p:cNvPr id="14" name=""/>
          <p:cNvGraphicFramePr/>
          <p:nvPr/>
        </p:nvGraphicFramePr>
        <p:xfrm>
          <a:off xmlns:a="http://schemas.openxmlformats.org/drawingml/2006/main" x="1009650" y="3495675"/>
          <a:ext xmlns:a="http://schemas.openxmlformats.org/drawingml/2006/main" cx="16268700" cy="4867275"/>
        </p:xfrm>
        <a:graphic xmlns:a="http://schemas.openxmlformats.org/drawingml/2006/main">
          <a:graphicData uri="http://schemas.openxmlformats.org/drawingml/2006/table">
            <a:tbl>
              <a:tblPr firstRow="0" firstCol="0" lastCol="0" bandRow="0" bandCol="0"/>
              <a:tblGrid>
                <a:gridCol w="5381625"/>
                <a:gridCol w="5381625"/>
                <a:gridCol w="5505450"/>
              </a:tblGrid>
              <a:tr h="638175">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TAM · Total market</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SAM · Initial segment</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SOM · Year-3 scenario</a:t>
                      </a:r>
                    </a:p>
                  </a:txBody>
                  <a:tcPr marL="0" marR="190500" marT="47625" marB="47625" anchor="t">
                    <a:lnL w="0">
                      <a:noFill/>
                    </a:lnL>
                    <a:lnR w="0">
                      <a:noFill/>
                    </a:lnR>
                    <a:lnT w="0">
                      <a:noFill/>
                    </a:lnT>
                    <a:lnB w="0">
                      <a:noFill/>
                    </a:lnB>
                    <a:lnTlToBr w="0">
                      <a:noFill/>
                    </a:lnTlToBr>
                    <a:lnBlToTr w="0">
                      <a:noFill/>
                    </a:lnBlToTr>
                    <a:noFill/>
                  </a:tcPr>
                </a:tc>
              </a:tr>
              <a:tr h="1095375">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S$178.8m</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S$53.6m</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S$0.60m</a:t>
                      </a:r>
                    </a:p>
                  </a:txBody>
                  <a:tcPr marL="0" marR="190500" marT="47625" marB="47625" anchor="t">
                    <a:lnL w="0">
                      <a:noFill/>
                    </a:lnL>
                    <a:lnR w="0">
                      <a:noFill/>
                    </a:lnR>
                    <a:lnT w="0">
                      <a:noFill/>
                    </a:lnT>
                    <a:lnB w="0">
                      <a:noFill/>
                    </a:lnB>
                    <a:lnTlToBr w="0">
                      <a:noFill/>
                    </a:lnTlToBr>
                    <a:lnBlToTr w="0">
                      <a:noFill/>
                    </a:lnBlToTr>
                    <a:noFill/>
                  </a:tcPr>
                </a:tc>
              </a:tr>
              <a:tr h="733425">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1.49m care circles</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447,000 care circles</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5,000 funded care circles</a:t>
                      </a:r>
                    </a:p>
                  </a:txBody>
                  <a:tcPr marL="0" marR="190500" marT="47625" marB="47625" anchor="t">
                    <a:lnL w="0">
                      <a:noFill/>
                    </a:lnL>
                    <a:lnR w="0">
                      <a:noFill/>
                    </a:lnR>
                    <a:lnT w="0">
                      <a:noFill/>
                    </a:lnT>
                    <a:lnB w="0">
                      <a:noFill/>
                    </a:lnB>
                    <a:lnTlToBr w="0">
                      <a:noFill/>
                    </a:lnTlToBr>
                    <a:lnBlToTr w="0">
                      <a:noFill/>
                    </a:lnBlToTr>
                    <a:noFill/>
                  </a:tcPr>
                </a:tc>
              </a:tr>
              <a:tr h="1066800">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All resident households</a:t>
                      </a:r>
                    </a:p>
                    <a:p>
                      <a:pPr algn="l">
                        <a:lnSpc>
                          <a:spcPct val="120000"/>
                        </a:lnSpc>
                      </a:pPr>
                      <a:r>
                        <a:rPr sz="2100">
                          <a:solidFill>
                            <a:srgbClr val="3A3745"/>
                          </a:solidFill>
                          <a:latin typeface="Deck"/>
                          <a:ea typeface="Deck"/>
                          <a:cs typeface="Deck"/>
                        </a:rPr>
                        <a:t>Upper bound, before need or adoption</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Assumed 30% of households</a:t>
                      </a:r>
                    </a:p>
                    <a:p>
                      <a:pPr algn="l">
                        <a:lnSpc>
                          <a:spcPct val="120000"/>
                        </a:lnSpc>
                      </a:pPr>
                      <a:r>
                        <a:rPr sz="2100">
                          <a:solidFill>
                            <a:srgbClr val="3A3745"/>
                          </a:solidFill>
                          <a:latin typeface="Deck"/>
                          <a:ea typeface="Deck"/>
                          <a:cs typeface="Deck"/>
                        </a:rPr>
                        <a:t>Have a need and can use the service</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Target through partner distribution</a:t>
                      </a:r>
                    </a:p>
                    <a:p>
                      <a:pPr algn="l">
                        <a:lnSpc>
                          <a:spcPct val="120000"/>
                        </a:lnSpc>
                      </a:pPr>
                      <a:r>
                        <a:rPr sz="2100">
                          <a:solidFill>
                            <a:srgbClr val="3A3745"/>
                          </a:solidFill>
                          <a:latin typeface="Deck"/>
                          <a:ea typeface="Deck"/>
                          <a:cs typeface="Deck"/>
                        </a:rPr>
                        <a:t>About 1.1% of modelled SAM</a:t>
                      </a:r>
                    </a:p>
                  </a:txBody>
                  <a:tcPr marL="0" marR="190500" marT="47625" marB="47625" anchor="t">
                    <a:lnL w="0">
                      <a:noFill/>
                    </a:lnL>
                    <a:lnR w="0">
                      <a:noFill/>
                    </a:lnR>
                    <a:lnT w="0">
                      <a:noFill/>
                    </a:lnT>
                    <a:lnB w="0">
                      <a:noFill/>
                    </a:lnB>
                    <a:lnTlToBr w="0">
                      <a:noFill/>
                    </a:lnTlToBr>
                    <a:lnBlToTr w="0">
                      <a:noFill/>
                    </a:lnBlToTr>
                    <a:noFill/>
                  </a:tcPr>
                </a:tc>
              </a:tr>
              <a:tr h="1333500">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1.49m × S$120 per year</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1.49m × 30% × S$120 per year</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5 partners × 5,000 eligible circles</a:t>
                      </a:r>
                    </a:p>
                    <a:p>
                      <a:pPr algn="l">
                        <a:lnSpc>
                          <a:spcPct val="120000"/>
                        </a:lnSpc>
                      </a:pPr>
                      <a:r>
                        <a:rPr sz="2100">
                          <a:solidFill>
                            <a:srgbClr val="77717D"/>
                          </a:solidFill>
                          <a:latin typeface="Deck"/>
                          <a:ea typeface="Deck"/>
                          <a:cs typeface="Deck"/>
                        </a:rPr>
                        <a:t>× 20% funded conversion</a:t>
                      </a:r>
                    </a:p>
                    <a:p>
                      <a:pPr algn="l">
                        <a:lnSpc>
                          <a:spcPct val="120000"/>
                        </a:lnSpc>
                      </a:pPr>
                      <a:r>
                        <a:rPr sz="2100">
                          <a:solidFill>
                            <a:srgbClr val="77717D"/>
                          </a:solidFill>
                          <a:latin typeface="Deck"/>
                          <a:ea typeface="Deck"/>
                          <a:cs typeface="Deck"/>
                        </a:rPr>
                        <a:t>× S$120 per year</a:t>
                      </a:r>
                    </a:p>
                  </a:txBody>
                  <a:tcPr marL="0" marR="190500" marT="47625" marB="47625"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D5867A1E-3F68-4548-AAE2-17E360E17901}"/>
              </a:ext>
            </a:extLst>
          </p:cNvPr>
          <p:cNvSpPr>
            <a:spLocks xmlns:a="http://schemas.openxmlformats.org/drawingml/2006/main" noGrp="1"/>
          </p:cNvSpPr>
          <p:nvPr/>
        </p:nvSpPr>
        <p:spPr>
          <a:xfrm xmlns:a="http://schemas.openxmlformats.org/drawingml/2006/main">
            <a:off x="1009650" y="33432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F701EE80-9701-4794-8F62-E9DBED7FB4E7}"/>
              </a:ext>
            </a:extLst>
          </p:cNvPr>
          <p:cNvSpPr>
            <a:spLocks xmlns:a="http://schemas.openxmlformats.org/drawingml/2006/main" noGrp="1"/>
          </p:cNvSpPr>
          <p:nvPr/>
        </p:nvSpPr>
        <p:spPr>
          <a:xfrm xmlns:a="http://schemas.openxmlformats.org/drawingml/2006/main">
            <a:off x="1009650" y="84391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61">
            <a:extLst xmlns:a="http://schemas.openxmlformats.org/drawingml/2006/main">
              <a:ext uri="{FF2B5EF4-FFF2-40B4-BE49-F238E27FC236}">
                <a16:creationId xmlns:a16="http://schemas.microsoft.com/office/drawing/2014/main" id="{F8147BFD-0448-476A-B147-20DFEF293869}"/>
              </a:ext>
            </a:extLst>
          </p:cNvPr>
          <p:cNvSpPr>
            <a:spLocks xmlns:a="http://schemas.openxmlformats.org/drawingml/2006/main" noGrp="1"/>
          </p:cNvSpPr>
          <p:nvPr/>
        </p:nvSpPr>
        <p:spPr>
          <a:xfrm xmlns:a="http://schemas.openxmlformats.org/drawingml/2006/main">
            <a:off x="1009650" y="8772525"/>
            <a:ext cx="1626870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
                <a:ea typeface="Deck"/>
                <a:cs typeface="Deck"/>
              </a:defRPr>
            </a:pPr>
            <a:r>
              <a:rPr sz="1725">
                <a:solidFill>
                  <a:srgbClr val="77717D"/>
                </a:solidFill>
                <a:latin typeface="Deck"/>
                <a:ea typeface="Deck"/>
                <a:cs typeface="Deck"/>
              </a:rPr>
              <a:t>Assumptions: one circle per household; S$10/month; 30% SAM eligibility; partner reach and conversion are unvalidated.</a:t>
            </a:r>
          </a:p>
        </p:txBody>
      </p:sp>
      <p:sp>
        <p:nvSpPr>
          <p:cNvPr id="8" name="appendix-text-62">
            <a:extLst xmlns:a="http://schemas.openxmlformats.org/drawingml/2006/main">
              <a:ext uri="{FF2B5EF4-FFF2-40B4-BE49-F238E27FC236}">
                <a16:creationId xmlns:a16="http://schemas.microsoft.com/office/drawing/2014/main" id="{DCC3EFFE-C689-427D-BD9E-F7AB45F5E24C}"/>
              </a:ext>
            </a:extLst>
          </p:cNvPr>
          <p:cNvSpPr>
            <a:spLocks xmlns:a="http://schemas.openxmlformats.org/drawingml/2006/main" noGrp="1"/>
          </p:cNvSpPr>
          <p:nvPr/>
        </p:nvSpPr>
        <p:spPr>
          <a:xfrm xmlns:a="http://schemas.openxmlformats.org/drawingml/2006/main">
            <a:off x="1009650" y="9096375"/>
            <a:ext cx="1626870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
                <a:ea typeface="Deck"/>
                <a:cs typeface="Deck"/>
              </a:defRPr>
            </a:pPr>
            <a:r>
              <a:rPr sz="1725">
                <a:solidFill>
                  <a:srgbClr val="77717D"/>
                </a:solidFill>
                <a:latin typeface="Deck"/>
                <a:ea typeface="Deck"/>
                <a:cs typeface="Deck"/>
              </a:rPr>
              <a:t>TAM and SAM are potential revenue, not current spend. SOM is a target scenario, not a forecast.</a:t>
            </a:r>
          </a:p>
        </p:txBody>
      </p:sp>
      <p:sp>
        <p:nvSpPr>
          <p:cNvPr id="9" name="appendix-text-63">
            <a:extLst xmlns:a="http://schemas.openxmlformats.org/drawingml/2006/main">
              <a:ext uri="{FF2B5EF4-FFF2-40B4-BE49-F238E27FC236}">
                <a16:creationId xmlns:a16="http://schemas.microsoft.com/office/drawing/2014/main" id="{9CF084F8-6CE6-4734-807F-5F96C4B1338F}"/>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Demographic base: 1.49m resident households in 2025, SingStat Population Trends 2026. All commercial inputs are assumptions.</a:t>
            </a:r>
          </a:p>
        </p:txBody>
      </p:sp>
      <p:sp>
        <p:nvSpPr>
          <p:cNvPr id="10" name="appendix-text-64">
            <a:extLst xmlns:a="http://schemas.openxmlformats.org/drawingml/2006/main">
              <a:ext uri="{FF2B5EF4-FFF2-40B4-BE49-F238E27FC236}">
                <a16:creationId xmlns:a16="http://schemas.microsoft.com/office/drawing/2014/main" id="{5E992CE6-5F17-48CB-96C7-61F75D88D20E}"/>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24</a:t>
            </a:r>
          </a:p>
        </p:txBody>
      </p:sp>
    </p:spTree>
    <p:extLst>
      <p:ext uri="{BB962C8B-B14F-4D97-AF65-F5344CB8AC3E}">
        <p14:creationId xmlns:p14="http://schemas.microsoft.com/office/powerpoint/2010/main" val="835320171"/>
      </p:ext>
    </p:extLst>
  </p:cSld>
</p:sld>
</file>

<file path=ppt/slides/slide2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65">
            <a:extLst xmlns:a="http://schemas.openxmlformats.org/drawingml/2006/main">
              <a:ext uri="{FF2B5EF4-FFF2-40B4-BE49-F238E27FC236}">
                <a16:creationId xmlns:a16="http://schemas.microsoft.com/office/drawing/2014/main" id="{297AFB93-BB2D-424B-9083-B8CA5352487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66">
            <a:extLst xmlns:a="http://schemas.openxmlformats.org/drawingml/2006/main">
              <a:ext uri="{FF2B5EF4-FFF2-40B4-BE49-F238E27FC236}">
                <a16:creationId xmlns:a16="http://schemas.microsoft.com/office/drawing/2014/main" id="{31071419-8F5F-49B1-95AC-B3DCFAC626FA}"/>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SWOT analysis</a:t>
            </a:r>
          </a:p>
        </p:txBody>
      </p:sp>
      <p:sp>
        <p:nvSpPr>
          <p:cNvPr id="3" name="appendix-text-67">
            <a:extLst xmlns:a="http://schemas.openxmlformats.org/drawingml/2006/main">
              <a:ext uri="{FF2B5EF4-FFF2-40B4-BE49-F238E27FC236}">
                <a16:creationId xmlns:a16="http://schemas.microsoft.com/office/drawing/2014/main" id="{43D3F563-9A9A-49EA-BF97-84FF1CB29796}"/>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Prototype strengths, production gaps and the conditions for adoption</a:t>
            </a:r>
          </a:p>
        </p:txBody>
      </p:sp>
      <p:graphicFrame>
        <p:nvGraphicFramePr>
          <p:cNvPr id="14" name=""/>
          <p:cNvGraphicFramePr/>
          <p:nvPr/>
        </p:nvGraphicFramePr>
        <p:xfrm>
          <a:off xmlns:a="http://schemas.openxmlformats.org/drawingml/2006/main" x="1009650" y="3533775"/>
          <a:ext xmlns:a="http://schemas.openxmlformats.org/drawingml/2006/main" cx="16268700" cy="4991100"/>
        </p:xfrm>
        <a:graphic xmlns:a="http://schemas.openxmlformats.org/drawingml/2006/main">
          <a:graphicData uri="http://schemas.openxmlformats.org/drawingml/2006/table">
            <a:tbl>
              <a:tblPr firstRow="0" firstCol="0" lastCol="0" bandRow="0" bandCol="0"/>
              <a:tblGrid>
                <a:gridCol w="8143875"/>
                <a:gridCol w="8124825"/>
              </a:tblGrid>
              <a:tr h="2495550">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Strengths</a:t>
                      </a:r>
                    </a:p>
                    <a:p>
                      <a:pPr algn="l">
                        <a:lnSpc>
                          <a:spcPct val="120000"/>
                        </a:lnSpc>
                      </a:pPr>
                      <a:r>
                        <a:rPr sz="2250">
                          <a:solidFill>
                            <a:srgbClr val="3A3745"/>
                          </a:solidFill>
                          <a:latin typeface="Deck"/>
                          <a:ea typeface="Deck"/>
                          <a:cs typeface="Deck"/>
                        </a:rPr>
                        <a:t>Working mobile care-circle prototype</a:t>
                      </a:r>
                    </a:p>
                    <a:p>
                      <a:pPr algn="l">
                        <a:lnSpc>
                          <a:spcPct val="120000"/>
                        </a:lnSpc>
                      </a:pPr>
                      <a:r>
                        <a:rPr sz="2250">
                          <a:solidFill>
                            <a:srgbClr val="3A3745"/>
                          </a:solidFill>
                          <a:latin typeface="Deck"/>
                          <a:ea typeface="Deck"/>
                          <a:cs typeface="Deck"/>
                        </a:rPr>
                        <a:t>Confirmable actions with scoped AI context</a:t>
                      </a:r>
                    </a:p>
                    <a:p>
                      <a:pPr algn="l">
                        <a:lnSpc>
                          <a:spcPct val="120000"/>
                        </a:lnSpc>
                      </a:pPr>
                      <a:r>
                        <a:rPr sz="2250">
                          <a:solidFill>
                            <a:srgbClr val="3A3745"/>
                          </a:solidFill>
                          <a:latin typeface="Deck"/>
                          <a:ea typeface="Deck"/>
                          <a:cs typeface="Deck"/>
                        </a:rPr>
                        <a:t>Clear routine and coordination use case</a:t>
                      </a:r>
                    </a:p>
                  </a:txBody>
                  <a:tcPr marL="0" marR="266700" marT="171450" marB="171450" anchor="t">
                    <a:lnL w="0">
                      <a:noFill/>
                    </a:lnL>
                    <a:lnR w="0">
                      <a:noFill/>
                    </a:lnR>
                    <a:lnT w="0">
                      <a:noFill/>
                    </a:lnT>
                    <a:lnB w="0">
                      <a:noFill/>
                    </a:lnB>
                    <a:lnTlToBr w="0">
                      <a:noFill/>
                    </a:lnTlToBr>
                    <a:lnBlToTr w="0">
                      <a:noFill/>
                    </a:lnBlToTr>
                    <a:noFill/>
                  </a:tcPr>
                </a:tc>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Weaknesses</a:t>
                      </a:r>
                    </a:p>
                    <a:p>
                      <a:pPr algn="l">
                        <a:lnSpc>
                          <a:spcPct val="120000"/>
                        </a:lnSpc>
                      </a:pPr>
                      <a:r>
                        <a:rPr sz="2250">
                          <a:solidFill>
                            <a:srgbClr val="3A3745"/>
                          </a:solidFill>
                          <a:latin typeface="Deck"/>
                          <a:ea typeface="Deck"/>
                          <a:cs typeface="Deck"/>
                        </a:rPr>
                        <a:t>Production identity and tenant storage pending</a:t>
                      </a:r>
                    </a:p>
                    <a:p>
                      <a:pPr algn="l">
                        <a:lnSpc>
                          <a:spcPct val="120000"/>
                        </a:lnSpc>
                      </a:pPr>
                      <a:r>
                        <a:rPr sz="2250">
                          <a:solidFill>
                            <a:srgbClr val="3A3745"/>
                          </a:solidFill>
                          <a:latin typeface="Deck"/>
                          <a:ea typeface="Deck"/>
                          <a:cs typeface="Deck"/>
                        </a:rPr>
                        <a:t>Retention and willingness to pay untested</a:t>
                      </a:r>
                    </a:p>
                    <a:p>
                      <a:pPr algn="l">
                        <a:lnSpc>
                          <a:spcPct val="120000"/>
                        </a:lnSpc>
                      </a:pPr>
                      <a:r>
                        <a:rPr sz="2250">
                          <a:solidFill>
                            <a:srgbClr val="3A3745"/>
                          </a:solidFill>
                          <a:latin typeface="Deck"/>
                          <a:ea typeface="Deck"/>
                          <a:cs typeface="Deck"/>
                        </a:rPr>
                        <a:t>Clinical and wearable integrations limited</a:t>
                      </a:r>
                    </a:p>
                  </a:txBody>
                  <a:tcPr marL="0" marR="266700" marT="171450" marB="171450" anchor="t">
                    <a:lnL w="0">
                      <a:noFill/>
                    </a:lnL>
                    <a:lnR w="0">
                      <a:noFill/>
                    </a:lnR>
                    <a:lnT w="0">
                      <a:noFill/>
                    </a:lnT>
                    <a:lnB w="0">
                      <a:noFill/>
                    </a:lnB>
                    <a:lnTlToBr w="0">
                      <a:noFill/>
                    </a:lnTlToBr>
                    <a:lnBlToTr w="0">
                      <a:noFill/>
                    </a:lnBlToTr>
                    <a:noFill/>
                  </a:tcPr>
                </a:tc>
              </a:tr>
              <a:tr h="2495550">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Opportunities</a:t>
                      </a:r>
                    </a:p>
                    <a:p>
                      <a:pPr algn="l">
                        <a:lnSpc>
                          <a:spcPct val="120000"/>
                        </a:lnSpc>
                      </a:pPr>
                      <a:r>
                        <a:rPr sz="2250">
                          <a:solidFill>
                            <a:srgbClr val="3A3745"/>
                          </a:solidFill>
                          <a:latin typeface="Deck"/>
                          <a:ea typeface="Deck"/>
                          <a:cs typeface="Deck"/>
                        </a:rPr>
                        <a:t>Singapore’s ageing population</a:t>
                      </a:r>
                    </a:p>
                    <a:p>
                      <a:pPr algn="l">
                        <a:lnSpc>
                          <a:spcPct val="120000"/>
                        </a:lnSpc>
                      </a:pPr>
                      <a:r>
                        <a:rPr sz="2250">
                          <a:solidFill>
                            <a:srgbClr val="3A3745"/>
                          </a:solidFill>
                          <a:latin typeface="Deck"/>
                          <a:ea typeface="Deck"/>
                          <a:cs typeface="Deck"/>
                        </a:rPr>
                        <a:t>Caregiver pilots via community or clinical partners</a:t>
                      </a:r>
                    </a:p>
                    <a:p>
                      <a:pPr algn="l">
                        <a:lnSpc>
                          <a:spcPct val="120000"/>
                        </a:lnSpc>
                      </a:pPr>
                      <a:r>
                        <a:rPr sz="2250">
                          <a:solidFill>
                            <a:srgbClr val="3A3745"/>
                          </a:solidFill>
                          <a:latin typeface="Deck"/>
                          <a:ea typeface="Deck"/>
                          <a:cs typeface="Deck"/>
                        </a:rPr>
                        <a:t>Tencent Cloud and NTU collaboration potential</a:t>
                      </a:r>
                    </a:p>
                  </a:txBody>
                  <a:tcPr marL="0" marR="266700" marT="171450" marB="171450" anchor="t">
                    <a:lnL w="0">
                      <a:noFill/>
                    </a:lnL>
                    <a:lnR w="0">
                      <a:noFill/>
                    </a:lnR>
                    <a:lnT w="0">
                      <a:noFill/>
                    </a:lnT>
                    <a:lnB w="0">
                      <a:noFill/>
                    </a:lnB>
                    <a:lnTlToBr w="0">
                      <a:noFill/>
                    </a:lnTlToBr>
                    <a:lnBlToTr w="0">
                      <a:noFill/>
                    </a:lnBlToTr>
                    <a:noFill/>
                  </a:tcPr>
                </a:tc>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Threats</a:t>
                      </a:r>
                    </a:p>
                    <a:p>
                      <a:pPr algn="l">
                        <a:lnSpc>
                          <a:spcPct val="120000"/>
                        </a:lnSpc>
                      </a:pPr>
                      <a:r>
                        <a:rPr sz="2250">
                          <a:solidFill>
                            <a:srgbClr val="3A3745"/>
                          </a:solidFill>
                          <a:latin typeface="Deck"/>
                          <a:ea typeface="Deck"/>
                          <a:cs typeface="Deck"/>
                        </a:rPr>
                        <a:t>Trusted care platforms and existing reminder tools</a:t>
                      </a:r>
                    </a:p>
                    <a:p>
                      <a:pPr algn="l">
                        <a:lnSpc>
                          <a:spcPct val="120000"/>
                        </a:lnSpc>
                      </a:pPr>
                      <a:r>
                        <a:rPr sz="2250">
                          <a:solidFill>
                            <a:srgbClr val="3A3745"/>
                          </a:solidFill>
                          <a:latin typeface="Deck"/>
                          <a:ea typeface="Deck"/>
                          <a:cs typeface="Deck"/>
                        </a:rPr>
                        <a:t>Low repeat use or limited digital confidence</a:t>
                      </a:r>
                    </a:p>
                    <a:p>
                      <a:pPr algn="l">
                        <a:lnSpc>
                          <a:spcPct val="120000"/>
                        </a:lnSpc>
                      </a:pPr>
                      <a:r>
                        <a:rPr sz="2250">
                          <a:solidFill>
                            <a:srgbClr val="3A3745"/>
                          </a:solidFill>
                          <a:latin typeface="Deck"/>
                          <a:ea typeface="Deck"/>
                          <a:cs typeface="Deck"/>
                        </a:rPr>
                        <a:t>Trust failures and AI/provider cost dependence</a:t>
                      </a:r>
                    </a:p>
                  </a:txBody>
                  <a:tcPr marL="0" marR="266700" marT="171450" marB="1714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1110700A-75D7-41A4-9913-BFAD9C2927E4}"/>
              </a:ext>
            </a:extLst>
          </p:cNvPr>
          <p:cNvSpPr>
            <a:spLocks xmlns:a="http://schemas.openxmlformats.org/drawingml/2006/main" noGrp="1"/>
          </p:cNvSpPr>
          <p:nvPr/>
        </p:nvSpPr>
        <p:spPr>
          <a:xfrm xmlns:a="http://schemas.openxmlformats.org/drawingml/2006/main">
            <a:off x="1009650" y="33813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F2026D0D-8972-4FEA-BC4D-F2974272CB21}"/>
              </a:ext>
            </a:extLst>
          </p:cNvPr>
          <p:cNvSpPr>
            <a:spLocks xmlns:a="http://schemas.openxmlformats.org/drawingml/2006/main" noGrp="1"/>
          </p:cNvSpPr>
          <p:nvPr/>
        </p:nvSpPr>
        <p:spPr>
          <a:xfrm xmlns:a="http://schemas.openxmlformats.org/drawingml/2006/main">
            <a:off x="1009650" y="60007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68">
            <a:extLst xmlns:a="http://schemas.openxmlformats.org/drawingml/2006/main">
              <a:ext uri="{FF2B5EF4-FFF2-40B4-BE49-F238E27FC236}">
                <a16:creationId xmlns:a16="http://schemas.microsoft.com/office/drawing/2014/main" id="{E3738EBD-159A-4884-9C29-8E8D2BC8F5A5}"/>
              </a:ext>
            </a:extLst>
          </p:cNvPr>
          <p:cNvSpPr>
            <a:spLocks xmlns:a="http://schemas.openxmlformats.org/drawingml/2006/main" noGrp="1"/>
          </p:cNvSpPr>
          <p:nvPr/>
        </p:nvSpPr>
        <p:spPr>
          <a:xfrm xmlns:a="http://schemas.openxmlformats.org/drawingml/2006/main">
            <a:off x="1009650" y="87058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Near-term priority</a:t>
            </a:r>
          </a:p>
        </p:txBody>
      </p:sp>
      <p:sp>
        <p:nvSpPr>
          <p:cNvPr id="8" name="appendix-text-69">
            <a:extLst xmlns:a="http://schemas.openxmlformats.org/drawingml/2006/main">
              <a:ext uri="{FF2B5EF4-FFF2-40B4-BE49-F238E27FC236}">
                <a16:creationId xmlns:a16="http://schemas.microsoft.com/office/drawing/2014/main" id="{21B05462-E913-4EA8-B002-CC929A0D232D}"/>
              </a:ext>
            </a:extLst>
          </p:cNvPr>
          <p:cNvSpPr>
            <a:spLocks xmlns:a="http://schemas.openxmlformats.org/drawingml/2006/main" noGrp="1"/>
          </p:cNvSpPr>
          <p:nvPr/>
        </p:nvSpPr>
        <p:spPr>
          <a:xfrm xmlns:a="http://schemas.openxmlformats.org/drawingml/2006/main">
            <a:off x="4191000" y="8724900"/>
            <a:ext cx="13087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Validate repeat use and a paying sponsor while closing identity and tenant-isolation gaps.</a:t>
            </a:r>
          </a:p>
        </p:txBody>
      </p:sp>
      <p:sp>
        <p:nvSpPr>
          <p:cNvPr id="9" name="appendix-text-70">
            <a:extLst xmlns:a="http://schemas.openxmlformats.org/drawingml/2006/main">
              <a:ext uri="{FF2B5EF4-FFF2-40B4-BE49-F238E27FC236}">
                <a16:creationId xmlns:a16="http://schemas.microsoft.com/office/drawing/2014/main" id="{732980C2-B77D-4657-BCE1-8F00B27E3D31}"/>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Strategic assessment; no clinical outcome, adoption or partner commitment is claimed. Prototype context: 7–8 October 2026.</a:t>
            </a:r>
          </a:p>
        </p:txBody>
      </p:sp>
      <p:sp>
        <p:nvSpPr>
          <p:cNvPr id="10" name="appendix-text-71">
            <a:extLst xmlns:a="http://schemas.openxmlformats.org/drawingml/2006/main">
              <a:ext uri="{FF2B5EF4-FFF2-40B4-BE49-F238E27FC236}">
                <a16:creationId xmlns:a16="http://schemas.microsoft.com/office/drawing/2014/main" id="{5DA504A7-80BA-4DA5-B51A-2D39259D4D66}"/>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25</a:t>
            </a:r>
          </a:p>
        </p:txBody>
      </p:sp>
    </p:spTree>
    <p:extLst>
      <p:ext uri="{BB962C8B-B14F-4D97-AF65-F5344CB8AC3E}">
        <p14:creationId xmlns:p14="http://schemas.microsoft.com/office/powerpoint/2010/main" val="35627989"/>
      </p:ext>
    </p:extLst>
  </p:cSld>
</p:sld>
</file>

<file path=ppt/slides/slide2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72">
            <a:extLst xmlns:a="http://schemas.openxmlformats.org/drawingml/2006/main">
              <a:ext uri="{FF2B5EF4-FFF2-40B4-BE49-F238E27FC236}">
                <a16:creationId xmlns:a16="http://schemas.microsoft.com/office/drawing/2014/main" id="{C049351B-1EF8-4E6E-8506-54D5785338F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73">
            <a:extLst xmlns:a="http://schemas.openxmlformats.org/drawingml/2006/main">
              <a:ext uri="{FF2B5EF4-FFF2-40B4-BE49-F238E27FC236}">
                <a16:creationId xmlns:a16="http://schemas.microsoft.com/office/drawing/2014/main" id="{59D5228E-DD5A-4BB4-BC30-F5B83C9C311F}"/>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Go-to-market strategy</a:t>
            </a:r>
          </a:p>
        </p:txBody>
      </p:sp>
      <p:sp>
        <p:nvSpPr>
          <p:cNvPr id="3" name="appendix-text-74">
            <a:extLst xmlns:a="http://schemas.openxmlformats.org/drawingml/2006/main">
              <a:ext uri="{FF2B5EF4-FFF2-40B4-BE49-F238E27FC236}">
                <a16:creationId xmlns:a16="http://schemas.microsoft.com/office/drawing/2014/main" id="{D1D735F3-E11C-4BEC-8C57-1213C7A69FD9}"/>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Singapore caregiver pilots first; sponsor-funded distribution after validation</a:t>
            </a:r>
          </a:p>
        </p:txBody>
      </p:sp>
      <p:graphicFrame>
        <p:nvGraphicFramePr>
          <p:cNvPr id="14" name=""/>
          <p:cNvGraphicFramePr/>
          <p:nvPr/>
        </p:nvGraphicFramePr>
        <p:xfrm>
          <a:off xmlns:a="http://schemas.openxmlformats.org/drawingml/2006/main" x="1009650" y="3419475"/>
          <a:ext xmlns:a="http://schemas.openxmlformats.org/drawingml/2006/main" cx="16268700" cy="4972050"/>
        </p:xfrm>
        <a:graphic xmlns:a="http://schemas.openxmlformats.org/drawingml/2006/main">
          <a:graphicData uri="http://schemas.openxmlformats.org/drawingml/2006/table">
            <a:tbl>
              <a:tblPr firstRow="0" firstCol="0" lastCol="0" bandRow="0" bandCol="0"/>
              <a:tblGrid>
                <a:gridCol w="5429250"/>
                <a:gridCol w="5429250"/>
                <a:gridCol w="5410200"/>
              </a:tblGrid>
              <a:tr h="619125">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0–3</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4–6</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7–12</a:t>
                      </a:r>
                    </a:p>
                  </a:txBody>
                  <a:tcPr marL="0" marR="228600" marT="95250" marB="95250" anchor="t">
                    <a:lnL w="0">
                      <a:noFill/>
                    </a:lnL>
                    <a:lnR w="0">
                      <a:noFill/>
                    </a:lnR>
                    <a:lnT w="0">
                      <a:noFill/>
                    </a:lnT>
                    <a:lnB w="0">
                      <a:noFill/>
                    </a:lnB>
                    <a:lnTlToBr w="0">
                      <a:noFill/>
                    </a:lnTlToBr>
                    <a:lnBlToTr w="0">
                      <a:noFill/>
                    </a:lnBlToTr>
                    <a:noFill/>
                  </a:tcPr>
                </a:tc>
              </a:tr>
              <a:tr h="752475">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Caregiver pilot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Paid cohort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Partner rollout</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100 circles through one</a:t>
                      </a:r>
                    </a:p>
                    <a:p>
                      <a:pPr algn="l">
                        <a:lnSpc>
                          <a:spcPct val="120000"/>
                        </a:lnSpc>
                      </a:pPr>
                      <a:r>
                        <a:rPr sz="2175">
                          <a:solidFill>
                            <a:srgbClr val="3A3745"/>
                          </a:solidFill>
                          <a:latin typeface="Deck"/>
                          <a:ea typeface="Deck"/>
                          <a:cs typeface="Deck"/>
                        </a:rPr>
                        <a:t>community or clinical partner</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Pilot sponsor, then employers</a:t>
                      </a:r>
                    </a:p>
                    <a:p>
                      <a:pPr algn="l">
                        <a:lnSpc>
                          <a:spcPct val="120000"/>
                        </a:lnSpc>
                      </a:pPr>
                      <a:r>
                        <a:rPr sz="2175">
                          <a:solidFill>
                            <a:srgbClr val="3A3745"/>
                          </a:solidFill>
                          <a:latin typeface="Deck"/>
                          <a:ea typeface="Deck"/>
                          <a:cs typeface="Deck"/>
                        </a:rPr>
                        <a:t>with caregiver benefits</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Employer or insurer distribution;</a:t>
                      </a:r>
                    </a:p>
                    <a:p>
                      <a:pPr algn="l">
                        <a:lnSpc>
                          <a:spcPct val="120000"/>
                        </a:lnSpc>
                      </a:pPr>
                      <a:r>
                        <a:rPr sz="2175">
                          <a:solidFill>
                            <a:srgbClr val="3A3745"/>
                          </a:solidFill>
                          <a:latin typeface="Deck"/>
                          <a:ea typeface="Deck"/>
                          <a:cs typeface="Deck"/>
                        </a:rPr>
                        <a:t>regional partner discovery later</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Daily routines and shared tasks</a:t>
                      </a:r>
                    </a:p>
                    <a:p>
                      <a:pPr algn="l">
                        <a:lnSpc>
                          <a:spcPct val="120000"/>
                        </a:lnSpc>
                      </a:pPr>
                      <a:r>
                        <a:rPr sz="2175">
                          <a:solidFill>
                            <a:srgbClr val="3A3745"/>
                          </a:solidFill>
                          <a:latin typeface="Deck"/>
                          <a:ea typeface="Deck"/>
                          <a:cs typeface="Deck"/>
                        </a:rPr>
                        <a:t>Guided onboarding and support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Annual sponsor plan: S$120/circle</a:t>
                      </a:r>
                    </a:p>
                    <a:p>
                      <a:pPr algn="l">
                        <a:lnSpc>
                          <a:spcPct val="120000"/>
                        </a:lnSpc>
                      </a:pPr>
                      <a:r>
                        <a:rPr sz="2175">
                          <a:solidFill>
                            <a:srgbClr val="3A3745"/>
                          </a:solidFill>
                          <a:latin typeface="Deck"/>
                          <a:ea typeface="Deck"/>
                          <a:cs typeface="Deck"/>
                        </a:rPr>
                        <a:t>Test pricing and service levels</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Repeatable onboarding and support</a:t>
                      </a:r>
                    </a:p>
                    <a:p>
                      <a:pPr algn="l">
                        <a:lnSpc>
                          <a:spcPct val="120000"/>
                        </a:lnSpc>
                      </a:pPr>
                      <a:r>
                        <a:rPr sz="2175">
                          <a:solidFill>
                            <a:srgbClr val="3A3745"/>
                          </a:solidFill>
                          <a:latin typeface="Deck"/>
                          <a:ea typeface="Deck"/>
                          <a:cs typeface="Deck"/>
                        </a:rPr>
                        <a:t>Expand integrations when needed</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≥80% activation in 7 days</a:t>
                      </a:r>
                    </a:p>
                    <a:p>
                      <a:pPr algn="l">
                        <a:lnSpc>
                          <a:spcPct val="120000"/>
                        </a:lnSpc>
                      </a:pPr>
                      <a:r>
                        <a:rPr sz="2175">
                          <a:solidFill>
                            <a:srgbClr val="3A3745"/>
                          </a:solidFill>
                          <a:latin typeface="Deck"/>
                          <a:ea typeface="Deck"/>
                          <a:cs typeface="Deck"/>
                        </a:rPr>
                        <a:t>≥50% active in usage week 8</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signed paid extension</a:t>
                      </a:r>
                    </a:p>
                    <a:p>
                      <a:pPr algn="l">
                        <a:lnSpc>
                          <a:spcPct val="120000"/>
                        </a:lnSpc>
                      </a:pPr>
                      <a:r>
                        <a:rPr sz="2175">
                          <a:solidFill>
                            <a:srgbClr val="3A3745"/>
                          </a:solidFill>
                          <a:latin typeface="Deck"/>
                          <a:ea typeface="Deck"/>
                          <a:cs typeface="Deck"/>
                        </a:rPr>
                        <a:t>Manageable cost per active circle</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2–3 paying partners</a:t>
                      </a:r>
                    </a:p>
                    <a:p>
                      <a:pPr algn="l">
                        <a:lnSpc>
                          <a:spcPct val="120000"/>
                        </a:lnSpc>
                      </a:pPr>
                      <a:r>
                        <a:rPr sz="2175">
                          <a:solidFill>
                            <a:srgbClr val="3A3745"/>
                          </a:solidFill>
                          <a:latin typeface="Deck"/>
                          <a:ea typeface="Deck"/>
                          <a:cs typeface="Deck"/>
                        </a:rPr>
                        <a:t>Repeatable retention and economics</a:t>
                      </a:r>
                    </a:p>
                  </a:txBody>
                  <a:tcPr marL="0" marR="2286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33A109C6-9435-49D4-842B-2EB3EF950921}"/>
              </a:ext>
            </a:extLst>
          </p:cNvPr>
          <p:cNvSpPr>
            <a:spLocks xmlns:a="http://schemas.openxmlformats.org/drawingml/2006/main" noGrp="1"/>
          </p:cNvSpPr>
          <p:nvPr/>
        </p:nvSpPr>
        <p:spPr>
          <a:xfrm xmlns:a="http://schemas.openxmlformats.org/drawingml/2006/main">
            <a:off x="1009650" y="32575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5E6853B7-E98C-4350-BD63-6F0F54397D88}"/>
              </a:ext>
            </a:extLst>
          </p:cNvPr>
          <p:cNvSpPr>
            <a:spLocks xmlns:a="http://schemas.openxmlformats.org/drawingml/2006/main" noGrp="1"/>
          </p:cNvSpPr>
          <p:nvPr/>
        </p:nvSpPr>
        <p:spPr>
          <a:xfrm xmlns:a="http://schemas.openxmlformats.org/drawingml/2006/main">
            <a:off x="1009650" y="854392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75">
            <a:extLst xmlns:a="http://schemas.openxmlformats.org/drawingml/2006/main">
              <a:ext uri="{FF2B5EF4-FFF2-40B4-BE49-F238E27FC236}">
                <a16:creationId xmlns:a16="http://schemas.microsoft.com/office/drawing/2014/main" id="{52EE2A7E-6ADA-4022-8DDB-0893A5B6CAF8}"/>
              </a:ext>
            </a:extLst>
          </p:cNvPr>
          <p:cNvSpPr>
            <a:spLocks xmlns:a="http://schemas.openxmlformats.org/drawingml/2006/main" noGrp="1"/>
          </p:cNvSpPr>
          <p:nvPr/>
        </p:nvSpPr>
        <p:spPr>
          <a:xfrm xmlns:a="http://schemas.openxmlformats.org/drawingml/2006/main">
            <a:off x="1009650" y="8886825"/>
            <a:ext cx="162687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77717D"/>
                </a:solidFill>
                <a:latin typeface="Deck"/>
                <a:ea typeface="Deck"/>
                <a:cs typeface="Deck"/>
              </a:defRPr>
            </a:pPr>
            <a:r>
              <a:rPr sz="1875">
                <a:solidFill>
                  <a:srgbClr val="77717D"/>
                </a:solidFill>
                <a:latin typeface="Deck"/>
                <a:ea typeface="Deck"/>
                <a:cs typeface="Deck"/>
              </a:rPr>
              <a:t>Business model hypothesis: partners fund care circles; family access is included.</a:t>
            </a:r>
          </a:p>
        </p:txBody>
      </p:sp>
      <p:sp>
        <p:nvSpPr>
          <p:cNvPr id="8" name="appendix-text-76">
            <a:extLst xmlns:a="http://schemas.openxmlformats.org/drawingml/2006/main">
              <a:ext uri="{FF2B5EF4-FFF2-40B4-BE49-F238E27FC236}">
                <a16:creationId xmlns:a16="http://schemas.microsoft.com/office/drawing/2014/main" id="{ADD6E0D1-AE12-4912-8D4D-31F860B6A9AF}"/>
              </a:ext>
            </a:extLst>
          </p:cNvPr>
          <p:cNvSpPr>
            <a:spLocks xmlns:a="http://schemas.openxmlformats.org/drawingml/2006/main" noGrp="1"/>
          </p:cNvSpPr>
          <p:nvPr/>
        </p:nvSpPr>
        <p:spPr>
          <a:xfrm xmlns:a="http://schemas.openxmlformats.org/drawingml/2006/main">
            <a:off x="1009650" y="9239250"/>
            <a:ext cx="162687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77717D"/>
                </a:solidFill>
                <a:latin typeface="Deck"/>
                <a:ea typeface="Deck"/>
                <a:cs typeface="Deck"/>
              </a:defRPr>
            </a:pPr>
            <a:r>
              <a:rPr sz="1875">
                <a:solidFill>
                  <a:srgbClr val="77717D"/>
                </a:solidFill>
                <a:latin typeface="Deck"/>
                <a:ea typeface="Deck"/>
                <a:cs typeface="Deck"/>
              </a:rPr>
              <a:t>The timeline starts after production readiness. All milestones and pricing are proposed targets.</a:t>
            </a:r>
          </a:p>
        </p:txBody>
      </p:sp>
      <p:sp>
        <p:nvSpPr>
          <p:cNvPr id="9" name="appendix-text-77">
            <a:extLst xmlns:a="http://schemas.openxmlformats.org/drawingml/2006/main">
              <a:ext uri="{FF2B5EF4-FFF2-40B4-BE49-F238E27FC236}">
                <a16:creationId xmlns:a16="http://schemas.microsoft.com/office/drawing/2014/main" id="{A97F17B2-15F7-46E7-9209-C715DDF40757}"/>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GTM plan. Clinical effectiveness, acquisition cost and willingness to pay need evidence from the pilot.</a:t>
            </a:r>
          </a:p>
        </p:txBody>
      </p:sp>
      <p:sp>
        <p:nvSpPr>
          <p:cNvPr id="10" name="appendix-text-78">
            <a:extLst xmlns:a="http://schemas.openxmlformats.org/drawingml/2006/main">
              <a:ext uri="{FF2B5EF4-FFF2-40B4-BE49-F238E27FC236}">
                <a16:creationId xmlns:a16="http://schemas.microsoft.com/office/drawing/2014/main" id="{455FCB92-1215-445A-AAD1-3D94B5C8265E}"/>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26</a:t>
            </a:r>
          </a:p>
        </p:txBody>
      </p:sp>
    </p:spTree>
    <p:extLst>
      <p:ext uri="{BB962C8B-B14F-4D97-AF65-F5344CB8AC3E}">
        <p14:creationId xmlns:p14="http://schemas.microsoft.com/office/powerpoint/2010/main" val="165012851"/>
      </p:ext>
    </p:extLst>
  </p:cSld>
</p:sld>
</file>

<file path=ppt/slides/slide27.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32" name="appendix-text-79">
            <a:extLst xmlns:a="http://schemas.openxmlformats.org/drawingml/2006/main">
              <a:ext uri="{FF2B5EF4-FFF2-40B4-BE49-F238E27FC236}">
                <a16:creationId xmlns:a16="http://schemas.microsoft.com/office/drawing/2014/main" id="{3B1B870A-5C78-48D8-887E-7C343D6D5B7A}"/>
              </a:ext>
            </a:extLst>
          </p:cNvPr>
          <p:cNvSpPr>
            <a:spLocks xmlns:a="http://schemas.openxmlformats.org/drawingml/2006/main" noGrp="1"/>
          </p:cNvSpPr>
          <p:nvPr/>
        </p:nvSpPr>
        <p:spPr>
          <a:xfrm xmlns:a="http://schemas.openxmlformats.org/drawingml/2006/main">
            <a:off x="990600" y="819150"/>
            <a:ext cx="61912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PARTNERSHIP OPPORTUNITIES</a:t>
            </a:r>
          </a:p>
        </p:txBody>
      </p:sp>
      <p:sp>
        <p:nvSpPr>
          <p:cNvPr id="2" name="appendix-text-80">
            <a:extLst xmlns:a="http://schemas.openxmlformats.org/drawingml/2006/main">
              <a:ext uri="{FF2B5EF4-FFF2-40B4-BE49-F238E27FC236}">
                <a16:creationId xmlns:a16="http://schemas.microsoft.com/office/drawing/2014/main" id="{574F6417-14A5-4B08-BE69-C0CE342A25FF}"/>
              </a:ext>
            </a:extLst>
          </p:cNvPr>
          <p:cNvSpPr>
            <a:spLocks xmlns:a="http://schemas.openxmlformats.org/drawingml/2006/main" noGrp="1"/>
          </p:cNvSpPr>
          <p:nvPr/>
        </p:nvSpPr>
        <p:spPr>
          <a:xfrm xmlns:a="http://schemas.openxmlformats.org/drawingml/2006/main">
            <a:off x="962025" y="16287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Tencent</a:t>
            </a:r>
          </a:p>
        </p:txBody>
      </p:sp>
      <p:sp>
        <p:nvSpPr>
          <p:cNvPr id="3" name="appendix-text-81">
            <a:extLst xmlns:a="http://schemas.openxmlformats.org/drawingml/2006/main">
              <a:ext uri="{FF2B5EF4-FFF2-40B4-BE49-F238E27FC236}">
                <a16:creationId xmlns:a16="http://schemas.microsoft.com/office/drawing/2014/main" id="{81DD5A5C-15D0-415E-8A7F-6E717836FCF9}"/>
              </a:ext>
            </a:extLst>
          </p:cNvPr>
          <p:cNvSpPr>
            <a:spLocks xmlns:a="http://schemas.openxmlformats.org/drawingml/2006/main" noGrp="1"/>
          </p:cNvSpPr>
          <p:nvPr/>
        </p:nvSpPr>
        <p:spPr>
          <a:xfrm xmlns:a="http://schemas.openxmlformats.org/drawingml/2006/main">
            <a:off x="962025" y="252412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partnership</a:t>
            </a:r>
          </a:p>
        </p:txBody>
      </p:sp>
      <p:sp>
        <p:nvSpPr>
          <p:cNvPr id="4" name="appendix-text-82">
            <a:extLst xmlns:a="http://schemas.openxmlformats.org/drawingml/2006/main">
              <a:ext uri="{FF2B5EF4-FFF2-40B4-BE49-F238E27FC236}">
                <a16:creationId xmlns:a16="http://schemas.microsoft.com/office/drawing/2014/main" id="{BB9D0D9D-979F-4499-B64E-816322B88A9F}"/>
              </a:ext>
            </a:extLst>
          </p:cNvPr>
          <p:cNvSpPr>
            <a:spLocks xmlns:a="http://schemas.openxmlformats.org/drawingml/2006/main" noGrp="1"/>
          </p:cNvSpPr>
          <p:nvPr/>
        </p:nvSpPr>
        <p:spPr>
          <a:xfrm xmlns:a="http://schemas.openxmlformats.org/drawingml/2006/main">
            <a:off x="962025" y="34194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opportunities</a:t>
            </a:r>
          </a:p>
        </p:txBody>
      </p:sp>
      <p:sp>
        <p:nvSpPr>
          <p:cNvPr id="5" name="appendix-text-83">
            <a:extLst xmlns:a="http://schemas.openxmlformats.org/drawingml/2006/main">
              <a:ext uri="{FF2B5EF4-FFF2-40B4-BE49-F238E27FC236}">
                <a16:creationId xmlns:a16="http://schemas.microsoft.com/office/drawing/2014/main" id="{927E3C7E-73D7-4B6F-8C7D-9F59241CD658}"/>
              </a:ext>
            </a:extLst>
          </p:cNvPr>
          <p:cNvSpPr>
            <a:spLocks xmlns:a="http://schemas.openxmlformats.org/drawingml/2006/main" noGrp="1"/>
          </p:cNvSpPr>
          <p:nvPr/>
        </p:nvSpPr>
        <p:spPr>
          <a:xfrm xmlns:a="http://schemas.openxmlformats.org/drawingml/2006/main">
            <a:off x="1009650" y="48672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Production readiness and distribution</a:t>
            </a:r>
          </a:p>
        </p:txBody>
      </p:sp>
      <p:sp>
        <p:nvSpPr>
          <p:cNvPr id="6" name="appendix-text-84">
            <a:extLst xmlns:a="http://schemas.openxmlformats.org/drawingml/2006/main">
              <a:ext uri="{FF2B5EF4-FFF2-40B4-BE49-F238E27FC236}">
                <a16:creationId xmlns:a16="http://schemas.microsoft.com/office/drawing/2014/main" id="{059D0E51-9254-4989-ACC2-CC61AABAA700}"/>
              </a:ext>
            </a:extLst>
          </p:cNvPr>
          <p:cNvSpPr>
            <a:spLocks xmlns:a="http://schemas.openxmlformats.org/drawingml/2006/main" noGrp="1"/>
          </p:cNvSpPr>
          <p:nvPr/>
        </p:nvSpPr>
        <p:spPr>
          <a:xfrm xmlns:a="http://schemas.openxmlformats.org/drawingml/2006/main">
            <a:off x="1009650" y="53054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for a Singapore care-coordination pilot.</a:t>
            </a:r>
          </a:p>
        </p:txBody>
      </p:sp>
      <p:sp>
        <p:nvSpPr>
          <p:cNvPr id="7" name="appendix-text-85">
            <a:extLst xmlns:a="http://schemas.openxmlformats.org/drawingml/2006/main">
              <a:ext uri="{FF2B5EF4-FFF2-40B4-BE49-F238E27FC236}">
                <a16:creationId xmlns:a16="http://schemas.microsoft.com/office/drawing/2014/main" id="{2ACA573F-5510-4E06-912E-8ADAE68E52F5}"/>
              </a:ext>
            </a:extLst>
          </p:cNvPr>
          <p:cNvSpPr>
            <a:spLocks xmlns:a="http://schemas.openxmlformats.org/drawingml/2006/main" noGrp="1"/>
          </p:cNvSpPr>
          <p:nvPr/>
        </p:nvSpPr>
        <p:spPr>
          <a:xfrm xmlns:a="http://schemas.openxmlformats.org/drawingml/2006/main">
            <a:off x="1009650" y="57435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8" name="appendix-text-86">
            <a:extLst xmlns:a="http://schemas.openxmlformats.org/drawingml/2006/main">
              <a:ext uri="{FF2B5EF4-FFF2-40B4-BE49-F238E27FC236}">
                <a16:creationId xmlns:a16="http://schemas.microsoft.com/office/drawing/2014/main" id="{B5FCF1CA-935F-46B0-9D58-7A07EEE8E299}"/>
              </a:ext>
            </a:extLst>
          </p:cNvPr>
          <p:cNvSpPr>
            <a:spLocks xmlns:a="http://schemas.openxmlformats.org/drawingml/2006/main" noGrp="1"/>
          </p:cNvSpPr>
          <p:nvPr/>
        </p:nvSpPr>
        <p:spPr>
          <a:xfrm xmlns:a="http://schemas.openxmlformats.org/drawingml/2006/main">
            <a:off x="1009650" y="61817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Potential value to Tencent: a reference</a:t>
            </a:r>
          </a:p>
        </p:txBody>
      </p:sp>
      <p:sp>
        <p:nvSpPr>
          <p:cNvPr id="9" name="appendix-text-87">
            <a:extLst xmlns:a="http://schemas.openxmlformats.org/drawingml/2006/main">
              <a:ext uri="{FF2B5EF4-FFF2-40B4-BE49-F238E27FC236}">
                <a16:creationId xmlns:a16="http://schemas.microsoft.com/office/drawing/2014/main" id="{75DEAD38-F90C-4160-94D5-2320BC02592D}"/>
              </a:ext>
            </a:extLst>
          </p:cNvPr>
          <p:cNvSpPr>
            <a:spLocks xmlns:a="http://schemas.openxmlformats.org/drawingml/2006/main" noGrp="1"/>
          </p:cNvSpPr>
          <p:nvPr/>
        </p:nvSpPr>
        <p:spPr>
          <a:xfrm xmlns:a="http://schemas.openxmlformats.org/drawingml/2006/main">
            <a:off x="1009650" y="66198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workload for cloud and AI services.</a:t>
            </a:r>
          </a:p>
        </p:txBody>
      </p:sp>
      <p:sp>
        <p:nvSpPr>
          <p:cNvPr id="10" name="appendix-text-88">
            <a:extLst xmlns:a="http://schemas.openxmlformats.org/drawingml/2006/main">
              <a:ext uri="{FF2B5EF4-FFF2-40B4-BE49-F238E27FC236}">
                <a16:creationId xmlns:a16="http://schemas.microsoft.com/office/drawing/2014/main" id="{87D6F421-7592-4CA2-A66F-B29A1A92C31E}"/>
              </a:ext>
            </a:extLst>
          </p:cNvPr>
          <p:cNvSpPr>
            <a:spLocks xmlns:a="http://schemas.openxmlformats.org/drawingml/2006/main" noGrp="1"/>
          </p:cNvSpPr>
          <p:nvPr/>
        </p:nvSpPr>
        <p:spPr>
          <a:xfrm xmlns:a="http://schemas.openxmlformats.org/drawingml/2006/main">
            <a:off x="1009650" y="7219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9BDAB6"/>
                </a:solidFill>
                <a:latin typeface="Deck-Medium"/>
                <a:ea typeface="Deck-Medium"/>
                <a:cs typeface="Deck-Medium"/>
              </a:defRPr>
            </a:pPr>
            <a:r>
              <a:rPr sz="2700">
                <a:solidFill>
                  <a:srgbClr val="9BDAB6"/>
                </a:solidFill>
                <a:latin typeface="Deck-Medium"/>
                <a:ea typeface="Deck-Medium"/>
                <a:cs typeface="Deck-Medium"/>
              </a:rPr>
              <a:t>Initial ask</a:t>
            </a:r>
          </a:p>
        </p:txBody>
      </p:sp>
      <p:sp>
        <p:nvSpPr>
          <p:cNvPr id="11" name="appendix-text-89">
            <a:extLst xmlns:a="http://schemas.openxmlformats.org/drawingml/2006/main">
              <a:ext uri="{FF2B5EF4-FFF2-40B4-BE49-F238E27FC236}">
                <a16:creationId xmlns:a16="http://schemas.microsoft.com/office/drawing/2014/main" id="{80ABB94A-9A18-444B-A5D8-0CF24EA11E0B}"/>
              </a:ext>
            </a:extLst>
          </p:cNvPr>
          <p:cNvSpPr>
            <a:spLocks xmlns:a="http://schemas.openxmlformats.org/drawingml/2006/main" noGrp="1"/>
          </p:cNvSpPr>
          <p:nvPr/>
        </p:nvSpPr>
        <p:spPr>
          <a:xfrm xmlns:a="http://schemas.openxmlformats.org/drawingml/2006/main">
            <a:off x="1009650" y="7753350"/>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A technical workshop and a defined</a:t>
            </a:r>
          </a:p>
        </p:txBody>
      </p:sp>
      <p:sp>
        <p:nvSpPr>
          <p:cNvPr id="12" name="appendix-text-90">
            <a:extLst xmlns:a="http://schemas.openxmlformats.org/drawingml/2006/main">
              <a:ext uri="{FF2B5EF4-FFF2-40B4-BE49-F238E27FC236}">
                <a16:creationId xmlns:a16="http://schemas.microsoft.com/office/drawing/2014/main" id="{39261550-D393-43BD-9211-1AC9FD49F4A7}"/>
              </a:ext>
            </a:extLst>
          </p:cNvPr>
          <p:cNvSpPr>
            <a:spLocks xmlns:a="http://schemas.openxmlformats.org/drawingml/2006/main" noGrp="1"/>
          </p:cNvSpPr>
          <p:nvPr/>
        </p:nvSpPr>
        <p:spPr>
          <a:xfrm xmlns:a="http://schemas.openxmlformats.org/drawingml/2006/main">
            <a:off x="1009650" y="8162925"/>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cloud/model support package.</a:t>
            </a:r>
          </a:p>
        </p:txBody>
      </p:sp>
      <p:sp>
        <p:nvSpPr>
          <p:cNvPr id="13" name="appendix-text-91">
            <a:extLst xmlns:a="http://schemas.openxmlformats.org/drawingml/2006/main">
              <a:ext uri="{FF2B5EF4-FFF2-40B4-BE49-F238E27FC236}">
                <a16:creationId xmlns:a16="http://schemas.microsoft.com/office/drawing/2014/main" id="{BF63EC1B-5BD0-427B-8EB2-27B1E612D183}"/>
              </a:ext>
            </a:extLst>
          </p:cNvPr>
          <p:cNvSpPr>
            <a:spLocks xmlns:a="http://schemas.openxmlformats.org/drawingml/2006/main" noGrp="1"/>
          </p:cNvSpPr>
          <p:nvPr/>
        </p:nvSpPr>
        <p:spPr>
          <a:xfrm xmlns:a="http://schemas.openxmlformats.org/drawingml/2006/main">
            <a:off x="8696325" y="16192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01</a:t>
            </a:r>
          </a:p>
        </p:txBody>
      </p:sp>
      <p:sp>
        <p:nvSpPr>
          <p:cNvPr id="14" name="appendix-text-92">
            <a:extLst xmlns:a="http://schemas.openxmlformats.org/drawingml/2006/main">
              <a:ext uri="{FF2B5EF4-FFF2-40B4-BE49-F238E27FC236}">
                <a16:creationId xmlns:a16="http://schemas.microsoft.com/office/drawing/2014/main" id="{576A4648-9956-4F20-B2D5-2D5B00FFCA55}"/>
              </a:ext>
            </a:extLst>
          </p:cNvPr>
          <p:cNvSpPr>
            <a:spLocks xmlns:a="http://schemas.openxmlformats.org/drawingml/2006/main" noGrp="1"/>
          </p:cNvSpPr>
          <p:nvPr/>
        </p:nvSpPr>
        <p:spPr>
          <a:xfrm xmlns:a="http://schemas.openxmlformats.org/drawingml/2006/main">
            <a:off x="9448800" y="15621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Cloud architecture &amp; pilot support</a:t>
            </a:r>
          </a:p>
        </p:txBody>
      </p:sp>
      <p:sp>
        <p:nvSpPr>
          <p:cNvPr id="15" name="appendix-text-93">
            <a:extLst xmlns:a="http://schemas.openxmlformats.org/drawingml/2006/main">
              <a:ext uri="{FF2B5EF4-FFF2-40B4-BE49-F238E27FC236}">
                <a16:creationId xmlns:a16="http://schemas.microsoft.com/office/drawing/2014/main" id="{FBCF291D-F20D-4D36-98EE-6149B7F6EA53}"/>
              </a:ext>
            </a:extLst>
          </p:cNvPr>
          <p:cNvSpPr>
            <a:spLocks xmlns:a="http://schemas.openxmlformats.org/drawingml/2006/main" noGrp="1"/>
          </p:cNvSpPr>
          <p:nvPr/>
        </p:nvSpPr>
        <p:spPr>
          <a:xfrm xmlns:a="http://schemas.openxmlformats.org/drawingml/2006/main">
            <a:off x="9448800" y="21621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Review availability and data boundaries.</a:t>
            </a:r>
          </a:p>
        </p:txBody>
      </p:sp>
      <p:sp>
        <p:nvSpPr>
          <p:cNvPr id="16" name="appendix-text-94">
            <a:extLst xmlns:a="http://schemas.openxmlformats.org/drawingml/2006/main">
              <a:ext uri="{FF2B5EF4-FFF2-40B4-BE49-F238E27FC236}">
                <a16:creationId xmlns:a16="http://schemas.microsoft.com/office/drawing/2014/main" id="{CD589528-D4F4-4EA4-98EE-F63ED644247A}"/>
              </a:ext>
            </a:extLst>
          </p:cNvPr>
          <p:cNvSpPr>
            <a:spLocks xmlns:a="http://schemas.openxmlformats.org/drawingml/2006/main" noGrp="1"/>
          </p:cNvSpPr>
          <p:nvPr/>
        </p:nvSpPr>
        <p:spPr>
          <a:xfrm xmlns:a="http://schemas.openxmlformats.org/drawingml/2006/main">
            <a:off x="9448800" y="25812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Request cloud support for a defined pilot</a:t>
            </a:r>
          </a:p>
        </p:txBody>
      </p:sp>
      <p:sp>
        <p:nvSpPr>
          <p:cNvPr id="17" name="appendix-text-95">
            <a:extLst xmlns:a="http://schemas.openxmlformats.org/drawingml/2006/main">
              <a:ext uri="{FF2B5EF4-FFF2-40B4-BE49-F238E27FC236}">
                <a16:creationId xmlns:a16="http://schemas.microsoft.com/office/drawing/2014/main" id="{F7E6A83D-9100-4EB2-889F-C0C6B5848AAE}"/>
              </a:ext>
            </a:extLst>
          </p:cNvPr>
          <p:cNvSpPr>
            <a:spLocks xmlns:a="http://schemas.openxmlformats.org/drawingml/2006/main" noGrp="1"/>
          </p:cNvSpPr>
          <p:nvPr/>
        </p:nvSpPr>
        <p:spPr>
          <a:xfrm xmlns:a="http://schemas.openxmlformats.org/drawingml/2006/main">
            <a:off x="9448800" y="3000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budget, with a deployment and recovery review.</a:t>
            </a:r>
          </a:p>
        </p:txBody>
      </p:sp>
      <p:sp>
        <p:nvSpPr>
          <p:cNvPr id="18" name="">
            <a:extLst xmlns:a="http://schemas.openxmlformats.org/drawingml/2006/main">
              <a:ext uri="{FF2B5EF4-FFF2-40B4-BE49-F238E27FC236}">
                <a16:creationId xmlns:a16="http://schemas.microsoft.com/office/drawing/2014/main" id="{6D3D6422-8C38-4E90-AF78-2EC6423BAA3D}"/>
              </a:ext>
            </a:extLst>
          </p:cNvPr>
          <p:cNvSpPr>
            <a:spLocks xmlns:a="http://schemas.openxmlformats.org/drawingml/2006/main" noGrp="1"/>
          </p:cNvSpPr>
          <p:nvPr/>
        </p:nvSpPr>
        <p:spPr>
          <a:xfrm xmlns:a="http://schemas.openxmlformats.org/drawingml/2006/main">
            <a:off x="9448800" y="3590925"/>
            <a:ext cx="782955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19" name="appendix-text-96">
            <a:extLst xmlns:a="http://schemas.openxmlformats.org/drawingml/2006/main">
              <a:ext uri="{FF2B5EF4-FFF2-40B4-BE49-F238E27FC236}">
                <a16:creationId xmlns:a16="http://schemas.microsoft.com/office/drawing/2014/main" id="{669449EF-FCC5-4A79-8A4C-D174273888AF}"/>
              </a:ext>
            </a:extLst>
          </p:cNvPr>
          <p:cNvSpPr>
            <a:spLocks xmlns:a="http://schemas.openxmlformats.org/drawingml/2006/main" noGrp="1"/>
          </p:cNvSpPr>
          <p:nvPr/>
        </p:nvSpPr>
        <p:spPr>
          <a:xfrm xmlns:a="http://schemas.openxmlformats.org/drawingml/2006/main">
            <a:off x="8696325" y="39814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02</a:t>
            </a:r>
          </a:p>
        </p:txBody>
      </p:sp>
      <p:sp>
        <p:nvSpPr>
          <p:cNvPr id="20" name="appendix-text-97">
            <a:extLst xmlns:a="http://schemas.openxmlformats.org/drawingml/2006/main">
              <a:ext uri="{FF2B5EF4-FFF2-40B4-BE49-F238E27FC236}">
                <a16:creationId xmlns:a16="http://schemas.microsoft.com/office/drawing/2014/main" id="{00A97B9D-A392-47CF-8F2D-CDEA29C1E634}"/>
              </a:ext>
            </a:extLst>
          </p:cNvPr>
          <p:cNvSpPr>
            <a:spLocks xmlns:a="http://schemas.openxmlformats.org/drawingml/2006/main" noGrp="1"/>
          </p:cNvSpPr>
          <p:nvPr/>
        </p:nvSpPr>
        <p:spPr>
          <a:xfrm xmlns:a="http://schemas.openxmlformats.org/drawingml/2006/main">
            <a:off x="9448800" y="39243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AI quality &amp; cost</a:t>
            </a:r>
          </a:p>
        </p:txBody>
      </p:sp>
      <p:sp>
        <p:nvSpPr>
          <p:cNvPr id="21" name="appendix-text-98">
            <a:extLst xmlns:a="http://schemas.openxmlformats.org/drawingml/2006/main">
              <a:ext uri="{FF2B5EF4-FFF2-40B4-BE49-F238E27FC236}">
                <a16:creationId xmlns:a16="http://schemas.microsoft.com/office/drawing/2014/main" id="{C995CA16-F778-42F3-B573-68F88CAB462F}"/>
              </a:ext>
            </a:extLst>
          </p:cNvPr>
          <p:cNvSpPr>
            <a:spLocks xmlns:a="http://schemas.openxmlformats.org/drawingml/2006/main" noGrp="1"/>
          </p:cNvSpPr>
          <p:nvPr/>
        </p:nvSpPr>
        <p:spPr>
          <a:xfrm xmlns:a="http://schemas.openxmlformats.org/drawingml/2006/main">
            <a:off x="9448800" y="4524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Compare models on caregiver tasks and language</a:t>
            </a:r>
          </a:p>
        </p:txBody>
      </p:sp>
      <p:sp>
        <p:nvSpPr>
          <p:cNvPr id="22" name="appendix-text-99">
            <a:extLst xmlns:a="http://schemas.openxmlformats.org/drawingml/2006/main">
              <a:ext uri="{FF2B5EF4-FFF2-40B4-BE49-F238E27FC236}">
                <a16:creationId xmlns:a16="http://schemas.microsoft.com/office/drawing/2014/main" id="{97CF2751-99B9-4E2F-BE9F-AAC33AF71078}"/>
              </a:ext>
            </a:extLst>
          </p:cNvPr>
          <p:cNvSpPr>
            <a:spLocks xmlns:a="http://schemas.openxmlformats.org/drawingml/2006/main" noGrp="1"/>
          </p:cNvSpPr>
          <p:nvPr/>
        </p:nvSpPr>
        <p:spPr>
          <a:xfrm xmlns:a="http://schemas.openxmlformats.org/drawingml/2006/main">
            <a:off x="9448800" y="49434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coverage. Track latency, cost and confirmed</a:t>
            </a:r>
          </a:p>
        </p:txBody>
      </p:sp>
      <p:sp>
        <p:nvSpPr>
          <p:cNvPr id="23" name="appendix-text-100">
            <a:extLst xmlns:a="http://schemas.openxmlformats.org/drawingml/2006/main">
              <a:ext uri="{FF2B5EF4-FFF2-40B4-BE49-F238E27FC236}">
                <a16:creationId xmlns:a16="http://schemas.microsoft.com/office/drawing/2014/main" id="{F6A0E355-0058-423E-9014-0D2829FAAB10}"/>
              </a:ext>
            </a:extLst>
          </p:cNvPr>
          <p:cNvSpPr>
            <a:spLocks xmlns:a="http://schemas.openxmlformats.org/drawingml/2006/main" noGrp="1"/>
          </p:cNvSpPr>
          <p:nvPr/>
        </p:nvSpPr>
        <p:spPr>
          <a:xfrm xmlns:a="http://schemas.openxmlformats.org/drawingml/2006/main">
            <a:off x="9448800" y="5362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actions before increasing usage.</a:t>
            </a:r>
          </a:p>
        </p:txBody>
      </p:sp>
      <p:sp>
        <p:nvSpPr>
          <p:cNvPr id="24" name="">
            <a:extLst xmlns:a="http://schemas.openxmlformats.org/drawingml/2006/main">
              <a:ext uri="{FF2B5EF4-FFF2-40B4-BE49-F238E27FC236}">
                <a16:creationId xmlns:a16="http://schemas.microsoft.com/office/drawing/2014/main" id="{4097F8E9-A9C7-4DD0-BACC-692573D17318}"/>
              </a:ext>
            </a:extLst>
          </p:cNvPr>
          <p:cNvSpPr>
            <a:spLocks xmlns:a="http://schemas.openxmlformats.org/drawingml/2006/main" noGrp="1"/>
          </p:cNvSpPr>
          <p:nvPr/>
        </p:nvSpPr>
        <p:spPr>
          <a:xfrm xmlns:a="http://schemas.openxmlformats.org/drawingml/2006/main">
            <a:off x="9448800" y="5953125"/>
            <a:ext cx="782955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25" name="appendix-text-101">
            <a:extLst xmlns:a="http://schemas.openxmlformats.org/drawingml/2006/main">
              <a:ext uri="{FF2B5EF4-FFF2-40B4-BE49-F238E27FC236}">
                <a16:creationId xmlns:a16="http://schemas.microsoft.com/office/drawing/2014/main" id="{F2195683-F966-4770-87A5-E81D2CE65CE8}"/>
              </a:ext>
            </a:extLst>
          </p:cNvPr>
          <p:cNvSpPr>
            <a:spLocks xmlns:a="http://schemas.openxmlformats.org/drawingml/2006/main" noGrp="1"/>
          </p:cNvSpPr>
          <p:nvPr/>
        </p:nvSpPr>
        <p:spPr>
          <a:xfrm xmlns:a="http://schemas.openxmlformats.org/drawingml/2006/main">
            <a:off x="8696325" y="63436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03</a:t>
            </a:r>
          </a:p>
        </p:txBody>
      </p:sp>
      <p:sp>
        <p:nvSpPr>
          <p:cNvPr id="26" name="appendix-text-102">
            <a:extLst xmlns:a="http://schemas.openxmlformats.org/drawingml/2006/main">
              <a:ext uri="{FF2B5EF4-FFF2-40B4-BE49-F238E27FC236}">
                <a16:creationId xmlns:a16="http://schemas.microsoft.com/office/drawing/2014/main" id="{6DE3D906-3B44-4E56-9C99-B07CA9D733BB}"/>
              </a:ext>
            </a:extLst>
          </p:cNvPr>
          <p:cNvSpPr>
            <a:spLocks xmlns:a="http://schemas.openxmlformats.org/drawingml/2006/main" noGrp="1"/>
          </p:cNvSpPr>
          <p:nvPr/>
        </p:nvSpPr>
        <p:spPr>
          <a:xfrm xmlns:a="http://schemas.openxmlformats.org/drawingml/2006/main">
            <a:off x="9448800" y="62865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Commercial distribution</a:t>
            </a:r>
          </a:p>
        </p:txBody>
      </p:sp>
      <p:sp>
        <p:nvSpPr>
          <p:cNvPr id="27" name="appendix-text-103">
            <a:extLst xmlns:a="http://schemas.openxmlformats.org/drawingml/2006/main">
              <a:ext uri="{FF2B5EF4-FFF2-40B4-BE49-F238E27FC236}">
                <a16:creationId xmlns:a16="http://schemas.microsoft.com/office/drawing/2014/main" id="{179A47B9-4455-44A0-89D1-19236B614AC1}"/>
              </a:ext>
            </a:extLst>
          </p:cNvPr>
          <p:cNvSpPr>
            <a:spLocks xmlns:a="http://schemas.openxmlformats.org/drawingml/2006/main" noGrp="1"/>
          </p:cNvSpPr>
          <p:nvPr/>
        </p:nvSpPr>
        <p:spPr>
          <a:xfrm xmlns:a="http://schemas.openxmlformats.org/drawingml/2006/main">
            <a:off x="9448800" y="6886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Explore Development Partner eligibility and</a:t>
            </a:r>
          </a:p>
        </p:txBody>
      </p:sp>
      <p:sp>
        <p:nvSpPr>
          <p:cNvPr id="28" name="appendix-text-104">
            <a:extLst xmlns:a="http://schemas.openxmlformats.org/drawingml/2006/main">
              <a:ext uri="{FF2B5EF4-FFF2-40B4-BE49-F238E27FC236}">
                <a16:creationId xmlns:a16="http://schemas.microsoft.com/office/drawing/2014/main" id="{733B5303-B3B4-439A-A99C-26A322674763}"/>
              </a:ext>
            </a:extLst>
          </p:cNvPr>
          <p:cNvSpPr>
            <a:spLocks xmlns:a="http://schemas.openxmlformats.org/drawingml/2006/main" noGrp="1"/>
          </p:cNvSpPr>
          <p:nvPr/>
        </p:nvSpPr>
        <p:spPr>
          <a:xfrm xmlns:a="http://schemas.openxmlformats.org/drawingml/2006/main">
            <a:off x="9448800" y="73056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introductions to suitable channels. Publish a</a:t>
            </a:r>
          </a:p>
        </p:txBody>
      </p:sp>
      <p:sp>
        <p:nvSpPr>
          <p:cNvPr id="29" name="appendix-text-105">
            <a:extLst xmlns:a="http://schemas.openxmlformats.org/drawingml/2006/main">
              <a:ext uri="{FF2B5EF4-FFF2-40B4-BE49-F238E27FC236}">
                <a16:creationId xmlns:a16="http://schemas.microsoft.com/office/drawing/2014/main" id="{B1C48126-6CF8-4425-A8F5-8600B8C42126}"/>
              </a:ext>
            </a:extLst>
          </p:cNvPr>
          <p:cNvSpPr>
            <a:spLocks xmlns:a="http://schemas.openxmlformats.org/drawingml/2006/main" noGrp="1"/>
          </p:cNvSpPr>
          <p:nvPr/>
        </p:nvSpPr>
        <p:spPr>
          <a:xfrm xmlns:a="http://schemas.openxmlformats.org/drawingml/2006/main">
            <a:off x="9448800" y="77247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reference case only with participant consent.</a:t>
            </a:r>
          </a:p>
        </p:txBody>
      </p:sp>
      <p:sp>
        <p:nvSpPr>
          <p:cNvPr id="30" name="appendix-text-106">
            <a:extLst xmlns:a="http://schemas.openxmlformats.org/drawingml/2006/main">
              <a:ext uri="{FF2B5EF4-FFF2-40B4-BE49-F238E27FC236}">
                <a16:creationId xmlns:a16="http://schemas.microsoft.com/office/drawing/2014/main" id="{3137726E-C34E-446A-9328-38EB1245E81D}"/>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collaboration; participation, support and programme eligibility are subject to agreement. Sources in speaker notes.</a:t>
            </a:r>
          </a:p>
        </p:txBody>
      </p:sp>
      <p:sp>
        <p:nvSpPr>
          <p:cNvPr id="31" name="appendix-text-107">
            <a:extLst xmlns:a="http://schemas.openxmlformats.org/drawingml/2006/main">
              <a:ext uri="{FF2B5EF4-FFF2-40B4-BE49-F238E27FC236}">
                <a16:creationId xmlns:a16="http://schemas.microsoft.com/office/drawing/2014/main" id="{62CFB4D1-D92D-431C-A5A2-43BFDBD773CC}"/>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27</a:t>
            </a:r>
          </a:p>
        </p:txBody>
      </p:sp>
    </p:spTree>
    <p:extLst>
      <p:ext uri="{BB962C8B-B14F-4D97-AF65-F5344CB8AC3E}">
        <p14:creationId xmlns:p14="http://schemas.microsoft.com/office/powerpoint/2010/main" val="1843825867"/>
      </p:ext>
    </p:extLst>
  </p:cSld>
</p:sld>
</file>

<file path=ppt/slides/slide2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32" name="appendix-text-108">
            <a:extLst xmlns:a="http://schemas.openxmlformats.org/drawingml/2006/main">
              <a:ext uri="{FF2B5EF4-FFF2-40B4-BE49-F238E27FC236}">
                <a16:creationId xmlns:a16="http://schemas.microsoft.com/office/drawing/2014/main" id="{A5BD3F62-A52F-4CC2-9C7D-2156D0D6492D}"/>
              </a:ext>
            </a:extLst>
          </p:cNvPr>
          <p:cNvSpPr>
            <a:spLocks xmlns:a="http://schemas.openxmlformats.org/drawingml/2006/main" noGrp="1"/>
          </p:cNvSpPr>
          <p:nvPr/>
        </p:nvSpPr>
        <p:spPr>
          <a:xfrm xmlns:a="http://schemas.openxmlformats.org/drawingml/2006/main">
            <a:off x="990600" y="819150"/>
            <a:ext cx="61912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3A3745"/>
                </a:solidFill>
                <a:latin typeface="Deck-Medium"/>
                <a:ea typeface="Deck-Medium"/>
                <a:cs typeface="Deck-Medium"/>
              </a:defRPr>
            </a:pPr>
            <a:r>
              <a:rPr sz="1725">
                <a:solidFill>
                  <a:srgbClr val="3A3745"/>
                </a:solidFill>
                <a:latin typeface="Deck-Medium"/>
                <a:ea typeface="Deck-Medium"/>
                <a:cs typeface="Deck-Medium"/>
              </a:rPr>
              <a:t>PARTNERSHIP OPPORTUNITIES</a:t>
            </a:r>
          </a:p>
        </p:txBody>
      </p:sp>
      <p:sp>
        <p:nvSpPr>
          <p:cNvPr id="2" name="appendix-text-109">
            <a:extLst xmlns:a="http://schemas.openxmlformats.org/drawingml/2006/main">
              <a:ext uri="{FF2B5EF4-FFF2-40B4-BE49-F238E27FC236}">
                <a16:creationId xmlns:a16="http://schemas.microsoft.com/office/drawing/2014/main" id="{74CE0DAA-01B8-4F72-93EF-6D8D20218149}"/>
              </a:ext>
            </a:extLst>
          </p:cNvPr>
          <p:cNvSpPr>
            <a:spLocks xmlns:a="http://schemas.openxmlformats.org/drawingml/2006/main" noGrp="1"/>
          </p:cNvSpPr>
          <p:nvPr/>
        </p:nvSpPr>
        <p:spPr>
          <a:xfrm xmlns:a="http://schemas.openxmlformats.org/drawingml/2006/main">
            <a:off x="962025" y="16287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NTU</a:t>
            </a:r>
          </a:p>
        </p:txBody>
      </p:sp>
      <p:sp>
        <p:nvSpPr>
          <p:cNvPr id="3" name="appendix-text-110">
            <a:extLst xmlns:a="http://schemas.openxmlformats.org/drawingml/2006/main">
              <a:ext uri="{FF2B5EF4-FFF2-40B4-BE49-F238E27FC236}">
                <a16:creationId xmlns:a16="http://schemas.microsoft.com/office/drawing/2014/main" id="{A981E880-8BAE-4525-88D0-79AAB9ABF521}"/>
              </a:ext>
            </a:extLst>
          </p:cNvPr>
          <p:cNvSpPr>
            <a:spLocks xmlns:a="http://schemas.openxmlformats.org/drawingml/2006/main" noGrp="1"/>
          </p:cNvSpPr>
          <p:nvPr/>
        </p:nvSpPr>
        <p:spPr>
          <a:xfrm xmlns:a="http://schemas.openxmlformats.org/drawingml/2006/main">
            <a:off x="962025" y="252412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partnership</a:t>
            </a:r>
          </a:p>
        </p:txBody>
      </p:sp>
      <p:sp>
        <p:nvSpPr>
          <p:cNvPr id="4" name="appendix-text-111">
            <a:extLst xmlns:a="http://schemas.openxmlformats.org/drawingml/2006/main">
              <a:ext uri="{FF2B5EF4-FFF2-40B4-BE49-F238E27FC236}">
                <a16:creationId xmlns:a16="http://schemas.microsoft.com/office/drawing/2014/main" id="{AF5B7CC0-E3BE-4F4D-BC17-58864960ED78}"/>
              </a:ext>
            </a:extLst>
          </p:cNvPr>
          <p:cNvSpPr>
            <a:spLocks xmlns:a="http://schemas.openxmlformats.org/drawingml/2006/main" noGrp="1"/>
          </p:cNvSpPr>
          <p:nvPr/>
        </p:nvSpPr>
        <p:spPr>
          <a:xfrm xmlns:a="http://schemas.openxmlformats.org/drawingml/2006/main">
            <a:off x="962025" y="34194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opportunities</a:t>
            </a:r>
          </a:p>
        </p:txBody>
      </p:sp>
      <p:sp>
        <p:nvSpPr>
          <p:cNvPr id="5" name="appendix-text-112">
            <a:extLst xmlns:a="http://schemas.openxmlformats.org/drawingml/2006/main">
              <a:ext uri="{FF2B5EF4-FFF2-40B4-BE49-F238E27FC236}">
                <a16:creationId xmlns:a16="http://schemas.microsoft.com/office/drawing/2014/main" id="{B3E0A769-1CB0-4086-BEBC-CD496AF38A2C}"/>
              </a:ext>
            </a:extLst>
          </p:cNvPr>
          <p:cNvSpPr>
            <a:spLocks xmlns:a="http://schemas.openxmlformats.org/drawingml/2006/main" noGrp="1"/>
          </p:cNvSpPr>
          <p:nvPr/>
        </p:nvSpPr>
        <p:spPr>
          <a:xfrm xmlns:a="http://schemas.openxmlformats.org/drawingml/2006/main">
            <a:off x="1009650" y="48672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Nanyang Technological University</a:t>
            </a:r>
          </a:p>
        </p:txBody>
      </p:sp>
      <p:sp>
        <p:nvSpPr>
          <p:cNvPr id="6" name="appendix-text-113">
            <a:extLst xmlns:a="http://schemas.openxmlformats.org/drawingml/2006/main">
              <a:ext uri="{FF2B5EF4-FFF2-40B4-BE49-F238E27FC236}">
                <a16:creationId xmlns:a16="http://schemas.microsoft.com/office/drawing/2014/main" id="{2D4DCBD5-855D-4EF5-A894-65FA8A6110AB}"/>
              </a:ext>
            </a:extLst>
          </p:cNvPr>
          <p:cNvSpPr>
            <a:spLocks xmlns:a="http://schemas.openxmlformats.org/drawingml/2006/main" noGrp="1"/>
          </p:cNvSpPr>
          <p:nvPr/>
        </p:nvSpPr>
        <p:spPr>
          <a:xfrm xmlns:a="http://schemas.openxmlformats.org/drawingml/2006/main">
            <a:off x="1009650" y="53054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Caregiver research and commercial validation.</a:t>
            </a:r>
          </a:p>
        </p:txBody>
      </p:sp>
      <p:sp>
        <p:nvSpPr>
          <p:cNvPr id="7" name="appendix-text-114">
            <a:extLst xmlns:a="http://schemas.openxmlformats.org/drawingml/2006/main">
              <a:ext uri="{FF2B5EF4-FFF2-40B4-BE49-F238E27FC236}">
                <a16:creationId xmlns:a16="http://schemas.microsoft.com/office/drawing/2014/main" id="{0DA23DCF-A22C-4862-9EFE-4A4B09251CFC}"/>
              </a:ext>
            </a:extLst>
          </p:cNvPr>
          <p:cNvSpPr>
            <a:spLocks xmlns:a="http://schemas.openxmlformats.org/drawingml/2006/main" noGrp="1"/>
          </p:cNvSpPr>
          <p:nvPr/>
        </p:nvSpPr>
        <p:spPr>
          <a:xfrm xmlns:a="http://schemas.openxmlformats.org/drawingml/2006/main">
            <a:off x="1009650" y="57435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8" name="appendix-text-115">
            <a:extLst xmlns:a="http://schemas.openxmlformats.org/drawingml/2006/main">
              <a:ext uri="{FF2B5EF4-FFF2-40B4-BE49-F238E27FC236}">
                <a16:creationId xmlns:a16="http://schemas.microsoft.com/office/drawing/2014/main" id="{9C21B455-83A4-433B-8901-9C2F6860828F}"/>
              </a:ext>
            </a:extLst>
          </p:cNvPr>
          <p:cNvSpPr>
            <a:spLocks xmlns:a="http://schemas.openxmlformats.org/drawingml/2006/main" noGrp="1"/>
          </p:cNvSpPr>
          <p:nvPr/>
        </p:nvSpPr>
        <p:spPr>
          <a:xfrm xmlns:a="http://schemas.openxmlformats.org/drawingml/2006/main">
            <a:off x="1009650" y="61817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Potential value: a platform for applied</a:t>
            </a:r>
          </a:p>
        </p:txBody>
      </p:sp>
      <p:sp>
        <p:nvSpPr>
          <p:cNvPr id="9" name="appendix-text-116">
            <a:extLst xmlns:a="http://schemas.openxmlformats.org/drawingml/2006/main">
              <a:ext uri="{FF2B5EF4-FFF2-40B4-BE49-F238E27FC236}">
                <a16:creationId xmlns:a16="http://schemas.microsoft.com/office/drawing/2014/main" id="{D2DC7F0D-C264-4852-8928-FE91F149BF0B}"/>
              </a:ext>
            </a:extLst>
          </p:cNvPr>
          <p:cNvSpPr>
            <a:spLocks xmlns:a="http://schemas.openxmlformats.org/drawingml/2006/main" noGrp="1"/>
          </p:cNvSpPr>
          <p:nvPr/>
        </p:nvSpPr>
        <p:spPr>
          <a:xfrm xmlns:a="http://schemas.openxmlformats.org/drawingml/2006/main">
            <a:off x="1009650" y="66198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ageing and implementation research.</a:t>
            </a:r>
          </a:p>
        </p:txBody>
      </p:sp>
      <p:sp>
        <p:nvSpPr>
          <p:cNvPr id="10" name="appendix-text-117">
            <a:extLst xmlns:a="http://schemas.openxmlformats.org/drawingml/2006/main">
              <a:ext uri="{FF2B5EF4-FFF2-40B4-BE49-F238E27FC236}">
                <a16:creationId xmlns:a16="http://schemas.microsoft.com/office/drawing/2014/main" id="{F96A4632-12B2-4840-9743-80FF53C2FB10}"/>
              </a:ext>
            </a:extLst>
          </p:cNvPr>
          <p:cNvSpPr>
            <a:spLocks xmlns:a="http://schemas.openxmlformats.org/drawingml/2006/main" noGrp="1"/>
          </p:cNvSpPr>
          <p:nvPr/>
        </p:nvSpPr>
        <p:spPr>
          <a:xfrm xmlns:a="http://schemas.openxmlformats.org/drawingml/2006/main">
            <a:off x="1009650" y="7219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Initial ask</a:t>
            </a:r>
          </a:p>
        </p:txBody>
      </p:sp>
      <p:sp>
        <p:nvSpPr>
          <p:cNvPr id="11" name="appendix-text-118">
            <a:extLst xmlns:a="http://schemas.openxmlformats.org/drawingml/2006/main">
              <a:ext uri="{FF2B5EF4-FFF2-40B4-BE49-F238E27FC236}">
                <a16:creationId xmlns:a16="http://schemas.microsoft.com/office/drawing/2014/main" id="{F861D4B8-D2D8-4771-8C2B-B4545FE31832}"/>
              </a:ext>
            </a:extLst>
          </p:cNvPr>
          <p:cNvSpPr>
            <a:spLocks xmlns:a="http://schemas.openxmlformats.org/drawingml/2006/main" noGrp="1"/>
          </p:cNvSpPr>
          <p:nvPr/>
        </p:nvSpPr>
        <p:spPr>
          <a:xfrm xmlns:a="http://schemas.openxmlformats.org/drawingml/2006/main">
            <a:off x="1009650" y="7753350"/>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 joint scoping session with an ageing</a:t>
            </a:r>
          </a:p>
        </p:txBody>
      </p:sp>
      <p:sp>
        <p:nvSpPr>
          <p:cNvPr id="12" name="appendix-text-119">
            <a:extLst xmlns:a="http://schemas.openxmlformats.org/drawingml/2006/main">
              <a:ext uri="{FF2B5EF4-FFF2-40B4-BE49-F238E27FC236}">
                <a16:creationId xmlns:a16="http://schemas.microsoft.com/office/drawing/2014/main" id="{73FA77F2-95AD-4736-BF66-404627FA97DC}"/>
              </a:ext>
            </a:extLst>
          </p:cNvPr>
          <p:cNvSpPr>
            <a:spLocks xmlns:a="http://schemas.openxmlformats.org/drawingml/2006/main" noGrp="1"/>
          </p:cNvSpPr>
          <p:nvPr/>
        </p:nvSpPr>
        <p:spPr>
          <a:xfrm xmlns:a="http://schemas.openxmlformats.org/drawingml/2006/main">
            <a:off x="1009650" y="8162925"/>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research lead and a venture adviser.</a:t>
            </a:r>
          </a:p>
        </p:txBody>
      </p:sp>
      <p:sp>
        <p:nvSpPr>
          <p:cNvPr id="13" name="appendix-text-120">
            <a:extLst xmlns:a="http://schemas.openxmlformats.org/drawingml/2006/main">
              <a:ext uri="{FF2B5EF4-FFF2-40B4-BE49-F238E27FC236}">
                <a16:creationId xmlns:a16="http://schemas.microsoft.com/office/drawing/2014/main" id="{5295B98E-6AB5-4E09-A4C0-F731AFAA83EA}"/>
              </a:ext>
            </a:extLst>
          </p:cNvPr>
          <p:cNvSpPr>
            <a:spLocks xmlns:a="http://schemas.openxmlformats.org/drawingml/2006/main" noGrp="1"/>
          </p:cNvSpPr>
          <p:nvPr/>
        </p:nvSpPr>
        <p:spPr>
          <a:xfrm xmlns:a="http://schemas.openxmlformats.org/drawingml/2006/main">
            <a:off x="8696325" y="16192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01</a:t>
            </a:r>
          </a:p>
        </p:txBody>
      </p:sp>
      <p:sp>
        <p:nvSpPr>
          <p:cNvPr id="14" name="appendix-text-121">
            <a:extLst xmlns:a="http://schemas.openxmlformats.org/drawingml/2006/main">
              <a:ext uri="{FF2B5EF4-FFF2-40B4-BE49-F238E27FC236}">
                <a16:creationId xmlns:a16="http://schemas.microsoft.com/office/drawing/2014/main" id="{03E4E90E-E91D-48E3-8C9A-25920E124C8E}"/>
              </a:ext>
            </a:extLst>
          </p:cNvPr>
          <p:cNvSpPr>
            <a:spLocks xmlns:a="http://schemas.openxmlformats.org/drawingml/2006/main" noGrp="1"/>
          </p:cNvSpPr>
          <p:nvPr/>
        </p:nvSpPr>
        <p:spPr>
          <a:xfrm xmlns:a="http://schemas.openxmlformats.org/drawingml/2006/main">
            <a:off x="9448800" y="15621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ARISE: ageing &amp; caregiver design</a:t>
            </a:r>
          </a:p>
        </p:txBody>
      </p:sp>
      <p:sp>
        <p:nvSpPr>
          <p:cNvPr id="15" name="appendix-text-122">
            <a:extLst xmlns:a="http://schemas.openxmlformats.org/drawingml/2006/main">
              <a:ext uri="{FF2B5EF4-FFF2-40B4-BE49-F238E27FC236}">
                <a16:creationId xmlns:a16="http://schemas.microsoft.com/office/drawing/2014/main" id="{91E209D4-B39E-48AE-A0A9-4AC73EDA3EC6}"/>
              </a:ext>
            </a:extLst>
          </p:cNvPr>
          <p:cNvSpPr>
            <a:spLocks xmlns:a="http://schemas.openxmlformats.org/drawingml/2006/main" noGrp="1"/>
          </p:cNvSpPr>
          <p:nvPr/>
        </p:nvSpPr>
        <p:spPr>
          <a:xfrm xmlns:a="http://schemas.openxmlformats.org/drawingml/2006/main">
            <a:off x="9448800" y="21621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Co-design with caregivers and older adults.</a:t>
            </a:r>
          </a:p>
        </p:txBody>
      </p:sp>
      <p:sp>
        <p:nvSpPr>
          <p:cNvPr id="16" name="appendix-text-123">
            <a:extLst xmlns:a="http://schemas.openxmlformats.org/drawingml/2006/main">
              <a:ext uri="{FF2B5EF4-FFF2-40B4-BE49-F238E27FC236}">
                <a16:creationId xmlns:a16="http://schemas.microsoft.com/office/drawing/2014/main" id="{104EFA4C-2440-4722-91FB-A064F0454EC0}"/>
              </a:ext>
            </a:extLst>
          </p:cNvPr>
          <p:cNvSpPr>
            <a:spLocks xmlns:a="http://schemas.openxmlformats.org/drawingml/2006/main" noGrp="1"/>
          </p:cNvSpPr>
          <p:nvPr/>
        </p:nvSpPr>
        <p:spPr>
          <a:xfrm xmlns:a="http://schemas.openxmlformats.org/drawingml/2006/main">
            <a:off x="9448800" y="25812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Evaluate ease of use and weekly engagement;</a:t>
            </a:r>
          </a:p>
        </p:txBody>
      </p:sp>
      <p:sp>
        <p:nvSpPr>
          <p:cNvPr id="17" name="appendix-text-124">
            <a:extLst xmlns:a="http://schemas.openxmlformats.org/drawingml/2006/main">
              <a:ext uri="{FF2B5EF4-FFF2-40B4-BE49-F238E27FC236}">
                <a16:creationId xmlns:a16="http://schemas.microsoft.com/office/drawing/2014/main" id="{55B38154-D201-4563-9090-CEF6A3014A93}"/>
              </a:ext>
            </a:extLst>
          </p:cNvPr>
          <p:cNvSpPr>
            <a:spLocks xmlns:a="http://schemas.openxmlformats.org/drawingml/2006/main" noGrp="1"/>
          </p:cNvSpPr>
          <p:nvPr/>
        </p:nvSpPr>
        <p:spPr>
          <a:xfrm xmlns:a="http://schemas.openxmlformats.org/drawingml/2006/main">
            <a:off x="9448800" y="3000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explore a fit with health-coaching work.</a:t>
            </a:r>
          </a:p>
        </p:txBody>
      </p:sp>
      <p:sp>
        <p:nvSpPr>
          <p:cNvPr id="18" name="">
            <a:extLst xmlns:a="http://schemas.openxmlformats.org/drawingml/2006/main">
              <a:ext uri="{FF2B5EF4-FFF2-40B4-BE49-F238E27FC236}">
                <a16:creationId xmlns:a16="http://schemas.microsoft.com/office/drawing/2014/main" id="{7789590B-9211-4006-B9EB-C0790693F69C}"/>
              </a:ext>
            </a:extLst>
          </p:cNvPr>
          <p:cNvSpPr>
            <a:spLocks xmlns:a="http://schemas.openxmlformats.org/drawingml/2006/main" noGrp="1"/>
          </p:cNvSpPr>
          <p:nvPr/>
        </p:nvSpPr>
        <p:spPr>
          <a:xfrm xmlns:a="http://schemas.openxmlformats.org/drawingml/2006/main">
            <a:off x="9448800" y="3590925"/>
            <a:ext cx="782955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19" name="appendix-text-125">
            <a:extLst xmlns:a="http://schemas.openxmlformats.org/drawingml/2006/main">
              <a:ext uri="{FF2B5EF4-FFF2-40B4-BE49-F238E27FC236}">
                <a16:creationId xmlns:a16="http://schemas.microsoft.com/office/drawing/2014/main" id="{E2B843E3-116A-485E-B2BE-C2861BEDC4AE}"/>
              </a:ext>
            </a:extLst>
          </p:cNvPr>
          <p:cNvSpPr>
            <a:spLocks xmlns:a="http://schemas.openxmlformats.org/drawingml/2006/main" noGrp="1"/>
          </p:cNvSpPr>
          <p:nvPr/>
        </p:nvSpPr>
        <p:spPr>
          <a:xfrm xmlns:a="http://schemas.openxmlformats.org/drawingml/2006/main">
            <a:off x="8696325" y="39814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02</a:t>
            </a:r>
          </a:p>
        </p:txBody>
      </p:sp>
      <p:sp>
        <p:nvSpPr>
          <p:cNvPr id="20" name="appendix-text-126">
            <a:extLst xmlns:a="http://schemas.openxmlformats.org/drawingml/2006/main">
              <a:ext uri="{FF2B5EF4-FFF2-40B4-BE49-F238E27FC236}">
                <a16:creationId xmlns:a16="http://schemas.microsoft.com/office/drawing/2014/main" id="{E88BB487-BEF0-4163-BD3B-18D94BF2C5CD}"/>
              </a:ext>
            </a:extLst>
          </p:cNvPr>
          <p:cNvSpPr>
            <a:spLocks xmlns:a="http://schemas.openxmlformats.org/drawingml/2006/main" noGrp="1"/>
          </p:cNvSpPr>
          <p:nvPr/>
        </p:nvSpPr>
        <p:spPr>
          <a:xfrm xmlns:a="http://schemas.openxmlformats.org/drawingml/2006/main">
            <a:off x="9448800" y="39243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LKCMedicine: evaluation design</a:t>
            </a:r>
          </a:p>
        </p:txBody>
      </p:sp>
      <p:sp>
        <p:nvSpPr>
          <p:cNvPr id="21" name="appendix-text-127">
            <a:extLst xmlns:a="http://schemas.openxmlformats.org/drawingml/2006/main">
              <a:ext uri="{FF2B5EF4-FFF2-40B4-BE49-F238E27FC236}">
                <a16:creationId xmlns:a16="http://schemas.microsoft.com/office/drawing/2014/main" id="{BC080B47-B70C-46B9-98A0-4E2AA6CBBFC7}"/>
              </a:ext>
            </a:extLst>
          </p:cNvPr>
          <p:cNvSpPr>
            <a:spLocks xmlns:a="http://schemas.openxmlformats.org/drawingml/2006/main" noGrp="1"/>
          </p:cNvSpPr>
          <p:nvPr/>
        </p:nvSpPr>
        <p:spPr>
          <a:xfrm xmlns:a="http://schemas.openxmlformats.org/drawingml/2006/main">
            <a:off x="9448800" y="4524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Seek Primary Care &amp; Family Medicine input</a:t>
            </a:r>
          </a:p>
        </p:txBody>
      </p:sp>
      <p:sp>
        <p:nvSpPr>
          <p:cNvPr id="22" name="appendix-text-128">
            <a:extLst xmlns:a="http://schemas.openxmlformats.org/drawingml/2006/main">
              <a:ext uri="{FF2B5EF4-FFF2-40B4-BE49-F238E27FC236}">
                <a16:creationId xmlns:a16="http://schemas.microsoft.com/office/drawing/2014/main" id="{24DEB668-3FB7-4C8D-A828-B0A5F563D9FF}"/>
              </a:ext>
            </a:extLst>
          </p:cNvPr>
          <p:cNvSpPr>
            <a:spLocks xmlns:a="http://schemas.openxmlformats.org/drawingml/2006/main" noGrp="1"/>
          </p:cNvSpPr>
          <p:nvPr/>
        </p:nvSpPr>
        <p:spPr>
          <a:xfrm xmlns:a="http://schemas.openxmlformats.org/drawingml/2006/main">
            <a:off x="9448800" y="49434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on content and evaluation design. Measure</a:t>
            </a:r>
          </a:p>
        </p:txBody>
      </p:sp>
      <p:sp>
        <p:nvSpPr>
          <p:cNvPr id="23" name="appendix-text-129">
            <a:extLst xmlns:a="http://schemas.openxmlformats.org/drawingml/2006/main">
              <a:ext uri="{FF2B5EF4-FFF2-40B4-BE49-F238E27FC236}">
                <a16:creationId xmlns:a16="http://schemas.microsoft.com/office/drawing/2014/main" id="{9B64A7E8-4B35-48F2-B0A9-77D6B44C97FE}"/>
              </a:ext>
            </a:extLst>
          </p:cNvPr>
          <p:cNvSpPr>
            <a:spLocks xmlns:a="http://schemas.openxmlformats.org/drawingml/2006/main" noGrp="1"/>
          </p:cNvSpPr>
          <p:nvPr/>
        </p:nvSpPr>
        <p:spPr>
          <a:xfrm xmlns:a="http://schemas.openxmlformats.org/drawingml/2006/main">
            <a:off x="9448800" y="5362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feasibility before testing clinical outcomes.</a:t>
            </a:r>
          </a:p>
        </p:txBody>
      </p:sp>
      <p:sp>
        <p:nvSpPr>
          <p:cNvPr id="24" name="">
            <a:extLst xmlns:a="http://schemas.openxmlformats.org/drawingml/2006/main">
              <a:ext uri="{FF2B5EF4-FFF2-40B4-BE49-F238E27FC236}">
                <a16:creationId xmlns:a16="http://schemas.microsoft.com/office/drawing/2014/main" id="{446D9C47-72BF-4AA7-BFB5-ED742371C6C4}"/>
              </a:ext>
            </a:extLst>
          </p:cNvPr>
          <p:cNvSpPr>
            <a:spLocks xmlns:a="http://schemas.openxmlformats.org/drawingml/2006/main" noGrp="1"/>
          </p:cNvSpPr>
          <p:nvPr/>
        </p:nvSpPr>
        <p:spPr>
          <a:xfrm xmlns:a="http://schemas.openxmlformats.org/drawingml/2006/main">
            <a:off x="9448800" y="5953125"/>
            <a:ext cx="782955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5" name="appendix-text-130">
            <a:extLst xmlns:a="http://schemas.openxmlformats.org/drawingml/2006/main">
              <a:ext uri="{FF2B5EF4-FFF2-40B4-BE49-F238E27FC236}">
                <a16:creationId xmlns:a16="http://schemas.microsoft.com/office/drawing/2014/main" id="{14236AD2-956B-450C-AAAD-0941559E2546}"/>
              </a:ext>
            </a:extLst>
          </p:cNvPr>
          <p:cNvSpPr>
            <a:spLocks xmlns:a="http://schemas.openxmlformats.org/drawingml/2006/main" noGrp="1"/>
          </p:cNvSpPr>
          <p:nvPr/>
        </p:nvSpPr>
        <p:spPr>
          <a:xfrm xmlns:a="http://schemas.openxmlformats.org/drawingml/2006/main">
            <a:off x="8696325" y="63436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03</a:t>
            </a:r>
          </a:p>
        </p:txBody>
      </p:sp>
      <p:sp>
        <p:nvSpPr>
          <p:cNvPr id="26" name="appendix-text-131">
            <a:extLst xmlns:a="http://schemas.openxmlformats.org/drawingml/2006/main">
              <a:ext uri="{FF2B5EF4-FFF2-40B4-BE49-F238E27FC236}">
                <a16:creationId xmlns:a16="http://schemas.microsoft.com/office/drawing/2014/main" id="{14773040-A1C1-4DA6-8B3E-81B0681AAC66}"/>
              </a:ext>
            </a:extLst>
          </p:cNvPr>
          <p:cNvSpPr>
            <a:spLocks xmlns:a="http://schemas.openxmlformats.org/drawingml/2006/main" noGrp="1"/>
          </p:cNvSpPr>
          <p:nvPr/>
        </p:nvSpPr>
        <p:spPr>
          <a:xfrm xmlns:a="http://schemas.openxmlformats.org/drawingml/2006/main">
            <a:off x="9448800" y="62865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NTUitive: commercial validation</a:t>
            </a:r>
          </a:p>
        </p:txBody>
      </p:sp>
      <p:sp>
        <p:nvSpPr>
          <p:cNvPr id="27" name="appendix-text-132">
            <a:extLst xmlns:a="http://schemas.openxmlformats.org/drawingml/2006/main">
              <a:ext uri="{FF2B5EF4-FFF2-40B4-BE49-F238E27FC236}">
                <a16:creationId xmlns:a16="http://schemas.microsoft.com/office/drawing/2014/main" id="{5015EEE4-69A2-47BB-809A-ACFC801E2B7E}"/>
              </a:ext>
            </a:extLst>
          </p:cNvPr>
          <p:cNvSpPr>
            <a:spLocks xmlns:a="http://schemas.openxmlformats.org/drawingml/2006/main" noGrp="1"/>
          </p:cNvSpPr>
          <p:nvPr/>
        </p:nvSpPr>
        <p:spPr>
          <a:xfrm xmlns:a="http://schemas.openxmlformats.org/drawingml/2006/main">
            <a:off x="9448800" y="6886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Explore venture-building advice, pricing</a:t>
            </a:r>
          </a:p>
        </p:txBody>
      </p:sp>
      <p:sp>
        <p:nvSpPr>
          <p:cNvPr id="28" name="appendix-text-133">
            <a:extLst xmlns:a="http://schemas.openxmlformats.org/drawingml/2006/main">
              <a:ext uri="{FF2B5EF4-FFF2-40B4-BE49-F238E27FC236}">
                <a16:creationId xmlns:a16="http://schemas.microsoft.com/office/drawing/2014/main" id="{1EA04C21-E8DA-4942-9181-1B834A828BCD}"/>
              </a:ext>
            </a:extLst>
          </p:cNvPr>
          <p:cNvSpPr>
            <a:spLocks xmlns:a="http://schemas.openxmlformats.org/drawingml/2006/main" noGrp="1"/>
          </p:cNvSpPr>
          <p:nvPr/>
        </p:nvSpPr>
        <p:spPr>
          <a:xfrm xmlns:a="http://schemas.openxmlformats.org/drawingml/2006/main">
            <a:off x="9448800" y="73056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validation and partner introductions, subject</a:t>
            </a:r>
          </a:p>
        </p:txBody>
      </p:sp>
      <p:sp>
        <p:nvSpPr>
          <p:cNvPr id="29" name="appendix-text-134">
            <a:extLst xmlns:a="http://schemas.openxmlformats.org/drawingml/2006/main">
              <a:ext uri="{FF2B5EF4-FFF2-40B4-BE49-F238E27FC236}">
                <a16:creationId xmlns:a16="http://schemas.microsoft.com/office/drawing/2014/main" id="{C75A2649-7206-4F85-A468-34D8B2204221}"/>
              </a:ext>
            </a:extLst>
          </p:cNvPr>
          <p:cNvSpPr>
            <a:spLocks xmlns:a="http://schemas.openxmlformats.org/drawingml/2006/main" noGrp="1"/>
          </p:cNvSpPr>
          <p:nvPr/>
        </p:nvSpPr>
        <p:spPr>
          <a:xfrm xmlns:a="http://schemas.openxmlformats.org/drawingml/2006/main">
            <a:off x="9448800" y="77247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to programme eligibility and agreed IP terms.</a:t>
            </a:r>
          </a:p>
        </p:txBody>
      </p:sp>
      <p:sp>
        <p:nvSpPr>
          <p:cNvPr id="30" name="appendix-text-135">
            <a:extLst xmlns:a="http://schemas.openxmlformats.org/drawingml/2006/main">
              <a:ext uri="{FF2B5EF4-FFF2-40B4-BE49-F238E27FC236}">
                <a16:creationId xmlns:a16="http://schemas.microsoft.com/office/drawing/2014/main" id="{F3ED1B36-45FA-4238-BC86-8D3FBCDC899D}"/>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collaboration; participation, support and programme eligibility are subject to agreement. Sources in speaker notes.</a:t>
            </a:r>
          </a:p>
        </p:txBody>
      </p:sp>
      <p:sp>
        <p:nvSpPr>
          <p:cNvPr id="31" name="appendix-text-136">
            <a:extLst xmlns:a="http://schemas.openxmlformats.org/drawingml/2006/main">
              <a:ext uri="{FF2B5EF4-FFF2-40B4-BE49-F238E27FC236}">
                <a16:creationId xmlns:a16="http://schemas.microsoft.com/office/drawing/2014/main" id="{9D18687E-91E3-4AA3-A816-95E55855222F}"/>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28</a:t>
            </a:r>
          </a:p>
        </p:txBody>
      </p:sp>
    </p:spTree>
    <p:extLst>
      <p:ext uri="{BB962C8B-B14F-4D97-AF65-F5344CB8AC3E}">
        <p14:creationId xmlns:p14="http://schemas.microsoft.com/office/powerpoint/2010/main" val="1903594793"/>
      </p:ext>
    </p:extLst>
  </p:cSld>
</p:sld>
</file>

<file path=ppt/slides/slide29.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19" name="appendix-text-137">
            <a:extLst xmlns:a="http://schemas.openxmlformats.org/drawingml/2006/main">
              <a:ext uri="{FF2B5EF4-FFF2-40B4-BE49-F238E27FC236}">
                <a16:creationId xmlns:a16="http://schemas.microsoft.com/office/drawing/2014/main" id="{27FC14FA-D6B2-42CB-A77E-766CEA285C9B}"/>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TENCENT + NTU + CAREBUDDY</a:t>
            </a:r>
          </a:p>
        </p:txBody>
      </p:sp>
      <p:sp>
        <p:nvSpPr>
          <p:cNvPr id="2" name="appendix-text-138">
            <a:extLst xmlns:a="http://schemas.openxmlformats.org/drawingml/2006/main">
              <a:ext uri="{FF2B5EF4-FFF2-40B4-BE49-F238E27FC236}">
                <a16:creationId xmlns:a16="http://schemas.microsoft.com/office/drawing/2014/main" id="{9AF14194-CA26-44C6-9F30-711433A8CAE3}"/>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Joint pilot proposal</a:t>
            </a:r>
          </a:p>
        </p:txBody>
      </p:sp>
      <p:sp>
        <p:nvSpPr>
          <p:cNvPr id="3" name="appendix-text-139">
            <a:extLst xmlns:a="http://schemas.openxmlformats.org/drawingml/2006/main">
              <a:ext uri="{FF2B5EF4-FFF2-40B4-BE49-F238E27FC236}">
                <a16:creationId xmlns:a16="http://schemas.microsoft.com/office/drawing/2014/main" id="{B10F0DB8-335F-42FB-80E7-7A5C10992F1E}"/>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100 care circles · 12 weeks · Singapore</a:t>
            </a:r>
          </a:p>
        </p:txBody>
      </p:sp>
      <p:graphicFrame>
        <p:nvGraphicFramePr>
          <p:cNvPr id="22" name=""/>
          <p:cNvGraphicFramePr/>
          <p:nvPr/>
        </p:nvGraphicFramePr>
        <p:xfrm>
          <a:off xmlns:a="http://schemas.openxmlformats.org/drawingml/2006/main" x="1009650" y="3524250"/>
          <a:ext xmlns:a="http://schemas.openxmlformats.org/drawingml/2006/main" cx="8258175" cy="3143250"/>
        </p:xfrm>
        <a:graphic xmlns:a="http://schemas.openxmlformats.org/drawingml/2006/main">
          <a:graphicData uri="http://schemas.openxmlformats.org/drawingml/2006/table">
            <a:tbl>
              <a:tblPr firstRow="0" firstCol="0" lastCol="0" bandRow="0" bandCol="0"/>
              <a:tblGrid>
                <a:gridCol w="2095500"/>
                <a:gridCol w="6162675"/>
              </a:tblGrid>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1–2</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Co-design, consent and onboarding</a:t>
                      </a:r>
                    </a:p>
                  </a:txBody>
                  <a:tcPr marL="0" marR="142875" marT="238125" marB="95250" anchor="t">
                    <a:lnL w="0">
                      <a:noFill/>
                    </a:lnL>
                    <a:lnR w="0">
                      <a:noFill/>
                    </a:lnR>
                    <a:lnT w="0">
                      <a:noFill/>
                    </a:lnT>
                    <a:lnB w="0">
                      <a:noFill/>
                    </a:lnB>
                    <a:lnTlToBr w="0">
                      <a:noFill/>
                    </a:lnTlToBr>
                    <a:lnBlToTr w="0">
                      <a:noFill/>
                    </a:lnBlToTr>
                    <a:noFill/>
                  </a:tcPr>
                </a:tc>
              </a:tr>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3–10</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Caregiver use with weekly feedback</a:t>
                      </a:r>
                    </a:p>
                  </a:txBody>
                  <a:tcPr marL="0" marR="142875" marT="238125" marB="95250" anchor="t">
                    <a:lnL w="0">
                      <a:noFill/>
                    </a:lnL>
                    <a:lnR w="0">
                      <a:noFill/>
                    </a:lnR>
                    <a:lnT w="0">
                      <a:noFill/>
                    </a:lnT>
                    <a:lnB w="0">
                      <a:noFill/>
                    </a:lnB>
                    <a:lnTlToBr w="0">
                      <a:noFill/>
                    </a:lnTlToBr>
                    <a:lnBlToTr w="0">
                      <a:noFill/>
                    </a:lnBlToTr>
                    <a:noFill/>
                  </a:tcPr>
                </a:tc>
              </a:tr>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11–12</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Evaluate use, cost and paid extension</a:t>
                      </a:r>
                    </a:p>
                  </a:txBody>
                  <a:tcPr marL="0" marR="142875" marT="238125"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75483770-7717-4EC2-9DC2-8A0F13CA8A17}"/>
              </a:ext>
            </a:extLst>
          </p:cNvPr>
          <p:cNvSpPr>
            <a:spLocks xmlns:a="http://schemas.openxmlformats.org/drawingml/2006/main" noGrp="1"/>
          </p:cNvSpPr>
          <p:nvPr/>
        </p:nvSpPr>
        <p:spPr>
          <a:xfrm xmlns:a="http://schemas.openxmlformats.org/drawingml/2006/main">
            <a:off x="1009650" y="3371850"/>
            <a:ext cx="8258175" cy="0"/>
          </a:xfrm>
          <a:prstGeom xmlns:a="http://schemas.openxmlformats.org/drawingml/2006/main" prst="line">
            <a:avLst/>
          </a:prstGeom>
          <a:noFill xmlns:a="http://schemas.openxmlformats.org/drawingml/2006/main"/>
          <a:ln xmlns:a="http://schemas.openxmlformats.org/drawingml/2006/main" w="12383">
            <a:solidFill>
              <a:srgbClr val="B7CDBB"/>
            </a:solidFill>
          </a:ln>
        </p:spPr>
      </p:sp>
      <p:sp>
        <p:nvSpPr>
          <p:cNvPr id="6" name="">
            <a:extLst xmlns:a="http://schemas.openxmlformats.org/drawingml/2006/main">
              <a:ext uri="{FF2B5EF4-FFF2-40B4-BE49-F238E27FC236}">
                <a16:creationId xmlns:a16="http://schemas.microsoft.com/office/drawing/2014/main" id="{EAC4D2CB-638E-4007-9B07-8EBBD9EDAB34}"/>
              </a:ext>
            </a:extLst>
          </p:cNvPr>
          <p:cNvSpPr>
            <a:spLocks xmlns:a="http://schemas.openxmlformats.org/drawingml/2006/main" noGrp="1"/>
          </p:cNvSpPr>
          <p:nvPr/>
        </p:nvSpPr>
        <p:spPr>
          <a:xfrm xmlns:a="http://schemas.openxmlformats.org/drawingml/2006/main">
            <a:off x="1009650" y="6762750"/>
            <a:ext cx="8258175" cy="0"/>
          </a:xfrm>
          <a:prstGeom xmlns:a="http://schemas.openxmlformats.org/drawingml/2006/main" prst="line">
            <a:avLst/>
          </a:prstGeom>
          <a:noFill xmlns:a="http://schemas.openxmlformats.org/drawingml/2006/main"/>
          <a:ln xmlns:a="http://schemas.openxmlformats.org/drawingml/2006/main" w="12383">
            <a:solidFill>
              <a:srgbClr val="B7CDBB"/>
            </a:solidFill>
          </a:ln>
        </p:spPr>
      </p:sp>
      <p:sp>
        <p:nvSpPr>
          <p:cNvPr id="7" name="appendix-text-140">
            <a:extLst xmlns:a="http://schemas.openxmlformats.org/drawingml/2006/main">
              <a:ext uri="{FF2B5EF4-FFF2-40B4-BE49-F238E27FC236}">
                <a16:creationId xmlns:a16="http://schemas.microsoft.com/office/drawing/2014/main" id="{2E94A69D-1A3B-44AD-885C-27A38532B96F}"/>
              </a:ext>
            </a:extLst>
          </p:cNvPr>
          <p:cNvSpPr>
            <a:spLocks xmlns:a="http://schemas.openxmlformats.org/drawingml/2006/main" noGrp="1"/>
          </p:cNvSpPr>
          <p:nvPr/>
        </p:nvSpPr>
        <p:spPr>
          <a:xfrm xmlns:a="http://schemas.openxmlformats.org/drawingml/2006/main">
            <a:off x="10325100" y="3381375"/>
            <a:ext cx="69532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Proposed success measures</a:t>
            </a:r>
          </a:p>
        </p:txBody>
      </p:sp>
      <p:sp>
        <p:nvSpPr>
          <p:cNvPr id="8" name="appendix-text-141">
            <a:extLst xmlns:a="http://schemas.openxmlformats.org/drawingml/2006/main">
              <a:ext uri="{FF2B5EF4-FFF2-40B4-BE49-F238E27FC236}">
                <a16:creationId xmlns:a16="http://schemas.microsoft.com/office/drawing/2014/main" id="{DD9A26E6-69A2-4006-B6F2-32555735D04F}"/>
              </a:ext>
            </a:extLst>
          </p:cNvPr>
          <p:cNvSpPr>
            <a:spLocks xmlns:a="http://schemas.openxmlformats.org/drawingml/2006/main" noGrp="1"/>
          </p:cNvSpPr>
          <p:nvPr/>
        </p:nvSpPr>
        <p:spPr>
          <a:xfrm xmlns:a="http://schemas.openxmlformats.org/drawingml/2006/main">
            <a:off x="10325100" y="4067175"/>
            <a:ext cx="1905000" cy="940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925">
                <a:solidFill>
                  <a:srgbClr val="4F7A66"/>
                </a:solidFill>
                <a:latin typeface="Deck-Semi-Bold"/>
                <a:ea typeface="Deck-Semi-Bold"/>
                <a:cs typeface="Deck-Semi-Bold"/>
              </a:defRPr>
            </a:pPr>
            <a:r>
              <a:rPr sz="5925">
                <a:solidFill>
                  <a:srgbClr val="4F7A66"/>
                </a:solidFill>
                <a:latin typeface="Deck-Semi-Bold"/>
                <a:ea typeface="Deck-Semi-Bold"/>
                <a:cs typeface="Deck-Semi-Bold"/>
              </a:rPr>
              <a:t>80%</a:t>
            </a:r>
          </a:p>
        </p:txBody>
      </p:sp>
      <p:sp>
        <p:nvSpPr>
          <p:cNvPr id="9" name="appendix-text-142">
            <a:extLst xmlns:a="http://schemas.openxmlformats.org/drawingml/2006/main">
              <a:ext uri="{FF2B5EF4-FFF2-40B4-BE49-F238E27FC236}">
                <a16:creationId xmlns:a16="http://schemas.microsoft.com/office/drawing/2014/main" id="{B0658147-F417-4F39-B380-D4005A4A22C0}"/>
              </a:ext>
            </a:extLst>
          </p:cNvPr>
          <p:cNvSpPr>
            <a:spLocks xmlns:a="http://schemas.openxmlformats.org/drawingml/2006/main" noGrp="1"/>
          </p:cNvSpPr>
          <p:nvPr/>
        </p:nvSpPr>
        <p:spPr>
          <a:xfrm xmlns:a="http://schemas.openxmlformats.org/drawingml/2006/main">
            <a:off x="12763500" y="421005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Activate within 7 days</a:t>
            </a:r>
          </a:p>
        </p:txBody>
      </p:sp>
      <p:sp>
        <p:nvSpPr>
          <p:cNvPr id="10" name="appendix-text-143">
            <a:extLst xmlns:a="http://schemas.openxmlformats.org/drawingml/2006/main">
              <a:ext uri="{FF2B5EF4-FFF2-40B4-BE49-F238E27FC236}">
                <a16:creationId xmlns:a16="http://schemas.microsoft.com/office/drawing/2014/main" id="{E1F146A2-1A7B-4E8B-AD44-A26820EF7A08}"/>
              </a:ext>
            </a:extLst>
          </p:cNvPr>
          <p:cNvSpPr>
            <a:spLocks xmlns:a="http://schemas.openxmlformats.org/drawingml/2006/main" noGrp="1"/>
          </p:cNvSpPr>
          <p:nvPr/>
        </p:nvSpPr>
        <p:spPr>
          <a:xfrm xmlns:a="http://schemas.openxmlformats.org/drawingml/2006/main">
            <a:off x="12763500" y="459105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First routine + member invited</a:t>
            </a:r>
          </a:p>
        </p:txBody>
      </p:sp>
      <p:sp>
        <p:nvSpPr>
          <p:cNvPr id="11" name="appendix-text-144">
            <a:extLst xmlns:a="http://schemas.openxmlformats.org/drawingml/2006/main">
              <a:ext uri="{FF2B5EF4-FFF2-40B4-BE49-F238E27FC236}">
                <a16:creationId xmlns:a16="http://schemas.microsoft.com/office/drawing/2014/main" id="{0C27D7F9-280C-41F5-ABCF-D8CD7A31510D}"/>
              </a:ext>
            </a:extLst>
          </p:cNvPr>
          <p:cNvSpPr>
            <a:spLocks xmlns:a="http://schemas.openxmlformats.org/drawingml/2006/main" noGrp="1"/>
          </p:cNvSpPr>
          <p:nvPr/>
        </p:nvSpPr>
        <p:spPr>
          <a:xfrm xmlns:a="http://schemas.openxmlformats.org/drawingml/2006/main">
            <a:off x="10325100" y="5381625"/>
            <a:ext cx="1905000" cy="940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925">
                <a:solidFill>
                  <a:srgbClr val="4F7A66"/>
                </a:solidFill>
                <a:latin typeface="Deck-Semi-Bold"/>
                <a:ea typeface="Deck-Semi-Bold"/>
                <a:cs typeface="Deck-Semi-Bold"/>
              </a:defRPr>
            </a:pPr>
            <a:r>
              <a:rPr sz="5925">
                <a:solidFill>
                  <a:srgbClr val="4F7A66"/>
                </a:solidFill>
                <a:latin typeface="Deck-Semi-Bold"/>
                <a:ea typeface="Deck-Semi-Bold"/>
                <a:cs typeface="Deck-Semi-Bold"/>
              </a:rPr>
              <a:t>50%</a:t>
            </a:r>
          </a:p>
        </p:txBody>
      </p:sp>
      <p:sp>
        <p:nvSpPr>
          <p:cNvPr id="12" name="appendix-text-145">
            <a:extLst xmlns:a="http://schemas.openxmlformats.org/drawingml/2006/main">
              <a:ext uri="{FF2B5EF4-FFF2-40B4-BE49-F238E27FC236}">
                <a16:creationId xmlns:a16="http://schemas.microsoft.com/office/drawing/2014/main" id="{C69B3BA0-9F49-41D8-9011-20060B6E9912}"/>
              </a:ext>
            </a:extLst>
          </p:cNvPr>
          <p:cNvSpPr>
            <a:spLocks xmlns:a="http://schemas.openxmlformats.org/drawingml/2006/main" noGrp="1"/>
          </p:cNvSpPr>
          <p:nvPr/>
        </p:nvSpPr>
        <p:spPr>
          <a:xfrm xmlns:a="http://schemas.openxmlformats.org/drawingml/2006/main">
            <a:off x="12763500" y="55245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Weekly active in usage week 8</a:t>
            </a:r>
          </a:p>
        </p:txBody>
      </p:sp>
      <p:sp>
        <p:nvSpPr>
          <p:cNvPr id="13" name="appendix-text-146">
            <a:extLst xmlns:a="http://schemas.openxmlformats.org/drawingml/2006/main">
              <a:ext uri="{FF2B5EF4-FFF2-40B4-BE49-F238E27FC236}">
                <a16:creationId xmlns:a16="http://schemas.microsoft.com/office/drawing/2014/main" id="{81643977-1D28-42D7-A81A-749F44763F7A}"/>
              </a:ext>
            </a:extLst>
          </p:cNvPr>
          <p:cNvSpPr>
            <a:spLocks xmlns:a="http://schemas.openxmlformats.org/drawingml/2006/main" noGrp="1"/>
          </p:cNvSpPr>
          <p:nvPr/>
        </p:nvSpPr>
        <p:spPr>
          <a:xfrm xmlns:a="http://schemas.openxmlformats.org/drawingml/2006/main">
            <a:off x="12763500" y="59055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At least one confirmed care action</a:t>
            </a:r>
          </a:p>
        </p:txBody>
      </p:sp>
      <p:sp>
        <p:nvSpPr>
          <p:cNvPr id="14" name="appendix-text-147">
            <a:extLst xmlns:a="http://schemas.openxmlformats.org/drawingml/2006/main">
              <a:ext uri="{FF2B5EF4-FFF2-40B4-BE49-F238E27FC236}">
                <a16:creationId xmlns:a16="http://schemas.microsoft.com/office/drawing/2014/main" id="{9872EE87-1F9D-4F51-9D4B-444041B8BC24}"/>
              </a:ext>
            </a:extLst>
          </p:cNvPr>
          <p:cNvSpPr>
            <a:spLocks xmlns:a="http://schemas.openxmlformats.org/drawingml/2006/main" noGrp="1"/>
          </p:cNvSpPr>
          <p:nvPr/>
        </p:nvSpPr>
        <p:spPr>
          <a:xfrm xmlns:a="http://schemas.openxmlformats.org/drawingml/2006/main">
            <a:off x="10325100" y="6581775"/>
            <a:ext cx="695325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77717D"/>
                </a:solidFill>
                <a:latin typeface="Deck"/>
                <a:ea typeface="Deck"/>
                <a:cs typeface="Deck"/>
              </a:defRPr>
            </a:pPr>
            <a:r>
              <a:rPr sz="1650">
                <a:solidFill>
                  <a:srgbClr val="77717D"/>
                </a:solidFill>
                <a:latin typeface="Deck"/>
                <a:ea typeface="Deck"/>
                <a:cs typeface="Deck"/>
              </a:rPr>
              <a:t>Both measures use all enrolled circles as the denominator.</a:t>
            </a:r>
          </a:p>
        </p:txBody>
      </p:sp>
      <p:graphicFrame>
        <p:nvGraphicFramePr>
          <p:cNvPr id="33" name=""/>
          <p:cNvGraphicFramePr/>
          <p:nvPr/>
        </p:nvGraphicFramePr>
        <p:xfrm>
          <a:off xmlns:a="http://schemas.openxmlformats.org/drawingml/2006/main" x="1009650" y="7505700"/>
          <a:ext xmlns:a="http://schemas.openxmlformats.org/drawingml/2006/main" cx="16268700" cy="1466850"/>
        </p:xfrm>
        <a:graphic xmlns:a="http://schemas.openxmlformats.org/drawingml/2006/main">
          <a:graphicData uri="http://schemas.openxmlformats.org/drawingml/2006/table">
            <a:tbl>
              <a:tblPr firstRow="0" firstCol="0" lastCol="0" bandRow="0" bandCol="0"/>
              <a:tblGrid>
                <a:gridCol w="5429250"/>
                <a:gridCol w="5429250"/>
                <a:gridCol w="5410200"/>
              </a:tblGrid>
              <a:tr h="504825">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Tencent</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NTU</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CareBuddy</a:t>
                      </a:r>
                    </a:p>
                  </a:txBody>
                  <a:tcPr marL="0" marR="190500" marT="0" marB="0" anchor="t">
                    <a:lnL w="0">
                      <a:noFill/>
                    </a:lnL>
                    <a:lnR w="0">
                      <a:noFill/>
                    </a:lnR>
                    <a:lnT w="0">
                      <a:noFill/>
                    </a:lnT>
                    <a:lnB w="0">
                      <a:noFill/>
                    </a:lnB>
                    <a:lnTlToBr w="0">
                      <a:noFill/>
                    </a:lnTlToBr>
                    <a:lnBlToTr w="0">
                      <a:noFill/>
                    </a:lnBlToTr>
                    <a:noFill/>
                  </a:tcPr>
                </a:tc>
              </a:tr>
              <a:tr h="962025">
                <a:tc>
                  <a:txBody>
                    <a:bodyPr wrap="none" lIns="0" tIns="0" rIns="190500" bIns="0" anchor="t" anchorCtr="0">
                      <a:noAutofit/>
                    </a:bodyPr>
                    <a:lstStyle/>
                    <a:p>
                      <a:pPr algn="l">
                        <a:lnSpc>
                          <a:spcPct val="120000"/>
                        </a:lnSpc>
                      </a:pPr>
                      <a:r>
                        <a:rPr sz="2025">
                          <a:solidFill>
                            <a:srgbClr val="3A3745"/>
                          </a:solidFill>
                          <a:latin typeface="Deck"/>
                          <a:ea typeface="Deck"/>
                          <a:cs typeface="Deck"/>
                        </a:rPr>
                        <a:t>Architecture and model review</a:t>
                      </a:r>
                    </a:p>
                    <a:p>
                      <a:pPr algn="l">
                        <a:lnSpc>
                          <a:spcPct val="120000"/>
                        </a:lnSpc>
                      </a:pPr>
                      <a:r>
                        <a:rPr sz="2025">
                          <a:solidFill>
                            <a:srgbClr val="3A3745"/>
                          </a:solidFill>
                          <a:latin typeface="Deck"/>
                          <a:ea typeface="Deck"/>
                          <a:cs typeface="Deck"/>
                        </a:rPr>
                        <a:t>Defined pilot support request</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025">
                          <a:solidFill>
                            <a:srgbClr val="3A3745"/>
                          </a:solidFill>
                          <a:latin typeface="Deck"/>
                          <a:ea typeface="Deck"/>
                          <a:cs typeface="Deck"/>
                        </a:rPr>
                        <a:t>Co-design and feasibility study</a:t>
                      </a:r>
                    </a:p>
                    <a:p>
                      <a:pPr algn="l">
                        <a:lnSpc>
                          <a:spcPct val="120000"/>
                        </a:lnSpc>
                      </a:pPr>
                      <a:r>
                        <a:rPr sz="2025">
                          <a:solidFill>
                            <a:srgbClr val="3A3745"/>
                          </a:solidFill>
                          <a:latin typeface="Deck"/>
                          <a:ea typeface="Deck"/>
                          <a:cs typeface="Deck"/>
                        </a:rPr>
                        <a:t>Ethics/research oversight as needed</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025">
                          <a:solidFill>
                            <a:srgbClr val="3A3745"/>
                          </a:solidFill>
                          <a:latin typeface="Deck"/>
                          <a:ea typeface="Deck"/>
                          <a:cs typeface="Deck"/>
                        </a:rPr>
                        <a:t>Product, onboarding and support</a:t>
                      </a:r>
                    </a:p>
                    <a:p>
                      <a:pPr algn="l">
                        <a:lnSpc>
                          <a:spcPct val="120000"/>
                        </a:lnSpc>
                      </a:pPr>
                      <a:r>
                        <a:rPr sz="2025">
                          <a:solidFill>
                            <a:srgbClr val="3A3745"/>
                          </a:solidFill>
                          <a:latin typeface="Deck"/>
                          <a:ea typeface="Deck"/>
                          <a:cs typeface="Deck"/>
                        </a:rPr>
                        <a:t>Metering and incident response</a:t>
                      </a:r>
                    </a:p>
                  </a:txBody>
                  <a:tcPr marL="0" marR="190500" marT="0" marB="0" anchor="t">
                    <a:lnL w="0">
                      <a:noFill/>
                    </a:lnL>
                    <a:lnR w="0">
                      <a:noFill/>
                    </a:lnR>
                    <a:lnT w="0">
                      <a:noFill/>
                    </a:lnT>
                    <a:lnB w="0">
                      <a:noFill/>
                    </a:lnB>
                    <a:lnTlToBr w="0">
                      <a:noFill/>
                    </a:lnTlToBr>
                    <a:lnBlToTr w="0">
                      <a:noFill/>
                    </a:lnBlToTr>
                    <a:noFill/>
                  </a:tcPr>
                </a:tc>
              </a:tr>
            </a:tbl>
          </a:graphicData>
        </a:graphic>
      </p:graphicFrame>
      <p:sp>
        <p:nvSpPr>
          <p:cNvPr id="16" name="appendix-text-148">
            <a:extLst xmlns:a="http://schemas.openxmlformats.org/drawingml/2006/main">
              <a:ext uri="{FF2B5EF4-FFF2-40B4-BE49-F238E27FC236}">
                <a16:creationId xmlns:a16="http://schemas.microsoft.com/office/drawing/2014/main" id="{FF3485D9-7968-4D9A-8B3E-83324CB7DE3F}"/>
              </a:ext>
            </a:extLst>
          </p:cNvPr>
          <p:cNvSpPr>
            <a:spLocks xmlns:a="http://schemas.openxmlformats.org/drawingml/2006/main" noGrp="1"/>
          </p:cNvSpPr>
          <p:nvPr/>
        </p:nvSpPr>
        <p:spPr>
          <a:xfrm xmlns:a="http://schemas.openxmlformats.org/drawingml/2006/main">
            <a:off x="1009650" y="9220200"/>
            <a:ext cx="162687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4F7A66"/>
                </a:solidFill>
                <a:latin typeface="Deck-Medium"/>
                <a:ea typeface="Deck-Medium"/>
                <a:cs typeface="Deck-Medium"/>
              </a:defRPr>
            </a:pPr>
            <a:r>
              <a:rPr sz="2025">
                <a:solidFill>
                  <a:srgbClr val="4F7A66"/>
                </a:solidFill>
                <a:latin typeface="Deck-Medium"/>
                <a:ea typeface="Deck-Medium"/>
                <a:cs typeface="Deck-Medium"/>
              </a:rPr>
              <a:t>Continue if repeat use and delivery cost support a funded next cohort.</a:t>
            </a:r>
          </a:p>
        </p:txBody>
      </p:sp>
      <p:sp>
        <p:nvSpPr>
          <p:cNvPr id="17" name="appendix-text-149">
            <a:extLst xmlns:a="http://schemas.openxmlformats.org/drawingml/2006/main">
              <a:ext uri="{FF2B5EF4-FFF2-40B4-BE49-F238E27FC236}">
                <a16:creationId xmlns:a16="http://schemas.microsoft.com/office/drawing/2014/main" id="{24AB2B01-145D-4311-8EDC-173993C5F4D3}"/>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pilot; starts after production identity/access controls, partner agreement, participant consent and relevant study approvals.</a:t>
            </a:r>
          </a:p>
        </p:txBody>
      </p:sp>
      <p:sp>
        <p:nvSpPr>
          <p:cNvPr id="18" name="appendix-text-150">
            <a:extLst xmlns:a="http://schemas.openxmlformats.org/drawingml/2006/main">
              <a:ext uri="{FF2B5EF4-FFF2-40B4-BE49-F238E27FC236}">
                <a16:creationId xmlns:a16="http://schemas.microsoft.com/office/drawing/2014/main" id="{D234D20F-4F42-44CE-A023-07C726D70A8D}"/>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29</a:t>
            </a:r>
          </a:p>
        </p:txBody>
      </p:sp>
    </p:spTree>
    <p:extLst>
      <p:ext uri="{BB962C8B-B14F-4D97-AF65-F5344CB8AC3E}">
        <p14:creationId xmlns:p14="http://schemas.microsoft.com/office/powerpoint/2010/main" val="12627506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29</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2026-10-09T02:06:39.3590000Z</dcterms:created>
  <dcterms:modified xsi:type="dcterms:W3CDTF">2026-10-09T02:06:39.3600000Z</dcterms:modified>
</coreProperties>
</file>