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fntdata" ContentType="application/x-fontdata"/>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Default Extension="jpeg" ContentType="image/jpeg"/>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515cf89f90b24044" /><Relationship Type="http://schemas.openxmlformats.org/officeDocument/2006/relationships/extended-properties" Target="/docProps/app.xml" Id="Rd6d27accca0e4e16" /><Relationship Type="http://schemas.openxmlformats.org/officeDocument/2006/relationships/officeDocument" Target="/ppt/presentation.xml" Id="R4455e9a4a7fd4c7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b6bfeab45284ec1"/>
  </p:sldMasterIdLst>
  <p:notesMasterIdLst>
    <p:notesMasterId xmlns:r="http://schemas.openxmlformats.org/officeDocument/2006/relationships" r:id="R195ec37793504e08"/>
  </p:notesMasterIdLst>
  <p:sldIdLst>
    <p:sldId xmlns:r="http://schemas.openxmlformats.org/officeDocument/2006/relationships" id="256" r:id="R17e415b2dd4344fb"/>
    <p:sldId xmlns:r="http://schemas.openxmlformats.org/officeDocument/2006/relationships" id="257" r:id="Rbe237b08e9d8474a"/>
    <p:sldId xmlns:r="http://schemas.openxmlformats.org/officeDocument/2006/relationships" id="258" r:id="R6ed1a2c9298e4357"/>
    <p:sldId xmlns:r="http://schemas.openxmlformats.org/officeDocument/2006/relationships" id="259" r:id="R4551d78f8db843c2"/>
    <p:sldId xmlns:r="http://schemas.openxmlformats.org/officeDocument/2006/relationships" id="260" r:id="R86652ce140404e77"/>
    <p:sldId xmlns:r="http://schemas.openxmlformats.org/officeDocument/2006/relationships" id="261" r:id="R286744ecf6d44f48"/>
    <p:sldId xmlns:r="http://schemas.openxmlformats.org/officeDocument/2006/relationships" id="262" r:id="Rc63c6b483bbf4807"/>
    <p:sldId xmlns:r="http://schemas.openxmlformats.org/officeDocument/2006/relationships" id="263" r:id="R55f2cfaaa50e46c9"/>
    <p:sldId xmlns:r="http://schemas.openxmlformats.org/officeDocument/2006/relationships" id="264" r:id="R2aefbf89d3634ce8"/>
    <p:sldId xmlns:r="http://schemas.openxmlformats.org/officeDocument/2006/relationships" id="265" r:id="Ra0e95da3fe344afe"/>
    <p:sldId xmlns:r="http://schemas.openxmlformats.org/officeDocument/2006/relationships" id="266" r:id="Rb4366ce766df459d"/>
    <p:sldId xmlns:r="http://schemas.openxmlformats.org/officeDocument/2006/relationships" id="267" r:id="R7c060f691eb749d4"/>
    <p:sldId xmlns:r="http://schemas.openxmlformats.org/officeDocument/2006/relationships" id="268" r:id="Rcdeda54ff3c04772"/>
    <p:sldId xmlns:r="http://schemas.openxmlformats.org/officeDocument/2006/relationships" id="269" r:id="Rf4501771b1944427"/>
    <p:sldId xmlns:r="http://schemas.openxmlformats.org/officeDocument/2006/relationships" id="270" r:id="R498336910133439a"/>
    <p:sldId xmlns:r="http://schemas.openxmlformats.org/officeDocument/2006/relationships" id="271" r:id="R7bfd94e16a4844d8"/>
    <p:sldId xmlns:r="http://schemas.openxmlformats.org/officeDocument/2006/relationships" id="272" r:id="R956be7d998ae4639"/>
    <p:sldId xmlns:r="http://schemas.openxmlformats.org/officeDocument/2006/relationships" id="273" r:id="Re4e44611c550455a"/>
    <p:sldId xmlns:r="http://schemas.openxmlformats.org/officeDocument/2006/relationships" id="274" r:id="R329b595a4b4340ea"/>
    <p:sldId xmlns:r="http://schemas.openxmlformats.org/officeDocument/2006/relationships" id="275" r:id="R1afa323975cc4243"/>
    <p:sldId xmlns:r="http://schemas.openxmlformats.org/officeDocument/2006/relationships" id="276" r:id="Rfe0f117cf3984182"/>
    <p:sldId xmlns:ns0="http://schemas.openxmlformats.org/officeDocument/2006/relationships" id="277" ns0:id="rIdAppendix31"/>
    <p:sldId xmlns:ns1="http://schemas.openxmlformats.org/officeDocument/2006/relationships" id="278" ns1:id="rIdAppendix32"/>
    <p:sldId xmlns:ns2="http://schemas.openxmlformats.org/officeDocument/2006/relationships" id="279" ns2:id="rIdAppendix33"/>
    <p:sldId xmlns:ns3="http://schemas.openxmlformats.org/officeDocument/2006/relationships" id="280" ns3:id="rIdAppendix34"/>
    <p:sldId xmlns:ns4="http://schemas.openxmlformats.org/officeDocument/2006/relationships" id="281" ns4:id="rIdAppendix35"/>
    <p:sldId xmlns:ns5="http://schemas.openxmlformats.org/officeDocument/2006/relationships" id="282" ns5:id="rIdAppendix36"/>
    <p:sldId xmlns:ns6="http://schemas.openxmlformats.org/officeDocument/2006/relationships" id="283" ns6:id="rIdAppendix37"/>
    <p:sldId xmlns:ns7="http://schemas.openxmlformats.org/officeDocument/2006/relationships" id="284" ns7:id="rIdAppendix38"/>
    <p:sldId xmlns:ns0="http://schemas.openxmlformats.org/officeDocument/2006/relationships" id="285" ns0:id="rIdExtension30"/>
    <p:sldId xmlns:ns1="http://schemas.openxmlformats.org/officeDocument/2006/relationships" id="286" ns1:id="rIdExtension31"/>
    <p:sldId xmlns:ns2="http://schemas.openxmlformats.org/officeDocument/2006/relationships" id="287" ns2:id="rIdExtension32"/>
    <p:sldId xmlns:ns3="http://schemas.openxmlformats.org/officeDocument/2006/relationships" id="288" ns3:id="rIdExtension33"/>
    <p:sldId xmlns:ns4="http://schemas.openxmlformats.org/officeDocument/2006/relationships" id="289" ns4:id="rIdExtension34"/>
    <p:sldId xmlns:ns5="http://schemas.openxmlformats.org/officeDocument/2006/relationships" id="290" ns5:id="rIdExtension35"/>
    <p:sldId xmlns:ns6="http://schemas.openxmlformats.org/officeDocument/2006/relationships" id="291" ns6:id="rIdExtension36"/>
    <p:sldId xmlns:ns7="http://schemas.openxmlformats.org/officeDocument/2006/relationships" id="292" ns7:id="rIdExtension37"/>
    <p:sldId xmlns:ns8="http://schemas.openxmlformats.org/officeDocument/2006/relationships" id="293" ns8:id="rIdExtension38"/>
    <p:sldId xmlns:ns9="http://schemas.openxmlformats.org/officeDocument/2006/relationships" id="294" ns9:id="rIdExtension39"/>
    <p:sldId xmlns:ns10="http://schemas.openxmlformats.org/officeDocument/2006/relationships" id="295" ns10:id="rIdExtension40"/>
    <p:sldId xmlns:ns11="http://schemas.openxmlformats.org/officeDocument/2006/relationships" id="296" ns11:id="rIdExtension41"/>
    <p:sldId xmlns:ns12="http://schemas.openxmlformats.org/officeDocument/2006/relationships" id="297" ns12:id="rIdExtension42"/>
    <p:sldId xmlns:ns13="http://schemas.openxmlformats.org/officeDocument/2006/relationships" id="298" ns13:id="rIdExtension43"/>
    <p:sldId xmlns:ns14="http://schemas.openxmlformats.org/officeDocument/2006/relationships" id="299" ns14:id="rIdExtension44"/>
    <p:sldId xmlns:ns15="http://schemas.openxmlformats.org/officeDocument/2006/relationships" id="300" ns15:id="rIdExtension45"/>
  </p:sldIdLst>
  <p:sldSz cx="18288000" cy="10287000"/>
  <p:notesSz cx="6858000" cy="9144000"/>
  <p:embeddedFontLst>
    <p:embeddedFont>
      <p:font typeface="Deck-Semi-Bold" pitchFamily="34" charset="0"/>
      <p:regular xmlns:ns0="http://schemas.openxmlformats.org/officeDocument/2006/relationships" ns0:id="rIdEmbeddedFont1"/>
    </p:embeddedFont>
    <p:embeddedFont>
      <p:font typeface="Deck" pitchFamily="34" charset="0"/>
      <p:regular xmlns:ns1="http://schemas.openxmlformats.org/officeDocument/2006/relationships" ns1:id="rIdEmbeddedFont2"/>
    </p:embeddedFont>
    <p:embeddedFont>
      <p:font typeface="Deck-Medium" pitchFamily="34" charset="0"/>
      <p:regular xmlns:ns2="http://schemas.openxmlformats.org/officeDocument/2006/relationships" ns2:id="rIdEmbeddedFont3"/>
    </p:embeddedFont>
    <p:embeddedFont>
      <p:font typeface="Deck-Bold" pitchFamily="34" charset="0"/>
      <p:regular xmlns:ns3="http://schemas.openxmlformats.org/officeDocument/2006/relationships" ns3:id="rIdEmbeddedFont4"/>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e7f56dba73854e86"/><Relationship Type="http://schemas.openxmlformats.org/officeDocument/2006/relationships/slideMaster" Target="/ppt/slideMasters/slideMaster1.xml" Id="Rcb6bfeab45284ec1"/><Relationship Type="http://schemas.openxmlformats.org/officeDocument/2006/relationships/notesMaster" Target="/ppt/notesMasters/notesMaster1.xml" Id="R195ec37793504e08"/><Relationship Type="http://schemas.openxmlformats.org/officeDocument/2006/relationships/presProps" Target="/ppt/presProps.xml" Id="Rcc15855d5bae46bb"/><Relationship Type="http://schemas.openxmlformats.org/officeDocument/2006/relationships/tableStyles" Target="/ppt/tableStyles.xml" Id="R8bc5622e333b4c50"/><Relationship Type="http://schemas.openxmlformats.org/officeDocument/2006/relationships/slide" Target="/ppt/slides/slide1.xml" Id="R17e415b2dd4344fb"/><Relationship Type="http://schemas.openxmlformats.org/officeDocument/2006/relationships/slide" Target="/ppt/slides/slide2.xml" Id="Rbe237b08e9d8474a"/><Relationship Type="http://schemas.openxmlformats.org/officeDocument/2006/relationships/slide" Target="/ppt/slides/slide3.xml" Id="R6ed1a2c9298e4357"/><Relationship Type="http://schemas.openxmlformats.org/officeDocument/2006/relationships/slide" Target="/ppt/slides/slide4.xml" Id="R4551d78f8db843c2"/><Relationship Type="http://schemas.openxmlformats.org/officeDocument/2006/relationships/slide" Target="/ppt/slides/slide5.xml" Id="R86652ce140404e77"/><Relationship Type="http://schemas.openxmlformats.org/officeDocument/2006/relationships/slide" Target="/ppt/slides/slide6.xml" Id="R286744ecf6d44f48"/><Relationship Type="http://schemas.openxmlformats.org/officeDocument/2006/relationships/slide" Target="/ppt/slides/slide7.xml" Id="Rc63c6b483bbf4807"/><Relationship Type="http://schemas.openxmlformats.org/officeDocument/2006/relationships/slide" Target="/ppt/slides/slide8.xml" Id="R55f2cfaaa50e46c9"/><Relationship Type="http://schemas.openxmlformats.org/officeDocument/2006/relationships/slide" Target="/ppt/slides/slide9.xml" Id="R2aefbf89d3634ce8"/><Relationship Type="http://schemas.openxmlformats.org/officeDocument/2006/relationships/slide" Target="/ppt/slides/slide10.xml" Id="Ra0e95da3fe344afe"/><Relationship Type="http://schemas.openxmlformats.org/officeDocument/2006/relationships/slide" Target="/ppt/slides/slide11.xml" Id="Rb4366ce766df459d"/><Relationship Type="http://schemas.openxmlformats.org/officeDocument/2006/relationships/slide" Target="/ppt/slides/slide12.xml" Id="R7c060f691eb749d4"/><Relationship Type="http://schemas.openxmlformats.org/officeDocument/2006/relationships/slide" Target="/ppt/slides/slide13.xml" Id="Rcdeda54ff3c04772"/><Relationship Type="http://schemas.openxmlformats.org/officeDocument/2006/relationships/slide" Target="/ppt/slides/slide14.xml" Id="Rf4501771b1944427"/><Relationship Type="http://schemas.openxmlformats.org/officeDocument/2006/relationships/slide" Target="/ppt/slides/slide15.xml" Id="R498336910133439a"/><Relationship Type="http://schemas.openxmlformats.org/officeDocument/2006/relationships/slide" Target="/ppt/slides/slide16.xml" Id="R7bfd94e16a4844d8"/><Relationship Type="http://schemas.openxmlformats.org/officeDocument/2006/relationships/slide" Target="/ppt/slides/slide17.xml" Id="R956be7d998ae4639"/><Relationship Type="http://schemas.openxmlformats.org/officeDocument/2006/relationships/slide" Target="/ppt/slides/slide18.xml" Id="Re4e44611c550455a"/><Relationship Type="http://schemas.openxmlformats.org/officeDocument/2006/relationships/slide" Target="/ppt/slides/slide19.xml" Id="R329b595a4b4340ea"/><Relationship Type="http://schemas.openxmlformats.org/officeDocument/2006/relationships/slide" Target="/ppt/slides/slide20.xml" Id="R1afa323975cc4243"/><Relationship Type="http://schemas.openxmlformats.org/officeDocument/2006/relationships/slide" Target="/ppt/slides/slide21.xml" Id="Rfe0f117cf3984182"/><Relationship Id="rIdEmbeddedFont1" Type="http://schemas.openxmlformats.org/officeDocument/2006/relationships/font" Target="fonts/font1.fntdata"/><Relationship Id="rIdEmbeddedFont2" Type="http://schemas.openxmlformats.org/officeDocument/2006/relationships/font" Target="fonts/font2.fntdata"/><Relationship Id="rIdEmbeddedFont3" Type="http://schemas.openxmlformats.org/officeDocument/2006/relationships/font" Target="fonts/font3.fntdata"/><Relationship Id="rIdEmbeddedFont4" Type="http://schemas.openxmlformats.org/officeDocument/2006/relationships/font" Target="fonts/font4.fntdata"/><Relationship Id="rIdAppendix31" Type="http://schemas.openxmlformats.org/officeDocument/2006/relationships/slide" Target="slides/slide22.xml"/><Relationship Id="rIdAppendix32" Type="http://schemas.openxmlformats.org/officeDocument/2006/relationships/slide" Target="slides/slide23.xml"/><Relationship Id="rIdAppendix33" Type="http://schemas.openxmlformats.org/officeDocument/2006/relationships/slide" Target="slides/slide24.xml"/><Relationship Id="rIdAppendix34" Type="http://schemas.openxmlformats.org/officeDocument/2006/relationships/slide" Target="slides/slide25.xml"/><Relationship Id="rIdAppendix35" Type="http://schemas.openxmlformats.org/officeDocument/2006/relationships/slide" Target="slides/slide26.xml"/><Relationship Id="rIdAppendix36" Type="http://schemas.openxmlformats.org/officeDocument/2006/relationships/slide" Target="slides/slide27.xml"/><Relationship Id="rIdAppendix37" Type="http://schemas.openxmlformats.org/officeDocument/2006/relationships/slide" Target="slides/slide28.xml"/><Relationship Id="rIdAppendix38" Type="http://schemas.openxmlformats.org/officeDocument/2006/relationships/slide" Target="slides/slide29.xml"/><Relationship Id="rIdExtension30" Type="http://schemas.openxmlformats.org/officeDocument/2006/relationships/slide" Target="slides/slide30.xml"/><Relationship Id="rIdExtension31" Type="http://schemas.openxmlformats.org/officeDocument/2006/relationships/slide" Target="slides/slide31.xml"/><Relationship Id="rIdExtension32" Type="http://schemas.openxmlformats.org/officeDocument/2006/relationships/slide" Target="slides/slide32.xml"/><Relationship Id="rIdExtension33" Type="http://schemas.openxmlformats.org/officeDocument/2006/relationships/slide" Target="slides/slide33.xml"/><Relationship Id="rIdExtension34" Type="http://schemas.openxmlformats.org/officeDocument/2006/relationships/slide" Target="slides/slide34.xml"/><Relationship Id="rIdExtension35" Type="http://schemas.openxmlformats.org/officeDocument/2006/relationships/slide" Target="slides/slide35.xml"/><Relationship Id="rIdExtension36" Type="http://schemas.openxmlformats.org/officeDocument/2006/relationships/slide" Target="slides/slide36.xml"/><Relationship Id="rIdExtension37" Type="http://schemas.openxmlformats.org/officeDocument/2006/relationships/slide" Target="slides/slide37.xml"/><Relationship Id="rIdExtension38" Type="http://schemas.openxmlformats.org/officeDocument/2006/relationships/slide" Target="slides/slide38.xml"/><Relationship Id="rIdExtension39" Type="http://schemas.openxmlformats.org/officeDocument/2006/relationships/slide" Target="slides/slide39.xml"/><Relationship Id="rIdExtension40" Type="http://schemas.openxmlformats.org/officeDocument/2006/relationships/slide" Target="slides/slide40.xml"/><Relationship Id="rIdExtension41" Type="http://schemas.openxmlformats.org/officeDocument/2006/relationships/slide" Target="slides/slide41.xml"/><Relationship Id="rIdExtension42" Type="http://schemas.openxmlformats.org/officeDocument/2006/relationships/slide" Target="slides/slide42.xml"/><Relationship Id="rIdExtension43" Type="http://schemas.openxmlformats.org/officeDocument/2006/relationships/slide" Target="slides/slide43.xml"/><Relationship Id="rIdExtension44" Type="http://schemas.openxmlformats.org/officeDocument/2006/relationships/slide" Target="slides/slide44.xml"/><Relationship Id="rIdExtension45" Type="http://schemas.openxmlformats.org/officeDocument/2006/relationships/slide" Target="slides/slide45.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915c693a3a4e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373993d52744a4" /><Relationship Type="http://schemas.openxmlformats.org/officeDocument/2006/relationships/notesMaster" Target="/ppt/notesMasters/notesMaster1.xml" Id="R4d8842a952d04f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4d11e592de4ea3" /><Relationship Type="http://schemas.openxmlformats.org/officeDocument/2006/relationships/notesMaster" Target="/ppt/notesMasters/notesMaster1.xml" Id="R795fb54f7a894c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2905abe2354ad4" /><Relationship Type="http://schemas.openxmlformats.org/officeDocument/2006/relationships/notesMaster" Target="/ppt/notesMasters/notesMaster1.xml" Id="R742dfa5e24b54c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dfe4a92fa64a64" /><Relationship Type="http://schemas.openxmlformats.org/officeDocument/2006/relationships/notesMaster" Target="/ppt/notesMasters/notesMaster1.xml" Id="R6b5b738ce6b448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c556505c094666" /><Relationship Type="http://schemas.openxmlformats.org/officeDocument/2006/relationships/notesMaster" Target="/ppt/notesMasters/notesMaster1.xml" Id="R347d6b0f0c1644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01c707e1434df6" /><Relationship Type="http://schemas.openxmlformats.org/officeDocument/2006/relationships/notesMaster" Target="/ppt/notesMasters/notesMaster1.xml" Id="R25684102b277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ddb9dc984f24038" /><Relationship Type="http://schemas.openxmlformats.org/officeDocument/2006/relationships/notesMaster" Target="/ppt/notesMasters/notesMaster1.xml" Id="R2b6f0757a7f249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89eeaa820943e2" /><Relationship Type="http://schemas.openxmlformats.org/officeDocument/2006/relationships/notesMaster" Target="/ppt/notesMasters/notesMaster1.xml" Id="Ra89fcd3ceb1f42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4066fa8f8e41f7" /><Relationship Type="http://schemas.openxmlformats.org/officeDocument/2006/relationships/notesMaster" Target="/ppt/notesMasters/notesMaster1.xml" Id="Re21afd57e09748a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fe13f94a694b42" /><Relationship Type="http://schemas.openxmlformats.org/officeDocument/2006/relationships/notesMaster" Target="/ppt/notesMasters/notesMaster1.xml" Id="R79420a82b1dd43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8fa2b79ba5a453e" /><Relationship Type="http://schemas.openxmlformats.org/officeDocument/2006/relationships/notesMaster" Target="/ppt/notesMasters/notesMaster1.xml" Id="Rb851dcfded4646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65cfa6db844654" /><Relationship Type="http://schemas.openxmlformats.org/officeDocument/2006/relationships/notesMaster" Target="/ppt/notesMasters/notesMaster1.xml" Id="Rfcd2556a046745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dccc38fde143ff" /><Relationship Type="http://schemas.openxmlformats.org/officeDocument/2006/relationships/notesMaster" Target="/ppt/notesMasters/notesMaster1.xml" Id="R1962967598654e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0155930564166" /><Relationship Type="http://schemas.openxmlformats.org/officeDocument/2006/relationships/notesMaster" Target="/ppt/notesMasters/notesMaster1.xml" Id="R2cca62fd2d034dd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3697b89b4949d2" /><Relationship Type="http://schemas.openxmlformats.org/officeDocument/2006/relationships/notesMaster" Target="/ppt/notesMasters/notesMaster1.xml" Id="R50d48bf1d73541d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cd35779a6049d0" /><Relationship Type="http://schemas.openxmlformats.org/officeDocument/2006/relationships/notesMaster" Target="/ppt/notesMasters/notesMaster1.xml" Id="Rf6b9b476ce984c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7ef589ff6041a1" /><Relationship Type="http://schemas.openxmlformats.org/officeDocument/2006/relationships/notesMaster" Target="/ppt/notesMasters/notesMaster1.xml" Id="Rbff28dcbc2d542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898c9475fb54231" /><Relationship Type="http://schemas.openxmlformats.org/officeDocument/2006/relationships/notesMaster" Target="/ppt/notesMasters/notesMaster1.xml" Id="R66a51435b26f495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a6c7113767449ad" /><Relationship Type="http://schemas.openxmlformats.org/officeDocument/2006/relationships/notesMaster" Target="/ppt/notesMasters/notesMaster1.xml" Id="R0189b79f9ed842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90121da2a814fa7" /><Relationship Type="http://schemas.openxmlformats.org/officeDocument/2006/relationships/notesMaster" Target="/ppt/notesMasters/notesMaster1.xml" Id="R00e8183076af48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7c84fed93a64d5d" /><Relationship Type="http://schemas.openxmlformats.org/officeDocument/2006/relationships/notesMaster" Target="/ppt/notesMasters/notesMaster1.xml" Id="R1bffad3a90cd4d27" /></Relationships>
</file>

<file path=ppt/notesSlides/_rels/notesSlide22.xml.rels><?xml version='1.0' encoding='UTF-8' standalone='yes'?>
<Relationships xmlns="http://schemas.openxmlformats.org/package/2006/relationships"><Relationship Type="http://schemas.openxmlformats.org/officeDocument/2006/relationships/slide" Target="../slides/slide22.xml" Id="Rc26025bd8a6a4855"/><Relationship Type="http://schemas.openxmlformats.org/officeDocument/2006/relationships/notesMaster" Target="../notesMasters/notesMaster1.xml" Id="Reb8b39115d0e4bdc"/></Relationships>
</file>

<file path=ppt/notesSlides/_rels/notesSlide23.xml.rels><?xml version='1.0' encoding='UTF-8' standalone='yes'?>
<Relationships xmlns="http://schemas.openxmlformats.org/package/2006/relationships"><Relationship Type="http://schemas.openxmlformats.org/officeDocument/2006/relationships/slide" Target="../slides/slide23.xml" Id="R5d9cdb3776194110"/><Relationship Type="http://schemas.openxmlformats.org/officeDocument/2006/relationships/notesMaster" Target="../notesMasters/notesMaster1.xml" Id="R84f0551c2cc24271"/></Relationships>
</file>

<file path=ppt/notesSlides/_rels/notesSlide24.xml.rels><?xml version='1.0' encoding='UTF-8' standalone='yes'?>
<Relationships xmlns="http://schemas.openxmlformats.org/package/2006/relationships"><Relationship Type="http://schemas.openxmlformats.org/officeDocument/2006/relationships/slide" Target="../slides/slide24.xml" Id="Rd2fd81f0e68e4d50"/><Relationship Type="http://schemas.openxmlformats.org/officeDocument/2006/relationships/notesMaster" Target="../notesMasters/notesMaster1.xml" Id="Rbbec5c58d0484bbe"/></Relationships>
</file>

<file path=ppt/notesSlides/_rels/notesSlide25.xml.rels><?xml version='1.0' encoding='UTF-8' standalone='yes'?>
<Relationships xmlns="http://schemas.openxmlformats.org/package/2006/relationships"><Relationship Type="http://schemas.openxmlformats.org/officeDocument/2006/relationships/slide" Target="../slides/slide25.xml" Id="Re719604a0e8a413b"/><Relationship Type="http://schemas.openxmlformats.org/officeDocument/2006/relationships/notesMaster" Target="../notesMasters/notesMaster1.xml" Id="R5a3f76ffb4bd4aa9"/></Relationships>
</file>

<file path=ppt/notesSlides/_rels/notesSlide26.xml.rels><?xml version='1.0' encoding='UTF-8' standalone='yes'?>
<Relationships xmlns="http://schemas.openxmlformats.org/package/2006/relationships"><Relationship Type="http://schemas.openxmlformats.org/officeDocument/2006/relationships/slide" Target="../slides/slide26.xml" Id="Rb045fa4f50414da1"/><Relationship Type="http://schemas.openxmlformats.org/officeDocument/2006/relationships/notesMaster" Target="../notesMasters/notesMaster1.xml" Id="R8b37c1919c5547c6"/></Relationships>
</file>

<file path=ppt/notesSlides/_rels/notesSlide27.xml.rels><?xml version='1.0' encoding='UTF-8' standalone='yes'?>
<Relationships xmlns="http://schemas.openxmlformats.org/package/2006/relationships"><Relationship Type="http://schemas.openxmlformats.org/officeDocument/2006/relationships/slide" Target="../slides/slide27.xml" Id="R92a2c83a853e4f6c"/><Relationship Type="http://schemas.openxmlformats.org/officeDocument/2006/relationships/notesMaster" Target="../notesMasters/notesMaster1.xml" Id="Rb66405a62b674ec9"/></Relationships>
</file>

<file path=ppt/notesSlides/_rels/notesSlide28.xml.rels><?xml version='1.0' encoding='UTF-8' standalone='yes'?>
<Relationships xmlns="http://schemas.openxmlformats.org/package/2006/relationships"><Relationship Type="http://schemas.openxmlformats.org/officeDocument/2006/relationships/slide" Target="../slides/slide28.xml" Id="R979acdc7fd064848"/><Relationship Type="http://schemas.openxmlformats.org/officeDocument/2006/relationships/notesMaster" Target="../notesMasters/notesMaster1.xml" Id="R0f9d5054250b4fa3"/></Relationships>
</file>

<file path=ppt/notesSlides/_rels/notesSlide29.xml.rels><?xml version='1.0' encoding='UTF-8' standalone='yes'?>
<Relationships xmlns="http://schemas.openxmlformats.org/package/2006/relationships"><Relationship Type="http://schemas.openxmlformats.org/officeDocument/2006/relationships/slide" Target="../slides/slide29.xml" Id="R53ea581bdadf4e23"/><Relationship Type="http://schemas.openxmlformats.org/officeDocument/2006/relationships/notesMaster" Target="../notesMasters/notesMaster1.xml" Id="Rfec7f0a7c129466b"/></Relationships>
</file>

<file path=ppt/notesSlides/_rels/notesSlide30.xml.rels><?xml version='1.0' encoding='UTF-8' standalone='yes'?>
<Relationships xmlns="http://schemas.openxmlformats.org/package/2006/relationships"><Relationship Type="http://schemas.openxmlformats.org/officeDocument/2006/relationships/slide" Target="../slides/slide30.xml" Id="R358f32f6bdf440aa"/><Relationship Type="http://schemas.openxmlformats.org/officeDocument/2006/relationships/notesMaster" Target="../notesMasters/notesMaster1.xml" Id="R349e1fdbedb84d79"/></Relationships>
</file>

<file path=ppt/notesSlides/_rels/notesSlide31.xml.rels><?xml version='1.0' encoding='UTF-8' standalone='yes'?>
<Relationships xmlns="http://schemas.openxmlformats.org/package/2006/relationships"><Relationship Type="http://schemas.openxmlformats.org/officeDocument/2006/relationships/slide" Target="../slides/slide31.xml" Id="Rfebb5c2568784554"/><Relationship Type="http://schemas.openxmlformats.org/officeDocument/2006/relationships/notesMaster" Target="../notesMasters/notesMaster1.xml" Id="R81578224d70e477a"/></Relationships>
</file>

<file path=ppt/notesSlides/_rels/notesSlide32.xml.rels><?xml version='1.0' encoding='UTF-8' standalone='yes'?>
<Relationships xmlns="http://schemas.openxmlformats.org/package/2006/relationships"><Relationship Type="http://schemas.openxmlformats.org/officeDocument/2006/relationships/slide" Target="../slides/slide32.xml" Id="R27ce386cd148439f"/><Relationship Type="http://schemas.openxmlformats.org/officeDocument/2006/relationships/notesMaster" Target="../notesMasters/notesMaster1.xml" Id="Rd66d32f49397489f"/></Relationships>
</file>

<file path=ppt/notesSlides/_rels/notesSlide33.xml.rels><?xml version='1.0' encoding='UTF-8' standalone='yes'?>
<Relationships xmlns="http://schemas.openxmlformats.org/package/2006/relationships"><Relationship Type="http://schemas.openxmlformats.org/officeDocument/2006/relationships/slide" Target="../slides/slide33.xml" Id="R6603ceb0427743ce"/><Relationship Type="http://schemas.openxmlformats.org/officeDocument/2006/relationships/notesMaster" Target="../notesMasters/notesMaster1.xml" Id="Rc412e4b45c3244ef"/></Relationships>
</file>

<file path=ppt/notesSlides/_rels/notesSlide34.xml.rels><?xml version='1.0' encoding='UTF-8' standalone='yes'?>
<Relationships xmlns="http://schemas.openxmlformats.org/package/2006/relationships"><Relationship Type="http://schemas.openxmlformats.org/officeDocument/2006/relationships/slide" Target="../slides/slide34.xml" Id="Ra64f86ad4d024c1c"/><Relationship Type="http://schemas.openxmlformats.org/officeDocument/2006/relationships/notesMaster" Target="../notesMasters/notesMaster1.xml" Id="R7be8a24ce61f44f8"/></Relationships>
</file>

<file path=ppt/notesSlides/_rels/notesSlide35.xml.rels><?xml version='1.0' encoding='UTF-8' standalone='yes'?>
<Relationships xmlns="http://schemas.openxmlformats.org/package/2006/relationships"><Relationship Type="http://schemas.openxmlformats.org/officeDocument/2006/relationships/slide" Target="../slides/slide35.xml" Id="R0d29dbb736284212"/><Relationship Type="http://schemas.openxmlformats.org/officeDocument/2006/relationships/notesMaster" Target="../notesMasters/notesMaster1.xml" Id="R7cadec496f2849cf"/></Relationships>
</file>

<file path=ppt/notesSlides/_rels/notesSlide36.xml.rels><?xml version='1.0' encoding='UTF-8' standalone='yes'?>
<Relationships xmlns="http://schemas.openxmlformats.org/package/2006/relationships"><Relationship Type="http://schemas.openxmlformats.org/officeDocument/2006/relationships/slide" Target="../slides/slide36.xml" Id="R3dbae3fb4ee84ca1"/><Relationship Type="http://schemas.openxmlformats.org/officeDocument/2006/relationships/notesMaster" Target="../notesMasters/notesMaster1.xml" Id="Re938a6165a5b40ff"/></Relationships>
</file>

<file path=ppt/notesSlides/_rels/notesSlide37.xml.rels><?xml version='1.0' encoding='UTF-8' standalone='yes'?>
<Relationships xmlns="http://schemas.openxmlformats.org/package/2006/relationships"><Relationship Type="http://schemas.openxmlformats.org/officeDocument/2006/relationships/slide" Target="../slides/slide37.xml" Id="Rda47506628f942a6"/><Relationship Type="http://schemas.openxmlformats.org/officeDocument/2006/relationships/notesMaster" Target="../notesMasters/notesMaster1.xml" Id="R9123f97259f24f26"/></Relationships>
</file>

<file path=ppt/notesSlides/_rels/notesSlide38.xml.rels><?xml version='1.0' encoding='UTF-8' standalone='yes'?>
<Relationships xmlns="http://schemas.openxmlformats.org/package/2006/relationships"><Relationship Type="http://schemas.openxmlformats.org/officeDocument/2006/relationships/slide" Target="../slides/slide38.xml" Id="Rb4cdb6aea9114312"/><Relationship Type="http://schemas.openxmlformats.org/officeDocument/2006/relationships/notesMaster" Target="../notesMasters/notesMaster1.xml" Id="R36b9730e09c7459d"/></Relationships>
</file>

<file path=ppt/notesSlides/_rels/notesSlide39.xml.rels><?xml version='1.0' encoding='UTF-8' standalone='yes'?>
<Relationships xmlns="http://schemas.openxmlformats.org/package/2006/relationships"><Relationship Type="http://schemas.openxmlformats.org/officeDocument/2006/relationships/slide" Target="../slides/slide39.xml" Id="R5d288a9d3b5b4d79"/><Relationship Type="http://schemas.openxmlformats.org/officeDocument/2006/relationships/notesMaster" Target="../notesMasters/notesMaster1.xml" Id="R068a6778c2b34c97"/></Relationships>
</file>

<file path=ppt/notesSlides/_rels/notesSlide40.xml.rels><?xml version='1.0' encoding='UTF-8' standalone='yes'?>
<Relationships xmlns="http://schemas.openxmlformats.org/package/2006/relationships"><Relationship Type="http://schemas.openxmlformats.org/officeDocument/2006/relationships/slide" Target="../slides/slide40.xml" Id="R0749dad431784f76"/><Relationship Type="http://schemas.openxmlformats.org/officeDocument/2006/relationships/notesMaster" Target="../notesMasters/notesMaster1.xml" Id="R326ea1e0689d4270"/></Relationships>
</file>

<file path=ppt/notesSlides/_rels/notesSlide41.xml.rels><?xml version='1.0' encoding='UTF-8' standalone='yes'?>
<Relationships xmlns="http://schemas.openxmlformats.org/package/2006/relationships"><Relationship Type="http://schemas.openxmlformats.org/officeDocument/2006/relationships/slide" Target="../slides/slide41.xml" Id="R497c6703733a4e16"/><Relationship Type="http://schemas.openxmlformats.org/officeDocument/2006/relationships/notesMaster" Target="../notesMasters/notesMaster1.xml" Id="Rc20489d6fe4840ca"/></Relationships>
</file>

<file path=ppt/notesSlides/_rels/notesSlide42.xml.rels><?xml version='1.0' encoding='UTF-8' standalone='yes'?>
<Relationships xmlns="http://schemas.openxmlformats.org/package/2006/relationships"><Relationship Type="http://schemas.openxmlformats.org/officeDocument/2006/relationships/slide" Target="../slides/slide42.xml" Id="R11d41c305a2c4776"/><Relationship Type="http://schemas.openxmlformats.org/officeDocument/2006/relationships/notesMaster" Target="../notesMasters/notesMaster1.xml" Id="Rd13c89a84089495d"/></Relationships>
</file>

<file path=ppt/notesSlides/_rels/notesSlide43.xml.rels><?xml version='1.0' encoding='UTF-8' standalone='yes'?>
<Relationships xmlns="http://schemas.openxmlformats.org/package/2006/relationships"><Relationship Type="http://schemas.openxmlformats.org/officeDocument/2006/relationships/slide" Target="../slides/slide43.xml" Id="R92c9845f0ac14680"/><Relationship Type="http://schemas.openxmlformats.org/officeDocument/2006/relationships/notesMaster" Target="../notesMasters/notesMaster1.xml" Id="R00a2ddd3fe2c4171"/></Relationships>
</file>

<file path=ppt/notesSlides/_rels/notesSlide44.xml.rels><?xml version='1.0' encoding='UTF-8' standalone='yes'?>
<Relationships xmlns="http://schemas.openxmlformats.org/package/2006/relationships"><Relationship Type="http://schemas.openxmlformats.org/officeDocument/2006/relationships/slide" Target="../slides/slide44.xml" Id="R6039e29fb9554e2f"/><Relationship Type="http://schemas.openxmlformats.org/officeDocument/2006/relationships/notesMaster" Target="../notesMasters/notesMaster1.xml" Id="R785953267d6b4031"/></Relationships>
</file>

<file path=ppt/notesSlides/_rels/notesSlide45.xml.rels><?xml version='1.0' encoding='UTF-8' standalone='yes'?>
<Relationships xmlns="http://schemas.openxmlformats.org/package/2006/relationships"><Relationship Type="http://schemas.openxmlformats.org/officeDocument/2006/relationships/slide" Target="../slides/slide45.xml" Id="R73a8f26c221a4633"/><Relationship Type="http://schemas.openxmlformats.org/officeDocument/2006/relationships/notesMaster" Target="../notesMasters/notesMaster1.xml" Id="R5ae2b4583eac46d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13</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16</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19</a:t>
            </a:r>
          </a:p>
          <a:p xmlns:a="http://schemas.openxmlformats.org/drawingml/2006/main">
            <a:r>
              <a:t>https://carebuddy.life/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20</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CareBuddy-Launch.pdf, page 21</a:t>
            </a:r>
          </a:p>
          <a:p xmlns:a="http://schemas.openxmlformats.org/drawingml/2006/main">
            <a:r>
              <a:t>https://carebuddy.life/</a:t>
            </a:r>
          </a:p>
          <a:p xmlns:a="http://schemas.openxmlformats.org/drawingml/2006/main">
            <a:r>
              <a:t>https://carebuddy.life/today</a:t>
            </a:r>
          </a:p>
          <a:p xmlns:a="http://schemas.openxmlformats.org/drawingml/2006/main">
            <a:r>
              <a:t>https://intl.cloud.tencent.com/document/product/1300/78933?lang=en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ARCHITECTURE, not a claim about current deployment.</a:t>
            </a:r>
          </a:p>
          <a:p xmlns:a="http://schemas.openxmlformats.org/drawingml/2006/main">
            <a:r>
              <a:t>Stateless Express APIs run on separate CVM instances across Singapore Zone 1 and Zone 2; a regional CLB removes unhealthy replicas. Select a managed SQL configuration with primary/standby across zones and validate service/zone availability with Tencent. Durable outbox, idempotent workers, bounded retries, encrypted backups, health probes and an on-call runbook are proposed controls. Database connections must handle failover.</a:t>
            </a:r>
          </a:p>
          <a:p xmlns:a="http://schemas.openxmlformats.org/drawingml/2006/main">
            <a:r>
              <a:t>AI failures must not block manual routines, appointments or records. Only selected, authorised circle context may be sent to TokenHub; model provider processing locations/terms require review. The AI request is illustrated from one replica; both replicas use the same bounded adapter.</a:t>
            </a:r>
          </a:p>
          <a:p xmlns:a="http://schemas.openxmlformats.org/drawingml/2006/main">
            <a:r>
              <a:t>99.9% is a proposed monthly end-to-end SLO for core care flows, excluding external AI inference. It allows about 43.2 minutes of unavailability in a 30-day month. RTO ≤30 minutes and RPO ≤15 minutes are proposed backup/restore drill targets, not measured guarantees. Same-region availability does not cover a region-wide outage; separate DR design is needed.</a:t>
            </a:r>
          </a:p>
          <a:p xmlns:a="http://schemas.openxmlformats.org/drawingml/2006/main">
            <a:r>
              <a:t>Source: Tencent Cloud, Regions and Zones, last updated 18 September 2026. Supports cross-zone VPC isolation and regional CLB routing. https://www.tencentcloud.com/document/product/213/6091</a:t>
            </a:r>
          </a:p>
          <a:p xmlns:a="http://schemas.openxmlformats.org/drawingml/2006/main">
            <a:r>
              <a:t>Current prototype context: local docs/tokenhub.md (7 October 2026); account authentication and server CRUD migration remain separate.</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MULTI-TENANT MODEL.</a:t>
            </a:r>
          </a:p>
          <a:p xmlns:a="http://schemas.openxmlformats.org/drawingml/2006/main">
            <a:r>
              <a:t>A tenant is an organisation-sponsored account or a direct family account. Care circles have separate membership and consent grants within the tenant. A person can belong to multiple tenants, but the active tenant and circle must be explicitly authorised by the server. Organisation membership alone does not grant access to personal health records. Sponsor reporting should use agreed aggregate metrics unless a person explicitly grants specific access.</a:t>
            </a:r>
          </a:p>
          <a:p xmlns:a="http://schemas.openxmlformats.org/drawingml/2006/main">
            <a:r>
              <a:t>Every database operation must include verified tenant_id and care_circle_id scope. Use composite identifiers/constraints, tenant-scoped storage paths, scoped queue payloads and scoped AI retrieval. Reject missing or mismatched scope. Use database-enforced isolation where supported by the selected engine; do not assume MySQL provides native row-level security. A dedicated database is an optional enterprise tier.</a:t>
            </a:r>
          </a:p>
          <a:p xmlns:a="http://schemas.openxmlformats.org/drawingml/2006/main">
            <a:r>
              <a:t>Negative tests must attempt access using another tenant's identifiers, revoked circle roles, stale invitations and background jobs with mismatched scope. Tenant quotas and metering prevent one organisation from exhausting shared capacity.</a:t>
            </a:r>
          </a:p>
          <a:p xmlns:a="http://schemas.openxmlformats.org/drawingml/2006/main">
            <a:r>
              <a:t>Source context: CareBuddy-Launch.pdf, pages 6–14 and 20; local docs/tokenhub.md, dated 7 October 2026, describes selected-profile AI context and confirmation requirements but says authentication and server CRUD migration are separate. This slide proposes the production design, not implemented isolation.</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SINGAPORE-FIRST BOTTOM-UP MARKET MODEL.</a:t>
            </a:r>
          </a:p>
          <a:p xmlns:a="http://schemas.openxmlformats.org/drawingml/2006/main">
            <a:r>
              <a:t>Observed input: 1.49 million Singapore resident households in 2025, as reported in Population Trends 2026 (published 25 September 2026). No claim is made that every household needs or will pay for CareBuddy.</a:t>
            </a:r>
          </a:p>
          <a:p xmlns:a="http://schemas.openxmlformats.org/drawingml/2006/main">
            <a:r>
              <a:t>Assumptions: one revenue-bearing care circle per household and S$10 per month (S$120 annually). A sponsor may pay on behalf of the family. TAM = 1,490,000 × 120 = S$178,800,000 annually, a theoretical upper bound for Singapore.</a:t>
            </a:r>
          </a:p>
          <a:p xmlns:a="http://schemas.openxmlformats.org/drawingml/2006/main">
            <a:r>
              <a:t>SAM eligibility is an explicit, unvalidated scenario assumption of 30% of households with a coordination need and ability to use the service. It is NOT an observed count of households with elderly members. SAM = 1,490,000 × 0.30 = 447,000 circles; annual potential = S$53,640,000 (rounded on slide to S$53.6m). Validate this eligibility share with research before using it as a forecast.</a:t>
            </a:r>
          </a:p>
          <a:p xmlns:a="http://schemas.openxmlformats.org/drawingml/2006/main">
            <a:r>
              <a:t>SOM is a year-3 distribution scenario: 5 partners × 5,000 unique eligible households each × 20% funded/paid conversion = 5,000 funded circles. De-duplicate households across partners. 5,000 × S$120 = S$600,000 annual recurring revenue at year-3 steady state, about 1.12% of SAM. Partner counts, reach, conversion and price are unvalidated, not current traction. Regional markets are excluded.</a:t>
            </a:r>
          </a:p>
          <a:p xmlns:a="http://schemas.openxmlformats.org/drawingml/2006/main">
            <a:r>
              <a:t>Sensitivity: at S$5/month all revenue values halve; at S$15/month they increase by 50%. At 20%/40% SAM eligibility, SAM becomes 298,000/596,000 circles, or S$35.76m/S$71.52m at the base price.</a:t>
            </a:r>
          </a:p>
          <a:p xmlns:a="http://schemas.openxmlformats.org/drawingml/2006/main">
            <a:r>
              <a:t>Source: Singapore Department of Statistics, Population Trends 2026, Households and Housing. https://www.singstat.gov.sg/publication-resources/population-trends-2026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SWOT is an assessment, not a statistical ranking or established competitive analysis.</a:t>
            </a:r>
          </a:p>
          <a:p xmlns:a="http://schemas.openxmlformats.org/drawingml/2006/main">
            <a:r>
              <a:t>Strengths are grounded in CareBuddy-Launch.pdf and local docs/tokenhub.md, dated 7 October 2026, which records a real TokenHub completion and confirmable domain-validated proposals. Weaknesses reflect the documented absence of production authentication/server CRUD and the original deck's limited wearable/clinical integration scope. No commercial retention, willingness-to-pay or clinical outcome data was supplied.</a:t>
            </a:r>
          </a:p>
          <a:p xmlns:a="http://schemas.openxmlformats.org/drawingml/2006/main">
            <a:r>
              <a:t>Opportunities are hypotheses for caregiver-led care coordination, community/clinical pilots and potential Tencent/NTU collaboration. Singapore resident population ageing is supported by SingStat: 19.5% aged 65+ in 2026, from 12.4% in 2016. https://www.singstat.gov.sg/publication-resources/population-trends-2026</a:t>
            </a:r>
          </a:p>
          <a:p xmlns:a="http://schemas.openxmlformats.org/drawingml/2006/main">
            <a:r>
              <a:t>Threats are plausible adoption and execution risks: existing care/reminder alternatives, repeat-use difficulty, trust failures and external AI/provider economics. They do not assert competitor market shares.</a:t>
            </a:r>
          </a:p>
          <a:p xmlns:a="http://schemas.openxmlformats.org/drawingml/2006/main">
            <a:r>
              <a:t>Priority: establish production identity/tenant controls, then test repeat use, support costs and paid sponsor demand before deeper clinical integration or regional expansion.</a:t>
            </a:r>
          </a:p>
          <ns0:p xmlns:ns0="http://schemas.openxmlformats.org/drawingml/2006/main">
            <ns0:r>
              <ns0:t>UPDATE, 9 October 2026: the supplied submission architecture and Project-Description.txt supersede earlier implementation-status notes. The prototype now uses server-owned SQLite care state, saved transaction receipts, scoped private MCP for Buddy, revocable public MCP exports for Codex/Claude notifications, and a WhiteCoat redirect. Verified human identity, consent-verified sharing, production tenant isolation, real device feeds and managed high-availability storage remain production work. The new personal anecdotes are separately attributed accounts supplied by the user, and do not establish clinical outcomes.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GO-TO-MARKET PLAN, with time measured from a production-ready pilot start rather than a committed calendar launch.</a:t>
            </a:r>
          </a:p>
          <a:p xmlns:a="http://schemas.openxmlformats.org/drawingml/2006/main">
            <a:r>
              <a:t>Initial user: an adult caregiver coordinating a family member's routines and appointments. Initial value proposition: fewer coordination gaps and a clearer daily task view; do not claim diagnosis, clinical triage or proven health outcomes. Recruit an initial cohort through an agreed community or clinical partner; no such partner commitment is claimed.</a:t>
            </a:r>
          </a:p>
          <a:p xmlns:a="http://schemas.openxmlformats.org/drawingml/2006/main">
            <a:r>
              <a:t>Activation definition: a circle creates a first routine and invites another authorised member within 7 days. The proposed activation target is ≥80% of enrolled circles. Weekly active at week 8 means at least one confirmed routine/care action during that week; denominator is all enrolled circles, with a proposed target of ≥50%. Targets are unvalidated. Capture qualitative caregiver feedback and onboarding barriers.</a:t>
            </a:r>
          </a:p>
          <a:p xmlns:a="http://schemas.openxmlformats.org/drawingml/2006/main">
            <a:r>
              <a:t>Business-model hypothesis: a sponsor pays S$120/circle/year, including family access. Validate price, support effort, AI unit costs and sponsor procurement cycle before a paid extension. A signed paid cohort, positive contribution after direct costs and sustained repeat use are gates to expansion.</a:t>
            </a:r>
          </a:p>
          <a:p xmlns:a="http://schemas.openxmlformats.org/drawingml/2006/main">
            <a:r>
              <a:t>In months 7–12, aim for 2–3 paying partners and repeatable onboarding. The market slide's five-partner SOM is a later year-3 scenario. Regional discovery starts after Singapore evidence; no regional revenue is included in this deck.</a:t>
            </a:r>
          </a:p>
          <a:p xmlns:a="http://schemas.openxmlformats.org/drawingml/2006/main">
            <a:r>
              <a:t>Source context: CareBuddy-Launch.pdf, especially pages 12–14 and 18–20. The channel priorities and commercial targets on this slide are strategic proposals, not external factual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TENCENT COLLABORATION, not an existing or committed partnership.</a:t>
            </a:r>
          </a:p>
          <a:p xmlns:a="http://schemas.openxmlformats.org/drawingml/2006/main">
            <a:r>
              <a:t>The first opportunity is a Tencent Cloud architecture workshop covering a Singapore deployment, multi-zone failover, data boundaries and AI model processing. Request pilot credits/support only against an agreed budget; this deck does not assume credits have been awarded or guaranteed.</a:t>
            </a:r>
          </a:p>
          <a:p xmlns:a="http://schemas.openxmlformats.org/drawingml/2006/main">
            <a:r>
              <a:t>The second is an evaluation of TokenHub models on caregiver coordination tasks and supported languages, with latency, per-circle cost and confirmation/error behaviour measured. Existing local docs/tokenhub.md, dated 7 October 2026, report a real completion via TokenHub; this does not establish a commercial partnership.</a:t>
            </a:r>
          </a:p>
          <a:p xmlns:a="http://schemas.openxmlformats.org/drawingml/2006/main">
            <a:r>
              <a:t>The third is to explore the Development Partner route and introductions to channels relevant to Singapore caregivers. Tencent's published partner programme lists Development Partners for software/SaaS built on Tencent Cloud. Eligibility and any joint marketing or distribution must be agreed. Regional/WeChat distribution could be assessed later after Singapore evidence; no access to Tencent users or guaranteed reach is claimed.</a:t>
            </a:r>
          </a:p>
          <a:p xmlns:a="http://schemas.openxmlformats.org/drawingml/2006/main">
            <a:r>
              <a:t>Potential reciprocal value: a consented reference workload demonstrating care-coordination demand for cloud and AI services. Any case study would require organisational agreement and participant consent; do not publish identifiable care information.</a:t>
            </a:r>
          </a:p>
          <a:p xmlns:a="http://schemas.openxmlformats.org/drawingml/2006/main">
            <a:r>
              <a:t>Sources: Tencent Cloud Partner Ecosystem Program. https://www.tencentcloud.com/partners</a:t>
            </a:r>
          </a:p>
          <a:p xmlns:a="http://schemas.openxmlformats.org/drawingml/2006/main">
            <a:r>
              <a:t>Tencent Cloud Regions and Zones. https://www.tencentcloud.com/document/product/213/6091</a:t>
            </a:r>
          </a:p>
          <a:p xmlns:a="http://schemas.openxmlformats.org/drawingml/2006/main">
            <a:r>
              <a:t>CareBuddy local docs/tokenhub.md (7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NTU COLLABORATION. NTU means Nanyang Technological University, confirmed by the user. No NTU participation, research approval, patient recruitment access or funding is claimed.</a:t>
            </a:r>
          </a:p>
          <a:p xmlns:a="http://schemas.openxmlformats.org/drawingml/2006/main">
            <a:r>
              <a:t>ARISE (Ageing Research Institute for Society and Education) describes gerontechnology and health coaching among its focus areas. This makes caregiver/older-adult co-design and behavioural usability work a plausible opportunity; the specific CareBuddy project is a proposal. https://www.ntu.edu.sg/arise/home</a:t>
            </a:r>
          </a:p>
          <a:p xmlns:a="http://schemas.openxmlformats.org/drawingml/2006/main">
            <a:r>
              <a:t>LKCMedicine's Primary Care &amp; Family Medicine programme describes co-developing interventions and research with GPs/community and its SPARK primary-care research network. Seek content/evaluation input and a feasibility protocol; do not imply clinical efficacy or guaranteed clinic access. https://www.ntu.edu.sg/pcfm</a:t>
            </a:r>
          </a:p>
          <a:p xmlns:a="http://schemas.openxmlformats.org/drawingml/2006/main">
            <a:r>
              <a:t>NTU Innovation and Entrepreneurship's Startup Pathway lists NTUitive venture-building guidance and support for field work on problem/market/business-model fit. Commercial advice, eligibility, partner introductions and IP ownership/publication rights require agreement. No grant eligibility or award is assumed. https://www.ntu.edu.sg/innovates/startup-pathway</a:t>
            </a:r>
          </a:p>
          <a:p xmlns:a="http://schemas.openxmlformats.org/drawingml/2006/main">
            <a:r>
              <a:t>An evaluation involving research participants requires an agreed protocol, appropriate institutional ethics review where applicable, and informed consent before recruitment. The initial aim is feasibility/usability and caregiver task coordination. Clinical outcome claims would require a separate, adequately designed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JOINT PILOT, contingent on Tencent/NTU agreement. 100 care circles are an illustrative initial cohort size, not a recruited cohort or a statistical power calculation. The 12-week participant programme starts only after production identity, consent/access controls, tenant storage and an agreed evaluation protocol are ready. Institutional ethics approval is required where the project is research and applicable; this schedule does not include approval lead time.</a:t>
            </a:r>
          </a:p>
          <a:p xmlns:a="http://schemas.openxmlformats.org/drawingml/2006/main">
            <a:r>
              <a:t>Weeks 1–2: caregiver/older-adult co-design feedback, consent and supported onboarding. Weeks 3–10: eight weeks of ordinary coordination use and weekly qualitative feedback. Weeks 11–12: evaluate engagement, usability, support effort, AI/hosting costs and sponsor willingness to fund a next cohort.</a:t>
            </a:r>
          </a:p>
          <a:p xmlns:a="http://schemas.openxmlformats.org/drawingml/2006/main">
            <a:r>
              <a:t>Activation target: at least 80 of 100 enrolled circles create a first routine and invite another authorised member within 7 days. Week-8 activity target: at least 50 of 100 enrolled circles perform one confirmed care action during the eighth usage week (calendar weeks 3–10 are the eight usage weeks). Measure active use at circle level, de-duplicate members and do not treat self-reported actions as verified medication adherence.</a:t>
            </a:r>
          </a:p>
          <a:p xmlns:a="http://schemas.openxmlformats.org/drawingml/2006/main">
            <a:r>
              <a:t>Proposed roles: Tencent supplies architecture/model evaluation advice and considers a defined support request; NTU collaborates on co-design and feasibility/evaluation oversight; CareBuddy builds and operates the product, handles participant support and tracks costs/incidents. The study protocol must define roles, data access, ownership, publication rights and withdrawal procedures.</a:t>
            </a:r>
          </a:p>
          <a:p xmlns:a="http://schemas.openxmlformats.org/drawingml/2006/main">
            <a:r>
              <a:t>Decision gate: sufficient sustained use, manageable direct delivery costs and a credible funded next cohort. No clinical-effectiveness claim is proposed for this feasibility pilot.</a:t>
            </a:r>
          </a:p>
          <a:p xmlns:a="http://schemas.openxmlformats.org/drawingml/2006/main">
            <a:r>
              <a:t>Institutional fit sources: https://www.ntu.edu.sg/arise/home ; https://www.ntu.edu.sg/pcfm ; https://www.tencentcloud.com/partners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Mick Chew</a:t>
            </a:r>
          </a:p>
          <a:p xmlns:a="http://schemas.openxmlformats.org/drawingml/2006/main">
            <a:r>
              <a:t>As a thyroid cancer survivor, I have to take medicines everyday and have regular specialist reviews with my doctor. The app helps me to keep track all these so I don't have to. It works great!</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Ken Sim</a:t>
            </a:r>
          </a:p>
          <a:p xmlns:a="http://schemas.openxmlformats.org/drawingml/2006/main">
            <a:r>
              <a:t>I suffered from a leg muscle injury a couple of years back and I have to do regular exercises. The app is easy to use and lets me customise the right cycles and reminders. The integration into Claude is great, it prompts me directly in Claude to remind me to do my exercises</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Pilot-user anecdote supplied by the user on 9 October 2026. The user requested that the anecdote be used as supplied.</a:t>
            </a:r>
          </a:p>
          <a:p xmlns:a="http://schemas.openxmlformats.org/drawingml/2006/main">
            <a:r>
              <a:t/>
            </a:r>
          </a:p>
          <a:p xmlns:a="http://schemas.openxmlformats.org/drawingml/2006/main">
            <a:r>
              <a:t>Seb Tan</a:t>
            </a:r>
          </a:p>
          <a:p xmlns:a="http://schemas.openxmlformats.org/drawingml/2006/main">
            <a:r>
              <a:t>My dad has a heart condition. I paired my CareBuddy with his Fitbit to keep track of his health metrics. It works great and it pings me every time there is an anomaly in his metrics. My dad is amazed and was wondering how I can know in real time his status without being next to him. It feels great to know that I got my dad covered despite my busy work schedule</a:t>
            </a:r>
          </a:p>
          <a:p xmlns:a="http://schemas.openxmlformats.org/drawingml/2006/main">
            <a:r>
              <a:t/>
            </a:r>
          </a:p>
          <a:p xmlns:a="http://schemas.openxmlformats.org/drawingml/2006/main">
            <a:r>
              <a:t>This is an individual account, not a measured clinical or adoption outcome. The architecture section describes the separate submission demo snapshot. No interview date or independently measured results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Business model shown is the current care journey, not a contracted provider or insurer integration. WhiteCoat link: https://link.whitecoat.com.sg/dXEf/nnq8g6r9. The app does not transfer chat or reading payloads to that link. Family access is local care-space permission, not consent-verified patient 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The private MCP client/server uses in-memory transport inside the Node backend. The LLM receives selected-person reminders, appointments and benefits, with recent conversation. It does not receive the frontend sleep dataset or health-card readings through this context. Health-reading alerts use a separate evaluator. Hosted on Tencent Cloud Ubuntu, Node/Express behind Nginx. SQLite is a prototype store, not a claim of distributed scaling. Weather API: https://api-open.data.gov.sg/v2/real-time/api/.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Prompt policy in buddyPrompt.ts. Tool schema whitelist in commands.ts. read_selected_care trims audit/browser identifiers and other profiles. Tools validate a clone before persistBuddy independently revalidates and commits. Clear supported chat requests authorise automatic saves without another confirmation step. The example was executed with a real TokenHub completion on 9 October 2026 and the updated Today UI was captured. Health advice is bounded to care organisation. No diagnosis, prescribing, dose changes or appointment booking tool is exposed.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MCP endpoint: https://carebuddy.life/api/integrations/mcp. A hashed credential grants read notifications and acknowledge delivery for explicitly selected visible profiles. Connections expire after 90 days and support revocation. Acknowledge does not complete reminders or mark in-app alerts read. Feed respects routine outcomes, snoozes and deletion. General adult health reference alerts and stale readings are not personalised diagnoses. Host support and cadence depend on the client. Official installation/scheduling references: https://developers.openai.com/plugins/build/plugins ; https://learn.chatgpt.com/docs/automations?surface=app ; https://support.claude.com/en/articles/13837440-use-plugins-in-claude ; https://support.claude.com/en/articles/13854387-schedule-recurring-tasks-in-claude-cowork ; https://code.claude.com/docs/en/scheduled-tasks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https://github.com/whitecoatglobal/carebuddy/tree/main, reference commit 63f19f6e291159b01338a56eaed2fb7edbf98ee6. Relevant files: backend/src/app.ts, buddyMcp.ts, buddyPrompt.ts, interpret.ts, persistence.ts, commands.ts, notificationMcp.ts, notificationFeed.ts, notificationConnections.ts, pluginBundle.ts, weather.ts; shared/src/domain.ts. Mobile production behaviour captured 9 October 2026. Hackathon case study: https://drive.google.com/file/d/1W894c8ISZvOD4tYsAtQyTFypV5N5HDbS/view, Healthcare Track, case study 2. No clinical effectiveness or pilot outcome claims. This slide is a trust-boundary and trade-off diagram. Browser identifiers are namespaces, not verified human authentication. Current profile permissions do not amount to consent-verified cross-account sharing. Real patient deployment, identity, longitudinal wearable data, scalability and clinical evaluation are proposed next work, not implemented claims. SQLite transactions and deterministic delivery IDs provide prototype reliability without claiming an always-on clinical monitoring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an early UI redesign request and implementation task list. Some requested design and illustrative health content differ from the current website. It is evidence of CodeBuddy use, not a clinical guidance source or proof that every displayed task completed.</a:t>
            </a:r>
          </a:p>
          <a:p xmlns:a="http://schemas.openxmlformats.org/drawingml/2006/main">
            <a:r>
              <a:t>Original screenshot preserved without cropping or editing.</a:t>
            </a:r>
          </a:p>
          <a:p xmlns:a="http://schemas.openxmlformats.org/drawingml/2006/main">
            <a:r>
              <a:t>Source: care-buddy-submission-2026-10-09/output/codebuddy-evidence/01-codebuddy-ui-redesign.png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a backend onboarding/family-state request, source reading and a task plan. The displayed progress is incomplete. This is development-tool evidence, not proof that every requested task completed successfully.</a:t>
            </a:r>
          </a:p>
          <a:p xmlns:a="http://schemas.openxmlformats.org/drawingml/2006/main">
            <a:r>
              <a:t>Original screenshot preserved without cropping or editing.</a:t>
            </a:r>
          </a:p>
          <a:p xmlns:a="http://schemas.openxmlformats.org/drawingml/2006/main">
            <a:r>
              <a:t>Source: care-buddy-submission-2026-10-09/output/codebuddy-evidence/02-codebuddy-backend-onboarding.jpg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documents the supplied colour palette, CodeBuddy reading index.html and a completed font/palette task list. It records a historical development iteration. Current product behaviour is described separately in the submission pack.</a:t>
            </a:r>
          </a:p>
          <a:p xmlns:a="http://schemas.openxmlformats.org/drawingml/2006/main">
            <a:r>
              <a:t>Original screenshot preserved without cropping or editing.</a:t>
            </a:r>
          </a:p>
          <a:p xmlns:a="http://schemas.openxmlformats.org/drawingml/2006/main">
            <a:r>
              <a:t>Source: care-buddy-submission-2026-10-09/output/codebuddy-evidence/03-codebuddy-brand-fonts.png</a:t>
            </a:r>
          </a:p>
          <a:p xmlns:a="http://schemas.openxmlformats.org/drawingml/2006/main">
            <a:r>
              <a:t>Context: care-buddy-submission-2026-10-09/output/codebuddy-evidence/README.txt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CareBuddy submission mobile walkthrough. Duration 5:57.73 (approximately 5:58), H.264 video with AAC instrumental audio, 1920 × 1080, 15 fps. Embedded original MP4, with its original poster.</a:t>
            </a:r>
          </a:p>
          <a:p xmlns:a="http://schemas.openxmlformats.org/drawingml/2006/main">
            <a:r>
              <a:t>The walkthrough uses actual mobile production-site captures from 9 October 2026, including a saved TokenHub reminder update and a GP navigation response. Family, benefit, appointment and reading data shown in this demo are fictional or illustrative.</a:t>
            </a:r>
          </a:p>
          <a:p xmlns:a="http://schemas.openxmlformats.org/drawingml/2006/main">
            <a:r>
              <a:t>Original file: care-buddy-submission-2026-10-09/output/Care-Buddy-Mobile-Demo.mp4</a:t>
            </a:r>
          </a:p>
          <a:p xmlns:a="http://schemas.openxmlformats.org/drawingml/2006/main">
            <a:r>
              <a:t>Hosted playback: https://carebuddy.life/submissions/carebuddy-2026/</a:t>
            </a:r>
          </a:p>
          <a:p xmlns:a="http://schemas.openxmlformats.org/drawingml/2006/main">
            <a:r>
              <a:t>Source description: care-buddy-submission-2026-10-09/output/README.txt</a:t>
            </a:r>
          </a:p>
          <a:p xmlns:a="http://schemas.openxmlformats.org/drawingml/2006/main">
            <a:r>
              <a:t>The video has captions and instrumental audio, with no spoken narration.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security design, not a certification or a claim that all listed controls currently run in the demo.</a:t>
            </a:r>
          </a:p>
          <a:p xmlns:a="http://schemas.openxmlformats.org/drawingml/2006/main">
            <a:r>
              <a:t>The submission reference describes HTTPS/Nginx, server-held TokenHub credentials, domain validation, profile permission checks and scoped revocable assistant credentials. The no-login browser namespace is not verified human authentication. SQLite is a prototype store on one server.</a:t>
            </a:r>
          </a:p>
          <a:p xmlns:a="http://schemas.openxmlformats.org/drawingml/2006/main">
            <a:r>
              <a:t>Proposed baseline: TLS 1.2 or newer on browser/API, database and service connections, with certificate verification. Use AES-256 encryption at rest for care databases, files and backups. Select managed database encryption and encrypted volumes as appropriate to the final service. Use KMS-controlled keys, restricted key access, rotation and recovery procedures; avoid keys in application data stores or source code. Encryption at rest does not replace access checks.</a:t>
            </a:r>
          </a:p>
          <a:p xmlns:a="http://schemas.openxmlformats.org/drawingml/2006/main">
            <a:r>
              <a:t>Tencent COS supports server-side encryption and KMS-managed keys. Its availability does not mean CareBuddy has enabled it. https://www.tencentcloud.com/document/product/436/18145</a:t>
            </a:r>
          </a:p>
          <a:p xmlns:a="http://schemas.openxmlformats.org/drawingml/2006/main">
            <a:r>
              <a:t>Verify tenant_id and care_circle_id server-side on every access, storage object, background job and AI context. Use enforced database isolation where supported, with tests for cross-tenant access. Separate production, test and demo environments and credentials. MFA applies to operators, along with least privilege and controlled support access. Record audit metadata rather than sensitive care payloads.</a:t>
            </a:r>
          </a:p>
          <a:p xmlns:a="http://schemas.openxmlformats.org/drawingml/2006/main">
            <a:r>
              <a:t>Operational readiness includes dependency patching, API rate limits, detection and incident response, protected backups and restoration exercises.</a:t>
            </a:r>
          </a:p>
          <a:p xmlns:a="http://schemas.openxmlformats.org/drawingml/2006/main">
            <a:r>
              <a:t>Current implementation context: Care-Buddy-Architecture-Healthcare.pptx and Project-Description.txt in the 9 October 2026 submission pack, reference commit 63f19f6e291159b01338a56eaed2fb7edbf98ee6.</a:t>
            </a:r>
          </a:p>
          <a:p xmlns:a="http://schemas.openxmlformats.org/drawingml/2006/main">
            <a:r>
              <a:t>PDPC guidance: https://www.pdpc.gov.sg/-/media/Files/PDPC/PDF-Files/Other-Guides/guidetosecuringpersonaldatainelectronicmedium0903178d4749c8844062038829ff0000d98b0f.pdf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privacy design. Do not claim PDPA compliance, clinical certification or consent-verified patient sharing from this slide.</a:t>
            </a:r>
          </a:p>
          <a:p xmlns:a="http://schemas.openxmlformats.org/drawingml/2006/main">
            <a:r>
              <a:t>The person whose care information is involved should have a clear explanation of purposes, access choices and sharing with caregivers, employers/insurers, AI providers or teleconsult providers. Family membership and sponsor membership alone must not grant personal-record access. Use an auditable consent record, accessible withdrawal and revocation. Sponsors should receive agreed aggregate reporting unless a person separately authorises particular access.</a:t>
            </a:r>
          </a:p>
          <a:p xmlns:a="http://schemas.openxmlformats.org/drawingml/2006/main">
            <a:r>
              <a:t>Minimise data sent to AI and assistant integrations, remove unnecessary direct identifiers and restrict the context to the authorised care circle and purpose. The prototype’s conversational context and health-reading alert evaluator are separate. Review AI processing locations, retention and training-use terms before deployment.</a:t>
            </a:r>
          </a:p>
          <a:p xmlns:a="http://schemas.openxmlformats.org/drawingml/2006/main">
            <a:r>
              <a:t>Define a purpose-based retention schedule, secure deletion including backup expiry, and access/correction request handling. Retention periods depend on service responsibilities and applicable requirements; no arbitrary fixed period is promised.</a:t>
            </a:r>
          </a:p>
          <a:p xmlns:a="http://schemas.openxmlformats.org/drawingml/2006/main">
            <a:r>
              <a:t>Current GP navigation opens a WhiteCoat link without transmitting care payloads. Any future transfer of chat, readings or identity needs an agreed interface, clear consent and provider contracts. Hosting in Singapore does not establish that every model provider processes data there. Assess cross-border transfers and responsibilities.</a:t>
            </a:r>
          </a:p>
          <a:p xmlns:a="http://schemas.openxmlformats.org/drawingml/2006/main">
            <a:r>
              <a:t>Source: Singapore Personal Data Protection Act 2012, consent, purpose, access/correction, protection, retention, transfer and breach provisions. https://sso.agc.gov.sg/Act/PDPA2012?segment=mnc</a:t>
            </a:r>
          </a:p>
          <a:p xmlns:a="http://schemas.openxmlformats.org/drawingml/2006/main">
            <a:r>
              <a:t>PDPC guide to securing personal data in electronic medium: https://www.pdpc.gov.sg/-/media/Files/PDPC/PDF-Files/Other-Guides/guidetosecuringpersonaldatainelectronicmedium0903178d4749c8844062038829ff0000d98b0f.pdf</a:t>
            </a:r>
          </a:p>
          <a:p xmlns:a="http://schemas.openxmlformats.org/drawingml/2006/main">
            <a:r>
              <a:t>Prototype context: 9 October 2026 submission Project-Description.txt and architecture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profiles based on the user’s supplied descriptions, 9 October 2026.</a:t>
            </a:r>
          </a:p>
          <a:p xmlns:a="http://schemas.openxmlformats.org/drawingml/2006/main">
            <a:r>
              <a:t>Alex Lew: product and AI expertise, extensive hands-on experimentation with AI, multiple layers of agents running on VPS infrastructure and controlled through Telegram or SMS for daily work.</a:t>
            </a:r>
          </a:p>
          <a:p xmlns:a="http://schemas.openxmlformats.org/drawingml/2006/main">
            <a:r>
              <a:t>Shao Quan Chew: architecture and security expert who builds and manages the infrastructure. Cancer survivor and strong believer in CareBuddy.</a:t>
            </a:r>
          </a:p>
          <a:p xmlns:a="http://schemas.openxmlformats.org/drawingml/2006/main">
            <a:r>
              <a:t>Yau Boon Tan: built the whole demo in less than a day, leads a technology team of more than 20 in his day job, broad programming expertise and deep understanding of the systems he builds.</a:t>
            </a:r>
          </a:p>
          <a:p xmlns:a="http://schemas.openxmlformats.org/drawingml/2006/main">
            <a:r>
              <a:t>The profiles rephrase the supplied information. No unsupported comparison with every engineer, universal fluency in every coding language, awards or employment titles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WhiteCoat teleconsultation partnership. The user reports high confidence in securing a deal. This is the team’s outlook, not an executed agreement, confirmed commercial terms or a signed partner commitment.</a:t>
            </a:r>
          </a:p>
          <a:p xmlns:a="http://schemas.openxmlformats.org/drawingml/2006/main">
            <a:r>
              <a:t>CareBuddy would offer a route to WhiteCoat when a user seeks professional medical advice. WhiteCoat remains responsible for consultation suitability and clinical decisions through its own service. CareBuddy can support preparation and organisation of clinician instructions without independently prescribing or changing medication.</a:t>
            </a:r>
          </a:p>
          <a:p xmlns:a="http://schemas.openxmlformats.org/drawingml/2006/main">
            <a:r>
              <a:t>The submitted prototype already opens https://link.whitecoat.com.sg/dXEf/nnq8g6r9 for GP navigation. It does not book an appointment or send conversation/reading payloads through that link. A future booking interface or information handoff requires a commercial and technical agreement, explicit user consent, access controls and defined clinical/data responsibilities. No fee, revenue share, exclusivity or availability guarantee is assumed.</a:t>
            </a:r>
          </a:p>
          <a:p xmlns:a="http://schemas.openxmlformats.org/drawingml/2006/main">
            <a:r>
              <a:t>WhiteCoat’s published FAQ describes video consultations with Singapore-registered doctors, with the doctor assessing whether teleconsultation is suitable and advising appropriate follow-up. https://whitecoat.global/sg/faq.html</a:t>
            </a:r>
          </a:p>
          <a:p xmlns:a="http://schemas.openxmlformats.org/drawingml/2006/main">
            <a:r>
              <a:t>Prototype source: care-buddy-submission-2026-10-09/output/Project-Description.txt and Care-Buddy-Architecture-Healthcare.pptx.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d027e6754d43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6b990f56a4c2b" /><Relationship Type="http://schemas.openxmlformats.org/officeDocument/2006/relationships/slideLayout" Target="/ppt/slideLayouts/slideLayout1.xml" Id="R4e2fbb1fc77b4c4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2fbb1fc77b4c4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4d763a55554a64" /><Relationship Type="http://schemas.openxmlformats.org/officeDocument/2006/relationships/image" Target="/ppt/media/image.png" Id="R28c83a2b09354fe6" /><Relationship Type="http://schemas.openxmlformats.org/officeDocument/2006/relationships/notesSlide" Target="/ppt/notesSlides/notesSlide1.xml" Id="Rbb5f6ebf6a1445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912643a69a4f65" /><Relationship Type="http://schemas.openxmlformats.org/officeDocument/2006/relationships/image" Target="/ppt/media/image2.png" Id="R36dce04c54164cd1" /><Relationship Type="http://schemas.openxmlformats.org/officeDocument/2006/relationships/notesSlide" Target="/ppt/notesSlides/notesSlide2.xml" Id="R310c4d49d41944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89a52b34cf84004" /><Relationship Type="http://schemas.openxmlformats.org/officeDocument/2006/relationships/image" Target="/ppt/media/image3.png" Id="Rf8803bba04e64e15" /><Relationship Type="http://schemas.openxmlformats.org/officeDocument/2006/relationships/notesSlide" Target="/ppt/notesSlides/notesSlide3.xml" Id="R15d1f89d728746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580612a76f4dfb" /><Relationship Type="http://schemas.openxmlformats.org/officeDocument/2006/relationships/image" Target="/ppt/media/image4.png" Id="Rc4719cd45515438b" /><Relationship Type="http://schemas.openxmlformats.org/officeDocument/2006/relationships/notesSlide" Target="/ppt/notesSlides/notesSlide4.xml" Id="R6ab57ce2e66d4a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ea753d7da145b4" /><Relationship Type="http://schemas.openxmlformats.org/officeDocument/2006/relationships/notesSlide" Target="/ppt/notesSlides/notesSlide5.xml" Id="R065c2fd2e3464b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3087a99562c43e8" /><Relationship Type="http://schemas.openxmlformats.org/officeDocument/2006/relationships/image" Target="/ppt/media/image5.png" Id="Rdf79a5966f4749a5" /><Relationship Type="http://schemas.openxmlformats.org/officeDocument/2006/relationships/notesSlide" Target="/ppt/notesSlides/notesSlide6.xml" Id="R38cfc951df214e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ce02213f1546c3" /><Relationship Type="http://schemas.openxmlformats.org/officeDocument/2006/relationships/image" Target="/ppt/media/image6.png" Id="R4d402f03b5104f48" /><Relationship Type="http://schemas.openxmlformats.org/officeDocument/2006/relationships/notesSlide" Target="/ppt/notesSlides/notesSlide7.xml" Id="R33b2c5eb6dee45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6982a76daf47af" /><Relationship Type="http://schemas.openxmlformats.org/officeDocument/2006/relationships/image" Target="/ppt/media/image7.png" Id="Rfed9e18073744c74" /><Relationship Type="http://schemas.openxmlformats.org/officeDocument/2006/relationships/notesSlide" Target="/ppt/notesSlides/notesSlide8.xml" Id="Rfbc984899a8f4b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386339feb64ef3" /><Relationship Type="http://schemas.openxmlformats.org/officeDocument/2006/relationships/image" Target="/ppt/media/image8.png" Id="R0854cba54df648ad" /><Relationship Type="http://schemas.openxmlformats.org/officeDocument/2006/relationships/notesSlide" Target="/ppt/notesSlides/notesSlide9.xml" Id="Rf96641fc3c5c47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ff165fafe14bdb" /><Relationship Type="http://schemas.openxmlformats.org/officeDocument/2006/relationships/image" Target="/ppt/media/image9.png" Id="Rbe7b6bbdcbae46a7" /><Relationship Type="http://schemas.openxmlformats.org/officeDocument/2006/relationships/notesSlide" Target="/ppt/notesSlides/notesSlide10.xml" Id="R2dd2dc5db2684e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fe2f6e54f9c40f1" /><Relationship Type="http://schemas.openxmlformats.org/officeDocument/2006/relationships/image" Target="/ppt/media/image10.png" Id="R32ee00079b7d4c28" /><Relationship Type="http://schemas.openxmlformats.org/officeDocument/2006/relationships/notesSlide" Target="/ppt/notesSlides/notesSlide11.xml" Id="R75359b8537a94cb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d8f2df4f744c29" /><Relationship Type="http://schemas.openxmlformats.org/officeDocument/2006/relationships/image" Target="/ppt/media/image11.png" Id="R56971ba0e6e947d7" /><Relationship Type="http://schemas.openxmlformats.org/officeDocument/2006/relationships/notesSlide" Target="/ppt/notesSlides/notesSlide12.xml" Id="R2d1eeb27a4a549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8ab73f4c3ba4a26" /><Relationship Type="http://schemas.openxmlformats.org/officeDocument/2006/relationships/image" Target="/ppt/media/image12.png" Id="R1120f86fb2a44481" /><Relationship Type="http://schemas.openxmlformats.org/officeDocument/2006/relationships/notesSlide" Target="/ppt/notesSlides/notesSlide13.xml" Id="R4de6a4b94cef4ea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b6b836b0404f22" /><Relationship Type="http://schemas.openxmlformats.org/officeDocument/2006/relationships/image" Target="/ppt/media/image13.png" Id="R6a6ab759a4e6434a" /><Relationship Type="http://schemas.openxmlformats.org/officeDocument/2006/relationships/notesSlide" Target="/ppt/notesSlides/notesSlide14.xml" Id="Rc65647dd63634b5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372c750924349b9" /><Relationship Type="http://schemas.openxmlformats.org/officeDocument/2006/relationships/image" Target="/ppt/media/image14.png" Id="R0a78a69c6c734d71" /><Relationship Type="http://schemas.openxmlformats.org/officeDocument/2006/relationships/notesSlide" Target="/ppt/notesSlides/notesSlide15.xml" Id="Re6833d09a8fa4e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e3000f0d2c40eb" /><Relationship Type="http://schemas.openxmlformats.org/officeDocument/2006/relationships/notesSlide" Target="/ppt/notesSlides/notesSlide16.xml" Id="R647103f6663140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929e157861e4e94" /><Relationship Type="http://schemas.openxmlformats.org/officeDocument/2006/relationships/notesSlide" Target="/ppt/notesSlides/notesSlide17.xml" Id="R4daf1c6ff29f4c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57225c43234cd0" /><Relationship Type="http://schemas.openxmlformats.org/officeDocument/2006/relationships/notesSlide" Target="/ppt/notesSlides/notesSlide18.xml" Id="R33519c68e3284d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acdb70db3b49cd" /><Relationship Type="http://schemas.openxmlformats.org/officeDocument/2006/relationships/image" Target="/ppt/media/image15.png" Id="R384df58a9b0c4977" /><Relationship Type="http://schemas.openxmlformats.org/officeDocument/2006/relationships/hyperlink" Target="https://carebuddy.life/" TargetMode="External" Id="Rea0d6863fbef4d5d" /><Relationship Type="http://schemas.openxmlformats.org/officeDocument/2006/relationships/notesSlide" Target="/ppt/notesSlides/notesSlide19.xml" Id="Re2712be221fe40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512b4b6f177487c" /><Relationship Type="http://schemas.openxmlformats.org/officeDocument/2006/relationships/notesSlide" Target="/ppt/notesSlides/notesSlide20.xml" Id="R4c04b3880f3740d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23aa90a2863449e" /><Relationship Type="http://schemas.openxmlformats.org/officeDocument/2006/relationships/hyperlink" Target="https://carebuddy.life/" TargetMode="External" Id="R23e81c7488d84ca2" /><Relationship Type="http://schemas.openxmlformats.org/officeDocument/2006/relationships/hyperlink" Target="https://carebuddy.life/today" TargetMode="External" Id="R977ab59221c74515" /><Relationship Type="http://schemas.openxmlformats.org/officeDocument/2006/relationships/hyperlink" Target="https://intl.cloud.tencent.com/document/product/1300/78933?lang=en" TargetMode="External" Id="R3ed6cdc3ef654af7" /><Relationship Type="http://schemas.openxmlformats.org/officeDocument/2006/relationships/notesSlide" Target="/ppt/notesSlides/notesSlide21.xml" Id="R624e4ce26a9842ac" /></Relationships>
</file>

<file path=ppt/slides/_rels/slide22.xml.rels><?xml version='1.0' encoding='UTF-8' standalone='yes'?>
<Relationships xmlns="http://schemas.openxmlformats.org/package/2006/relationships"><Relationship Type="http://schemas.openxmlformats.org/officeDocument/2006/relationships/slideLayout" Target="../slideLayouts/slideLayout1.xml" Id="R0bbfc694753240f1"/><Relationship Type="http://schemas.openxmlformats.org/officeDocument/2006/relationships/notesSlide" Target="../notesSlides/notesSlide22.xml" Id="R3fa0660460044e97"/></Relationships>
</file>

<file path=ppt/slides/_rels/slide23.xml.rels><?xml version='1.0' encoding='UTF-8' standalone='yes'?>
<Relationships xmlns="http://schemas.openxmlformats.org/package/2006/relationships"><Relationship Type="http://schemas.openxmlformats.org/officeDocument/2006/relationships/slideLayout" Target="../slideLayouts/slideLayout1.xml" Id="R6274a146df9c4785"/><Relationship Type="http://schemas.openxmlformats.org/officeDocument/2006/relationships/notesSlide" Target="../notesSlides/notesSlide23.xml" Id="R5894bb9aaba047d3"/></Relationships>
</file>

<file path=ppt/slides/_rels/slide24.xml.rels><?xml version='1.0' encoding='UTF-8' standalone='yes'?>
<Relationships xmlns="http://schemas.openxmlformats.org/package/2006/relationships"><Relationship Type="http://schemas.openxmlformats.org/officeDocument/2006/relationships/slideLayout" Target="../slideLayouts/slideLayout1.xml" Id="R1e57791b33f047cc"/><Relationship Type="http://schemas.openxmlformats.org/officeDocument/2006/relationships/notesSlide" Target="../notesSlides/notesSlide24.xml" Id="R1ea8153532354b80"/></Relationships>
</file>

<file path=ppt/slides/_rels/slide25.xml.rels><?xml version='1.0' encoding='UTF-8' standalone='yes'?>
<Relationships xmlns="http://schemas.openxmlformats.org/package/2006/relationships"><Relationship Type="http://schemas.openxmlformats.org/officeDocument/2006/relationships/slideLayout" Target="../slideLayouts/slideLayout1.xml" Id="R1f6783643f884476"/><Relationship Type="http://schemas.openxmlformats.org/officeDocument/2006/relationships/notesSlide" Target="../notesSlides/notesSlide25.xml" Id="R5792a4a437244e41"/></Relationships>
</file>

<file path=ppt/slides/_rels/slide26.xml.rels><?xml version='1.0' encoding='UTF-8' standalone='yes'?>
<Relationships xmlns="http://schemas.openxmlformats.org/package/2006/relationships"><Relationship Type="http://schemas.openxmlformats.org/officeDocument/2006/relationships/slideLayout" Target="../slideLayouts/slideLayout1.xml" Id="Rfa8fbacff16a4f1b"/><Relationship Type="http://schemas.openxmlformats.org/officeDocument/2006/relationships/notesSlide" Target="../notesSlides/notesSlide26.xml" Id="Reaf272886b764fe5"/></Relationships>
</file>

<file path=ppt/slides/_rels/slide27.xml.rels><?xml version='1.0' encoding='UTF-8' standalone='yes'?>
<Relationships xmlns="http://schemas.openxmlformats.org/package/2006/relationships"><Relationship Type="http://schemas.openxmlformats.org/officeDocument/2006/relationships/slideLayout" Target="../slideLayouts/slideLayout1.xml" Id="R6ba4fa3333024789"/><Relationship Type="http://schemas.openxmlformats.org/officeDocument/2006/relationships/notesSlide" Target="../notesSlides/notesSlide27.xml" Id="R0f218784c98c4862"/></Relationships>
</file>

<file path=ppt/slides/_rels/slide28.xml.rels><?xml version='1.0' encoding='UTF-8' standalone='yes'?>
<Relationships xmlns="http://schemas.openxmlformats.org/package/2006/relationships"><Relationship Type="http://schemas.openxmlformats.org/officeDocument/2006/relationships/slideLayout" Target="../slideLayouts/slideLayout1.xml" Id="Rd626bd99b9244c03"/><Relationship Type="http://schemas.openxmlformats.org/officeDocument/2006/relationships/notesSlide" Target="../notesSlides/notesSlide28.xml" Id="R2fc3954fd37543d3"/></Relationships>
</file>

<file path=ppt/slides/_rels/slide29.xml.rels><?xml version='1.0' encoding='UTF-8' standalone='yes'?>
<Relationships xmlns="http://schemas.openxmlformats.org/package/2006/relationships"><Relationship Type="http://schemas.openxmlformats.org/officeDocument/2006/relationships/slideLayout" Target="../slideLayouts/slideLayout1.xml" Id="R864ef3c4ad614f00"/><Relationship Type="http://schemas.openxmlformats.org/officeDocument/2006/relationships/notesSlide" Target="../notesSlides/notesSlide29.xml" Id="Rc2c8c043d8d74aad"/></Relationships>
</file>

<file path=ppt/slides/_rels/slide30.xml.rels><?xml version='1.0' encoding='UTF-8' standalone='yes'?>
<Relationships xmlns="http://schemas.openxmlformats.org/package/2006/relationships"><Relationship Type="http://schemas.openxmlformats.org/officeDocument/2006/relationships/slideLayout" Target="../slideLayouts/slideLayout1.xml" Id="Rb78045145bb44393"/><Relationship Type="http://schemas.openxmlformats.org/officeDocument/2006/relationships/notesSlide" Target="../notesSlides/notesSlide30.xml" Id="Ra98c09fc7c28488f"/></Relationships>
</file>

<file path=ppt/slides/_rels/slide31.xml.rels><?xml version='1.0' encoding='UTF-8' standalone='yes'?>
<Relationships xmlns="http://schemas.openxmlformats.org/package/2006/relationships"><Relationship Type="http://schemas.openxmlformats.org/officeDocument/2006/relationships/slideLayout" Target="../slideLayouts/slideLayout1.xml" Id="R8c2bd34163e64e8d"/><Relationship Type="http://schemas.openxmlformats.org/officeDocument/2006/relationships/notesSlide" Target="../notesSlides/notesSlide31.xml" Id="R31cba7232510416f"/></Relationships>
</file>

<file path=ppt/slides/_rels/slide32.xml.rels><?xml version='1.0' encoding='UTF-8' standalone='yes'?>
<Relationships xmlns="http://schemas.openxmlformats.org/package/2006/relationships"><Relationship Type="http://schemas.openxmlformats.org/officeDocument/2006/relationships/slideLayout" Target="../slideLayouts/slideLayout1.xml" Id="R70c973f4eeae466f"/><Relationship Type="http://schemas.openxmlformats.org/officeDocument/2006/relationships/notesSlide" Target="../notesSlides/notesSlide32.xml" Id="Ra3833a81999d4b27"/></Relationships>
</file>

<file path=ppt/slides/_rels/slide33.xml.rels><?xml version='1.0' encoding='UTF-8' standalone='yes'?>
<Relationships xmlns="http://schemas.openxmlformats.org/package/2006/relationships"><Relationship Type="http://schemas.openxmlformats.org/officeDocument/2006/relationships/slideLayout" Target="../slideLayouts/slideLayout1.xml" Id="R78627a4c23f741a0"/><Relationship Type="http://schemas.openxmlformats.org/officeDocument/2006/relationships/notesSlide" Target="../notesSlides/notesSlide33.xml" Id="Rdcc48ae8ee594598"/></Relationships>
</file>

<file path=ppt/slides/_rels/slide34.xml.rels><?xml version='1.0' encoding='UTF-8' standalone='yes'?>
<Relationships xmlns="http://schemas.openxmlformats.org/package/2006/relationships"><Relationship Type="http://schemas.openxmlformats.org/officeDocument/2006/relationships/slideLayout" Target="../slideLayouts/slideLayout1.xml" Id="R17fbfcefca004a11"/><Relationship Type="http://schemas.openxmlformats.org/officeDocument/2006/relationships/notesSlide" Target="../notesSlides/notesSlide34.xml" Id="R723720c6a3d74b39"/></Relationships>
</file>

<file path=ppt/slides/_rels/slide35.xml.rels><?xml version='1.0' encoding='UTF-8' standalone='yes'?>
<Relationships xmlns="http://schemas.openxmlformats.org/package/2006/relationships"><Relationship Type="http://schemas.openxmlformats.org/officeDocument/2006/relationships/slideLayout" Target="../slideLayouts/slideLayout1.xml" Id="R8f5b8056e44d453f"/><Relationship Type="http://schemas.openxmlformats.org/officeDocument/2006/relationships/notesSlide" Target="../notesSlides/notesSlide35.xml" Id="R610eba10ed474677"/></Relationships>
</file>

<file path=ppt/slides/_rels/slide36.xml.rels><?xml version='1.0' encoding='UTF-8' standalone='yes'?>
<Relationships xmlns="http://schemas.openxmlformats.org/package/2006/relationships"><Relationship Type="http://schemas.openxmlformats.org/officeDocument/2006/relationships/slideLayout" Target="../slideLayouts/slideLayout1.xml" Id="R5c1c31d0864e4e33"/><Relationship Type="http://schemas.openxmlformats.org/officeDocument/2006/relationships/notesSlide" Target="../notesSlides/notesSlide36.xml" Id="Rfeefd2d5a8a24ea6"/></Relationships>
</file>

<file path=ppt/slides/_rels/slide37.xml.rels><?xml version='1.0' encoding='UTF-8' standalone='yes'?>
<Relationships xmlns="http://schemas.openxmlformats.org/package/2006/relationships"><Relationship Type="http://schemas.openxmlformats.org/officeDocument/2006/relationships/slideLayout" Target="../slideLayouts/slideLayout1.xml" Id="Re59b3ea00d394ef1"/><Relationship Type="http://schemas.openxmlformats.org/officeDocument/2006/relationships/notesSlide" Target="../notesSlides/notesSlide37.xml" Id="Ra739c35c1cf94f5e"/></Relationships>
</file>

<file path=ppt/slides/_rels/slide38.xml.rels><?xml version='1.0' encoding='UTF-8' standalone='yes'?>
<Relationships xmlns="http://schemas.openxmlformats.org/package/2006/relationships"><Relationship Type="http://schemas.openxmlformats.org/officeDocument/2006/relationships/slideLayout" Target="../slideLayouts/slideLayout1.xml" Id="R4ad74a9fd3224eeb"/><Relationship Type="http://schemas.openxmlformats.org/officeDocument/2006/relationships/image" Target="../media/extension-image.png" Id="R0635cfb961194ac7"/><Relationship Type="http://schemas.openxmlformats.org/officeDocument/2006/relationships/notesSlide" Target="../notesSlides/notesSlide38.xml" Id="R17727e1416c649db"/></Relationships>
</file>

<file path=ppt/slides/_rels/slide39.xml.rels><?xml version='1.0' encoding='UTF-8' standalone='yes'?>
<Relationships xmlns="http://schemas.openxmlformats.org/package/2006/relationships"><Relationship Type="http://schemas.openxmlformats.org/officeDocument/2006/relationships/slideLayout" Target="../slideLayouts/slideLayout1.xml" Id="Rfd789829828d4b3b"/><Relationship Type="http://schemas.openxmlformats.org/officeDocument/2006/relationships/image" Target="../media/image.jpeg" Id="Rcace96c7499742fd"/><Relationship Type="http://schemas.openxmlformats.org/officeDocument/2006/relationships/notesSlide" Target="../notesSlides/notesSlide39.xml" Id="R329cde7c998c4a0f"/></Relationships>
</file>

<file path=ppt/slides/_rels/slide40.xml.rels><?xml version='1.0' encoding='UTF-8' standalone='yes'?>
<Relationships xmlns="http://schemas.openxmlformats.org/package/2006/relationships"><Relationship Type="http://schemas.openxmlformats.org/officeDocument/2006/relationships/slideLayout" Target="../slideLayouts/slideLayout1.xml" Id="R94c3e084c659415c"/><Relationship Type="http://schemas.openxmlformats.org/officeDocument/2006/relationships/image" Target="../media/image16.png" Id="Rfdb2200bce5b46d0"/><Relationship Type="http://schemas.openxmlformats.org/officeDocument/2006/relationships/notesSlide" Target="../notesSlides/notesSlide40.xml" Id="R9830bc587c174b2e"/></Relationships>
</file>

<file path=ppt/slides/_rels/slide41.xml.rels><?xml version='1.0' encoding='UTF-8' standalone='yes'?>
<Relationships xmlns="http://schemas.openxmlformats.org/package/2006/relationships"><Relationship Type="http://schemas.openxmlformats.org/officeDocument/2006/relationships/slideLayout" Target="../slideLayouts/slideLayout1.xml" Id="Ra9db2f6a019c4cce"/><Relationship Type="http://schemas.openxmlformats.org/officeDocument/2006/relationships/image" Target="../media/image17.png" Id="Rffa2d9266333443d"/><Relationship Type="http://schemas.openxmlformats.org/officeDocument/2006/relationships/notesSlide" Target="../notesSlides/notesSlide41.xml" Id="R9e7cb178eb2445ca"/><Relationship Id="rIdDemoVideo" Type="http://schemas.openxmlformats.org/officeDocument/2006/relationships/video" Target="../media/Care-Buddy-Mobile-Demo.mp4"/><Relationship Id="rIdDemoMedia" Type="http://schemas.microsoft.com/office/2007/relationships/media" Target="../media/Care-Buddy-Mobile-Demo.mp4"/><Relationship Id="rIdHostedDemo" Type="http://schemas.openxmlformats.org/officeDocument/2006/relationships/hyperlink" Target="https://carebuddy.life/submissions/carebuddy-2026/" TargetMode="External"/></Relationships>
</file>

<file path=ppt/slides/_rels/slide42.xml.rels><?xml version='1.0' encoding='UTF-8' standalone='yes'?>
<Relationships xmlns="http://schemas.openxmlformats.org/package/2006/relationships"><Relationship Type="http://schemas.openxmlformats.org/officeDocument/2006/relationships/slideLayout" Target="../slideLayouts/slideLayout1.xml" Id="R2f7e140014ed4080"/><Relationship Type="http://schemas.openxmlformats.org/officeDocument/2006/relationships/notesSlide" Target="../notesSlides/notesSlide42.xml" Id="R1657dc2aa51f4997"/></Relationships>
</file>

<file path=ppt/slides/_rels/slide43.xml.rels><?xml version='1.0' encoding='UTF-8' standalone='yes'?>
<Relationships xmlns="http://schemas.openxmlformats.org/package/2006/relationships"><Relationship Type="http://schemas.openxmlformats.org/officeDocument/2006/relationships/slideLayout" Target="../slideLayouts/slideLayout1.xml" Id="Rd5f3f2e975694b8a"/><Relationship Type="http://schemas.openxmlformats.org/officeDocument/2006/relationships/notesSlide" Target="../notesSlides/notesSlide43.xml" Id="R50be6b084ed84ec8"/></Relationships>
</file>

<file path=ppt/slides/_rels/slide44.xml.rels><?xml version='1.0' encoding='UTF-8' standalone='yes'?>
<Relationships xmlns="http://schemas.openxmlformats.org/package/2006/relationships"><Relationship Type="http://schemas.openxmlformats.org/officeDocument/2006/relationships/slideLayout" Target="../slideLayouts/slideLayout1.xml" Id="Rbdac50a7041048ed"/><Relationship Type="http://schemas.openxmlformats.org/officeDocument/2006/relationships/notesSlide" Target="../notesSlides/notesSlide44.xml" Id="R6926222356ec4663"/></Relationships>
</file>

<file path=ppt/slides/_rels/slide45.xml.rels><?xml version='1.0' encoding='UTF-8' standalone='yes'?>
<Relationships xmlns="http://schemas.openxmlformats.org/package/2006/relationships"><Relationship Type="http://schemas.openxmlformats.org/officeDocument/2006/relationships/slideLayout" Target="../slideLayouts/slideLayout1.xml" Id="Ra87533c3123943e5"/><Relationship Type="http://schemas.openxmlformats.org/officeDocument/2006/relationships/notesSlide" Target="../notesSlides/notesSlide45.xml" Id="R0745ae4b8906413a"/></Relationships>
</file>

<file path=ppt/slides/slide1.xml><?xml version="1.0" encoding="utf-8"?>
<p:sld xmlns:p="http://schemas.openxmlformats.org/presentationml/2006/main">
  <p:cSld>
    <p:bg>
      <p:bgPr>
        <a:solidFill xmlns:a="http://schemas.openxmlformats.org/drawingml/2006/main">
          <a:srgbClr val="030706"/>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8c83a2b09354fe6"/>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1-t000">
            <a:extLst xmlns:a="http://schemas.openxmlformats.org/drawingml/2006/main">
              <a:ext uri="{FF2B5EF4-FFF2-40B4-BE49-F238E27FC236}">
                <a16:creationId xmlns:a16="http://schemas.microsoft.com/office/drawing/2014/main" id="{6F22218B-3258-4ABC-A51A-9900F9265DD4}"/>
              </a:ext>
            </a:extLst>
          </p:cNvPr>
          <p:cNvSpPr>
            <a:spLocks xmlns:a="http://schemas.openxmlformats.org/drawingml/2006/main" noGrp="1"/>
          </p:cNvSpPr>
          <p:nvPr/>
        </p:nvSpPr>
        <p:spPr>
          <a:xfrm xmlns:a="http://schemas.openxmlformats.org/drawingml/2006/main">
            <a:off x="1943100" y="779958"/>
            <a:ext cx="1272283"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215" kern="400000">
                <a:solidFill>
                  <a:srgbClr val="FAF6F0"/>
                </a:solidFill>
                <a:latin typeface="Deck-Semi-Bold"/>
                <a:ea typeface="Deck-Semi-Bold"/>
                <a:cs typeface="Deck-Semi-Bold"/>
              </a:defRPr>
            </a:pPr>
            <a:r>
              <a:rPr sz="3975" b="0" i="0" kern="400000" spc="-215">
                <a:solidFill>
                  <a:srgbClr val="FAF6F0">
                    <a:alpha val="100000"/>
                  </a:srgbClr>
                </a:solidFill>
                <a:latin typeface="Deck-Semi-Bold"/>
                <a:ea typeface="Deck-Semi-Bold"/>
                <a:cs typeface="Deck-Semi-Bold"/>
              </a:rPr>
              <a:t xml:space="preserve">Care</a:t>
            </a:r>
            <a:endParaRPr lang="en-US" sz="3975" spc="-215" kern="400000">
              <a:latin typeface="Deck-Semi-Bold"/>
            </a:endParaRPr>
          </a:p>
        </p:txBody>
      </p:sp>
      <p:sp>
        <p:nvSpPr>
          <p:cNvPr id="3" name="s01-t001">
            <a:extLst xmlns:a="http://schemas.openxmlformats.org/drawingml/2006/main">
              <a:ext uri="{FF2B5EF4-FFF2-40B4-BE49-F238E27FC236}">
                <a16:creationId xmlns:a16="http://schemas.microsoft.com/office/drawing/2014/main" id="{9B584D41-842D-4764-9402-56CB8FD53472}"/>
              </a:ext>
            </a:extLst>
          </p:cNvPr>
          <p:cNvSpPr>
            <a:spLocks xmlns:a="http://schemas.openxmlformats.org/drawingml/2006/main" noGrp="1"/>
          </p:cNvSpPr>
          <p:nvPr/>
        </p:nvSpPr>
        <p:spPr>
          <a:xfrm xmlns:a="http://schemas.openxmlformats.org/drawingml/2006/main">
            <a:off x="2953410" y="779958"/>
            <a:ext cx="1656378" cy="620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975" spc="-187" kern="400000">
                <a:solidFill>
                  <a:srgbClr val="9BDAB6"/>
                </a:solidFill>
                <a:latin typeface="Deck-Semi-Bold"/>
                <a:ea typeface="Deck-Semi-Bold"/>
                <a:cs typeface="Deck-Semi-Bold"/>
              </a:defRPr>
            </a:pPr>
            <a:r>
              <a:rPr sz="3975" b="0" i="0" kern="400000" spc="-187">
                <a:solidFill>
                  <a:srgbClr val="9BDAB6">
                    <a:alpha val="100000"/>
                  </a:srgbClr>
                </a:solidFill>
                <a:latin typeface="Deck-Semi-Bold"/>
                <a:ea typeface="Deck-Semi-Bold"/>
                <a:cs typeface="Deck-Semi-Bold"/>
              </a:rPr>
              <a:t xml:space="preserve">Buddy</a:t>
            </a:r>
            <a:endParaRPr lang="en-US" sz="3975" spc="-187" kern="400000">
              <a:latin typeface="Deck-Semi-Bold"/>
            </a:endParaRPr>
          </a:p>
        </p:txBody>
      </p:sp>
      <p:sp>
        <p:nvSpPr>
          <p:cNvPr id="4" name="s01-t002">
            <a:extLst xmlns:a="http://schemas.openxmlformats.org/drawingml/2006/main">
              <a:ext uri="{FF2B5EF4-FFF2-40B4-BE49-F238E27FC236}">
                <a16:creationId xmlns:a16="http://schemas.microsoft.com/office/drawing/2014/main" id="{FED8F25E-EB3B-4856-88CD-AF64ADC0460C}"/>
              </a:ext>
            </a:extLst>
          </p:cNvPr>
          <p:cNvSpPr>
            <a:spLocks xmlns:a="http://schemas.openxmlformats.org/drawingml/2006/main" noGrp="1"/>
          </p:cNvSpPr>
          <p:nvPr/>
        </p:nvSpPr>
        <p:spPr>
          <a:xfrm xmlns:a="http://schemas.openxmlformats.org/drawingml/2006/main">
            <a:off x="1000125" y="1724026"/>
            <a:ext cx="4704998"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D0DDD4"/>
                </a:solidFill>
                <a:latin typeface="Deck"/>
                <a:ea typeface="Deck"/>
                <a:cs typeface="Deck"/>
              </a:defRPr>
            </a:pPr>
            <a:r>
              <a:rPr sz="2025" b="0" i="0" kern="400000" spc="6">
                <a:solidFill>
                  <a:srgbClr val="D0DDD4">
                    <a:alpha val="100000"/>
                  </a:srgbClr>
                </a:solidFill>
                <a:latin typeface="Deck"/>
                <a:ea typeface="Deck"/>
                <a:cs typeface="Deck"/>
              </a:rPr>
              <a:t xml:space="preserve">From the WhiteCoat Innovation Team</a:t>
            </a:r>
            <a:endParaRPr lang="en-US" sz="2025" spc="6" kern="400000">
              <a:latin typeface="Deck"/>
            </a:endParaRPr>
          </a:p>
        </p:txBody>
      </p:sp>
      <p:sp>
        <p:nvSpPr>
          <p:cNvPr id="5" name="s01-t003">
            <a:extLst xmlns:a="http://schemas.openxmlformats.org/drawingml/2006/main">
              <a:ext uri="{FF2B5EF4-FFF2-40B4-BE49-F238E27FC236}">
                <a16:creationId xmlns:a16="http://schemas.microsoft.com/office/drawing/2014/main" id="{5F66880E-7A90-4DE0-8D36-6352248FF210}"/>
              </a:ext>
            </a:extLst>
          </p:cNvPr>
          <p:cNvSpPr>
            <a:spLocks xmlns:a="http://schemas.openxmlformats.org/drawingml/2006/main" noGrp="1"/>
          </p:cNvSpPr>
          <p:nvPr/>
        </p:nvSpPr>
        <p:spPr>
          <a:xfrm xmlns:a="http://schemas.openxmlformats.org/drawingml/2006/main">
            <a:off x="952500" y="2172138"/>
            <a:ext cx="9633985"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7" kern="400000">
                <a:solidFill>
                  <a:srgbClr val="FAF6F0"/>
                </a:solidFill>
                <a:latin typeface="Deck-Semi-Bold"/>
                <a:ea typeface="Deck-Semi-Bold"/>
                <a:cs typeface="Deck-Semi-Bold"/>
              </a:defRPr>
            </a:pPr>
            <a:r>
              <a:rPr sz="9450" b="0" i="0" kern="400000" spc="-517">
                <a:solidFill>
                  <a:srgbClr val="FAF6F0">
                    <a:alpha val="100000"/>
                  </a:srgbClr>
                </a:solidFill>
                <a:latin typeface="Deck-Semi-Bold"/>
                <a:ea typeface="Deck-Semi-Bold"/>
                <a:cs typeface="Deck-Semi-Bold"/>
              </a:rPr>
              <a:t xml:space="preserve">Less to remember.</a:t>
            </a:r>
            <a:endParaRPr lang="en-US" sz="9450" spc="-517" kern="400000">
              <a:latin typeface="Deck-Semi-Bold"/>
            </a:endParaRPr>
          </a:p>
        </p:txBody>
      </p:sp>
      <p:sp>
        <p:nvSpPr>
          <p:cNvPr id="6" name="s01-t004">
            <a:extLst xmlns:a="http://schemas.openxmlformats.org/drawingml/2006/main">
              <a:ext uri="{FF2B5EF4-FFF2-40B4-BE49-F238E27FC236}">
                <a16:creationId xmlns:a16="http://schemas.microsoft.com/office/drawing/2014/main" id="{964930D1-29BC-4B06-B99C-59B56B1B5FF7}"/>
              </a:ext>
            </a:extLst>
          </p:cNvPr>
          <p:cNvSpPr>
            <a:spLocks xmlns:a="http://schemas.openxmlformats.org/drawingml/2006/main" noGrp="1"/>
          </p:cNvSpPr>
          <p:nvPr/>
        </p:nvSpPr>
        <p:spPr>
          <a:xfrm xmlns:a="http://schemas.openxmlformats.org/drawingml/2006/main">
            <a:off x="952500" y="3414293"/>
            <a:ext cx="5879973"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08" kern="400000">
                <a:solidFill>
                  <a:srgbClr val="9BDAB6"/>
                </a:solidFill>
                <a:latin typeface="Deck-Semi-Bold"/>
                <a:ea typeface="Deck-Semi-Bold"/>
                <a:cs typeface="Deck-Semi-Bold"/>
              </a:defRPr>
            </a:pPr>
            <a:r>
              <a:rPr sz="9450" b="0" i="0" kern="400000" spc="-508">
                <a:solidFill>
                  <a:srgbClr val="9BDAB6">
                    <a:alpha val="100000"/>
                  </a:srgbClr>
                </a:solidFill>
                <a:latin typeface="Deck-Semi-Bold"/>
                <a:ea typeface="Deck-Semi-Bold"/>
                <a:cs typeface="Deck-Semi-Bold"/>
              </a:rPr>
              <a:t xml:space="preserve">More room</a:t>
            </a:r>
            <a:endParaRPr lang="en-US" sz="9450" spc="-508" kern="400000">
              <a:latin typeface="Deck-Semi-Bold"/>
            </a:endParaRPr>
          </a:p>
        </p:txBody>
      </p:sp>
      <p:sp>
        <p:nvSpPr>
          <p:cNvPr id="7" name="s01-t005">
            <a:extLst xmlns:a="http://schemas.openxmlformats.org/drawingml/2006/main">
              <a:ext uri="{FF2B5EF4-FFF2-40B4-BE49-F238E27FC236}">
                <a16:creationId xmlns:a16="http://schemas.microsoft.com/office/drawing/2014/main" id="{E6B5FFAD-B1D6-4C4D-8DDA-BD0FE4683549}"/>
              </a:ext>
            </a:extLst>
          </p:cNvPr>
          <p:cNvSpPr>
            <a:spLocks xmlns:a="http://schemas.openxmlformats.org/drawingml/2006/main" noGrp="1"/>
          </p:cNvSpPr>
          <p:nvPr/>
        </p:nvSpPr>
        <p:spPr>
          <a:xfrm xmlns:a="http://schemas.openxmlformats.org/drawingml/2006/main">
            <a:off x="952500" y="4656448"/>
            <a:ext cx="3992594" cy="1476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450" spc="-510" kern="400000">
                <a:solidFill>
                  <a:srgbClr val="9BDAB6"/>
                </a:solidFill>
                <a:latin typeface="Deck-Semi-Bold"/>
                <a:ea typeface="Deck-Semi-Bold"/>
                <a:cs typeface="Deck-Semi-Bold"/>
              </a:defRPr>
            </a:pPr>
            <a:r>
              <a:rPr sz="9450" b="0" i="0" kern="400000" spc="-510">
                <a:solidFill>
                  <a:srgbClr val="9BDAB6">
                    <a:alpha val="100000"/>
                  </a:srgbClr>
                </a:solidFill>
                <a:latin typeface="Deck-Semi-Bold"/>
                <a:ea typeface="Deck-Semi-Bold"/>
                <a:cs typeface="Deck-Semi-Bold"/>
              </a:rPr>
              <a:t xml:space="preserve">to care.</a:t>
            </a:r>
            <a:endParaRPr lang="en-US" sz="9450" spc="-510" kern="400000">
              <a:latin typeface="Deck-Semi-Bold"/>
            </a:endParaRPr>
          </a:p>
        </p:txBody>
      </p:sp>
      <p:sp>
        <p:nvSpPr>
          <p:cNvPr id="8" name="s01-t006">
            <a:extLst xmlns:a="http://schemas.openxmlformats.org/drawingml/2006/main">
              <a:ext uri="{FF2B5EF4-FFF2-40B4-BE49-F238E27FC236}">
                <a16:creationId xmlns:a16="http://schemas.microsoft.com/office/drawing/2014/main" id="{D7ABC6BF-6101-439C-B10A-058BC63ABBB0}"/>
              </a:ext>
            </a:extLst>
          </p:cNvPr>
          <p:cNvSpPr>
            <a:spLocks xmlns:a="http://schemas.openxmlformats.org/drawingml/2006/main" noGrp="1"/>
          </p:cNvSpPr>
          <p:nvPr/>
        </p:nvSpPr>
        <p:spPr>
          <a:xfrm xmlns:a="http://schemas.openxmlformats.org/drawingml/2006/main">
            <a:off x="990600" y="7458077"/>
            <a:ext cx="4654801"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133" kern="400000">
                <a:solidFill>
                  <a:srgbClr val="9BDAB6"/>
                </a:solidFill>
                <a:latin typeface="Deck"/>
                <a:ea typeface="Deck"/>
                <a:cs typeface="Deck"/>
              </a:defRPr>
            </a:pPr>
            <a:r>
              <a:rPr sz="1575" b="0" i="0" kern="400000" spc="133">
                <a:solidFill>
                  <a:srgbClr val="9BDAB6">
                    <a:alpha val="100000"/>
                  </a:srgbClr>
                </a:solidFill>
                <a:latin typeface="Deck"/>
                <a:ea typeface="Deck"/>
                <a:cs typeface="Deck"/>
              </a:rPr>
              <a:t xml:space="preserve">HEALTHCARE · LONG-TERM SELF-CARE</a:t>
            </a:r>
            <a:endParaRPr lang="en-US" sz="1575" spc="133" kern="400000">
              <a:latin typeface="Deck"/>
            </a:endParaRPr>
          </a:p>
        </p:txBody>
      </p:sp>
      <p:sp>
        <p:nvSpPr>
          <p:cNvPr id="9" name="s01-t007">
            <a:extLst xmlns:a="http://schemas.openxmlformats.org/drawingml/2006/main">
              <a:ext uri="{FF2B5EF4-FFF2-40B4-BE49-F238E27FC236}">
                <a16:creationId xmlns:a16="http://schemas.microsoft.com/office/drawing/2014/main" id="{0828D0F6-011F-4D08-ACA0-749AC2FCF157}"/>
              </a:ext>
            </a:extLst>
          </p:cNvPr>
          <p:cNvSpPr>
            <a:spLocks xmlns:a="http://schemas.openxmlformats.org/drawingml/2006/main" noGrp="1"/>
          </p:cNvSpPr>
          <p:nvPr/>
        </p:nvSpPr>
        <p:spPr>
          <a:xfrm xmlns:a="http://schemas.openxmlformats.org/drawingml/2006/main">
            <a:off x="990600" y="8000997"/>
            <a:ext cx="6123889"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FAF6F0"/>
                </a:solidFill>
                <a:latin typeface="Deck"/>
                <a:ea typeface="Deck"/>
                <a:cs typeface="Deck"/>
              </a:defRPr>
            </a:pPr>
            <a:r>
              <a:rPr sz="1800" b="0" i="0" kern="400000" spc="-8">
                <a:solidFill>
                  <a:srgbClr val="FAF6F0">
                    <a:alpha val="100000"/>
                  </a:srgbClr>
                </a:solidFill>
                <a:latin typeface="Deck"/>
                <a:ea typeface="Deck"/>
                <a:cs typeface="Deck"/>
              </a:rPr>
              <a:t xml:space="preserve">Tencent Cloud AI CAN DO IT Hackathon Singapore 2026</a:t>
            </a:r>
            <a:endParaRPr lang="en-US" sz="1800" spc="-8" kern="400000">
              <a:latin typeface="Deck"/>
            </a:endParaRPr>
          </a:p>
        </p:txBody>
      </p:sp>
      <p:sp>
        <p:nvSpPr>
          <p:cNvPr id="10" name="s01-t008">
            <a:extLst xmlns:a="http://schemas.openxmlformats.org/drawingml/2006/main">
              <a:ext uri="{FF2B5EF4-FFF2-40B4-BE49-F238E27FC236}">
                <a16:creationId xmlns:a16="http://schemas.microsoft.com/office/drawing/2014/main" id="{36D04FC8-AB6B-49D0-8B0E-5AB117A95977}"/>
              </a:ext>
            </a:extLst>
          </p:cNvPr>
          <p:cNvSpPr>
            <a:spLocks xmlns:a="http://schemas.openxmlformats.org/drawingml/2006/main" noGrp="1"/>
          </p:cNvSpPr>
          <p:nvPr/>
        </p:nvSpPr>
        <p:spPr>
          <a:xfrm xmlns:a="http://schemas.openxmlformats.org/drawingml/2006/main">
            <a:off x="990600" y="8505823"/>
            <a:ext cx="5342338"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75" kern="400000">
                <a:solidFill>
                  <a:srgbClr val="FAF6F0"/>
                </a:solidFill>
                <a:latin typeface="Deck"/>
                <a:ea typeface="Deck"/>
                <a:cs typeface="Deck"/>
              </a:defRPr>
            </a:pPr>
            <a:r>
              <a:rPr sz="1875" b="0" i="0" kern="400000" spc="75">
                <a:solidFill>
                  <a:srgbClr val="A8A6A2">
                    <a:alpha val="100000"/>
                  </a:srgbClr>
                </a:solidFill>
                <a:latin typeface="Deck"/>
                <a:ea typeface="Deck"/>
                <a:cs typeface="Deck"/>
              </a:rPr>
              <a:t xml:space="preserve">Alex Lew · Shao Quan Chew · Yau Boon Tan</a:t>
            </a:r>
            <a:endParaRPr lang="en-US" sz="1875" spc="75" kern="400000">
              <a:latin typeface="Deck"/>
            </a:endParaRPr>
          </a:p>
        </p:txBody>
      </p:sp>
      <p:sp>
        <p:nvSpPr>
          <p:cNvPr id="11" name="s01-t009">
            <a:extLst xmlns:a="http://schemas.openxmlformats.org/drawingml/2006/main">
              <a:ext uri="{FF2B5EF4-FFF2-40B4-BE49-F238E27FC236}">
                <a16:creationId xmlns:a16="http://schemas.microsoft.com/office/drawing/2014/main" id="{8C144EC9-838C-4F52-BA78-D14431DF5C6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19E9A">
                    <a:alpha val="100000"/>
                  </a:srgbClr>
                </a:solidFill>
                <a:latin typeface="Deck"/>
                <a:ea typeface="Deck"/>
                <a:cs typeface="Deck"/>
              </a:rPr>
              <a:t xml:space="preserve">01</a:t>
            </a:r>
            <a:endParaRPr lang="en-US" sz="1350" spc="7" kern="400000">
              <a:latin typeface="Deck"/>
            </a:endParaRPr>
          </a:p>
        </p:txBody>
      </p:sp>
    </p:spTree>
    <p:extLst>
      <p:ext uri="{BB962C8B-B14F-4D97-AF65-F5344CB8AC3E}">
        <p14:creationId xmlns:p14="http://schemas.microsoft.com/office/powerpoint/2010/main" val="130392930"/>
      </p:ext>
    </p:extLst>
  </p:cSld>
</p:sld>
</file>

<file path=ppt/slides/slide2.xml><?xml version="1.0" encoding="utf-8"?>
<p:sld xmlns:p="http://schemas.openxmlformats.org/presentationml/2006/main">
  <p:cSld>
    <p:bg>
      <p:bgPr>
        <a:solidFill xmlns:a="http://schemas.openxmlformats.org/drawingml/2006/main">
          <a:srgbClr val="050809"/>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6dce04c54164cd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2-t000">
            <a:extLst xmlns:a="http://schemas.openxmlformats.org/drawingml/2006/main">
              <a:ext uri="{FF2B5EF4-FFF2-40B4-BE49-F238E27FC236}">
                <a16:creationId xmlns:a16="http://schemas.microsoft.com/office/drawing/2014/main" id="{5BA81B77-BD98-4EA7-A0D1-4A705FB2E87F}"/>
              </a:ext>
            </a:extLst>
          </p:cNvPr>
          <p:cNvSpPr>
            <a:spLocks xmlns:a="http://schemas.openxmlformats.org/drawingml/2006/main" noGrp="1"/>
          </p:cNvSpPr>
          <p:nvPr/>
        </p:nvSpPr>
        <p:spPr>
          <a:xfrm xmlns:a="http://schemas.openxmlformats.org/drawingml/2006/main">
            <a:off x="981075" y="1926527"/>
            <a:ext cx="7682951"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4" kern="400000">
                <a:solidFill>
                  <a:srgbClr val="FAF6F0"/>
                </a:solidFill>
                <a:latin typeface="Deck-Semi-Bold"/>
                <a:ea typeface="Deck-Semi-Bold"/>
                <a:cs typeface="Deck-Semi-Bold"/>
              </a:defRPr>
            </a:pPr>
            <a:r>
              <a:rPr sz="9225" b="0" i="0" kern="400000" spc="-394">
                <a:solidFill>
                  <a:srgbClr val="FAF6F0">
                    <a:alpha val="100000"/>
                  </a:srgbClr>
                </a:solidFill>
                <a:latin typeface="Deck-Semi-Bold"/>
                <a:ea typeface="Deck-Semi-Bold"/>
                <a:cs typeface="Deck-Semi-Bold"/>
              </a:rPr>
              <a:t xml:space="preserve">AI everywhere.</a:t>
            </a:r>
            <a:endParaRPr lang="en-US" sz="9225" spc="-394" kern="400000">
              <a:latin typeface="Deck-Semi-Bold"/>
            </a:endParaRPr>
          </a:p>
        </p:txBody>
      </p:sp>
      <p:sp>
        <p:nvSpPr>
          <p:cNvPr id="3" name="s02-t001">
            <a:extLst xmlns:a="http://schemas.openxmlformats.org/drawingml/2006/main">
              <a:ext uri="{FF2B5EF4-FFF2-40B4-BE49-F238E27FC236}">
                <a16:creationId xmlns:a16="http://schemas.microsoft.com/office/drawing/2014/main" id="{12985A1E-5C4D-47A0-ADC9-4CE702DD862B}"/>
              </a:ext>
            </a:extLst>
          </p:cNvPr>
          <p:cNvSpPr>
            <a:spLocks xmlns:a="http://schemas.openxmlformats.org/drawingml/2006/main" noGrp="1"/>
          </p:cNvSpPr>
          <p:nvPr/>
        </p:nvSpPr>
        <p:spPr>
          <a:xfrm xmlns:a="http://schemas.openxmlformats.org/drawingml/2006/main">
            <a:off x="981075" y="3168396"/>
            <a:ext cx="3447183"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97" kern="400000">
                <a:solidFill>
                  <a:srgbClr val="FAF6F0"/>
                </a:solidFill>
                <a:latin typeface="Deck-Semi-Bold"/>
                <a:ea typeface="Deck-Semi-Bold"/>
                <a:cs typeface="Deck-Semi-Bold"/>
              </a:defRPr>
            </a:pPr>
            <a:r>
              <a:rPr sz="9225" b="0" i="0" kern="400000" spc="-397">
                <a:solidFill>
                  <a:srgbClr val="FAF6F0">
                    <a:alpha val="100000"/>
                  </a:srgbClr>
                </a:solidFill>
                <a:latin typeface="Deck-Semi-Bold"/>
                <a:ea typeface="Deck-Semi-Bold"/>
                <a:cs typeface="Deck-Semi-Bold"/>
              </a:rPr>
              <a:t xml:space="preserve">Life at</a:t>
            </a:r>
            <a:endParaRPr lang="en-US" sz="9225" spc="-397" kern="400000">
              <a:latin typeface="Deck-Semi-Bold"/>
            </a:endParaRPr>
          </a:p>
        </p:txBody>
      </p:sp>
      <p:sp>
        <p:nvSpPr>
          <p:cNvPr id="4" name="s02-t002">
            <a:extLst xmlns:a="http://schemas.openxmlformats.org/drawingml/2006/main">
              <a:ext uri="{FF2B5EF4-FFF2-40B4-BE49-F238E27FC236}">
                <a16:creationId xmlns:a16="http://schemas.microsoft.com/office/drawing/2014/main" id="{61CA92B4-1E54-4DE0-9B5B-FED8014D18E9}"/>
              </a:ext>
            </a:extLst>
          </p:cNvPr>
          <p:cNvSpPr>
            <a:spLocks xmlns:a="http://schemas.openxmlformats.org/drawingml/2006/main" noGrp="1"/>
          </p:cNvSpPr>
          <p:nvPr/>
        </p:nvSpPr>
        <p:spPr>
          <a:xfrm xmlns:a="http://schemas.openxmlformats.org/drawingml/2006/main">
            <a:off x="981075" y="4410266"/>
            <a:ext cx="5358489"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69" kern="400000">
                <a:solidFill>
                  <a:srgbClr val="9BDAB6"/>
                </a:solidFill>
                <a:latin typeface="Deck-Semi-Bold"/>
                <a:ea typeface="Deck-Semi-Bold"/>
                <a:cs typeface="Deck-Semi-Bold"/>
              </a:defRPr>
            </a:pPr>
            <a:r>
              <a:rPr sz="9225" b="0" i="0" kern="400000" spc="-369">
                <a:solidFill>
                  <a:srgbClr val="9BDAB6">
                    <a:alpha val="100000"/>
                  </a:srgbClr>
                </a:solidFill>
                <a:latin typeface="Deck-Semi-Bold"/>
                <a:ea typeface="Deck-Semi-Bold"/>
                <a:cs typeface="Deck-Semi-Bold"/>
              </a:rPr>
              <a:t xml:space="preserve">full speed.</a:t>
            </a:r>
            <a:endParaRPr lang="en-US" sz="9225" spc="-369" kern="400000">
              <a:latin typeface="Deck-Semi-Bold"/>
            </a:endParaRPr>
          </a:p>
        </p:txBody>
      </p:sp>
      <p:sp>
        <p:nvSpPr>
          <p:cNvPr id="5" name="s02-t003">
            <a:extLst xmlns:a="http://schemas.openxmlformats.org/drawingml/2006/main">
              <a:ext uri="{FF2B5EF4-FFF2-40B4-BE49-F238E27FC236}">
                <a16:creationId xmlns:a16="http://schemas.microsoft.com/office/drawing/2014/main" id="{403BC5CD-F596-4EE5-8878-F55E45695C6F}"/>
              </a:ext>
            </a:extLst>
          </p:cNvPr>
          <p:cNvSpPr>
            <a:spLocks xmlns:a="http://schemas.openxmlformats.org/drawingml/2006/main" noGrp="1"/>
          </p:cNvSpPr>
          <p:nvPr/>
        </p:nvSpPr>
        <p:spPr>
          <a:xfrm xmlns:a="http://schemas.openxmlformats.org/drawingml/2006/main">
            <a:off x="981075" y="6259558"/>
            <a:ext cx="45190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messages. More screens.</a:t>
            </a:r>
            <a:endParaRPr lang="en-US" sz="2400" spc="-10" kern="400000">
              <a:latin typeface="Deck"/>
            </a:endParaRPr>
          </a:p>
        </p:txBody>
      </p:sp>
      <p:sp>
        <p:nvSpPr>
          <p:cNvPr id="6" name="s02-t004">
            <a:extLst xmlns:a="http://schemas.openxmlformats.org/drawingml/2006/main">
              <a:ext uri="{FF2B5EF4-FFF2-40B4-BE49-F238E27FC236}">
                <a16:creationId xmlns:a16="http://schemas.microsoft.com/office/drawing/2014/main" id="{330B8644-ACCC-44B8-86CF-17356D3F94F2}"/>
              </a:ext>
            </a:extLst>
          </p:cNvPr>
          <p:cNvSpPr>
            <a:spLocks xmlns:a="http://schemas.openxmlformats.org/drawingml/2006/main" noGrp="1"/>
          </p:cNvSpPr>
          <p:nvPr/>
        </p:nvSpPr>
        <p:spPr>
          <a:xfrm xmlns:a="http://schemas.openxmlformats.org/drawingml/2006/main">
            <a:off x="981075" y="6710662"/>
            <a:ext cx="4951247"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More competing for our attention.</a:t>
            </a:r>
            <a:endParaRPr lang="en-US" sz="2400" spc="-10" kern="400000">
              <a:latin typeface="Deck"/>
            </a:endParaRPr>
          </a:p>
        </p:txBody>
      </p:sp>
      <p:sp>
        <p:nvSpPr>
          <p:cNvPr id="7" name="s02-t005">
            <a:extLst xmlns:a="http://schemas.openxmlformats.org/drawingml/2006/main">
              <a:ext uri="{FF2B5EF4-FFF2-40B4-BE49-F238E27FC236}">
                <a16:creationId xmlns:a16="http://schemas.microsoft.com/office/drawing/2014/main" id="{DFDE96F2-7828-464B-A12D-9D8FEEA0EA2B}"/>
              </a:ext>
            </a:extLst>
          </p:cNvPr>
          <p:cNvSpPr>
            <a:spLocks xmlns:a="http://schemas.openxmlformats.org/drawingml/2006/main" noGrp="1"/>
          </p:cNvSpPr>
          <p:nvPr/>
        </p:nvSpPr>
        <p:spPr>
          <a:xfrm xmlns:a="http://schemas.openxmlformats.org/drawingml/2006/main">
            <a:off x="981075" y="1438280"/>
            <a:ext cx="355377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4" kern="400000">
                <a:solidFill>
                  <a:srgbClr val="FAF6F0"/>
                </a:solidFill>
                <a:latin typeface="Deck-Medium"/>
                <a:ea typeface="Deck-Medium"/>
                <a:cs typeface="Deck-Medium"/>
              </a:defRPr>
            </a:pPr>
            <a:r>
              <a:rPr sz="1725" b="0" i="0" kern="400000" spc="294">
                <a:solidFill>
                  <a:srgbClr val="BAB8B4">
                    <a:alpha val="100000"/>
                  </a:srgbClr>
                </a:solidFill>
                <a:latin typeface="Deck-Medium"/>
                <a:ea typeface="Deck-Medium"/>
                <a:cs typeface="Deck-Medium"/>
              </a:rPr>
              <a:t xml:space="preserve">THE WORLD AROUND US</a:t>
            </a:r>
            <a:endParaRPr lang="en-US" sz="1725" spc="294" kern="400000">
              <a:latin typeface="Deck-Medium"/>
            </a:endParaRPr>
          </a:p>
        </p:txBody>
      </p:sp>
      <p:sp>
        <p:nvSpPr>
          <p:cNvPr id="8" name="s02-t006">
            <a:extLst xmlns:a="http://schemas.openxmlformats.org/drawingml/2006/main">
              <a:ext uri="{FF2B5EF4-FFF2-40B4-BE49-F238E27FC236}">
                <a16:creationId xmlns:a16="http://schemas.microsoft.com/office/drawing/2014/main" id="{619A72CA-2435-48D8-9165-79D1E164827C}"/>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29F9C">
                    <a:alpha val="100000"/>
                  </a:srgbClr>
                </a:solidFill>
                <a:latin typeface="Deck"/>
                <a:ea typeface="Deck"/>
                <a:cs typeface="Deck"/>
              </a:rPr>
              <a:t xml:space="preserve">02</a:t>
            </a:r>
            <a:endParaRPr lang="en-US" sz="1350" spc="6" kern="400000">
              <a:latin typeface="Deck"/>
            </a:endParaRPr>
          </a:p>
        </p:txBody>
      </p:sp>
    </p:spTree>
    <p:extLst>
      <p:ext uri="{BB962C8B-B14F-4D97-AF65-F5344CB8AC3E}">
        <p14:creationId xmlns:p14="http://schemas.microsoft.com/office/powerpoint/2010/main" val="1671065738"/>
      </p:ext>
    </p:extLst>
  </p:cSld>
</p:sld>
</file>

<file path=ppt/slides/slide3.xml><?xml version="1.0" encoding="utf-8"?>
<p:sld xmlns:p="http://schemas.openxmlformats.org/presentationml/2006/main">
  <p:cSld>
    <p:bg>
      <p:bgPr>
        <a:solidFill xmlns:a="http://schemas.openxmlformats.org/drawingml/2006/main">
          <a:srgbClr val="07090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8803bba04e64e15"/>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03-t000">
            <a:extLst xmlns:a="http://schemas.openxmlformats.org/drawingml/2006/main">
              <a:ext uri="{FF2B5EF4-FFF2-40B4-BE49-F238E27FC236}">
                <a16:creationId xmlns:a16="http://schemas.microsoft.com/office/drawing/2014/main" id="{1931840B-10B9-440D-B153-E1B060227B9E}"/>
              </a:ext>
            </a:extLst>
          </p:cNvPr>
          <p:cNvSpPr>
            <a:spLocks xmlns:a="http://schemas.openxmlformats.org/drawingml/2006/main" noGrp="1"/>
          </p:cNvSpPr>
          <p:nvPr/>
        </p:nvSpPr>
        <p:spPr>
          <a:xfrm xmlns:a="http://schemas.openxmlformats.org/drawingml/2006/main">
            <a:off x="981075" y="1926527"/>
            <a:ext cx="6652727"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385" kern="400000">
                <a:solidFill>
                  <a:srgbClr val="FAF6F0"/>
                </a:solidFill>
                <a:latin typeface="Deck-Semi-Bold"/>
                <a:ea typeface="Deck-Semi-Bold"/>
                <a:cs typeface="Deck-Semi-Bold"/>
              </a:defRPr>
            </a:pPr>
            <a:r>
              <a:rPr sz="9225" b="0" i="0" kern="400000" spc="-385">
                <a:solidFill>
                  <a:srgbClr val="FAF6F0">
                    <a:alpha val="100000"/>
                  </a:srgbClr>
                </a:solidFill>
                <a:latin typeface="Deck-Semi-Bold"/>
                <a:ea typeface="Deck-Semi-Bold"/>
                <a:cs typeface="Deck-Semi-Bold"/>
              </a:rPr>
              <a:t xml:space="preserve">Care can slip</a:t>
            </a:r>
            <a:endParaRPr lang="en-US" sz="9225" spc="-385" kern="400000">
              <a:latin typeface="Deck-Semi-Bold"/>
            </a:endParaRPr>
          </a:p>
        </p:txBody>
      </p:sp>
      <p:sp>
        <p:nvSpPr>
          <p:cNvPr id="3" name="s03-t001">
            <a:extLst xmlns:a="http://schemas.openxmlformats.org/drawingml/2006/main">
              <a:ext uri="{FF2B5EF4-FFF2-40B4-BE49-F238E27FC236}">
                <a16:creationId xmlns:a16="http://schemas.microsoft.com/office/drawing/2014/main" id="{26C224CE-1D6F-4A31-B3AB-930FA60903C9}"/>
              </a:ext>
            </a:extLst>
          </p:cNvPr>
          <p:cNvSpPr>
            <a:spLocks xmlns:a="http://schemas.openxmlformats.org/drawingml/2006/main" noGrp="1"/>
          </p:cNvSpPr>
          <p:nvPr/>
        </p:nvSpPr>
        <p:spPr>
          <a:xfrm xmlns:a="http://schemas.openxmlformats.org/drawingml/2006/main">
            <a:off x="981075" y="3168396"/>
            <a:ext cx="4274315"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07" kern="400000">
                <a:solidFill>
                  <a:srgbClr val="FAF6F0"/>
                </a:solidFill>
                <a:latin typeface="Deck-Semi-Bold"/>
                <a:ea typeface="Deck-Semi-Bold"/>
                <a:cs typeface="Deck-Semi-Bold"/>
              </a:defRPr>
            </a:pPr>
            <a:r>
              <a:rPr sz="9225" b="0" i="0" kern="400000" spc="-407">
                <a:solidFill>
                  <a:srgbClr val="FAF6F0">
                    <a:alpha val="100000"/>
                  </a:srgbClr>
                </a:solidFill>
                <a:latin typeface="Deck-Semi-Bold"/>
                <a:ea typeface="Deck-Semi-Bold"/>
                <a:cs typeface="Deck-Semi-Bold"/>
              </a:rPr>
              <a:t xml:space="preserve">through</a:t>
            </a:r>
            <a:endParaRPr lang="en-US" sz="9225" spc="-407" kern="400000">
              <a:latin typeface="Deck-Semi-Bold"/>
            </a:endParaRPr>
          </a:p>
        </p:txBody>
      </p:sp>
      <p:sp>
        <p:nvSpPr>
          <p:cNvPr id="4" name="s03-t002">
            <a:extLst xmlns:a="http://schemas.openxmlformats.org/drawingml/2006/main">
              <a:ext uri="{FF2B5EF4-FFF2-40B4-BE49-F238E27FC236}">
                <a16:creationId xmlns:a16="http://schemas.microsoft.com/office/drawing/2014/main" id="{0BCDC547-C876-4B7D-B0C3-B20A77121F51}"/>
              </a:ext>
            </a:extLst>
          </p:cNvPr>
          <p:cNvSpPr>
            <a:spLocks xmlns:a="http://schemas.openxmlformats.org/drawingml/2006/main" noGrp="1"/>
          </p:cNvSpPr>
          <p:nvPr/>
        </p:nvSpPr>
        <p:spPr>
          <a:xfrm xmlns:a="http://schemas.openxmlformats.org/drawingml/2006/main">
            <a:off x="981075" y="4410266"/>
            <a:ext cx="5736908" cy="14410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225" spc="-463" kern="400000">
                <a:solidFill>
                  <a:srgbClr val="9BDAB6"/>
                </a:solidFill>
                <a:latin typeface="Deck-Semi-Bold"/>
                <a:ea typeface="Deck-Semi-Bold"/>
                <a:cs typeface="Deck-Semi-Bold"/>
              </a:defRPr>
            </a:pPr>
            <a:r>
              <a:rPr sz="9225" b="0" i="0" kern="400000" spc="-463">
                <a:solidFill>
                  <a:srgbClr val="9BDAB6">
                    <a:alpha val="100000"/>
                  </a:srgbClr>
                </a:solidFill>
                <a:latin typeface="Deck-Semi-Bold"/>
                <a:ea typeface="Deck-Semi-Bold"/>
                <a:cs typeface="Deck-Semi-Bold"/>
              </a:rPr>
              <a:t xml:space="preserve">a busy day.</a:t>
            </a:r>
            <a:endParaRPr lang="en-US" sz="9225" spc="-463" kern="400000">
              <a:latin typeface="Deck-Semi-Bold"/>
            </a:endParaRPr>
          </a:p>
        </p:txBody>
      </p:sp>
      <p:sp>
        <p:nvSpPr>
          <p:cNvPr id="5" name="s03-t003">
            <a:extLst xmlns:a="http://schemas.openxmlformats.org/drawingml/2006/main">
              <a:ext uri="{FF2B5EF4-FFF2-40B4-BE49-F238E27FC236}">
                <a16:creationId xmlns:a16="http://schemas.microsoft.com/office/drawing/2014/main" id="{73493DD8-BE4E-491A-895E-41D8837F6F4A}"/>
              </a:ext>
            </a:extLst>
          </p:cNvPr>
          <p:cNvSpPr>
            <a:spLocks xmlns:a="http://schemas.openxmlformats.org/drawingml/2006/main" noGrp="1"/>
          </p:cNvSpPr>
          <p:nvPr/>
        </p:nvSpPr>
        <p:spPr>
          <a:xfrm xmlns:a="http://schemas.openxmlformats.org/drawingml/2006/main">
            <a:off x="981075" y="6259558"/>
            <a:ext cx="3637255"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0" kern="400000">
                <a:solidFill>
                  <a:srgbClr val="E4E7DF"/>
                </a:solidFill>
                <a:latin typeface="Deck"/>
                <a:ea typeface="Deck"/>
                <a:cs typeface="Deck"/>
              </a:defRPr>
            </a:pPr>
            <a:r>
              <a:rPr sz="2400" b="0" i="0" kern="400000" spc="-10">
                <a:solidFill>
                  <a:srgbClr val="E4E7DF">
                    <a:alpha val="100000"/>
                  </a:srgbClr>
                </a:solidFill>
                <a:latin typeface="Deck"/>
                <a:ea typeface="Deck"/>
                <a:cs typeface="Deck"/>
              </a:rPr>
              <a:t xml:space="preserve">Our routines. Our health.</a:t>
            </a:r>
            <a:endParaRPr lang="en-US" sz="2400" spc="-10" kern="400000">
              <a:latin typeface="Deck"/>
            </a:endParaRPr>
          </a:p>
        </p:txBody>
      </p:sp>
      <p:sp>
        <p:nvSpPr>
          <p:cNvPr id="6" name="s03-t004">
            <a:extLst xmlns:a="http://schemas.openxmlformats.org/drawingml/2006/main">
              <a:ext uri="{FF2B5EF4-FFF2-40B4-BE49-F238E27FC236}">
                <a16:creationId xmlns:a16="http://schemas.microsoft.com/office/drawing/2014/main" id="{508EEC7C-8E7A-4F26-8E6E-681F5EA89E85}"/>
              </a:ext>
            </a:extLst>
          </p:cNvPr>
          <p:cNvSpPr>
            <a:spLocks xmlns:a="http://schemas.openxmlformats.org/drawingml/2006/main" noGrp="1"/>
          </p:cNvSpPr>
          <p:nvPr/>
        </p:nvSpPr>
        <p:spPr>
          <a:xfrm xmlns:a="http://schemas.openxmlformats.org/drawingml/2006/main">
            <a:off x="981075" y="6710662"/>
            <a:ext cx="4866208"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5" kern="400000">
                <a:solidFill>
                  <a:srgbClr val="E4E7DF"/>
                </a:solidFill>
                <a:latin typeface="Deck"/>
                <a:ea typeface="Deck"/>
                <a:cs typeface="Deck"/>
              </a:defRPr>
            </a:pPr>
            <a:r>
              <a:rPr sz="2400" b="0" i="0" kern="400000" spc="-5">
                <a:solidFill>
                  <a:srgbClr val="E4E7DF">
                    <a:alpha val="100000"/>
                  </a:srgbClr>
                </a:solidFill>
                <a:latin typeface="Deck"/>
                <a:ea typeface="Deck"/>
                <a:cs typeface="Deck"/>
              </a:rPr>
              <a:t xml:space="preserve">The people we mean to check on.</a:t>
            </a:r>
            <a:endParaRPr lang="en-US" sz="2400" spc="-5" kern="400000">
              <a:latin typeface="Deck"/>
            </a:endParaRPr>
          </a:p>
        </p:txBody>
      </p:sp>
      <p:sp>
        <p:nvSpPr>
          <p:cNvPr id="7" name="s03-t005">
            <a:extLst xmlns:a="http://schemas.openxmlformats.org/drawingml/2006/main">
              <a:ext uri="{FF2B5EF4-FFF2-40B4-BE49-F238E27FC236}">
                <a16:creationId xmlns:a16="http://schemas.microsoft.com/office/drawing/2014/main" id="{6E34F105-C20C-4F13-8ACE-796BC77E9233}"/>
              </a:ext>
            </a:extLst>
          </p:cNvPr>
          <p:cNvSpPr>
            <a:spLocks xmlns:a="http://schemas.openxmlformats.org/drawingml/2006/main" noGrp="1"/>
          </p:cNvSpPr>
          <p:nvPr/>
        </p:nvSpPr>
        <p:spPr>
          <a:xfrm xmlns:a="http://schemas.openxmlformats.org/drawingml/2006/main">
            <a:off x="981075" y="1438280"/>
            <a:ext cx="225634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7" kern="400000">
                <a:solidFill>
                  <a:srgbClr val="FAF6F0"/>
                </a:solidFill>
                <a:latin typeface="Deck-Medium"/>
                <a:ea typeface="Deck-Medium"/>
                <a:cs typeface="Deck-Medium"/>
              </a:defRPr>
            </a:pPr>
            <a:r>
              <a:rPr sz="1725" b="0" i="0" kern="400000" spc="297">
                <a:solidFill>
                  <a:srgbClr val="BBB9B4">
                    <a:alpha val="100000"/>
                  </a:srgbClr>
                </a:solidFill>
                <a:latin typeface="Deck-Medium"/>
                <a:ea typeface="Deck-Medium"/>
                <a:cs typeface="Deck-Medium"/>
              </a:rPr>
              <a:t xml:space="preserve">THE CARE GAP</a:t>
            </a:r>
            <a:endParaRPr lang="en-US" sz="1725" spc="297" kern="400000">
              <a:latin typeface="Deck-Medium"/>
            </a:endParaRPr>
          </a:p>
        </p:txBody>
      </p:sp>
      <p:sp>
        <p:nvSpPr>
          <p:cNvPr id="8" name="s03-t006">
            <a:extLst xmlns:a="http://schemas.openxmlformats.org/drawingml/2006/main">
              <a:ext uri="{FF2B5EF4-FFF2-40B4-BE49-F238E27FC236}">
                <a16:creationId xmlns:a16="http://schemas.microsoft.com/office/drawing/2014/main" id="{84636688-D2A7-4E20-AC3E-DA4913F9EC7B}"/>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9E99">
                    <a:alpha val="100000"/>
                  </a:srgbClr>
                </a:solidFill>
                <a:latin typeface="Deck"/>
                <a:ea typeface="Deck"/>
                <a:cs typeface="Deck"/>
              </a:rPr>
              <a:t xml:space="preserve">03</a:t>
            </a:r>
            <a:endParaRPr lang="en-US" sz="1350" spc="6" kern="400000">
              <a:latin typeface="Deck"/>
            </a:endParaRPr>
          </a:p>
        </p:txBody>
      </p:sp>
    </p:spTree>
    <p:extLst>
      <p:ext uri="{BB962C8B-B14F-4D97-AF65-F5344CB8AC3E}">
        <p14:creationId xmlns:p14="http://schemas.microsoft.com/office/powerpoint/2010/main" val="8926857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c4719cd45515438b"/>
          <a:stretch xmlns:a="http://schemas.openxmlformats.org/drawingml/2006/main"/>
        </p:blipFill>
        <p:spPr>
          <a:xfrm xmlns:a="http://schemas.openxmlformats.org/drawingml/2006/main">
            <a:off x="6810375" y="1619250"/>
            <a:ext cx="4714875" cy="3333750"/>
          </a:xfrm>
          <a:prstGeom xmlns:a="http://schemas.openxmlformats.org/drawingml/2006/main" prst="rect">
            <a:avLst/>
          </a:prstGeom>
        </p:spPr>
      </p:pic>
      <p:sp>
        <p:nvSpPr>
          <p:cNvPr id="2" name="s04-t000">
            <a:extLst xmlns:a="http://schemas.openxmlformats.org/drawingml/2006/main">
              <a:ext uri="{FF2B5EF4-FFF2-40B4-BE49-F238E27FC236}">
                <a16:creationId xmlns:a16="http://schemas.microsoft.com/office/drawing/2014/main" id="{B2601FED-81BF-4C17-8D77-CF2E923306D2}"/>
              </a:ext>
            </a:extLst>
          </p:cNvPr>
          <p:cNvSpPr>
            <a:spLocks xmlns:a="http://schemas.openxmlformats.org/drawingml/2006/main" noGrp="1"/>
          </p:cNvSpPr>
          <p:nvPr/>
        </p:nvSpPr>
        <p:spPr>
          <a:xfrm xmlns:a="http://schemas.openxmlformats.org/drawingml/2006/main">
            <a:off x="7987219" y="781051"/>
            <a:ext cx="2503780"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375" kern="400000">
                <a:solidFill>
                  <a:srgbClr val="4F7A66"/>
                </a:solidFill>
                <a:latin typeface="Deck"/>
                <a:ea typeface="Deck"/>
                <a:cs typeface="Deck"/>
              </a:defRPr>
            </a:pPr>
            <a:r>
              <a:rPr sz="2025" b="0" i="0" kern="400000" spc="375">
                <a:solidFill>
                  <a:srgbClr val="4F7A66">
                    <a:alpha val="100000"/>
                  </a:srgbClr>
                </a:solidFill>
                <a:latin typeface="Deck"/>
                <a:ea typeface="Deck"/>
                <a:cs typeface="Deck"/>
              </a:rPr>
              <a:t xml:space="preserve">INTRODUCING</a:t>
            </a:r>
            <a:endParaRPr lang="en-US" sz="2025" spc="375" kern="400000">
              <a:latin typeface="Deck"/>
            </a:endParaRPr>
          </a:p>
        </p:txBody>
      </p:sp>
      <p:sp>
        <p:nvSpPr>
          <p:cNvPr id="3" name="s04-t001">
            <a:extLst xmlns:a="http://schemas.openxmlformats.org/drawingml/2006/main">
              <a:ext uri="{FF2B5EF4-FFF2-40B4-BE49-F238E27FC236}">
                <a16:creationId xmlns:a16="http://schemas.microsoft.com/office/drawing/2014/main" id="{08D5CDA6-B710-4BCA-83B8-ADFEE29C6DC4}"/>
              </a:ext>
            </a:extLst>
          </p:cNvPr>
          <p:cNvSpPr>
            <a:spLocks xmlns:a="http://schemas.openxmlformats.org/drawingml/2006/main" noGrp="1"/>
          </p:cNvSpPr>
          <p:nvPr/>
        </p:nvSpPr>
        <p:spPr>
          <a:xfrm xmlns:a="http://schemas.openxmlformats.org/drawingml/2006/main">
            <a:off x="5649009" y="5080300"/>
            <a:ext cx="7278472"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87" kern="400000">
                <a:solidFill>
                  <a:srgbClr val="3A3745"/>
                </a:solidFill>
                <a:latin typeface="Deck-Semi-Bold"/>
                <a:ea typeface="Deck-Semi-Bold"/>
                <a:cs typeface="Deck-Semi-Bold"/>
              </a:defRPr>
            </a:pPr>
            <a:r>
              <a:rPr sz="9150" b="0" i="0" kern="400000" spc="-487">
                <a:solidFill>
                  <a:srgbClr val="3A3745">
                    <a:alpha val="100000"/>
                  </a:srgbClr>
                </a:solidFill>
                <a:latin typeface="Deck-Semi-Bold"/>
                <a:ea typeface="Deck-Semi-Bold"/>
                <a:cs typeface="Deck-Semi-Bold"/>
              </a:rPr>
              <a:t xml:space="preserve">Your everyday</a:t>
            </a:r>
            <a:endParaRPr lang="en-US" sz="9150" spc="-487" kern="400000">
              <a:latin typeface="Deck-Semi-Bold"/>
            </a:endParaRPr>
          </a:p>
        </p:txBody>
      </p:sp>
      <p:sp>
        <p:nvSpPr>
          <p:cNvPr id="4" name="s04-t002">
            <a:extLst xmlns:a="http://schemas.openxmlformats.org/drawingml/2006/main">
              <a:ext uri="{FF2B5EF4-FFF2-40B4-BE49-F238E27FC236}">
                <a16:creationId xmlns:a16="http://schemas.microsoft.com/office/drawing/2014/main" id="{EC40D81C-1BA8-4A1E-BF2F-E8BB112A6540}"/>
              </a:ext>
            </a:extLst>
          </p:cNvPr>
          <p:cNvSpPr>
            <a:spLocks xmlns:a="http://schemas.openxmlformats.org/drawingml/2006/main" noGrp="1"/>
          </p:cNvSpPr>
          <p:nvPr/>
        </p:nvSpPr>
        <p:spPr>
          <a:xfrm xmlns:a="http://schemas.openxmlformats.org/drawingml/2006/main">
            <a:off x="5798920" y="6265591"/>
            <a:ext cx="6978663" cy="14293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150" spc="-424" kern="400000">
                <a:solidFill>
                  <a:srgbClr val="4F7A66"/>
                </a:solidFill>
                <a:latin typeface="Deck-Semi-Bold"/>
                <a:ea typeface="Deck-Semi-Bold"/>
                <a:cs typeface="Deck-Semi-Bold"/>
              </a:defRPr>
            </a:pPr>
            <a:r>
              <a:rPr sz="9150" b="0" i="0" kern="400000" spc="-424">
                <a:solidFill>
                  <a:srgbClr val="4F7A66">
                    <a:alpha val="100000"/>
                  </a:srgbClr>
                </a:solidFill>
                <a:latin typeface="Deck-Semi-Bold"/>
                <a:ea typeface="Deck-Semi-Bold"/>
                <a:cs typeface="Deck-Semi-Bold"/>
              </a:rPr>
              <a:t xml:space="preserve">health buddy.</a:t>
            </a:r>
            <a:endParaRPr lang="en-US" sz="9150" spc="-424" kern="400000">
              <a:latin typeface="Deck-Semi-Bold"/>
            </a:endParaRPr>
          </a:p>
        </p:txBody>
      </p:sp>
      <p:sp>
        <p:nvSpPr>
          <p:cNvPr id="5" name="s04-t003">
            <a:extLst xmlns:a="http://schemas.openxmlformats.org/drawingml/2006/main">
              <a:ext uri="{FF2B5EF4-FFF2-40B4-BE49-F238E27FC236}">
                <a16:creationId xmlns:a16="http://schemas.microsoft.com/office/drawing/2014/main" id="{81725350-97C4-45C8-804B-5E8BA8C1F15B}"/>
              </a:ext>
            </a:extLst>
          </p:cNvPr>
          <p:cNvSpPr>
            <a:spLocks xmlns:a="http://schemas.openxmlformats.org/drawingml/2006/main" noGrp="1"/>
          </p:cNvSpPr>
          <p:nvPr/>
        </p:nvSpPr>
        <p:spPr>
          <a:xfrm xmlns:a="http://schemas.openxmlformats.org/drawingml/2006/main">
            <a:off x="6436286" y="7926392"/>
            <a:ext cx="5655164"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0" kern="400000">
                <a:solidFill>
                  <a:srgbClr val="696570"/>
                </a:solidFill>
                <a:latin typeface="Deck"/>
                <a:ea typeface="Deck"/>
                <a:cs typeface="Deck"/>
              </a:defRPr>
            </a:pPr>
            <a:r>
              <a:rPr sz="2550" b="0" i="0" kern="400000" spc="-10">
                <a:solidFill>
                  <a:srgbClr val="696570">
                    <a:alpha val="100000"/>
                  </a:srgbClr>
                </a:solidFill>
                <a:latin typeface="Deck"/>
                <a:ea typeface="Deck"/>
                <a:cs typeface="Deck"/>
              </a:rPr>
              <a:t xml:space="preserve">A little more attention to your health.</a:t>
            </a:r>
            <a:endParaRPr lang="en-US" sz="2550" spc="-10" kern="400000">
              <a:latin typeface="Deck"/>
            </a:endParaRPr>
          </a:p>
        </p:txBody>
      </p:sp>
      <p:sp>
        <p:nvSpPr>
          <p:cNvPr id="6" name="s04-t004">
            <a:extLst xmlns:a="http://schemas.openxmlformats.org/drawingml/2006/main">
              <a:ext uri="{FF2B5EF4-FFF2-40B4-BE49-F238E27FC236}">
                <a16:creationId xmlns:a16="http://schemas.microsoft.com/office/drawing/2014/main" id="{4BBB242C-504E-4726-B2B9-1437E6DD85AB}"/>
              </a:ext>
            </a:extLst>
          </p:cNvPr>
          <p:cNvSpPr>
            <a:spLocks xmlns:a="http://schemas.openxmlformats.org/drawingml/2006/main" noGrp="1"/>
          </p:cNvSpPr>
          <p:nvPr/>
        </p:nvSpPr>
        <p:spPr>
          <a:xfrm xmlns:a="http://schemas.openxmlformats.org/drawingml/2006/main">
            <a:off x="6140132" y="8395975"/>
            <a:ext cx="624683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1" kern="400000">
                <a:solidFill>
                  <a:srgbClr val="696570"/>
                </a:solidFill>
                <a:latin typeface="Deck"/>
                <a:ea typeface="Deck"/>
                <a:cs typeface="Deck"/>
              </a:defRPr>
            </a:pPr>
            <a:r>
              <a:rPr sz="2550" b="0" i="0" kern="400000" spc="-11">
                <a:solidFill>
                  <a:srgbClr val="696570">
                    <a:alpha val="100000"/>
                  </a:srgbClr>
                </a:solidFill>
                <a:latin typeface="Deck"/>
                <a:ea typeface="Deck"/>
                <a:cs typeface="Deck"/>
              </a:rPr>
              <a:t xml:space="preserve">A little more care for the people you love.</a:t>
            </a:r>
            <a:endParaRPr lang="en-US" sz="2550" spc="-11" kern="400000">
              <a:latin typeface="Deck"/>
            </a:endParaRPr>
          </a:p>
        </p:txBody>
      </p:sp>
      <p:sp>
        <p:nvSpPr>
          <p:cNvPr id="7" name="s04-t005">
            <a:extLst xmlns:a="http://schemas.openxmlformats.org/drawingml/2006/main">
              <a:ext uri="{FF2B5EF4-FFF2-40B4-BE49-F238E27FC236}">
                <a16:creationId xmlns:a16="http://schemas.microsoft.com/office/drawing/2014/main" id="{CEDE4CBD-9C30-40FC-84F7-9862C5773466}"/>
              </a:ext>
            </a:extLst>
          </p:cNvPr>
          <p:cNvSpPr>
            <a:spLocks xmlns:a="http://schemas.openxmlformats.org/drawingml/2006/main" noGrp="1"/>
          </p:cNvSpPr>
          <p:nvPr/>
        </p:nvSpPr>
        <p:spPr>
          <a:xfrm xmlns:a="http://schemas.openxmlformats.org/drawingml/2006/main">
            <a:off x="6726868" y="9048249"/>
            <a:ext cx="503738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30" kern="400000">
                <a:solidFill>
                  <a:srgbClr val="4F7A66"/>
                </a:solidFill>
                <a:latin typeface="Deck"/>
                <a:ea typeface="Deck"/>
                <a:cs typeface="Deck"/>
              </a:defRPr>
            </a:pPr>
            <a:r>
              <a:rPr sz="1575" b="0" i="0" kern="400000" spc="230">
                <a:solidFill>
                  <a:srgbClr val="4F7A66">
                    <a:alpha val="100000"/>
                  </a:srgbClr>
                </a:solidFill>
                <a:latin typeface="Deck"/>
                <a:ea typeface="Deck"/>
                <a:cs typeface="Deck"/>
              </a:rPr>
              <a:t xml:space="preserve">HEALTHCARE · LONG-TERM SELF-CARE</a:t>
            </a:r>
            <a:endParaRPr lang="en-US" sz="1575" spc="230" kern="400000">
              <a:latin typeface="Deck"/>
            </a:endParaRPr>
          </a:p>
        </p:txBody>
      </p:sp>
      <p:sp>
        <p:nvSpPr>
          <p:cNvPr id="8" name="s04-t006">
            <a:extLst xmlns:a="http://schemas.openxmlformats.org/drawingml/2006/main">
              <a:ext uri="{FF2B5EF4-FFF2-40B4-BE49-F238E27FC236}">
                <a16:creationId xmlns:a16="http://schemas.microsoft.com/office/drawing/2014/main" id="{B0053BF4-2389-4C3D-903D-760C853C20DB}"/>
              </a:ext>
            </a:extLst>
          </p:cNvPr>
          <p:cNvSpPr>
            <a:spLocks xmlns:a="http://schemas.openxmlformats.org/drawingml/2006/main" noGrp="1"/>
          </p:cNvSpPr>
          <p:nvPr/>
        </p:nvSpPr>
        <p:spPr>
          <a:xfrm xmlns:a="http://schemas.openxmlformats.org/drawingml/2006/main">
            <a:off x="17116542" y="9730387"/>
            <a:ext cx="456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3818A">
                    <a:alpha val="100000"/>
                  </a:srgbClr>
                </a:solidFill>
                <a:latin typeface="Deck"/>
                <a:ea typeface="Deck"/>
                <a:cs typeface="Deck"/>
              </a:rPr>
              <a:t xml:space="preserve">04</a:t>
            </a:r>
            <a:endParaRPr lang="en-US" sz="1350" spc="6" kern="400000">
              <a:latin typeface="Deck"/>
            </a:endParaRPr>
          </a:p>
        </p:txBody>
      </p:sp>
    </p:spTree>
    <p:extLst>
      <p:ext uri="{BB962C8B-B14F-4D97-AF65-F5344CB8AC3E}">
        <p14:creationId xmlns:p14="http://schemas.microsoft.com/office/powerpoint/2010/main" val="1934011978"/>
      </p:ext>
    </p:extLst>
  </p:cSld>
</p:sld>
</file>

<file path=ppt/slides/slide5.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0" name="s5-source-rule-0">
            <a:extLst xmlns:a="http://schemas.openxmlformats.org/drawingml/2006/main">
              <a:ext uri="{FF2B5EF4-FFF2-40B4-BE49-F238E27FC236}">
                <a16:creationId xmlns:a16="http://schemas.microsoft.com/office/drawing/2014/main" id="{776DE79A-1486-4F4F-B47B-4C2F70A107DA}"/>
              </a:ext>
            </a:extLst>
          </p:cNvPr>
          <p:cNvSpPr>
            <a:spLocks xmlns:a="http://schemas.openxmlformats.org/drawingml/2006/main" noGrp="1"/>
          </p:cNvSpPr>
          <p:nvPr/>
        </p:nvSpPr>
        <p:spPr>
          <a:xfrm xmlns:a="http://schemas.openxmlformats.org/drawingml/2006/main">
            <a:off x="8667750" y="3696714"/>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2" name="s5-source-rule-1">
            <a:extLst xmlns:a="http://schemas.openxmlformats.org/drawingml/2006/main">
              <a:ext uri="{FF2B5EF4-FFF2-40B4-BE49-F238E27FC236}">
                <a16:creationId xmlns:a16="http://schemas.microsoft.com/office/drawing/2014/main" id="{0FE26290-226E-40D3-A4E4-AE8337E32728}"/>
              </a:ext>
            </a:extLst>
          </p:cNvPr>
          <p:cNvSpPr>
            <a:spLocks xmlns:a="http://schemas.openxmlformats.org/drawingml/2006/main" noGrp="1"/>
          </p:cNvSpPr>
          <p:nvPr/>
        </p:nvSpPr>
        <p:spPr>
          <a:xfrm xmlns:a="http://schemas.openxmlformats.org/drawingml/2006/main">
            <a:off x="8667750" y="4831203"/>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3" name="s5-source-rule-2">
            <a:extLst xmlns:a="http://schemas.openxmlformats.org/drawingml/2006/main">
              <a:ext uri="{FF2B5EF4-FFF2-40B4-BE49-F238E27FC236}">
                <a16:creationId xmlns:a16="http://schemas.microsoft.com/office/drawing/2014/main" id="{C9FA7821-BA1A-4FE8-9DFB-344DA82DF185}"/>
              </a:ext>
            </a:extLst>
          </p:cNvPr>
          <p:cNvSpPr>
            <a:spLocks xmlns:a="http://schemas.openxmlformats.org/drawingml/2006/main" noGrp="1"/>
          </p:cNvSpPr>
          <p:nvPr/>
        </p:nvSpPr>
        <p:spPr>
          <a:xfrm xmlns:a="http://schemas.openxmlformats.org/drawingml/2006/main">
            <a:off x="8667750" y="5965692"/>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4" name="s5-source-rule-3">
            <a:extLst xmlns:a="http://schemas.openxmlformats.org/drawingml/2006/main">
              <a:ext uri="{FF2B5EF4-FFF2-40B4-BE49-F238E27FC236}">
                <a16:creationId xmlns:a16="http://schemas.microsoft.com/office/drawing/2014/main" id="{D9C0841F-325F-4B76-81DE-42F41891F2F8}"/>
              </a:ext>
            </a:extLst>
          </p:cNvPr>
          <p:cNvSpPr>
            <a:spLocks xmlns:a="http://schemas.openxmlformats.org/drawingml/2006/main" noGrp="1"/>
          </p:cNvSpPr>
          <p:nvPr/>
        </p:nvSpPr>
        <p:spPr>
          <a:xfrm xmlns:a="http://schemas.openxmlformats.org/drawingml/2006/main">
            <a:off x="8667750" y="7100181"/>
            <a:ext cx="8572500" cy="9525"/>
          </a:xfrm>
          <a:prstGeom xmlns:a="http://schemas.openxmlformats.org/drawingml/2006/main" prst="rect">
            <a:avLst/>
          </a:prstGeom>
          <a:solidFill xmlns:a="http://schemas.openxmlformats.org/drawingml/2006/main">
            <a:srgbClr val="3E5148"/>
          </a:solidFill>
          <a:ln xmlns:a="http://schemas.openxmlformats.org/drawingml/2006/main" w="0">
            <a:noFill/>
          </a:ln>
        </p:spPr>
      </p:sp>
      <p:sp>
        <p:nvSpPr>
          <p:cNvPr id="5" name="s05-t000">
            <a:extLst xmlns:a="http://schemas.openxmlformats.org/drawingml/2006/main">
              <a:ext uri="{FF2B5EF4-FFF2-40B4-BE49-F238E27FC236}">
                <a16:creationId xmlns:a16="http://schemas.microsoft.com/office/drawing/2014/main" id="{4A753834-D455-4C4E-9E02-0992AB257214}"/>
              </a:ext>
            </a:extLst>
          </p:cNvPr>
          <p:cNvSpPr>
            <a:spLocks xmlns:a="http://schemas.openxmlformats.org/drawingml/2006/main" noGrp="1"/>
          </p:cNvSpPr>
          <p:nvPr/>
        </p:nvSpPr>
        <p:spPr>
          <a:xfrm xmlns:a="http://schemas.openxmlformats.org/drawingml/2006/main">
            <a:off x="981075" y="1672910"/>
            <a:ext cx="588247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6" kern="400000">
                <a:solidFill>
                  <a:srgbClr val="FAF6F0"/>
                </a:solidFill>
                <a:latin typeface="Deck-Semi-Bold"/>
                <a:ea typeface="Deck-Semi-Bold"/>
                <a:cs typeface="Deck-Semi-Bold"/>
              </a:defRPr>
            </a:pPr>
            <a:r>
              <a:rPr sz="8925" b="0" i="0" kern="400000" spc="-386">
                <a:solidFill>
                  <a:srgbClr val="FAF6F0">
                    <a:alpha val="100000"/>
                  </a:srgbClr>
                </a:solidFill>
                <a:latin typeface="Deck-Semi-Bold"/>
                <a:ea typeface="Deck-Semi-Bold"/>
                <a:cs typeface="Deck-Semi-Bold"/>
              </a:rPr>
              <a:t xml:space="preserve">Care has its</a:t>
            </a:r>
            <a:endParaRPr lang="en-US" sz="8925" spc="-386" kern="400000">
              <a:latin typeface="Deck-Semi-Bold"/>
            </a:endParaRPr>
          </a:p>
        </p:txBody>
      </p:sp>
      <p:sp>
        <p:nvSpPr>
          <p:cNvPr id="6" name="s05-t001">
            <a:extLst xmlns:a="http://schemas.openxmlformats.org/drawingml/2006/main">
              <a:ext uri="{FF2B5EF4-FFF2-40B4-BE49-F238E27FC236}">
                <a16:creationId xmlns:a16="http://schemas.microsoft.com/office/drawing/2014/main" id="{A9929967-AF8A-4BD6-B423-7E7DBE8A9539}"/>
              </a:ext>
            </a:extLst>
          </p:cNvPr>
          <p:cNvSpPr>
            <a:spLocks xmlns:a="http://schemas.openxmlformats.org/drawingml/2006/main" noGrp="1"/>
          </p:cNvSpPr>
          <p:nvPr/>
        </p:nvSpPr>
        <p:spPr>
          <a:xfrm xmlns:a="http://schemas.openxmlformats.org/drawingml/2006/main">
            <a:off x="981075" y="2857392"/>
            <a:ext cx="5672128" cy="13941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925" spc="-388" kern="400000">
                <a:solidFill>
                  <a:srgbClr val="9BDAB6"/>
                </a:solidFill>
                <a:latin typeface="Deck-Semi-Bold"/>
                <a:ea typeface="Deck-Semi-Bold"/>
                <a:cs typeface="Deck-Semi-Bold"/>
              </a:defRPr>
            </a:pPr>
            <a:r>
              <a:rPr sz="8925" b="0" i="0" kern="400000" spc="-388">
                <a:solidFill>
                  <a:srgbClr val="9BDAB6">
                    <a:alpha val="100000"/>
                  </a:srgbClr>
                </a:solidFill>
                <a:latin typeface="Deck-Semi-Bold"/>
                <a:ea typeface="Deck-Semi-Bold"/>
                <a:cs typeface="Deck-Semi-Bold"/>
              </a:rPr>
              <a:t xml:space="preserve">own space.</a:t>
            </a:r>
            <a:endParaRPr lang="en-US" sz="8925" spc="-388" kern="400000">
              <a:latin typeface="Deck-Semi-Bold"/>
            </a:endParaRPr>
          </a:p>
        </p:txBody>
      </p:sp>
      <p:sp>
        <p:nvSpPr>
          <p:cNvPr id="7" name="s05-t002">
            <a:extLst xmlns:a="http://schemas.openxmlformats.org/drawingml/2006/main">
              <a:ext uri="{FF2B5EF4-FFF2-40B4-BE49-F238E27FC236}">
                <a16:creationId xmlns:a16="http://schemas.microsoft.com/office/drawing/2014/main" id="{F0C7F957-DE80-4F85-AE45-A5186EB66171}"/>
              </a:ext>
            </a:extLst>
          </p:cNvPr>
          <p:cNvSpPr>
            <a:spLocks xmlns:a="http://schemas.openxmlformats.org/drawingml/2006/main" noGrp="1"/>
          </p:cNvSpPr>
          <p:nvPr/>
        </p:nvSpPr>
        <p:spPr>
          <a:xfrm xmlns:a="http://schemas.openxmlformats.org/drawingml/2006/main">
            <a:off x="981075" y="1190630"/>
            <a:ext cx="32242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FAF6F0"/>
                </a:solidFill>
                <a:latin typeface="Deck-Medium"/>
                <a:ea typeface="Deck-Medium"/>
                <a:cs typeface="Deck-Medium"/>
              </a:defRPr>
            </a:pPr>
            <a:r>
              <a:rPr sz="1725" b="0" i="0" kern="400000" spc="285">
                <a:solidFill>
                  <a:srgbClr val="BBBAB6">
                    <a:alpha val="100000"/>
                  </a:srgbClr>
                </a:solidFill>
                <a:latin typeface="Deck-Medium"/>
                <a:ea typeface="Deck-Medium"/>
                <a:cs typeface="Deck-Medium"/>
              </a:rPr>
              <a:t xml:space="preserve">A DELIBERATE FOCUS</a:t>
            </a:r>
            <a:endParaRPr lang="en-US" sz="1725" spc="285" kern="400000">
              <a:latin typeface="Deck-Medium"/>
            </a:endParaRPr>
          </a:p>
        </p:txBody>
      </p:sp>
      <p:sp>
        <p:nvSpPr>
          <p:cNvPr id="8" name="s05-t003">
            <a:extLst xmlns:a="http://schemas.openxmlformats.org/drawingml/2006/main">
              <a:ext uri="{FF2B5EF4-FFF2-40B4-BE49-F238E27FC236}">
                <a16:creationId xmlns:a16="http://schemas.microsoft.com/office/drawing/2014/main" id="{40FA3470-1C66-4720-9332-2BB563A0218F}"/>
              </a:ext>
            </a:extLst>
          </p:cNvPr>
          <p:cNvSpPr>
            <a:spLocks xmlns:a="http://schemas.openxmlformats.org/drawingml/2006/main" noGrp="1"/>
          </p:cNvSpPr>
          <p:nvPr/>
        </p:nvSpPr>
        <p:spPr>
          <a:xfrm xmlns:a="http://schemas.openxmlformats.org/drawingml/2006/main">
            <a:off x="8667750" y="3051445"/>
            <a:ext cx="46560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01</a:t>
            </a:r>
            <a:endParaRPr lang="en-US" sz="1650" spc="151" kern="400000">
              <a:latin typeface="Deck"/>
            </a:endParaRPr>
          </a:p>
        </p:txBody>
      </p:sp>
      <p:sp>
        <p:nvSpPr>
          <p:cNvPr id="9" name="s05-t004">
            <a:extLst xmlns:a="http://schemas.openxmlformats.org/drawingml/2006/main">
              <a:ext uri="{FF2B5EF4-FFF2-40B4-BE49-F238E27FC236}">
                <a16:creationId xmlns:a16="http://schemas.microsoft.com/office/drawing/2014/main" id="{AA6CA704-F392-466A-BF52-839D8D8E6BAE}"/>
              </a:ext>
            </a:extLst>
          </p:cNvPr>
          <p:cNvSpPr>
            <a:spLocks xmlns:a="http://schemas.openxmlformats.org/drawingml/2006/main" noGrp="1"/>
          </p:cNvSpPr>
          <p:nvPr/>
        </p:nvSpPr>
        <p:spPr>
          <a:xfrm xmlns:a="http://schemas.openxmlformats.org/drawingml/2006/main">
            <a:off x="9247519" y="2895604"/>
            <a:ext cx="4968507"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8" kern="400000">
                <a:solidFill>
                  <a:srgbClr val="FAF6F0"/>
                </a:solidFill>
                <a:latin typeface="Deck"/>
                <a:ea typeface="Deck"/>
                <a:cs typeface="Deck"/>
              </a:defRPr>
            </a:pPr>
            <a:r>
              <a:rPr sz="3150" b="0" i="0" kern="400000" spc="-88">
                <a:solidFill>
                  <a:srgbClr val="FAF6F0">
                    <a:alpha val="100000"/>
                  </a:srgbClr>
                </a:solidFill>
                <a:latin typeface="Deck"/>
                <a:ea typeface="Deck"/>
                <a:cs typeface="Deck"/>
              </a:rPr>
              <a:t xml:space="preserve">Daily routines &amp; medication</a:t>
            </a:r>
            <a:endParaRPr lang="en-US" sz="3150" spc="-88" kern="400000">
              <a:latin typeface="Deck"/>
            </a:endParaRPr>
          </a:p>
        </p:txBody>
      </p:sp>
      <p:sp>
        <p:nvSpPr>
          <p:cNvPr id="10" name="s05-t005">
            <a:extLst xmlns:a="http://schemas.openxmlformats.org/drawingml/2006/main">
              <a:ext uri="{FF2B5EF4-FFF2-40B4-BE49-F238E27FC236}">
                <a16:creationId xmlns:a16="http://schemas.microsoft.com/office/drawing/2014/main" id="{DF73EB83-B200-44DE-81B1-2D98A3B07527}"/>
              </a:ext>
            </a:extLst>
          </p:cNvPr>
          <p:cNvSpPr>
            <a:spLocks xmlns:a="http://schemas.openxmlformats.org/drawingml/2006/main" noGrp="1"/>
          </p:cNvSpPr>
          <p:nvPr/>
        </p:nvSpPr>
        <p:spPr>
          <a:xfrm xmlns:a="http://schemas.openxmlformats.org/drawingml/2006/main">
            <a:off x="8667750" y="4185934"/>
            <a:ext cx="5123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02</a:t>
            </a:r>
            <a:endParaRPr lang="en-US" sz="1650" spc="151" kern="400000">
              <a:latin typeface="Deck"/>
            </a:endParaRPr>
          </a:p>
        </p:txBody>
      </p:sp>
      <p:sp>
        <p:nvSpPr>
          <p:cNvPr id="11" name="s05-t006">
            <a:extLst xmlns:a="http://schemas.openxmlformats.org/drawingml/2006/main">
              <a:ext uri="{FF2B5EF4-FFF2-40B4-BE49-F238E27FC236}">
                <a16:creationId xmlns:a16="http://schemas.microsoft.com/office/drawing/2014/main" id="{02804C35-D556-405A-80E1-D9CB6FBA5E49}"/>
              </a:ext>
            </a:extLst>
          </p:cNvPr>
          <p:cNvSpPr>
            <a:spLocks xmlns:a="http://schemas.openxmlformats.org/drawingml/2006/main" noGrp="1"/>
          </p:cNvSpPr>
          <p:nvPr/>
        </p:nvSpPr>
        <p:spPr>
          <a:xfrm xmlns:a="http://schemas.openxmlformats.org/drawingml/2006/main">
            <a:off x="9294251" y="4030092"/>
            <a:ext cx="5337591"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9" kern="400000">
                <a:solidFill>
                  <a:srgbClr val="FAF6F0"/>
                </a:solidFill>
                <a:latin typeface="Deck"/>
                <a:ea typeface="Deck"/>
                <a:cs typeface="Deck"/>
              </a:defRPr>
            </a:pPr>
            <a:r>
              <a:rPr sz="3150" b="0" i="0" kern="400000" spc="-89">
                <a:solidFill>
                  <a:srgbClr val="FAF6F0">
                    <a:alpha val="100000"/>
                  </a:srgbClr>
                </a:solidFill>
                <a:latin typeface="Deck"/>
                <a:ea typeface="Deck"/>
                <a:cs typeface="Deck"/>
              </a:rPr>
              <a:t xml:space="preserve">Dental &amp; screening reminders</a:t>
            </a:r>
            <a:endParaRPr lang="en-US" sz="3150" spc="-89" kern="400000">
              <a:latin typeface="Deck"/>
            </a:endParaRPr>
          </a:p>
        </p:txBody>
      </p:sp>
      <p:sp>
        <p:nvSpPr>
          <p:cNvPr id="12" name="s05-t007">
            <a:extLst xmlns:a="http://schemas.openxmlformats.org/drawingml/2006/main">
              <a:ext uri="{FF2B5EF4-FFF2-40B4-BE49-F238E27FC236}">
                <a16:creationId xmlns:a16="http://schemas.microsoft.com/office/drawing/2014/main" id="{070584FF-2B21-415A-B25D-67A0CF8F7BBD}"/>
              </a:ext>
            </a:extLst>
          </p:cNvPr>
          <p:cNvSpPr>
            <a:spLocks xmlns:a="http://schemas.openxmlformats.org/drawingml/2006/main" noGrp="1"/>
          </p:cNvSpPr>
          <p:nvPr/>
        </p:nvSpPr>
        <p:spPr>
          <a:xfrm xmlns:a="http://schemas.openxmlformats.org/drawingml/2006/main">
            <a:off x="8667750" y="5320423"/>
            <a:ext cx="51526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03</a:t>
            </a:r>
            <a:endParaRPr lang="en-US" sz="1650" spc="151" kern="400000">
              <a:latin typeface="Deck"/>
            </a:endParaRPr>
          </a:p>
        </p:txBody>
      </p:sp>
      <p:sp>
        <p:nvSpPr>
          <p:cNvPr id="13" name="s05-t008">
            <a:extLst xmlns:a="http://schemas.openxmlformats.org/drawingml/2006/main">
              <a:ext uri="{FF2B5EF4-FFF2-40B4-BE49-F238E27FC236}">
                <a16:creationId xmlns:a16="http://schemas.microsoft.com/office/drawing/2014/main" id="{070CFF0F-E999-4C6D-B0D8-C13995184E0B}"/>
              </a:ext>
            </a:extLst>
          </p:cNvPr>
          <p:cNvSpPr>
            <a:spLocks xmlns:a="http://schemas.openxmlformats.org/drawingml/2006/main" noGrp="1"/>
          </p:cNvSpPr>
          <p:nvPr/>
        </p:nvSpPr>
        <p:spPr>
          <a:xfrm xmlns:a="http://schemas.openxmlformats.org/drawingml/2006/main">
            <a:off x="9297181" y="5164581"/>
            <a:ext cx="4835452"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85" kern="400000">
                <a:solidFill>
                  <a:srgbClr val="FAF6F0"/>
                </a:solidFill>
                <a:latin typeface="Deck"/>
                <a:ea typeface="Deck"/>
                <a:cs typeface="Deck"/>
              </a:defRPr>
            </a:pPr>
            <a:r>
              <a:rPr sz="3150" b="0" i="0" kern="400000" spc="-85">
                <a:solidFill>
                  <a:srgbClr val="FAF6F0">
                    <a:alpha val="100000"/>
                  </a:srgbClr>
                </a:solidFill>
                <a:latin typeface="Deck"/>
                <a:ea typeface="Deck"/>
                <a:cs typeface="Deck"/>
              </a:rPr>
              <a:t xml:space="preserve">Sleep &amp; health information</a:t>
            </a:r>
            <a:endParaRPr lang="en-US" sz="3150" spc="-85" kern="400000">
              <a:latin typeface="Deck"/>
            </a:endParaRPr>
          </a:p>
        </p:txBody>
      </p:sp>
      <p:sp>
        <p:nvSpPr>
          <p:cNvPr id="14" name="s05-t009">
            <a:extLst xmlns:a="http://schemas.openxmlformats.org/drawingml/2006/main">
              <a:ext uri="{FF2B5EF4-FFF2-40B4-BE49-F238E27FC236}">
                <a16:creationId xmlns:a16="http://schemas.microsoft.com/office/drawing/2014/main" id="{9801B0EB-16B6-4754-9796-C7F5DD306AC9}"/>
              </a:ext>
            </a:extLst>
          </p:cNvPr>
          <p:cNvSpPr>
            <a:spLocks xmlns:a="http://schemas.openxmlformats.org/drawingml/2006/main" noGrp="1"/>
          </p:cNvSpPr>
          <p:nvPr/>
        </p:nvSpPr>
        <p:spPr>
          <a:xfrm xmlns:a="http://schemas.openxmlformats.org/drawingml/2006/main">
            <a:off x="8667750" y="6454912"/>
            <a:ext cx="52259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51" kern="400000">
                <a:solidFill>
                  <a:srgbClr val="9BDAB6"/>
                </a:solidFill>
                <a:latin typeface="Deck"/>
                <a:ea typeface="Deck"/>
                <a:cs typeface="Deck"/>
              </a:defRPr>
            </a:pPr>
            <a:r>
              <a:rPr sz="1650" b="0" i="0" kern="400000" spc="151">
                <a:solidFill>
                  <a:srgbClr val="9BDAB6">
                    <a:alpha val="100000"/>
                  </a:srgbClr>
                </a:solidFill>
                <a:latin typeface="Deck"/>
                <a:ea typeface="Deck"/>
                <a:cs typeface="Deck"/>
              </a:rPr>
              <a:t xml:space="preserve">04</a:t>
            </a:r>
            <a:endParaRPr lang="en-US" sz="1650" spc="151" kern="400000">
              <a:latin typeface="Deck"/>
            </a:endParaRPr>
          </a:p>
        </p:txBody>
      </p:sp>
      <p:sp>
        <p:nvSpPr>
          <p:cNvPr id="15" name="s05-t010">
            <a:extLst xmlns:a="http://schemas.openxmlformats.org/drawingml/2006/main">
              <a:ext uri="{FF2B5EF4-FFF2-40B4-BE49-F238E27FC236}">
                <a16:creationId xmlns:a16="http://schemas.microsoft.com/office/drawing/2014/main" id="{0ACF82E8-AEEB-4C74-ABB1-E609CB713633}"/>
              </a:ext>
            </a:extLst>
          </p:cNvPr>
          <p:cNvSpPr>
            <a:spLocks xmlns:a="http://schemas.openxmlformats.org/drawingml/2006/main" noGrp="1"/>
          </p:cNvSpPr>
          <p:nvPr/>
        </p:nvSpPr>
        <p:spPr>
          <a:xfrm xmlns:a="http://schemas.openxmlformats.org/drawingml/2006/main">
            <a:off x="9304520" y="6299070"/>
            <a:ext cx="5284060" cy="4920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150" spc="-94" kern="400000">
                <a:solidFill>
                  <a:srgbClr val="FAF6F0"/>
                </a:solidFill>
                <a:latin typeface="Deck"/>
                <a:ea typeface="Deck"/>
                <a:cs typeface="Deck"/>
              </a:defRPr>
            </a:pPr>
            <a:r>
              <a:rPr sz="3150" b="0" i="0" kern="400000" spc="-94">
                <a:solidFill>
                  <a:srgbClr val="FAF6F0">
                    <a:alpha val="100000"/>
                  </a:srgbClr>
                </a:solidFill>
                <a:latin typeface="Deck"/>
                <a:ea typeface="Deck"/>
                <a:cs typeface="Deck"/>
              </a:rPr>
              <a:t xml:space="preserve">Health chat &amp; your care circle</a:t>
            </a:r>
            <a:endParaRPr lang="en-US" sz="3150" spc="-94" kern="400000">
              <a:latin typeface="Deck"/>
            </a:endParaRPr>
          </a:p>
        </p:txBody>
      </p:sp>
      <p:sp>
        <p:nvSpPr>
          <p:cNvPr id="16" name="s05-t011">
            <a:extLst xmlns:a="http://schemas.openxmlformats.org/drawingml/2006/main">
              <a:ext uri="{FF2B5EF4-FFF2-40B4-BE49-F238E27FC236}">
                <a16:creationId xmlns:a16="http://schemas.microsoft.com/office/drawing/2014/main" id="{5261CDE1-9A51-41B5-9FDF-D6DDAFA6E80E}"/>
              </a:ext>
            </a:extLst>
          </p:cNvPr>
          <p:cNvSpPr>
            <a:spLocks xmlns:a="http://schemas.openxmlformats.org/drawingml/2006/main" noGrp="1"/>
          </p:cNvSpPr>
          <p:nvPr/>
        </p:nvSpPr>
        <p:spPr>
          <a:xfrm xmlns:a="http://schemas.openxmlformats.org/drawingml/2006/main">
            <a:off x="1028700" y="7100397"/>
            <a:ext cx="4737230"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BAC4BA"/>
                </a:solidFill>
                <a:latin typeface="Deck"/>
                <a:ea typeface="Deck"/>
                <a:cs typeface="Deck"/>
              </a:defRPr>
            </a:pPr>
            <a:r>
              <a:rPr sz="2325" b="0" i="0" kern="400000" spc="-4">
                <a:solidFill>
                  <a:srgbClr val="BAC4BA">
                    <a:alpha val="100000"/>
                  </a:srgbClr>
                </a:solidFill>
                <a:latin typeface="Deck"/>
                <a:ea typeface="Deck"/>
                <a:cs typeface="Deck"/>
              </a:rPr>
              <a:t xml:space="preserve">Designed around everyday health</a:t>
            </a:r>
            <a:endParaRPr lang="en-US" sz="2325" spc="-4" kern="400000">
              <a:latin typeface="Deck"/>
            </a:endParaRPr>
          </a:p>
        </p:txBody>
      </p:sp>
      <p:sp>
        <p:nvSpPr>
          <p:cNvPr id="17" name="s05-t012">
            <a:extLst xmlns:a="http://schemas.openxmlformats.org/drawingml/2006/main">
              <a:ext uri="{FF2B5EF4-FFF2-40B4-BE49-F238E27FC236}">
                <a16:creationId xmlns:a16="http://schemas.microsoft.com/office/drawing/2014/main" id="{D1090D32-5FE0-441B-8D14-71A8E95DD71E}"/>
              </a:ext>
            </a:extLst>
          </p:cNvPr>
          <p:cNvSpPr>
            <a:spLocks xmlns:a="http://schemas.openxmlformats.org/drawingml/2006/main" noGrp="1"/>
          </p:cNvSpPr>
          <p:nvPr/>
        </p:nvSpPr>
        <p:spPr>
          <a:xfrm xmlns:a="http://schemas.openxmlformats.org/drawingml/2006/main">
            <a:off x="1028700" y="7537404"/>
            <a:ext cx="395416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15" kern="400000">
                <a:solidFill>
                  <a:srgbClr val="BAC4BA"/>
                </a:solidFill>
                <a:latin typeface="Deck"/>
                <a:ea typeface="Deck"/>
                <a:cs typeface="Deck"/>
              </a:defRPr>
            </a:pPr>
            <a:r>
              <a:rPr sz="2325" b="0" i="0" kern="400000" spc="-15">
                <a:solidFill>
                  <a:srgbClr val="BAC4BA">
                    <a:alpha val="100000"/>
                  </a:srgbClr>
                </a:solidFill>
                <a:latin typeface="Deck"/>
                <a:ea typeface="Deck"/>
                <a:cs typeface="Deck"/>
              </a:rPr>
              <a:t xml:space="preserve">and the people you care for.</a:t>
            </a:r>
            <a:endParaRPr lang="en-US" sz="2325" spc="-15" kern="400000">
              <a:latin typeface="Deck"/>
            </a:endParaRPr>
          </a:p>
        </p:txBody>
      </p:sp>
      <p:sp>
        <p:nvSpPr>
          <p:cNvPr id="18" name="s05-t013">
            <a:extLst xmlns:a="http://schemas.openxmlformats.org/drawingml/2006/main">
              <a:ext uri="{FF2B5EF4-FFF2-40B4-BE49-F238E27FC236}">
                <a16:creationId xmlns:a16="http://schemas.microsoft.com/office/drawing/2014/main" id="{FABA74DB-74C8-4883-8928-CDF2ACAD0816}"/>
              </a:ext>
            </a:extLst>
          </p:cNvPr>
          <p:cNvSpPr>
            <a:spLocks xmlns:a="http://schemas.openxmlformats.org/drawingml/2006/main" noGrp="1"/>
          </p:cNvSpPr>
          <p:nvPr/>
        </p:nvSpPr>
        <p:spPr>
          <a:xfrm xmlns:a="http://schemas.openxmlformats.org/drawingml/2006/main">
            <a:off x="952500" y="9730387"/>
            <a:ext cx="13652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Product vision</a:t>
            </a:r>
            <a:endParaRPr lang="en-US" sz="1350" spc="4" kern="400000">
              <a:latin typeface="Deck"/>
            </a:endParaRPr>
          </a:p>
        </p:txBody>
      </p:sp>
      <p:sp>
        <p:nvSpPr>
          <p:cNvPr id="19" name="s05-t014">
            <a:extLst xmlns:a="http://schemas.openxmlformats.org/drawingml/2006/main">
              <a:ext uri="{FF2B5EF4-FFF2-40B4-BE49-F238E27FC236}">
                <a16:creationId xmlns:a16="http://schemas.microsoft.com/office/drawing/2014/main" id="{39D6A292-671C-4682-8F3D-5B20338BF679}"/>
              </a:ext>
            </a:extLst>
          </p:cNvPr>
          <p:cNvSpPr>
            <a:spLocks xmlns:a="http://schemas.openxmlformats.org/drawingml/2006/main" noGrp="1"/>
          </p:cNvSpPr>
          <p:nvPr/>
        </p:nvSpPr>
        <p:spPr>
          <a:xfrm xmlns:a="http://schemas.openxmlformats.org/drawingml/2006/main">
            <a:off x="17122542" y="9730387"/>
            <a:ext cx="45000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05</a:t>
            </a:r>
            <a:endParaRPr lang="en-US" sz="1350" spc="6" kern="400000">
              <a:latin typeface="Deck"/>
            </a:endParaRPr>
          </a:p>
        </p:txBody>
      </p:sp>
    </p:spTree>
    <p:extLst>
      <p:ext uri="{BB962C8B-B14F-4D97-AF65-F5344CB8AC3E}">
        <p14:creationId xmlns:p14="http://schemas.microsoft.com/office/powerpoint/2010/main" val="1617654347"/>
      </p:ext>
    </p:extLst>
  </p:cSld>
</p:sld>
</file>

<file path=ppt/slides/slide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79a5966f4749a5"/>
          <a:stretch xmlns:a="http://schemas.openxmlformats.org/drawingml/2006/main"/>
        </p:blipFill>
        <p:spPr>
          <a:xfrm xmlns:a="http://schemas.openxmlformats.org/drawingml/2006/main">
            <a:off x="9906000" y="333375"/>
            <a:ext cx="6572250" cy="9763125"/>
          </a:xfrm>
          <a:prstGeom xmlns:a="http://schemas.openxmlformats.org/drawingml/2006/main" prst="rect">
            <a:avLst/>
          </a:prstGeom>
        </p:spPr>
      </p:pic>
      <p:sp>
        <p:nvSpPr>
          <p:cNvPr id="2" name="s06-t000">
            <a:extLst xmlns:a="http://schemas.openxmlformats.org/drawingml/2006/main">
              <a:ext uri="{FF2B5EF4-FFF2-40B4-BE49-F238E27FC236}">
                <a16:creationId xmlns:a16="http://schemas.microsoft.com/office/drawing/2014/main" id="{C7892F39-4D10-4AED-BE43-FED5593F0035}"/>
              </a:ext>
            </a:extLst>
          </p:cNvPr>
          <p:cNvSpPr>
            <a:spLocks xmlns:a="http://schemas.openxmlformats.org/drawingml/2006/main" noGrp="1"/>
          </p:cNvSpPr>
          <p:nvPr/>
        </p:nvSpPr>
        <p:spPr>
          <a:xfrm xmlns:a="http://schemas.openxmlformats.org/drawingml/2006/main">
            <a:off x="971550" y="2157618"/>
            <a:ext cx="4510240"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85" kern="400000">
                <a:solidFill>
                  <a:srgbClr val="3A3745"/>
                </a:solidFill>
                <a:latin typeface="Deck-Semi-Bold"/>
                <a:ea typeface="Deck-Semi-Bold"/>
                <a:cs typeface="Deck-Semi-Bold"/>
              </a:defRPr>
            </a:pPr>
            <a:r>
              <a:rPr sz="8025" b="0" i="0" kern="400000" spc="-385">
                <a:solidFill>
                  <a:srgbClr val="3A3745">
                    <a:alpha val="100000"/>
                  </a:srgbClr>
                </a:solidFill>
                <a:latin typeface="Deck-Semi-Bold"/>
                <a:ea typeface="Deck-Semi-Bold"/>
                <a:cs typeface="Deck-Semi-Bold"/>
              </a:rPr>
              <a:t xml:space="preserve">Start with</a:t>
            </a:r>
            <a:endParaRPr lang="en-US" sz="8025" spc="-385" kern="400000">
              <a:latin typeface="Deck-Semi-Bold"/>
            </a:endParaRPr>
          </a:p>
        </p:txBody>
      </p:sp>
      <p:sp>
        <p:nvSpPr>
          <p:cNvPr id="3" name="s06-t001">
            <a:extLst xmlns:a="http://schemas.openxmlformats.org/drawingml/2006/main">
              <a:ext uri="{FF2B5EF4-FFF2-40B4-BE49-F238E27FC236}">
                <a16:creationId xmlns:a16="http://schemas.microsoft.com/office/drawing/2014/main" id="{04F618C8-A16B-4DBA-ADDF-A010099FAE8B}"/>
              </a:ext>
            </a:extLst>
          </p:cNvPr>
          <p:cNvSpPr>
            <a:spLocks xmlns:a="http://schemas.openxmlformats.org/drawingml/2006/main" noGrp="1"/>
          </p:cNvSpPr>
          <p:nvPr/>
        </p:nvSpPr>
        <p:spPr>
          <a:xfrm xmlns:a="http://schemas.openxmlformats.org/drawingml/2006/main">
            <a:off x="971550" y="3222655"/>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34" kern="400000">
                <a:solidFill>
                  <a:srgbClr val="4F7A66"/>
                </a:solidFill>
                <a:latin typeface="Deck-Semi-Bold"/>
                <a:ea typeface="Deck-Semi-Bold"/>
                <a:cs typeface="Deck-Semi-Bold"/>
              </a:defRPr>
            </a:pPr>
            <a:r>
              <a:rPr sz="8025" b="0" i="0" kern="400000" spc="-434">
                <a:solidFill>
                  <a:srgbClr val="4F7A66">
                    <a:alpha val="100000"/>
                  </a:srgbClr>
                </a:solidFill>
                <a:latin typeface="Deck-Semi-Bold"/>
                <a:ea typeface="Deck-Semi-Bold"/>
                <a:cs typeface="Deck-Semi-Bold"/>
              </a:rPr>
              <a:t xml:space="preserve">your care.</a:t>
            </a:r>
            <a:endParaRPr lang="en-US" sz="8025" spc="-434" kern="400000">
              <a:latin typeface="Deck-Semi-Bold"/>
            </a:endParaRPr>
          </a:p>
        </p:txBody>
      </p:sp>
      <p:sp>
        <p:nvSpPr>
          <p:cNvPr id="4" name="s06-t002">
            <a:extLst xmlns:a="http://schemas.openxmlformats.org/drawingml/2006/main">
              <a:ext uri="{FF2B5EF4-FFF2-40B4-BE49-F238E27FC236}">
                <a16:creationId xmlns:a16="http://schemas.microsoft.com/office/drawing/2014/main" id="{B4B84917-C84D-4078-8F14-F9C0C27EC097}"/>
              </a:ext>
            </a:extLst>
          </p:cNvPr>
          <p:cNvSpPr>
            <a:spLocks xmlns:a="http://schemas.openxmlformats.org/drawingml/2006/main" noGrp="1"/>
          </p:cNvSpPr>
          <p:nvPr/>
        </p:nvSpPr>
        <p:spPr>
          <a:xfrm xmlns:a="http://schemas.openxmlformats.org/drawingml/2006/main">
            <a:off x="971550" y="4857258"/>
            <a:ext cx="2039055"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8" kern="400000">
                <a:solidFill>
                  <a:srgbClr val="3A3745"/>
                </a:solidFill>
                <a:latin typeface="Deck"/>
                <a:ea typeface="Deck"/>
                <a:cs typeface="Deck"/>
              </a:defRPr>
            </a:pPr>
            <a:r>
              <a:rPr sz="2550" b="0" i="0" kern="400000" spc="-28">
                <a:solidFill>
                  <a:srgbClr val="3A3745">
                    <a:alpha val="100000"/>
                  </a:srgbClr>
                </a:solidFill>
                <a:latin typeface="Deck"/>
                <a:ea typeface="Deck"/>
                <a:cs typeface="Deck"/>
              </a:rPr>
              <a:t xml:space="preserve">For yourself.</a:t>
            </a:r>
            <a:endParaRPr lang="en-US" sz="2550" spc="-28" kern="400000">
              <a:latin typeface="Deck"/>
            </a:endParaRPr>
          </a:p>
        </p:txBody>
      </p:sp>
      <p:sp>
        <p:nvSpPr>
          <p:cNvPr id="5" name="s06-t003">
            <a:extLst xmlns:a="http://schemas.openxmlformats.org/drawingml/2006/main">
              <a:ext uri="{FF2B5EF4-FFF2-40B4-BE49-F238E27FC236}">
                <a16:creationId xmlns:a16="http://schemas.microsoft.com/office/drawing/2014/main" id="{033B9BA9-9381-4309-B130-DD9F762FE40E}"/>
              </a:ext>
            </a:extLst>
          </p:cNvPr>
          <p:cNvSpPr>
            <a:spLocks xmlns:a="http://schemas.openxmlformats.org/drawingml/2006/main" noGrp="1"/>
          </p:cNvSpPr>
          <p:nvPr/>
        </p:nvSpPr>
        <p:spPr>
          <a:xfrm xmlns:a="http://schemas.openxmlformats.org/drawingml/2006/main">
            <a:off x="971550" y="5336556"/>
            <a:ext cx="4033647"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22" kern="400000">
                <a:solidFill>
                  <a:srgbClr val="3A3745"/>
                </a:solidFill>
                <a:latin typeface="Deck"/>
                <a:ea typeface="Deck"/>
                <a:cs typeface="Deck"/>
              </a:defRPr>
            </a:pPr>
            <a:r>
              <a:rPr sz="2550" b="0" i="0" kern="400000" spc="-22">
                <a:solidFill>
                  <a:srgbClr val="3A3745">
                    <a:alpha val="100000"/>
                  </a:srgbClr>
                </a:solidFill>
                <a:latin typeface="Deck"/>
                <a:ea typeface="Deck"/>
                <a:cs typeface="Deck"/>
              </a:rPr>
              <a:t xml:space="preserve">For someone you care for.</a:t>
            </a:r>
            <a:endParaRPr lang="en-US" sz="2550" spc="-22" kern="400000">
              <a:latin typeface="Deck"/>
            </a:endParaRPr>
          </a:p>
        </p:txBody>
      </p:sp>
      <p:sp>
        <p:nvSpPr>
          <p:cNvPr id="6" name="s06-t004">
            <a:extLst xmlns:a="http://schemas.openxmlformats.org/drawingml/2006/main">
              <a:ext uri="{FF2B5EF4-FFF2-40B4-BE49-F238E27FC236}">
                <a16:creationId xmlns:a16="http://schemas.microsoft.com/office/drawing/2014/main" id="{F462FA5D-DE7B-4E16-A98E-F2BC2675A413}"/>
              </a:ext>
            </a:extLst>
          </p:cNvPr>
          <p:cNvSpPr>
            <a:spLocks xmlns:a="http://schemas.openxmlformats.org/drawingml/2006/main" noGrp="1"/>
          </p:cNvSpPr>
          <p:nvPr/>
        </p:nvSpPr>
        <p:spPr>
          <a:xfrm xmlns:a="http://schemas.openxmlformats.org/drawingml/2006/main">
            <a:off x="971550" y="1666880"/>
            <a:ext cx="403775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3" kern="400000">
                <a:solidFill>
                  <a:srgbClr val="3A3745"/>
                </a:solidFill>
                <a:latin typeface="Deck-Medium"/>
                <a:ea typeface="Deck-Medium"/>
                <a:cs typeface="Deck-Medium"/>
              </a:defRPr>
            </a:pPr>
            <a:r>
              <a:rPr sz="1725" b="0" i="0" kern="400000" spc="283">
                <a:solidFill>
                  <a:srgbClr val="6C6971">
                    <a:alpha val="100000"/>
                  </a:srgbClr>
                </a:solidFill>
                <a:latin typeface="Deck-Medium"/>
                <a:ea typeface="Deck-Medium"/>
                <a:cs typeface="Deck-Medium"/>
              </a:rPr>
              <a:t xml:space="preserve">THE PROTOTYPE, UP CLOSE</a:t>
            </a:r>
            <a:endParaRPr lang="en-US" sz="1725" spc="283" kern="400000">
              <a:latin typeface="Deck-Medium"/>
            </a:endParaRPr>
          </a:p>
        </p:txBody>
      </p:sp>
      <p:sp>
        <p:nvSpPr>
          <p:cNvPr id="7" name="s06-t005">
            <a:extLst xmlns:a="http://schemas.openxmlformats.org/drawingml/2006/main">
              <a:ext uri="{FF2B5EF4-FFF2-40B4-BE49-F238E27FC236}">
                <a16:creationId xmlns:a16="http://schemas.microsoft.com/office/drawing/2014/main" id="{6E772692-3E12-4562-AEEB-C31DD5A40964}"/>
              </a:ext>
            </a:extLst>
          </p:cNvPr>
          <p:cNvSpPr>
            <a:spLocks xmlns:a="http://schemas.openxmlformats.org/drawingml/2006/main" noGrp="1"/>
          </p:cNvSpPr>
          <p:nvPr/>
        </p:nvSpPr>
        <p:spPr>
          <a:xfrm xmlns:a="http://schemas.openxmlformats.org/drawingml/2006/main">
            <a:off x="971550" y="6378256"/>
            <a:ext cx="2058010"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A3745"/>
                </a:solidFill>
                <a:latin typeface="Deck"/>
                <a:ea typeface="Deck"/>
                <a:cs typeface="Deck"/>
              </a:defRPr>
            </a:pPr>
            <a:r>
              <a:rPr sz="1800" b="0" i="0" kern="400000" spc="-4">
                <a:solidFill>
                  <a:srgbClr val="79767D">
                    <a:alpha val="100000"/>
                  </a:srgbClr>
                </a:solidFill>
                <a:latin typeface="Deck"/>
                <a:ea typeface="Deck"/>
                <a:cs typeface="Deck"/>
              </a:rPr>
              <a:t xml:space="preserve">Choose a routine.</a:t>
            </a:r>
            <a:endParaRPr lang="en-US" sz="1800" spc="-4" kern="400000">
              <a:latin typeface="Deck"/>
            </a:endParaRPr>
          </a:p>
        </p:txBody>
      </p:sp>
      <p:sp>
        <p:nvSpPr>
          <p:cNvPr id="8" name="s06-t006">
            <a:extLst xmlns:a="http://schemas.openxmlformats.org/drawingml/2006/main">
              <a:ext uri="{FF2B5EF4-FFF2-40B4-BE49-F238E27FC236}">
                <a16:creationId xmlns:a16="http://schemas.microsoft.com/office/drawing/2014/main" id="{2134625A-0AB4-4711-9C5A-AE967B384DCC}"/>
              </a:ext>
            </a:extLst>
          </p:cNvPr>
          <p:cNvSpPr>
            <a:spLocks xmlns:a="http://schemas.openxmlformats.org/drawingml/2006/main" noGrp="1"/>
          </p:cNvSpPr>
          <p:nvPr/>
        </p:nvSpPr>
        <p:spPr>
          <a:xfrm xmlns:a="http://schemas.openxmlformats.org/drawingml/2006/main">
            <a:off x="971550" y="6725728"/>
            <a:ext cx="3587115"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3A3745"/>
                </a:solidFill>
                <a:latin typeface="Deck"/>
                <a:ea typeface="Deck"/>
                <a:cs typeface="Deck"/>
              </a:defRPr>
            </a:pPr>
            <a:r>
              <a:rPr sz="1800" b="0" i="0" kern="400000" spc="-7">
                <a:solidFill>
                  <a:srgbClr val="79767D">
                    <a:alpha val="100000"/>
                  </a:srgbClr>
                </a:solidFill>
                <a:latin typeface="Deck"/>
                <a:ea typeface="Deck"/>
                <a:cs typeface="Deck"/>
              </a:rPr>
              <a:t xml:space="preserve">Make room for a small first step.</a:t>
            </a:r>
            <a:endParaRPr lang="en-US" sz="1800" spc="-7" kern="400000">
              <a:latin typeface="Deck"/>
            </a:endParaRPr>
          </a:p>
        </p:txBody>
      </p:sp>
      <p:sp>
        <p:nvSpPr>
          <p:cNvPr id="9" name="s06-t007">
            <a:extLst xmlns:a="http://schemas.openxmlformats.org/drawingml/2006/main">
              <a:ext uri="{FF2B5EF4-FFF2-40B4-BE49-F238E27FC236}">
                <a16:creationId xmlns:a16="http://schemas.microsoft.com/office/drawing/2014/main" id="{8C23D3D2-C8B8-4B43-A19F-B2FAD5041473}"/>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6-t008">
            <a:extLst xmlns:a="http://schemas.openxmlformats.org/drawingml/2006/main">
              <a:ext uri="{FF2B5EF4-FFF2-40B4-BE49-F238E27FC236}">
                <a16:creationId xmlns:a16="http://schemas.microsoft.com/office/drawing/2014/main" id="{D775A6D3-D468-49B7-B7DD-88875EC93BDB}"/>
              </a:ext>
            </a:extLst>
          </p:cNvPr>
          <p:cNvSpPr>
            <a:spLocks xmlns:a="http://schemas.openxmlformats.org/drawingml/2006/main" noGrp="1"/>
          </p:cNvSpPr>
          <p:nvPr/>
        </p:nvSpPr>
        <p:spPr>
          <a:xfrm xmlns:a="http://schemas.openxmlformats.org/drawingml/2006/main">
            <a:off x="17117231" y="9730387"/>
            <a:ext cx="4553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06</a:t>
            </a:r>
            <a:endParaRPr lang="en-US" sz="1350" spc="6" kern="400000">
              <a:latin typeface="Deck"/>
            </a:endParaRPr>
          </a:p>
        </p:txBody>
      </p:sp>
    </p:spTree>
    <p:extLst>
      <p:ext uri="{BB962C8B-B14F-4D97-AF65-F5344CB8AC3E}">
        <p14:creationId xmlns:p14="http://schemas.microsoft.com/office/powerpoint/2010/main" val="224744252"/>
      </p:ext>
    </p:extLst>
  </p:cSld>
</p:sld>
</file>

<file path=ppt/slides/slide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d402f03b5104f48"/>
          <a:stretch xmlns:a="http://schemas.openxmlformats.org/drawingml/2006/main"/>
        </p:blipFill>
        <p:spPr>
          <a:xfrm xmlns:a="http://schemas.openxmlformats.org/drawingml/2006/main">
            <a:off x="7239000" y="238125"/>
            <a:ext cx="10001250" cy="9667875"/>
          </a:xfrm>
          <a:prstGeom xmlns:a="http://schemas.openxmlformats.org/drawingml/2006/main" prst="rect">
            <a:avLst/>
          </a:prstGeom>
        </p:spPr>
      </p:pic>
      <p:sp>
        <p:nvSpPr>
          <p:cNvPr id="2" name="s07-t000">
            <a:extLst xmlns:a="http://schemas.openxmlformats.org/drawingml/2006/main">
              <a:ext uri="{FF2B5EF4-FFF2-40B4-BE49-F238E27FC236}">
                <a16:creationId xmlns:a16="http://schemas.microsoft.com/office/drawing/2014/main" id="{FA0E3193-7D3E-4D1F-BE9C-633F24ADB87F}"/>
              </a:ext>
            </a:extLst>
          </p:cNvPr>
          <p:cNvSpPr>
            <a:spLocks xmlns:a="http://schemas.openxmlformats.org/drawingml/2006/main" noGrp="1"/>
          </p:cNvSpPr>
          <p:nvPr/>
        </p:nvSpPr>
        <p:spPr>
          <a:xfrm xmlns:a="http://schemas.openxmlformats.org/drawingml/2006/main">
            <a:off x="971550" y="2157618"/>
            <a:ext cx="551995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74" kern="400000">
                <a:solidFill>
                  <a:srgbClr val="FAF6F0"/>
                </a:solidFill>
                <a:latin typeface="Deck-Semi-Bold"/>
                <a:ea typeface="Deck-Semi-Bold"/>
                <a:cs typeface="Deck-Semi-Bold"/>
              </a:defRPr>
            </a:pPr>
            <a:r>
              <a:rPr sz="8025" b="0" i="0" kern="400000" spc="-474">
                <a:solidFill>
                  <a:srgbClr val="FAF6F0">
                    <a:alpha val="100000"/>
                  </a:srgbClr>
                </a:solidFill>
                <a:latin typeface="Deck-Semi-Bold"/>
                <a:ea typeface="Deck-Semi-Bold"/>
                <a:cs typeface="Deck-Semi-Bold"/>
              </a:rPr>
              <a:t xml:space="preserve">Your people.</a:t>
            </a:r>
            <a:endParaRPr lang="en-US" sz="8025" spc="-474" kern="400000">
              <a:latin typeface="Deck-Semi-Bold"/>
            </a:endParaRPr>
          </a:p>
        </p:txBody>
      </p:sp>
      <p:sp>
        <p:nvSpPr>
          <p:cNvPr id="3" name="s07-t001">
            <a:extLst xmlns:a="http://schemas.openxmlformats.org/drawingml/2006/main">
              <a:ext uri="{FF2B5EF4-FFF2-40B4-BE49-F238E27FC236}">
                <a16:creationId xmlns:a16="http://schemas.microsoft.com/office/drawing/2014/main" id="{82111FBC-48C1-41B5-9FC7-305026D471F9}"/>
              </a:ext>
            </a:extLst>
          </p:cNvPr>
          <p:cNvSpPr>
            <a:spLocks xmlns:a="http://schemas.openxmlformats.org/drawingml/2006/main" noGrp="1"/>
          </p:cNvSpPr>
          <p:nvPr/>
        </p:nvSpPr>
        <p:spPr>
          <a:xfrm xmlns:a="http://schemas.openxmlformats.org/drawingml/2006/main">
            <a:off x="971550" y="3222655"/>
            <a:ext cx="340268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1" kern="400000">
                <a:solidFill>
                  <a:srgbClr val="9BDAB6"/>
                </a:solidFill>
                <a:latin typeface="Deck-Semi-Bold"/>
                <a:ea typeface="Deck-Semi-Bold"/>
                <a:cs typeface="Deck-Semi-Bold"/>
              </a:defRPr>
            </a:pPr>
            <a:r>
              <a:rPr sz="8025" b="0" i="0" kern="400000" spc="-441">
                <a:solidFill>
                  <a:srgbClr val="9BDAB6">
                    <a:alpha val="100000"/>
                  </a:srgbClr>
                </a:solidFill>
                <a:latin typeface="Deck-Semi-Bold"/>
                <a:ea typeface="Deck-Semi-Bold"/>
                <a:cs typeface="Deck-Semi-Bold"/>
              </a:rPr>
              <a:t xml:space="preserve">In view.</a:t>
            </a:r>
            <a:endParaRPr lang="en-US" sz="8025" spc="-441" kern="400000">
              <a:latin typeface="Deck-Semi-Bold"/>
            </a:endParaRPr>
          </a:p>
        </p:txBody>
      </p:sp>
      <p:sp>
        <p:nvSpPr>
          <p:cNvPr id="4" name="s07-t002">
            <a:extLst xmlns:a="http://schemas.openxmlformats.org/drawingml/2006/main">
              <a:ext uri="{FF2B5EF4-FFF2-40B4-BE49-F238E27FC236}">
                <a16:creationId xmlns:a16="http://schemas.microsoft.com/office/drawing/2014/main" id="{FF41002A-2DD1-4051-B7FC-776BDD5B07BD}"/>
              </a:ext>
            </a:extLst>
          </p:cNvPr>
          <p:cNvSpPr>
            <a:spLocks xmlns:a="http://schemas.openxmlformats.org/drawingml/2006/main" noGrp="1"/>
          </p:cNvSpPr>
          <p:nvPr/>
        </p:nvSpPr>
        <p:spPr>
          <a:xfrm xmlns:a="http://schemas.openxmlformats.org/drawingml/2006/main">
            <a:off x="971550" y="4857258"/>
            <a:ext cx="4252570"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FAF6F0"/>
                </a:solidFill>
                <a:latin typeface="Deck"/>
                <a:ea typeface="Deck"/>
                <a:cs typeface="Deck"/>
              </a:defRPr>
            </a:pPr>
            <a:r>
              <a:rPr sz="2550" b="0" i="0" kern="400000" spc="-12">
                <a:solidFill>
                  <a:srgbClr val="FAF6F0">
                    <a:alpha val="100000"/>
                  </a:srgbClr>
                </a:solidFill>
                <a:latin typeface="Deck"/>
                <a:ea typeface="Deck"/>
                <a:cs typeface="Deck"/>
              </a:rPr>
              <a:t xml:space="preserve">Keep a loved one’s routines</a:t>
            </a:r>
            <a:endParaRPr lang="en-US" sz="2550" spc="-12" kern="400000">
              <a:latin typeface="Deck"/>
            </a:endParaRPr>
          </a:p>
        </p:txBody>
      </p:sp>
      <p:sp>
        <p:nvSpPr>
          <p:cNvPr id="5" name="s07-t003">
            <a:extLst xmlns:a="http://schemas.openxmlformats.org/drawingml/2006/main">
              <a:ext uri="{FF2B5EF4-FFF2-40B4-BE49-F238E27FC236}">
                <a16:creationId xmlns:a16="http://schemas.microsoft.com/office/drawing/2014/main" id="{72BAD483-26F9-4517-AB97-B4A2CE6D0B4D}"/>
              </a:ext>
            </a:extLst>
          </p:cNvPr>
          <p:cNvSpPr>
            <a:spLocks xmlns:a="http://schemas.openxmlformats.org/drawingml/2006/main" noGrp="1"/>
          </p:cNvSpPr>
          <p:nvPr/>
        </p:nvSpPr>
        <p:spPr>
          <a:xfrm xmlns:a="http://schemas.openxmlformats.org/drawingml/2006/main">
            <a:off x="971550" y="5336556"/>
            <a:ext cx="3869779"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3" kern="400000">
                <a:solidFill>
                  <a:srgbClr val="FAF6F0"/>
                </a:solidFill>
                <a:latin typeface="Deck"/>
                <a:ea typeface="Deck"/>
                <a:cs typeface="Deck"/>
              </a:defRPr>
            </a:pPr>
            <a:r>
              <a:rPr sz="2550" b="0" i="0" kern="400000" spc="-3">
                <a:solidFill>
                  <a:srgbClr val="FAF6F0">
                    <a:alpha val="100000"/>
                  </a:srgbClr>
                </a:solidFill>
                <a:latin typeface="Deck"/>
                <a:ea typeface="Deck"/>
                <a:cs typeface="Deck"/>
              </a:rPr>
              <a:t xml:space="preserve">and appointments close.</a:t>
            </a:r>
            <a:endParaRPr lang="en-US" sz="2550" spc="-3" kern="400000">
              <a:latin typeface="Deck"/>
            </a:endParaRPr>
          </a:p>
        </p:txBody>
      </p:sp>
      <p:sp>
        <p:nvSpPr>
          <p:cNvPr id="6" name="s07-t004">
            <a:extLst xmlns:a="http://schemas.openxmlformats.org/drawingml/2006/main">
              <a:ext uri="{FF2B5EF4-FFF2-40B4-BE49-F238E27FC236}">
                <a16:creationId xmlns:a16="http://schemas.microsoft.com/office/drawing/2014/main" id="{9B4CF4E8-0CB4-4677-ACC0-CD424EF91AB1}"/>
              </a:ext>
            </a:extLst>
          </p:cNvPr>
          <p:cNvSpPr>
            <a:spLocks xmlns:a="http://schemas.openxmlformats.org/drawingml/2006/main" noGrp="1"/>
          </p:cNvSpPr>
          <p:nvPr/>
        </p:nvSpPr>
        <p:spPr>
          <a:xfrm xmlns:a="http://schemas.openxmlformats.org/drawingml/2006/main">
            <a:off x="971550" y="1666880"/>
            <a:ext cx="290966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2" kern="400000">
                <a:solidFill>
                  <a:srgbClr val="FAF6F0"/>
                </a:solidFill>
                <a:latin typeface="Deck-Medium"/>
                <a:ea typeface="Deck-Medium"/>
                <a:cs typeface="Deck-Medium"/>
              </a:defRPr>
            </a:pPr>
            <a:r>
              <a:rPr sz="1725" b="0" i="0" kern="400000" spc="292">
                <a:solidFill>
                  <a:srgbClr val="BBBAB6">
                    <a:alpha val="100000"/>
                  </a:srgbClr>
                </a:solidFill>
                <a:latin typeface="Deck-Medium"/>
                <a:ea typeface="Deck-Medium"/>
                <a:cs typeface="Deck-Medium"/>
              </a:rPr>
              <a:t xml:space="preserve">YOUR CARE CIRCLE</a:t>
            </a:r>
            <a:endParaRPr lang="en-US" sz="1725" spc="292" kern="400000">
              <a:latin typeface="Deck-Medium"/>
            </a:endParaRPr>
          </a:p>
        </p:txBody>
      </p:sp>
      <p:sp>
        <p:nvSpPr>
          <p:cNvPr id="7" name="s07-t005">
            <a:extLst xmlns:a="http://schemas.openxmlformats.org/drawingml/2006/main">
              <a:ext uri="{FF2B5EF4-FFF2-40B4-BE49-F238E27FC236}">
                <a16:creationId xmlns:a16="http://schemas.microsoft.com/office/drawing/2014/main" id="{30453CA3-6CE1-4878-95D5-3F7ADCC00401}"/>
              </a:ext>
            </a:extLst>
          </p:cNvPr>
          <p:cNvSpPr>
            <a:spLocks xmlns:a="http://schemas.openxmlformats.org/drawingml/2006/main" noGrp="1"/>
          </p:cNvSpPr>
          <p:nvPr/>
        </p:nvSpPr>
        <p:spPr>
          <a:xfrm xmlns:a="http://schemas.openxmlformats.org/drawingml/2006/main">
            <a:off x="971550" y="6378256"/>
            <a:ext cx="25856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FAF6F0"/>
                </a:solidFill>
                <a:latin typeface="Deck"/>
                <a:ea typeface="Deck"/>
                <a:cs typeface="Deck"/>
              </a:defRPr>
            </a:pPr>
            <a:r>
              <a:rPr sz="1800" b="0" i="0" kern="400000" spc="-6">
                <a:solidFill>
                  <a:srgbClr val="AAAAA6">
                    <a:alpha val="100000"/>
                  </a:srgbClr>
                </a:solidFill>
                <a:latin typeface="Deck"/>
                <a:ea typeface="Deck"/>
                <a:cs typeface="Deck"/>
              </a:rPr>
              <a:t xml:space="preserve">A personal care space,</a:t>
            </a:r>
            <a:endParaRPr lang="en-US" sz="1800" spc="-6" kern="400000">
              <a:latin typeface="Deck"/>
            </a:endParaRPr>
          </a:p>
        </p:txBody>
      </p:sp>
      <p:sp>
        <p:nvSpPr>
          <p:cNvPr id="8" name="s07-t006">
            <a:extLst xmlns:a="http://schemas.openxmlformats.org/drawingml/2006/main">
              <a:ext uri="{FF2B5EF4-FFF2-40B4-BE49-F238E27FC236}">
                <a16:creationId xmlns:a16="http://schemas.microsoft.com/office/drawing/2014/main" id="{556C5900-45BD-4946-A6AD-18AEE6818CC2}"/>
              </a:ext>
            </a:extLst>
          </p:cNvPr>
          <p:cNvSpPr>
            <a:spLocks xmlns:a="http://schemas.openxmlformats.org/drawingml/2006/main" noGrp="1"/>
          </p:cNvSpPr>
          <p:nvPr/>
        </p:nvSpPr>
        <p:spPr>
          <a:xfrm xmlns:a="http://schemas.openxmlformats.org/drawingml/2006/main">
            <a:off x="971550" y="6725728"/>
            <a:ext cx="337931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2" kern="400000">
                <a:solidFill>
                  <a:srgbClr val="FAF6F0"/>
                </a:solidFill>
                <a:latin typeface="Deck"/>
                <a:ea typeface="Deck"/>
                <a:cs typeface="Deck"/>
              </a:defRPr>
            </a:pPr>
            <a:r>
              <a:rPr sz="1800" b="0" i="0" kern="400000" spc="-2">
                <a:solidFill>
                  <a:srgbClr val="AAAAA6">
                    <a:alpha val="100000"/>
                  </a:srgbClr>
                </a:solidFill>
                <a:latin typeface="Deck"/>
                <a:ea typeface="Deck"/>
                <a:cs typeface="Deck"/>
              </a:rPr>
              <a:t xml:space="preserve">with permission-aware access</a:t>
            </a:r>
            <a:endParaRPr lang="en-US" sz="1800" spc="-2" kern="400000">
              <a:latin typeface="Deck"/>
            </a:endParaRPr>
          </a:p>
        </p:txBody>
      </p:sp>
      <p:sp>
        <p:nvSpPr>
          <p:cNvPr id="9" name="s07-t007">
            <a:extLst xmlns:a="http://schemas.openxmlformats.org/drawingml/2006/main">
              <a:ext uri="{FF2B5EF4-FFF2-40B4-BE49-F238E27FC236}">
                <a16:creationId xmlns:a16="http://schemas.microsoft.com/office/drawing/2014/main" id="{A759DA5C-7AB8-4917-8946-32CDEF55E336}"/>
              </a:ext>
            </a:extLst>
          </p:cNvPr>
          <p:cNvSpPr>
            <a:spLocks xmlns:a="http://schemas.openxmlformats.org/drawingml/2006/main" noGrp="1"/>
          </p:cNvSpPr>
          <p:nvPr/>
        </p:nvSpPr>
        <p:spPr>
          <a:xfrm xmlns:a="http://schemas.openxmlformats.org/drawingml/2006/main">
            <a:off x="971550" y="7073200"/>
            <a:ext cx="261282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FAF6F0"/>
                </a:solidFill>
                <a:latin typeface="Deck"/>
                <a:ea typeface="Deck"/>
                <a:cs typeface="Deck"/>
              </a:defRPr>
            </a:pPr>
            <a:r>
              <a:rPr sz="1800" b="0" i="0" kern="400000" spc="-3">
                <a:solidFill>
                  <a:srgbClr val="AAAAA6">
                    <a:alpha val="100000"/>
                  </a:srgbClr>
                </a:solidFill>
                <a:latin typeface="Deck"/>
                <a:ea typeface="Deck"/>
                <a:cs typeface="Deck"/>
              </a:rPr>
              <a:t xml:space="preserve">as the intended model.</a:t>
            </a:r>
            <a:endParaRPr lang="en-US" sz="1800" spc="-3" kern="400000">
              <a:latin typeface="Deck"/>
            </a:endParaRPr>
          </a:p>
        </p:txBody>
      </p:sp>
      <p:sp>
        <p:nvSpPr>
          <p:cNvPr id="10" name="s07-t008">
            <a:extLst xmlns:a="http://schemas.openxmlformats.org/drawingml/2006/main">
              <a:ext uri="{FF2B5EF4-FFF2-40B4-BE49-F238E27FC236}">
                <a16:creationId xmlns:a16="http://schemas.microsoft.com/office/drawing/2014/main" id="{DB2013AE-213C-4489-A2B2-0567F0A8C232}"/>
              </a:ext>
            </a:extLst>
          </p:cNvPr>
          <p:cNvSpPr>
            <a:spLocks xmlns:a="http://schemas.openxmlformats.org/drawingml/2006/main" noGrp="1"/>
          </p:cNvSpPr>
          <p:nvPr/>
        </p:nvSpPr>
        <p:spPr>
          <a:xfrm xmlns:a="http://schemas.openxmlformats.org/drawingml/2006/main">
            <a:off x="952500" y="9730387"/>
            <a:ext cx="686706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Fictional profiles; production sharing to be validated</a:t>
            </a:r>
            <a:endParaRPr lang="en-US" sz="1350" spc="3" kern="400000">
              <a:latin typeface="Deck"/>
            </a:endParaRPr>
          </a:p>
        </p:txBody>
      </p:sp>
      <p:sp>
        <p:nvSpPr>
          <p:cNvPr id="11" name="s07-t009">
            <a:extLst xmlns:a="http://schemas.openxmlformats.org/drawingml/2006/main">
              <a:ext uri="{FF2B5EF4-FFF2-40B4-BE49-F238E27FC236}">
                <a16:creationId xmlns:a16="http://schemas.microsoft.com/office/drawing/2014/main" id="{959A32CC-E9BC-4B3C-88C8-0CC96DE4552C}"/>
              </a:ext>
            </a:extLst>
          </p:cNvPr>
          <p:cNvSpPr>
            <a:spLocks xmlns:a="http://schemas.openxmlformats.org/drawingml/2006/main" noGrp="1"/>
          </p:cNvSpPr>
          <p:nvPr/>
        </p:nvSpPr>
        <p:spPr>
          <a:xfrm xmlns:a="http://schemas.openxmlformats.org/drawingml/2006/main">
            <a:off x="17132485" y="9730387"/>
            <a:ext cx="44006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07</a:t>
            </a:r>
            <a:endParaRPr lang="en-US" sz="1350" spc="7" kern="400000">
              <a:latin typeface="Deck"/>
            </a:endParaRPr>
          </a:p>
        </p:txBody>
      </p:sp>
    </p:spTree>
    <p:extLst>
      <p:ext uri="{BB962C8B-B14F-4D97-AF65-F5344CB8AC3E}">
        <p14:creationId xmlns:p14="http://schemas.microsoft.com/office/powerpoint/2010/main" val="539260058"/>
      </p:ext>
    </p:extLst>
  </p:cSld>
</p:sld>
</file>

<file path=ppt/slides/slide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fed9e18073744c74"/>
          <a:stretch xmlns:a="http://schemas.openxmlformats.org/drawingml/2006/main"/>
        </p:blipFill>
        <p:spPr>
          <a:xfrm xmlns:a="http://schemas.openxmlformats.org/drawingml/2006/main">
            <a:off x="9906000" y="238125"/>
            <a:ext cx="6572250" cy="9858375"/>
          </a:xfrm>
          <a:prstGeom xmlns:a="http://schemas.openxmlformats.org/drawingml/2006/main" prst="rect">
            <a:avLst/>
          </a:prstGeom>
        </p:spPr>
      </p:pic>
      <p:sp>
        <p:nvSpPr>
          <p:cNvPr id="2" name="s08-t000">
            <a:extLst xmlns:a="http://schemas.openxmlformats.org/drawingml/2006/main">
              <a:ext uri="{FF2B5EF4-FFF2-40B4-BE49-F238E27FC236}">
                <a16:creationId xmlns:a16="http://schemas.microsoft.com/office/drawing/2014/main" id="{A1385997-C158-4AF5-9D28-30DA037799E7}"/>
              </a:ext>
            </a:extLst>
          </p:cNvPr>
          <p:cNvSpPr>
            <a:spLocks xmlns:a="http://schemas.openxmlformats.org/drawingml/2006/main" noGrp="1"/>
          </p:cNvSpPr>
          <p:nvPr/>
        </p:nvSpPr>
        <p:spPr>
          <a:xfrm xmlns:a="http://schemas.openxmlformats.org/drawingml/2006/main">
            <a:off x="971550" y="1444351"/>
            <a:ext cx="4349696"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589" kern="400000">
                <a:solidFill>
                  <a:srgbClr val="3A3745"/>
                </a:solidFill>
                <a:latin typeface="Deck-Semi-Bold"/>
                <a:ea typeface="Deck-Semi-Bold"/>
                <a:cs typeface="Deck-Semi-Bold"/>
              </a:defRPr>
            </a:pPr>
            <a:r>
              <a:rPr sz="8475" b="0" i="0" kern="400000" spc="-589">
                <a:solidFill>
                  <a:srgbClr val="3A3745">
                    <a:alpha val="100000"/>
                  </a:srgbClr>
                </a:solidFill>
                <a:latin typeface="Deck-Semi-Bold"/>
                <a:ea typeface="Deck-Semi-Bold"/>
                <a:cs typeface="Deck-Semi-Bold"/>
              </a:rPr>
              <a:t xml:space="preserve">Your day.</a:t>
            </a:r>
            <a:endParaRPr lang="en-US" sz="8475" spc="-589" kern="400000">
              <a:latin typeface="Deck-Semi-Bold"/>
            </a:endParaRPr>
          </a:p>
        </p:txBody>
      </p:sp>
      <p:sp>
        <p:nvSpPr>
          <p:cNvPr id="3" name="s08-t001">
            <a:extLst xmlns:a="http://schemas.openxmlformats.org/drawingml/2006/main">
              <a:ext uri="{FF2B5EF4-FFF2-40B4-BE49-F238E27FC236}">
                <a16:creationId xmlns:a16="http://schemas.microsoft.com/office/drawing/2014/main" id="{E0F3264E-65FE-4708-B2C2-59D3350D49BA}"/>
              </a:ext>
            </a:extLst>
          </p:cNvPr>
          <p:cNvSpPr>
            <a:spLocks xmlns:a="http://schemas.openxmlformats.org/drawingml/2006/main" noGrp="1"/>
          </p:cNvSpPr>
          <p:nvPr/>
        </p:nvSpPr>
        <p:spPr>
          <a:xfrm xmlns:a="http://schemas.openxmlformats.org/drawingml/2006/main">
            <a:off x="971550" y="2569110"/>
            <a:ext cx="6438852" cy="1323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475" spc="-438" kern="400000">
                <a:solidFill>
                  <a:srgbClr val="4F7A66"/>
                </a:solidFill>
                <a:latin typeface="Deck-Semi-Bold"/>
                <a:ea typeface="Deck-Semi-Bold"/>
                <a:cs typeface="Deck-Semi-Bold"/>
              </a:defRPr>
            </a:pPr>
            <a:r>
              <a:rPr sz="8475" b="0" i="0" kern="400000" spc="-438">
                <a:solidFill>
                  <a:srgbClr val="4F7A66">
                    <a:alpha val="100000"/>
                  </a:srgbClr>
                </a:solidFill>
                <a:latin typeface="Deck-Semi-Bold"/>
                <a:ea typeface="Deck-Semi-Bold"/>
                <a:cs typeface="Deck-Semi-Bold"/>
              </a:rPr>
              <a:t xml:space="preserve">A little lighter.</a:t>
            </a:r>
            <a:endParaRPr lang="en-US" sz="8475" spc="-438" kern="400000">
              <a:latin typeface="Deck-Semi-Bold"/>
            </a:endParaRPr>
          </a:p>
        </p:txBody>
      </p:sp>
      <p:sp>
        <p:nvSpPr>
          <p:cNvPr id="4" name="s08-t002">
            <a:extLst xmlns:a="http://schemas.openxmlformats.org/drawingml/2006/main">
              <a:ext uri="{FF2B5EF4-FFF2-40B4-BE49-F238E27FC236}">
                <a16:creationId xmlns:a16="http://schemas.microsoft.com/office/drawing/2014/main" id="{B563693E-2802-42A4-A614-0C5748BC4BD9}"/>
              </a:ext>
            </a:extLst>
          </p:cNvPr>
          <p:cNvSpPr>
            <a:spLocks xmlns:a="http://schemas.openxmlformats.org/drawingml/2006/main" noGrp="1"/>
          </p:cNvSpPr>
          <p:nvPr/>
        </p:nvSpPr>
        <p:spPr>
          <a:xfrm xmlns:a="http://schemas.openxmlformats.org/drawingml/2006/main">
            <a:off x="1019175" y="4681047"/>
            <a:ext cx="494628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7" kern="400000">
                <a:solidFill>
                  <a:srgbClr val="3A3745"/>
                </a:solidFill>
                <a:latin typeface="Deck"/>
                <a:ea typeface="Deck"/>
                <a:cs typeface="Deck"/>
              </a:defRPr>
            </a:pPr>
            <a:r>
              <a:rPr sz="2325" b="0" i="0" kern="400000" spc="-7">
                <a:solidFill>
                  <a:srgbClr val="3A3745">
                    <a:alpha val="100000"/>
                  </a:srgbClr>
                </a:solidFill>
                <a:latin typeface="Deck"/>
                <a:ea typeface="Deck"/>
                <a:cs typeface="Deck"/>
              </a:rPr>
              <a:t xml:space="preserve">One place to see the next care task</a:t>
            </a:r>
            <a:endParaRPr lang="en-US" sz="2325" spc="-7" kern="400000">
              <a:latin typeface="Deck"/>
            </a:endParaRPr>
          </a:p>
        </p:txBody>
      </p:sp>
      <p:sp>
        <p:nvSpPr>
          <p:cNvPr id="5" name="s08-t003">
            <a:extLst xmlns:a="http://schemas.openxmlformats.org/drawingml/2006/main">
              <a:ext uri="{FF2B5EF4-FFF2-40B4-BE49-F238E27FC236}">
                <a16:creationId xmlns:a16="http://schemas.microsoft.com/office/drawing/2014/main" id="{31DFA5BB-2C33-41F9-939B-8CAA7CC4ED57}"/>
              </a:ext>
            </a:extLst>
          </p:cNvPr>
          <p:cNvSpPr>
            <a:spLocks xmlns:a="http://schemas.openxmlformats.org/drawingml/2006/main" noGrp="1"/>
          </p:cNvSpPr>
          <p:nvPr/>
        </p:nvSpPr>
        <p:spPr>
          <a:xfrm xmlns:a="http://schemas.openxmlformats.org/drawingml/2006/main">
            <a:off x="1019175" y="5118054"/>
            <a:ext cx="4976993"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9" kern="400000">
                <a:solidFill>
                  <a:srgbClr val="3A3745"/>
                </a:solidFill>
                <a:latin typeface="Deck"/>
                <a:ea typeface="Deck"/>
                <a:cs typeface="Deck"/>
              </a:defRPr>
            </a:pPr>
            <a:r>
              <a:rPr sz="2325" b="0" i="0" kern="400000" spc="-9">
                <a:solidFill>
                  <a:srgbClr val="3A3745">
                    <a:alpha val="100000"/>
                  </a:srgbClr>
                </a:solidFill>
                <a:latin typeface="Deck"/>
                <a:ea typeface="Deck"/>
                <a:cs typeface="Deck"/>
              </a:rPr>
              <a:t xml:space="preserve">and keep everyday routines in view.</a:t>
            </a:r>
            <a:endParaRPr lang="en-US" sz="2325" spc="-9" kern="400000">
              <a:latin typeface="Deck"/>
            </a:endParaRPr>
          </a:p>
        </p:txBody>
      </p:sp>
      <p:sp>
        <p:nvSpPr>
          <p:cNvPr id="6" name="s08-t004">
            <a:extLst xmlns:a="http://schemas.openxmlformats.org/drawingml/2006/main">
              <a:ext uri="{FF2B5EF4-FFF2-40B4-BE49-F238E27FC236}">
                <a16:creationId xmlns:a16="http://schemas.microsoft.com/office/drawing/2014/main" id="{45DC4E7E-71B5-444F-95BC-05C0978B3265}"/>
              </a:ext>
            </a:extLst>
          </p:cNvPr>
          <p:cNvSpPr>
            <a:spLocks xmlns:a="http://schemas.openxmlformats.org/drawingml/2006/main" noGrp="1"/>
          </p:cNvSpPr>
          <p:nvPr/>
        </p:nvSpPr>
        <p:spPr>
          <a:xfrm xmlns:a="http://schemas.openxmlformats.org/drawingml/2006/main">
            <a:off x="1009650" y="6948261"/>
            <a:ext cx="1737027"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Routines</a:t>
            </a:r>
            <a:endParaRPr lang="en-US" sz="2925" spc="-3" kern="400000">
              <a:latin typeface="Deck"/>
            </a:endParaRPr>
          </a:p>
        </p:txBody>
      </p:sp>
      <p:sp>
        <p:nvSpPr>
          <p:cNvPr id="7" name="s08-t005">
            <a:extLst xmlns:a="http://schemas.openxmlformats.org/drawingml/2006/main">
              <a:ext uri="{FF2B5EF4-FFF2-40B4-BE49-F238E27FC236}">
                <a16:creationId xmlns:a16="http://schemas.microsoft.com/office/drawing/2014/main" id="{69F68420-12B1-4B41-A224-3D09008D6786}"/>
              </a:ext>
            </a:extLst>
          </p:cNvPr>
          <p:cNvSpPr>
            <a:spLocks xmlns:a="http://schemas.openxmlformats.org/drawingml/2006/main" noGrp="1"/>
          </p:cNvSpPr>
          <p:nvPr/>
        </p:nvSpPr>
        <p:spPr>
          <a:xfrm xmlns:a="http://schemas.openxmlformats.org/drawingml/2006/main">
            <a:off x="1009650" y="7438608"/>
            <a:ext cx="1009679"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8" kern="400000">
                <a:solidFill>
                  <a:srgbClr val="7E8A7F"/>
                </a:solidFill>
                <a:latin typeface="Deck"/>
                <a:ea typeface="Deck"/>
                <a:cs typeface="Deck"/>
              </a:defRPr>
            </a:pPr>
            <a:r>
              <a:rPr sz="2925" b="0" i="0" kern="400000" spc="-8">
                <a:solidFill>
                  <a:srgbClr val="7E8A7F">
                    <a:alpha val="100000"/>
                  </a:srgbClr>
                </a:solidFill>
                <a:latin typeface="Deck"/>
                <a:ea typeface="Deck"/>
                <a:cs typeface="Deck"/>
              </a:rPr>
              <a:t xml:space="preserve">Rest</a:t>
            </a:r>
            <a:endParaRPr lang="en-US" sz="2925" spc="-8" kern="400000">
              <a:latin typeface="Deck"/>
            </a:endParaRPr>
          </a:p>
        </p:txBody>
      </p:sp>
      <p:sp>
        <p:nvSpPr>
          <p:cNvPr id="8" name="s08-t006">
            <a:extLst xmlns:a="http://schemas.openxmlformats.org/drawingml/2006/main">
              <a:ext uri="{FF2B5EF4-FFF2-40B4-BE49-F238E27FC236}">
                <a16:creationId xmlns:a16="http://schemas.microsoft.com/office/drawing/2014/main" id="{A0D821DA-3457-4864-A65B-14932E14F0B8}"/>
              </a:ext>
            </a:extLst>
          </p:cNvPr>
          <p:cNvSpPr>
            <a:spLocks xmlns:a="http://schemas.openxmlformats.org/drawingml/2006/main" noGrp="1"/>
          </p:cNvSpPr>
          <p:nvPr/>
        </p:nvSpPr>
        <p:spPr>
          <a:xfrm xmlns:a="http://schemas.openxmlformats.org/drawingml/2006/main">
            <a:off x="1009650" y="7928955"/>
            <a:ext cx="1819494" cy="45691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925" spc="-3" kern="400000">
                <a:solidFill>
                  <a:srgbClr val="7E8A7F"/>
                </a:solidFill>
                <a:latin typeface="Deck"/>
                <a:ea typeface="Deck"/>
                <a:cs typeface="Deck"/>
              </a:defRPr>
            </a:pPr>
            <a:r>
              <a:rPr sz="2925" b="0" i="0" kern="400000" spc="-3">
                <a:solidFill>
                  <a:srgbClr val="7E8A7F">
                    <a:alpha val="100000"/>
                  </a:srgbClr>
                </a:solidFill>
                <a:latin typeface="Deck"/>
                <a:ea typeface="Deck"/>
                <a:cs typeface="Deck"/>
              </a:rPr>
              <a:t xml:space="preserve">Readings</a:t>
            </a:r>
            <a:endParaRPr lang="en-US" sz="2925" spc="-3" kern="400000">
              <a:latin typeface="Deck"/>
            </a:endParaRPr>
          </a:p>
        </p:txBody>
      </p:sp>
      <p:sp>
        <p:nvSpPr>
          <p:cNvPr id="9" name="s08-t007">
            <a:extLst xmlns:a="http://schemas.openxmlformats.org/drawingml/2006/main">
              <a:ext uri="{FF2B5EF4-FFF2-40B4-BE49-F238E27FC236}">
                <a16:creationId xmlns:a16="http://schemas.microsoft.com/office/drawing/2014/main" id="{901A120A-5528-465E-B422-01E43BEBBAFE}"/>
              </a:ext>
            </a:extLst>
          </p:cNvPr>
          <p:cNvSpPr>
            <a:spLocks xmlns:a="http://schemas.openxmlformats.org/drawingml/2006/main" noGrp="1"/>
          </p:cNvSpPr>
          <p:nvPr/>
        </p:nvSpPr>
        <p:spPr>
          <a:xfrm xmlns:a="http://schemas.openxmlformats.org/drawingml/2006/main">
            <a:off x="952500" y="9730387"/>
            <a:ext cx="38381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Fictional data</a:t>
            </a:r>
            <a:endParaRPr lang="en-US" sz="1350" spc="3" kern="400000">
              <a:latin typeface="Deck"/>
            </a:endParaRPr>
          </a:p>
        </p:txBody>
      </p:sp>
      <p:sp>
        <p:nvSpPr>
          <p:cNvPr id="10" name="s08-t008">
            <a:extLst xmlns:a="http://schemas.openxmlformats.org/drawingml/2006/main">
              <a:ext uri="{FF2B5EF4-FFF2-40B4-BE49-F238E27FC236}">
                <a16:creationId xmlns:a16="http://schemas.microsoft.com/office/drawing/2014/main" id="{4CBE7E55-62F9-4173-AF65-17CBC13114F3}"/>
              </a:ext>
            </a:extLst>
          </p:cNvPr>
          <p:cNvSpPr>
            <a:spLocks xmlns:a="http://schemas.openxmlformats.org/drawingml/2006/main" noGrp="1"/>
          </p:cNvSpPr>
          <p:nvPr/>
        </p:nvSpPr>
        <p:spPr>
          <a:xfrm xmlns:a="http://schemas.openxmlformats.org/drawingml/2006/main">
            <a:off x="17119975" y="9730387"/>
            <a:ext cx="45258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08</a:t>
            </a:r>
            <a:endParaRPr lang="en-US" sz="1350" spc="6" kern="400000">
              <a:latin typeface="Deck"/>
            </a:endParaRPr>
          </a:p>
        </p:txBody>
      </p:sp>
    </p:spTree>
    <p:extLst>
      <p:ext uri="{BB962C8B-B14F-4D97-AF65-F5344CB8AC3E}">
        <p14:creationId xmlns:p14="http://schemas.microsoft.com/office/powerpoint/2010/main" val="1154939346"/>
      </p:ext>
    </p:extLst>
  </p:cSld>
</p:sld>
</file>

<file path=ppt/slides/slide9.xml><?xml version="1.0" encoding="utf-8"?>
<p:sld xmlns:p="http://schemas.openxmlformats.org/presentationml/2006/main">
  <p:cSld>
    <p:bg>
      <p:bgPr>
        <a:solidFill xmlns:a="http://schemas.openxmlformats.org/drawingml/2006/main">
          <a:srgbClr val="EAE5F4"/>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854cba54df648ad"/>
          <a:stretch xmlns:a="http://schemas.openxmlformats.org/drawingml/2006/main"/>
        </p:blipFill>
        <p:spPr>
          <a:xfrm xmlns:a="http://schemas.openxmlformats.org/drawingml/2006/main">
            <a:off x="7429500" y="238125"/>
            <a:ext cx="10096500" cy="9667875"/>
          </a:xfrm>
          <a:prstGeom xmlns:a="http://schemas.openxmlformats.org/drawingml/2006/main" prst="rect">
            <a:avLst/>
          </a:prstGeom>
        </p:spPr>
      </p:pic>
      <p:sp>
        <p:nvSpPr>
          <p:cNvPr id="2" name="s09-t000">
            <a:extLst xmlns:a="http://schemas.openxmlformats.org/drawingml/2006/main">
              <a:ext uri="{FF2B5EF4-FFF2-40B4-BE49-F238E27FC236}">
                <a16:creationId xmlns:a16="http://schemas.microsoft.com/office/drawing/2014/main" id="{9E8FDE48-7494-4EFC-B86D-F84E6DD485A5}"/>
              </a:ext>
            </a:extLst>
          </p:cNvPr>
          <p:cNvSpPr>
            <a:spLocks xmlns:a="http://schemas.openxmlformats.org/drawingml/2006/main" noGrp="1"/>
          </p:cNvSpPr>
          <p:nvPr/>
        </p:nvSpPr>
        <p:spPr>
          <a:xfrm xmlns:a="http://schemas.openxmlformats.org/drawingml/2006/main">
            <a:off x="971550" y="2157618"/>
            <a:ext cx="5165712"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23" kern="400000">
                <a:solidFill>
                  <a:srgbClr val="3C354B"/>
                </a:solidFill>
                <a:latin typeface="Deck-Semi-Bold"/>
                <a:ea typeface="Deck-Semi-Bold"/>
                <a:cs typeface="Deck-Semi-Bold"/>
              </a:defRPr>
            </a:pPr>
            <a:r>
              <a:rPr sz="8025" b="0" i="0" kern="400000" spc="-423">
                <a:solidFill>
                  <a:srgbClr val="3C354B">
                    <a:alpha val="100000"/>
                  </a:srgbClr>
                </a:solidFill>
                <a:latin typeface="Deck-Semi-Bold"/>
                <a:ea typeface="Deck-Semi-Bold"/>
                <a:cs typeface="Deck-Semi-Bold"/>
              </a:rPr>
              <a:t xml:space="preserve">Make room</a:t>
            </a:r>
            <a:endParaRPr lang="en-US" sz="8025" spc="-423" kern="400000">
              <a:latin typeface="Deck-Semi-Bold"/>
            </a:endParaRPr>
          </a:p>
        </p:txBody>
      </p:sp>
      <p:sp>
        <p:nvSpPr>
          <p:cNvPr id="3" name="s09-t001">
            <a:extLst xmlns:a="http://schemas.openxmlformats.org/drawingml/2006/main">
              <a:ext uri="{FF2B5EF4-FFF2-40B4-BE49-F238E27FC236}">
                <a16:creationId xmlns:a16="http://schemas.microsoft.com/office/drawing/2014/main" id="{4C8D9D93-A4D5-4106-8AA9-8F772B994B12}"/>
              </a:ext>
            </a:extLst>
          </p:cNvPr>
          <p:cNvSpPr>
            <a:spLocks xmlns:a="http://schemas.openxmlformats.org/drawingml/2006/main" noGrp="1"/>
          </p:cNvSpPr>
          <p:nvPr/>
        </p:nvSpPr>
        <p:spPr>
          <a:xfrm xmlns:a="http://schemas.openxmlformats.org/drawingml/2006/main">
            <a:off x="971550" y="3222655"/>
            <a:ext cx="2188254"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42" kern="400000">
                <a:solidFill>
                  <a:srgbClr val="3C354B"/>
                </a:solidFill>
                <a:latin typeface="Deck-Semi-Bold"/>
                <a:ea typeface="Deck-Semi-Bold"/>
                <a:cs typeface="Deck-Semi-Bold"/>
              </a:defRPr>
            </a:pPr>
            <a:r>
              <a:rPr sz="8025" b="0" i="0" kern="400000" spc="-442">
                <a:solidFill>
                  <a:srgbClr val="3C354B">
                    <a:alpha val="100000"/>
                  </a:srgbClr>
                </a:solidFill>
                <a:latin typeface="Deck-Semi-Bold"/>
                <a:ea typeface="Deck-Semi-Bold"/>
                <a:cs typeface="Deck-Semi-Bold"/>
              </a:rPr>
              <a:t xml:space="preserve">for a</a:t>
            </a:r>
            <a:endParaRPr lang="en-US" sz="8025" spc="-442" kern="400000">
              <a:latin typeface="Deck-Semi-Bold"/>
            </a:endParaRPr>
          </a:p>
        </p:txBody>
      </p:sp>
      <p:sp>
        <p:nvSpPr>
          <p:cNvPr id="4" name="s09-t002">
            <a:extLst xmlns:a="http://schemas.openxmlformats.org/drawingml/2006/main">
              <a:ext uri="{FF2B5EF4-FFF2-40B4-BE49-F238E27FC236}">
                <a16:creationId xmlns:a16="http://schemas.microsoft.com/office/drawing/2014/main" id="{10425F0F-E352-4F14-82AE-1BD07935A0AD}"/>
              </a:ext>
            </a:extLst>
          </p:cNvPr>
          <p:cNvSpPr>
            <a:spLocks xmlns:a="http://schemas.openxmlformats.org/drawingml/2006/main" noGrp="1"/>
          </p:cNvSpPr>
          <p:nvPr/>
        </p:nvSpPr>
        <p:spPr>
          <a:xfrm xmlns:a="http://schemas.openxmlformats.org/drawingml/2006/main">
            <a:off x="971550" y="4287693"/>
            <a:ext cx="5550389"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73618B"/>
                </a:solidFill>
                <a:latin typeface="Deck-Semi-Bold"/>
                <a:ea typeface="Deck-Semi-Bold"/>
                <a:cs typeface="Deck-Semi-Bold"/>
              </a:defRPr>
            </a:pPr>
            <a:r>
              <a:rPr sz="8025" b="0" i="0" kern="400000" spc="-402">
                <a:solidFill>
                  <a:srgbClr val="73618B">
                    <a:alpha val="100000"/>
                  </a:srgbClr>
                </a:solidFill>
                <a:latin typeface="Deck-Semi-Bold"/>
                <a:ea typeface="Deck-Semi-Bold"/>
                <a:cs typeface="Deck-Semi-Bold"/>
              </a:rPr>
              <a:t xml:space="preserve">better night.</a:t>
            </a:r>
            <a:endParaRPr lang="en-US" sz="8025" spc="-402" kern="400000">
              <a:latin typeface="Deck-Semi-Bold"/>
            </a:endParaRPr>
          </a:p>
        </p:txBody>
      </p:sp>
      <p:sp>
        <p:nvSpPr>
          <p:cNvPr id="5" name="s09-t003">
            <a:extLst xmlns:a="http://schemas.openxmlformats.org/drawingml/2006/main">
              <a:ext uri="{FF2B5EF4-FFF2-40B4-BE49-F238E27FC236}">
                <a16:creationId xmlns:a16="http://schemas.microsoft.com/office/drawing/2014/main" id="{F81DBBC9-7629-4FD0-8944-3437C6A4F327}"/>
              </a:ext>
            </a:extLst>
          </p:cNvPr>
          <p:cNvSpPr>
            <a:spLocks xmlns:a="http://schemas.openxmlformats.org/drawingml/2006/main" noGrp="1"/>
          </p:cNvSpPr>
          <p:nvPr/>
        </p:nvSpPr>
        <p:spPr>
          <a:xfrm xmlns:a="http://schemas.openxmlformats.org/drawingml/2006/main">
            <a:off x="971550" y="5922296"/>
            <a:ext cx="202027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2" kern="400000">
                <a:solidFill>
                  <a:srgbClr val="3C354B"/>
                </a:solidFill>
                <a:latin typeface="Deck"/>
                <a:ea typeface="Deck"/>
                <a:cs typeface="Deck"/>
              </a:defRPr>
            </a:pPr>
            <a:r>
              <a:rPr sz="2550" b="0" i="0" kern="400000" spc="-12">
                <a:solidFill>
                  <a:srgbClr val="3C354B">
                    <a:alpha val="100000"/>
                  </a:srgbClr>
                </a:solidFill>
                <a:latin typeface="Deck"/>
                <a:ea typeface="Deck"/>
                <a:cs typeface="Deck"/>
              </a:rPr>
              <a:t xml:space="preserve">Review rest.</a:t>
            </a:r>
            <a:endParaRPr lang="en-US" sz="2550" spc="-12" kern="400000">
              <a:latin typeface="Deck"/>
            </a:endParaRPr>
          </a:p>
        </p:txBody>
      </p:sp>
      <p:sp>
        <p:nvSpPr>
          <p:cNvPr id="6" name="s09-t004">
            <a:extLst xmlns:a="http://schemas.openxmlformats.org/drawingml/2006/main">
              <a:ext uri="{FF2B5EF4-FFF2-40B4-BE49-F238E27FC236}">
                <a16:creationId xmlns:a16="http://schemas.microsoft.com/office/drawing/2014/main" id="{F2A0C23B-78A5-40B2-B4E6-251829C46AC8}"/>
              </a:ext>
            </a:extLst>
          </p:cNvPr>
          <p:cNvSpPr>
            <a:spLocks xmlns:a="http://schemas.openxmlformats.org/drawingml/2006/main" noGrp="1"/>
          </p:cNvSpPr>
          <p:nvPr/>
        </p:nvSpPr>
        <p:spPr>
          <a:xfrm xmlns:a="http://schemas.openxmlformats.org/drawingml/2006/main">
            <a:off x="971550" y="6401594"/>
            <a:ext cx="4534643"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6" kern="400000">
                <a:solidFill>
                  <a:srgbClr val="3C354B"/>
                </a:solidFill>
                <a:latin typeface="Deck"/>
                <a:ea typeface="Deck"/>
                <a:cs typeface="Deck"/>
              </a:defRPr>
            </a:pPr>
            <a:r>
              <a:rPr sz="2550" b="0" i="0" kern="400000" spc="-6">
                <a:solidFill>
                  <a:srgbClr val="3C354B">
                    <a:alpha val="100000"/>
                  </a:srgbClr>
                </a:solidFill>
                <a:latin typeface="Deck"/>
                <a:ea typeface="Deck"/>
                <a:cs typeface="Deck"/>
              </a:rPr>
              <a:t xml:space="preserve">Choose a wind-down routine.</a:t>
            </a:r>
            <a:endParaRPr lang="en-US" sz="2550" spc="-6" kern="400000">
              <a:latin typeface="Deck"/>
            </a:endParaRPr>
          </a:p>
        </p:txBody>
      </p:sp>
      <p:sp>
        <p:nvSpPr>
          <p:cNvPr id="7" name="s09-t005">
            <a:extLst xmlns:a="http://schemas.openxmlformats.org/drawingml/2006/main">
              <a:ext uri="{FF2B5EF4-FFF2-40B4-BE49-F238E27FC236}">
                <a16:creationId xmlns:a16="http://schemas.microsoft.com/office/drawing/2014/main" id="{41BA1CCB-3508-4F48-ABC0-8F7B1D635F52}"/>
              </a:ext>
            </a:extLst>
          </p:cNvPr>
          <p:cNvSpPr>
            <a:spLocks xmlns:a="http://schemas.openxmlformats.org/drawingml/2006/main" noGrp="1"/>
          </p:cNvSpPr>
          <p:nvPr/>
        </p:nvSpPr>
        <p:spPr>
          <a:xfrm xmlns:a="http://schemas.openxmlformats.org/drawingml/2006/main">
            <a:off x="971550" y="1666880"/>
            <a:ext cx="108707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9" kern="400000">
                <a:solidFill>
                  <a:srgbClr val="3C354B"/>
                </a:solidFill>
                <a:latin typeface="Deck-Medium"/>
                <a:ea typeface="Deck-Medium"/>
                <a:cs typeface="Deck-Medium"/>
              </a:defRPr>
            </a:pPr>
            <a:r>
              <a:rPr sz="1725" b="0" i="0" kern="400000" spc="299">
                <a:solidFill>
                  <a:srgbClr val="696377">
                    <a:alpha val="100000"/>
                  </a:srgbClr>
                </a:solidFill>
                <a:latin typeface="Deck-Medium"/>
                <a:ea typeface="Deck-Medium"/>
                <a:cs typeface="Deck-Medium"/>
              </a:rPr>
              <a:t xml:space="preserve">SLEEP</a:t>
            </a:r>
            <a:endParaRPr lang="en-US" sz="1725" spc="299" kern="400000">
              <a:latin typeface="Deck-Medium"/>
            </a:endParaRPr>
          </a:p>
        </p:txBody>
      </p:sp>
      <p:sp>
        <p:nvSpPr>
          <p:cNvPr id="8" name="s09-t006">
            <a:extLst xmlns:a="http://schemas.openxmlformats.org/drawingml/2006/main">
              <a:ext uri="{FF2B5EF4-FFF2-40B4-BE49-F238E27FC236}">
                <a16:creationId xmlns:a16="http://schemas.microsoft.com/office/drawing/2014/main" id="{D3403994-0C05-477D-A455-1DD12610D2C2}"/>
              </a:ext>
            </a:extLst>
          </p:cNvPr>
          <p:cNvSpPr>
            <a:spLocks xmlns:a="http://schemas.openxmlformats.org/drawingml/2006/main" noGrp="1"/>
          </p:cNvSpPr>
          <p:nvPr/>
        </p:nvSpPr>
        <p:spPr>
          <a:xfrm xmlns:a="http://schemas.openxmlformats.org/drawingml/2006/main">
            <a:off x="971550" y="7443294"/>
            <a:ext cx="251658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3C354B"/>
                </a:solidFill>
                <a:latin typeface="Deck"/>
                <a:ea typeface="Deck"/>
                <a:cs typeface="Deck"/>
              </a:defRPr>
            </a:pPr>
            <a:r>
              <a:rPr sz="1800" b="0" i="0" kern="400000" spc="-3">
                <a:solidFill>
                  <a:srgbClr val="756F83">
                    <a:alpha val="100000"/>
                  </a:srgbClr>
                </a:solidFill>
                <a:latin typeface="Deck"/>
                <a:ea typeface="Deck"/>
                <a:cs typeface="Deck"/>
              </a:rPr>
              <a:t xml:space="preserve">Illustrative sleep data.</a:t>
            </a:r>
            <a:endParaRPr lang="en-US" sz="1800" spc="-3" kern="400000">
              <a:latin typeface="Deck"/>
            </a:endParaRPr>
          </a:p>
        </p:txBody>
      </p:sp>
      <p:sp>
        <p:nvSpPr>
          <p:cNvPr id="9" name="s09-t007">
            <a:extLst xmlns:a="http://schemas.openxmlformats.org/drawingml/2006/main">
              <a:ext uri="{FF2B5EF4-FFF2-40B4-BE49-F238E27FC236}">
                <a16:creationId xmlns:a16="http://schemas.microsoft.com/office/drawing/2014/main" id="{F381AB16-DB87-4810-AE09-760A8E7B8C86}"/>
              </a:ext>
            </a:extLst>
          </p:cNvPr>
          <p:cNvSpPr>
            <a:spLocks xmlns:a="http://schemas.openxmlformats.org/drawingml/2006/main" noGrp="1"/>
          </p:cNvSpPr>
          <p:nvPr/>
        </p:nvSpPr>
        <p:spPr>
          <a:xfrm xmlns:a="http://schemas.openxmlformats.org/drawingml/2006/main">
            <a:off x="971550" y="7790766"/>
            <a:ext cx="3616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4" kern="400000">
                <a:solidFill>
                  <a:srgbClr val="3C354B"/>
                </a:solidFill>
                <a:latin typeface="Deck"/>
                <a:ea typeface="Deck"/>
                <a:cs typeface="Deck"/>
              </a:defRPr>
            </a:pPr>
            <a:r>
              <a:rPr sz="1800" b="0" i="0" kern="400000" spc="-4">
                <a:solidFill>
                  <a:srgbClr val="756F83">
                    <a:alpha val="100000"/>
                  </a:srgbClr>
                </a:solidFill>
                <a:latin typeface="Deck"/>
                <a:ea typeface="Deck"/>
                <a:cs typeface="Deck"/>
              </a:rPr>
              <a:t xml:space="preserve">Wearable connection is planned.</a:t>
            </a:r>
            <a:endParaRPr lang="en-US" sz="1800" spc="-4" kern="400000">
              <a:latin typeface="Deck"/>
            </a:endParaRPr>
          </a:p>
        </p:txBody>
      </p:sp>
      <p:sp>
        <p:nvSpPr>
          <p:cNvPr id="10" name="s09-t008">
            <a:extLst xmlns:a="http://schemas.openxmlformats.org/drawingml/2006/main">
              <a:ext uri="{FF2B5EF4-FFF2-40B4-BE49-F238E27FC236}">
                <a16:creationId xmlns:a16="http://schemas.microsoft.com/office/drawing/2014/main" id="{F8CF1C32-9AEA-4BF0-A4BA-284C5084A019}"/>
              </a:ext>
            </a:extLst>
          </p:cNvPr>
          <p:cNvSpPr>
            <a:spLocks xmlns:a="http://schemas.openxmlformats.org/drawingml/2006/main" noGrp="1"/>
          </p:cNvSpPr>
          <p:nvPr/>
        </p:nvSpPr>
        <p:spPr>
          <a:xfrm xmlns:a="http://schemas.openxmlformats.org/drawingml/2006/main">
            <a:off x="952500" y="9730387"/>
            <a:ext cx="56081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C354B"/>
                </a:solidFill>
                <a:latin typeface="Deck"/>
                <a:ea typeface="Deck"/>
                <a:cs typeface="Deck"/>
              </a:defRPr>
            </a:pPr>
            <a:r>
              <a:rPr sz="1350" b="0" i="0" kern="400000" spc="3">
                <a:solidFill>
                  <a:srgbClr val="7C768A">
                    <a:alpha val="100000"/>
                  </a:srgbClr>
                </a:solidFill>
                <a:latin typeface="Deck"/>
                <a:ea typeface="Deck"/>
                <a:cs typeface="Deck"/>
              </a:rPr>
              <a:t xml:space="preserve">Mobile prototype walkthrough · Sleep is not measured from a device</a:t>
            </a:r>
            <a:endParaRPr lang="en-US" sz="1350" spc="3" kern="400000">
              <a:latin typeface="Deck"/>
            </a:endParaRPr>
          </a:p>
        </p:txBody>
      </p:sp>
      <p:sp>
        <p:nvSpPr>
          <p:cNvPr id="11" name="s09-t009">
            <a:extLst xmlns:a="http://schemas.openxmlformats.org/drawingml/2006/main">
              <a:ext uri="{FF2B5EF4-FFF2-40B4-BE49-F238E27FC236}">
                <a16:creationId xmlns:a16="http://schemas.microsoft.com/office/drawing/2014/main" id="{62D3AA2A-6CF1-410F-8B1F-CE7DC4102CDE}"/>
              </a:ext>
            </a:extLst>
          </p:cNvPr>
          <p:cNvSpPr>
            <a:spLocks xmlns:a="http://schemas.openxmlformats.org/drawingml/2006/main" noGrp="1"/>
          </p:cNvSpPr>
          <p:nvPr/>
        </p:nvSpPr>
        <p:spPr>
          <a:xfrm xmlns:a="http://schemas.openxmlformats.org/drawingml/2006/main">
            <a:off x="17117054" y="9730387"/>
            <a:ext cx="4554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C354B"/>
                </a:solidFill>
                <a:latin typeface="Deck"/>
                <a:ea typeface="Deck"/>
                <a:cs typeface="Deck"/>
              </a:defRPr>
            </a:pPr>
            <a:r>
              <a:rPr sz="1350" b="0" i="0" kern="400000" spc="7">
                <a:solidFill>
                  <a:srgbClr val="7C768A">
                    <a:alpha val="100000"/>
                  </a:srgbClr>
                </a:solidFill>
                <a:latin typeface="Deck"/>
                <a:ea typeface="Deck"/>
                <a:cs typeface="Deck"/>
              </a:rPr>
              <a:t xml:space="preserve">09</a:t>
            </a:r>
            <a:endParaRPr lang="en-US" sz="1350" spc="7" kern="400000">
              <a:latin typeface="Deck"/>
            </a:endParaRPr>
          </a:p>
        </p:txBody>
      </p:sp>
    </p:spTree>
    <p:extLst>
      <p:ext uri="{BB962C8B-B14F-4D97-AF65-F5344CB8AC3E}">
        <p14:creationId xmlns:p14="http://schemas.microsoft.com/office/powerpoint/2010/main" val="310977516"/>
      </p:ext>
    </p:extLst>
  </p:cSld>
</p:sld>
</file>

<file path=ppt/slides/slide10.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e7b6bbdcbae46a7"/>
          <a:stretch xmlns:a="http://schemas.openxmlformats.org/drawingml/2006/main"/>
        </p:blipFill>
        <p:spPr>
          <a:xfrm xmlns:a="http://schemas.openxmlformats.org/drawingml/2006/main">
            <a:off x="10001250" y="238125"/>
            <a:ext cx="6286500" cy="9667875"/>
          </a:xfrm>
          <a:prstGeom xmlns:a="http://schemas.openxmlformats.org/drawingml/2006/main" prst="rect">
            <a:avLst/>
          </a:prstGeom>
        </p:spPr>
      </p:pic>
      <p:sp>
        <p:nvSpPr>
          <p:cNvPr id="2" name="s10-t000">
            <a:extLst xmlns:a="http://schemas.openxmlformats.org/drawingml/2006/main">
              <a:ext uri="{FF2B5EF4-FFF2-40B4-BE49-F238E27FC236}">
                <a16:creationId xmlns:a16="http://schemas.microsoft.com/office/drawing/2014/main" id="{2712A73F-0A3D-43C9-B70C-B7D3979C98C9}"/>
              </a:ext>
            </a:extLst>
          </p:cNvPr>
          <p:cNvSpPr>
            <a:spLocks xmlns:a="http://schemas.openxmlformats.org/drawingml/2006/main" noGrp="1"/>
          </p:cNvSpPr>
          <p:nvPr/>
        </p:nvSpPr>
        <p:spPr>
          <a:xfrm xmlns:a="http://schemas.openxmlformats.org/drawingml/2006/main">
            <a:off x="1000125" y="2312128"/>
            <a:ext cx="5148910"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463" kern="400000">
                <a:solidFill>
                  <a:srgbClr val="FAF6F0"/>
                </a:solidFill>
                <a:latin typeface="Deck-Semi-Bold"/>
                <a:ea typeface="Deck-Semi-Bold"/>
                <a:cs typeface="Deck-Semi-Bold"/>
              </a:defRPr>
            </a:pPr>
            <a:r>
              <a:rPr sz="7800" b="0" i="0" kern="400000" spc="-463">
                <a:solidFill>
                  <a:srgbClr val="FAF6F0">
                    <a:alpha val="100000"/>
                  </a:srgbClr>
                </a:solidFill>
                <a:latin typeface="Deck-Semi-Bold"/>
                <a:ea typeface="Deck-Semi-Bold"/>
                <a:cs typeface="Deck-Semi-Bold"/>
              </a:rPr>
              <a:t xml:space="preserve">Your health,</a:t>
            </a:r>
            <a:endParaRPr lang="en-US" sz="7800" spc="-463" kern="400000">
              <a:latin typeface="Deck-Semi-Bold"/>
            </a:endParaRPr>
          </a:p>
        </p:txBody>
      </p:sp>
      <p:sp>
        <p:nvSpPr>
          <p:cNvPr id="3" name="s10-t001">
            <a:extLst xmlns:a="http://schemas.openxmlformats.org/drawingml/2006/main">
              <a:ext uri="{FF2B5EF4-FFF2-40B4-BE49-F238E27FC236}">
                <a16:creationId xmlns:a16="http://schemas.microsoft.com/office/drawing/2014/main" id="{AB7483AA-D9E3-4B62-AF77-2A2A00D3E447}"/>
              </a:ext>
            </a:extLst>
          </p:cNvPr>
          <p:cNvSpPr>
            <a:spLocks xmlns:a="http://schemas.openxmlformats.org/drawingml/2006/main" noGrp="1"/>
          </p:cNvSpPr>
          <p:nvPr/>
        </p:nvSpPr>
        <p:spPr>
          <a:xfrm xmlns:a="http://schemas.openxmlformats.org/drawingml/2006/main">
            <a:off x="1000125" y="3347305"/>
            <a:ext cx="496961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86" kern="400000">
                <a:solidFill>
                  <a:srgbClr val="9BDAB6"/>
                </a:solidFill>
                <a:latin typeface="Deck-Semi-Bold"/>
                <a:ea typeface="Deck-Semi-Bold"/>
                <a:cs typeface="Deck-Semi-Bold"/>
              </a:defRPr>
            </a:pPr>
            <a:r>
              <a:rPr sz="7800" b="0" i="0" kern="400000" spc="-386">
                <a:solidFill>
                  <a:srgbClr val="9BDAB6">
                    <a:alpha val="100000"/>
                  </a:srgbClr>
                </a:solidFill>
                <a:latin typeface="Deck-Semi-Bold"/>
                <a:ea typeface="Deck-Semi-Bold"/>
                <a:cs typeface="Deck-Semi-Bold"/>
              </a:rPr>
              <a:t xml:space="preserve">at a glance.</a:t>
            </a:r>
            <a:endParaRPr lang="en-US" sz="7800" spc="-386" kern="400000">
              <a:latin typeface="Deck-Semi-Bold"/>
            </a:endParaRPr>
          </a:p>
        </p:txBody>
      </p:sp>
      <p:sp>
        <p:nvSpPr>
          <p:cNvPr id="4" name="s10-t002">
            <a:extLst xmlns:a="http://schemas.openxmlformats.org/drawingml/2006/main">
              <a:ext uri="{FF2B5EF4-FFF2-40B4-BE49-F238E27FC236}">
                <a16:creationId xmlns:a16="http://schemas.microsoft.com/office/drawing/2014/main" id="{8E45AE31-6F59-4E4B-81C0-0786D62C4076}"/>
              </a:ext>
            </a:extLst>
          </p:cNvPr>
          <p:cNvSpPr>
            <a:spLocks xmlns:a="http://schemas.openxmlformats.org/drawingml/2006/main" noGrp="1"/>
          </p:cNvSpPr>
          <p:nvPr/>
        </p:nvSpPr>
        <p:spPr>
          <a:xfrm xmlns:a="http://schemas.openxmlformats.org/drawingml/2006/main">
            <a:off x="1000125" y="4975898"/>
            <a:ext cx="5098447"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8" kern="400000">
                <a:solidFill>
                  <a:srgbClr val="FAF6F0"/>
                </a:solidFill>
                <a:latin typeface="Deck"/>
                <a:ea typeface="Deck"/>
                <a:cs typeface="Deck"/>
              </a:defRPr>
            </a:pPr>
            <a:r>
              <a:rPr sz="2250" b="0" i="0" kern="400000" spc="-8">
                <a:solidFill>
                  <a:srgbClr val="FAF6F0">
                    <a:alpha val="100000"/>
                  </a:srgbClr>
                </a:solidFill>
                <a:latin typeface="Deck"/>
                <a:ea typeface="Deck"/>
                <a:cs typeface="Deck"/>
              </a:rPr>
              <a:t xml:space="preserve">Rest, routines and recorded readings.</a:t>
            </a:r>
            <a:endParaRPr lang="en-US" sz="2250" spc="-8" kern="400000">
              <a:latin typeface="Deck"/>
            </a:endParaRPr>
          </a:p>
        </p:txBody>
      </p:sp>
      <p:sp>
        <p:nvSpPr>
          <p:cNvPr id="5" name="s10-t003">
            <a:extLst xmlns:a="http://schemas.openxmlformats.org/drawingml/2006/main">
              <a:ext uri="{FF2B5EF4-FFF2-40B4-BE49-F238E27FC236}">
                <a16:creationId xmlns:a16="http://schemas.microsoft.com/office/drawing/2014/main" id="{B8D1854D-57BD-471A-AEC4-2CFD68537BE0}"/>
              </a:ext>
            </a:extLst>
          </p:cNvPr>
          <p:cNvSpPr>
            <a:spLocks xmlns:a="http://schemas.openxmlformats.org/drawingml/2006/main" noGrp="1"/>
          </p:cNvSpPr>
          <p:nvPr/>
        </p:nvSpPr>
        <p:spPr>
          <a:xfrm xmlns:a="http://schemas.openxmlformats.org/drawingml/2006/main">
            <a:off x="1000125" y="5404523"/>
            <a:ext cx="5705380" cy="3514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250" spc="-6" kern="400000">
                <a:solidFill>
                  <a:srgbClr val="FAF6F0"/>
                </a:solidFill>
                <a:latin typeface="Deck"/>
                <a:ea typeface="Deck"/>
                <a:cs typeface="Deck"/>
              </a:defRPr>
            </a:pPr>
            <a:r>
              <a:rPr sz="2250" b="0" i="0" kern="400000" spc="-6">
                <a:solidFill>
                  <a:srgbClr val="FAF6F0">
                    <a:alpha val="100000"/>
                  </a:srgbClr>
                </a:solidFill>
                <a:latin typeface="Deck"/>
                <a:ea typeface="Deck"/>
                <a:cs typeface="Deck"/>
              </a:rPr>
              <a:t xml:space="preserve">A place to notice what deserves attention.</a:t>
            </a:r>
            <a:endParaRPr lang="en-US" sz="2250" spc="-6" kern="400000">
              <a:latin typeface="Deck"/>
            </a:endParaRPr>
          </a:p>
        </p:txBody>
      </p:sp>
      <p:sp>
        <p:nvSpPr>
          <p:cNvPr id="6" name="s10-t004">
            <a:extLst xmlns:a="http://schemas.openxmlformats.org/drawingml/2006/main">
              <a:ext uri="{FF2B5EF4-FFF2-40B4-BE49-F238E27FC236}">
                <a16:creationId xmlns:a16="http://schemas.microsoft.com/office/drawing/2014/main" id="{3C98CE3E-5643-4B8B-82DD-ED5151020205}"/>
              </a:ext>
            </a:extLst>
          </p:cNvPr>
          <p:cNvSpPr>
            <a:spLocks xmlns:a="http://schemas.openxmlformats.org/drawingml/2006/main" noGrp="1"/>
          </p:cNvSpPr>
          <p:nvPr/>
        </p:nvSpPr>
        <p:spPr>
          <a:xfrm xmlns:a="http://schemas.openxmlformats.org/drawingml/2006/main">
            <a:off x="1000125" y="1819280"/>
            <a:ext cx="33285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73" kern="400000">
                <a:solidFill>
                  <a:srgbClr val="FAF6F0"/>
                </a:solidFill>
                <a:latin typeface="Deck-Medium"/>
                <a:ea typeface="Deck-Medium"/>
                <a:cs typeface="Deck-Medium"/>
              </a:defRPr>
            </a:pPr>
            <a:r>
              <a:rPr sz="1725" b="0" i="0" kern="400000" spc="273">
                <a:solidFill>
                  <a:srgbClr val="BBBAB6">
                    <a:alpha val="100000"/>
                  </a:srgbClr>
                </a:solidFill>
                <a:latin typeface="Deck-Medium"/>
                <a:ea typeface="Deck-Medium"/>
                <a:cs typeface="Deck-Medium"/>
              </a:rPr>
              <a:t xml:space="preserve">HEALTH INFORMATION</a:t>
            </a:r>
            <a:endParaRPr lang="en-US" sz="1725" spc="273" kern="400000">
              <a:latin typeface="Deck-Medium"/>
            </a:endParaRPr>
          </a:p>
        </p:txBody>
      </p:sp>
      <p:sp>
        <p:nvSpPr>
          <p:cNvPr id="7" name="s10-t005">
            <a:extLst xmlns:a="http://schemas.openxmlformats.org/drawingml/2006/main">
              <a:ext uri="{FF2B5EF4-FFF2-40B4-BE49-F238E27FC236}">
                <a16:creationId xmlns:a16="http://schemas.microsoft.com/office/drawing/2014/main" id="{5F32FFD0-F427-4D63-BB68-6C3B3553BB73}"/>
              </a:ext>
            </a:extLst>
          </p:cNvPr>
          <p:cNvSpPr>
            <a:spLocks xmlns:a="http://schemas.openxmlformats.org/drawingml/2006/main" noGrp="1"/>
          </p:cNvSpPr>
          <p:nvPr/>
        </p:nvSpPr>
        <p:spPr>
          <a:xfrm xmlns:a="http://schemas.openxmlformats.org/drawingml/2006/main">
            <a:off x="952500" y="9730387"/>
            <a:ext cx="60632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Mobile prototype walkthrough · Illustrative readings; no live wearable data</a:t>
            </a:r>
            <a:endParaRPr lang="en-US" sz="1350" spc="3" kern="400000">
              <a:latin typeface="Deck"/>
            </a:endParaRPr>
          </a:p>
        </p:txBody>
      </p:sp>
      <p:sp>
        <p:nvSpPr>
          <p:cNvPr id="8" name="s10-t006">
            <a:extLst xmlns:a="http://schemas.openxmlformats.org/drawingml/2006/main">
              <a:ext uri="{FF2B5EF4-FFF2-40B4-BE49-F238E27FC236}">
                <a16:creationId xmlns:a16="http://schemas.microsoft.com/office/drawing/2014/main" id="{10CC4306-896A-440B-A08B-B321311777B1}"/>
              </a:ext>
            </a:extLst>
          </p:cNvPr>
          <p:cNvSpPr>
            <a:spLocks xmlns:a="http://schemas.openxmlformats.org/drawingml/2006/main" noGrp="1"/>
          </p:cNvSpPr>
          <p:nvPr/>
        </p:nvSpPr>
        <p:spPr>
          <a:xfrm xmlns:a="http://schemas.openxmlformats.org/drawingml/2006/main">
            <a:off x="17163181" y="9730387"/>
            <a:ext cx="40937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10</a:t>
            </a:r>
            <a:endParaRPr lang="en-US" sz="1350" spc="7" kern="400000">
              <a:latin typeface="Deck"/>
            </a:endParaRPr>
          </a:p>
        </p:txBody>
      </p:sp>
    </p:spTree>
    <p:extLst>
      <p:ext uri="{BB962C8B-B14F-4D97-AF65-F5344CB8AC3E}">
        <p14:creationId xmlns:p14="http://schemas.microsoft.com/office/powerpoint/2010/main" val="2060592216"/>
      </p:ext>
    </p:extLst>
  </p:cSld>
</p:sld>
</file>

<file path=ppt/slides/slide1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2ee00079b7d4c28"/>
          <a:stretch xmlns:a="http://schemas.openxmlformats.org/drawingml/2006/main"/>
        </p:blipFill>
        <p:spPr>
          <a:xfrm xmlns:a="http://schemas.openxmlformats.org/drawingml/2006/main">
            <a:off x="1571625" y="238125"/>
            <a:ext cx="6191250" cy="9858375"/>
          </a:xfrm>
          <a:prstGeom xmlns:a="http://schemas.openxmlformats.org/drawingml/2006/main" prst="rect">
            <a:avLst/>
          </a:prstGeom>
        </p:spPr>
      </p:pic>
      <p:sp>
        <p:nvSpPr>
          <p:cNvPr id="2" name="s11-t000">
            <a:extLst xmlns:a="http://schemas.openxmlformats.org/drawingml/2006/main">
              <a:ext uri="{FF2B5EF4-FFF2-40B4-BE49-F238E27FC236}">
                <a16:creationId xmlns:a16="http://schemas.microsoft.com/office/drawing/2014/main" id="{964B687D-F7B9-49EE-842F-041691F1E5DF}"/>
              </a:ext>
            </a:extLst>
          </p:cNvPr>
          <p:cNvSpPr>
            <a:spLocks xmlns:a="http://schemas.openxmlformats.org/drawingml/2006/main" noGrp="1"/>
          </p:cNvSpPr>
          <p:nvPr/>
        </p:nvSpPr>
        <p:spPr>
          <a:xfrm xmlns:a="http://schemas.openxmlformats.org/drawingml/2006/main">
            <a:off x="8096250" y="2064478"/>
            <a:ext cx="6938162"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1" kern="400000">
                <a:solidFill>
                  <a:srgbClr val="3A3745"/>
                </a:solidFill>
                <a:latin typeface="Deck-Semi-Bold"/>
                <a:ea typeface="Deck-Semi-Bold"/>
                <a:cs typeface="Deck-Semi-Bold"/>
              </a:defRPr>
            </a:pPr>
            <a:r>
              <a:rPr sz="7800" b="0" i="0" kern="400000" spc="-391">
                <a:solidFill>
                  <a:srgbClr val="3A3745">
                    <a:alpha val="100000"/>
                  </a:srgbClr>
                </a:solidFill>
                <a:latin typeface="Deck-Semi-Bold"/>
                <a:ea typeface="Deck-Semi-Bold"/>
                <a:cs typeface="Deck-Semi-Bold"/>
              </a:rPr>
              <a:t xml:space="preserve">Keep the details</a:t>
            </a:r>
            <a:endParaRPr lang="en-US" sz="7800" spc="-391" kern="400000">
              <a:latin typeface="Deck-Semi-Bold"/>
            </a:endParaRPr>
          </a:p>
        </p:txBody>
      </p:sp>
      <p:sp>
        <p:nvSpPr>
          <p:cNvPr id="3" name="s11-t001">
            <a:extLst xmlns:a="http://schemas.openxmlformats.org/drawingml/2006/main">
              <a:ext uri="{FF2B5EF4-FFF2-40B4-BE49-F238E27FC236}">
                <a16:creationId xmlns:a16="http://schemas.microsoft.com/office/drawing/2014/main" id="{1FFB951A-8203-4CCE-8141-D75642CD707D}"/>
              </a:ext>
            </a:extLst>
          </p:cNvPr>
          <p:cNvSpPr>
            <a:spLocks xmlns:a="http://schemas.openxmlformats.org/drawingml/2006/main" noGrp="1"/>
          </p:cNvSpPr>
          <p:nvPr/>
        </p:nvSpPr>
        <p:spPr>
          <a:xfrm xmlns:a="http://schemas.openxmlformats.org/drawingml/2006/main">
            <a:off x="8096250" y="3099655"/>
            <a:ext cx="2648788" cy="12184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00" spc="-392" kern="400000">
                <a:solidFill>
                  <a:srgbClr val="4F7A66"/>
                </a:solidFill>
                <a:latin typeface="Deck-Semi-Bold"/>
                <a:ea typeface="Deck-Semi-Bold"/>
                <a:cs typeface="Deck-Semi-Bold"/>
              </a:defRPr>
            </a:pPr>
            <a:r>
              <a:rPr sz="7800" b="0" i="0" kern="400000" spc="-392">
                <a:solidFill>
                  <a:srgbClr val="4F7A66">
                    <a:alpha val="100000"/>
                  </a:srgbClr>
                </a:solidFill>
                <a:latin typeface="Deck-Semi-Bold"/>
                <a:ea typeface="Deck-Semi-Bold"/>
                <a:cs typeface="Deck-Semi-Bold"/>
              </a:rPr>
              <a:t xml:space="preserve">close.</a:t>
            </a:r>
            <a:endParaRPr lang="en-US" sz="7800" spc="-392" kern="400000">
              <a:latin typeface="Deck-Semi-Bold"/>
            </a:endParaRPr>
          </a:p>
        </p:txBody>
      </p:sp>
      <p:sp>
        <p:nvSpPr>
          <p:cNvPr id="4" name="s11-t002">
            <a:extLst xmlns:a="http://schemas.openxmlformats.org/drawingml/2006/main">
              <a:ext uri="{FF2B5EF4-FFF2-40B4-BE49-F238E27FC236}">
                <a16:creationId xmlns:a16="http://schemas.microsoft.com/office/drawing/2014/main" id="{2C389178-9C56-4512-AA63-15B4B6EE5B29}"/>
              </a:ext>
            </a:extLst>
          </p:cNvPr>
          <p:cNvSpPr>
            <a:spLocks xmlns:a="http://schemas.openxmlformats.org/drawingml/2006/main" noGrp="1"/>
          </p:cNvSpPr>
          <p:nvPr/>
        </p:nvSpPr>
        <p:spPr>
          <a:xfrm xmlns:a="http://schemas.openxmlformats.org/drawingml/2006/main">
            <a:off x="8096250" y="4732638"/>
            <a:ext cx="4088292"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3" kern="400000">
                <a:solidFill>
                  <a:srgbClr val="3A3745"/>
                </a:solidFill>
                <a:latin typeface="Deck"/>
                <a:ea typeface="Deck"/>
                <a:cs typeface="Deck"/>
              </a:defRPr>
            </a:pPr>
            <a:r>
              <a:rPr sz="2475" b="0" i="0" kern="400000" spc="-3">
                <a:solidFill>
                  <a:srgbClr val="3A3745">
                    <a:alpha val="100000"/>
                  </a:srgbClr>
                </a:solidFill>
                <a:latin typeface="Deck"/>
                <a:ea typeface="Deck"/>
                <a:cs typeface="Deck"/>
              </a:rPr>
              <a:t xml:space="preserve">Bring important plan notes</a:t>
            </a:r>
            <a:endParaRPr lang="en-US" sz="2475" spc="-3" kern="400000">
              <a:latin typeface="Deck"/>
            </a:endParaRPr>
          </a:p>
        </p:txBody>
      </p:sp>
      <p:sp>
        <p:nvSpPr>
          <p:cNvPr id="5" name="s11-t003">
            <a:extLst xmlns:a="http://schemas.openxmlformats.org/drawingml/2006/main">
              <a:ext uri="{FF2B5EF4-FFF2-40B4-BE49-F238E27FC236}">
                <a16:creationId xmlns:a16="http://schemas.microsoft.com/office/drawing/2014/main" id="{4D83B152-8FA2-4B90-80F5-5FB97A0E4757}"/>
              </a:ext>
            </a:extLst>
          </p:cNvPr>
          <p:cNvSpPr>
            <a:spLocks xmlns:a="http://schemas.openxmlformats.org/drawingml/2006/main" noGrp="1"/>
          </p:cNvSpPr>
          <p:nvPr/>
        </p:nvSpPr>
        <p:spPr>
          <a:xfrm xmlns:a="http://schemas.openxmlformats.org/drawingml/2006/main">
            <a:off x="8096250" y="5204126"/>
            <a:ext cx="3190894"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3" kern="400000">
                <a:solidFill>
                  <a:srgbClr val="3A3745"/>
                </a:solidFill>
                <a:latin typeface="Deck"/>
                <a:ea typeface="Deck"/>
                <a:cs typeface="Deck"/>
              </a:defRPr>
            </a:pPr>
            <a:r>
              <a:rPr sz="2475" b="0" i="0" kern="400000" spc="-13">
                <a:solidFill>
                  <a:srgbClr val="3A3745">
                    <a:alpha val="100000"/>
                  </a:srgbClr>
                </a:solidFill>
                <a:latin typeface="Deck"/>
                <a:ea typeface="Deck"/>
                <a:cs typeface="Deck"/>
              </a:rPr>
              <a:t xml:space="preserve">into your care space.</a:t>
            </a:r>
            <a:endParaRPr lang="en-US" sz="2475" spc="-13" kern="400000">
              <a:latin typeface="Deck"/>
            </a:endParaRPr>
          </a:p>
        </p:txBody>
      </p:sp>
      <p:sp>
        <p:nvSpPr>
          <p:cNvPr id="6" name="s11-t004">
            <a:extLst xmlns:a="http://schemas.openxmlformats.org/drawingml/2006/main">
              <a:ext uri="{FF2B5EF4-FFF2-40B4-BE49-F238E27FC236}">
                <a16:creationId xmlns:a16="http://schemas.microsoft.com/office/drawing/2014/main" id="{F3995CF2-56FF-4224-BBDE-D829D409A620}"/>
              </a:ext>
            </a:extLst>
          </p:cNvPr>
          <p:cNvSpPr>
            <a:spLocks xmlns:a="http://schemas.openxmlformats.org/drawingml/2006/main" noGrp="1"/>
          </p:cNvSpPr>
          <p:nvPr/>
        </p:nvSpPr>
        <p:spPr>
          <a:xfrm xmlns:a="http://schemas.openxmlformats.org/drawingml/2006/main">
            <a:off x="8096250" y="5675613"/>
            <a:ext cx="4636475" cy="386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75" spc="-11" kern="400000">
                <a:solidFill>
                  <a:srgbClr val="3A3745"/>
                </a:solidFill>
                <a:latin typeface="Deck"/>
                <a:ea typeface="Deck"/>
                <a:cs typeface="Deck"/>
              </a:defRPr>
            </a:pPr>
            <a:r>
              <a:rPr sz="2475" b="0" i="0" kern="400000" spc="-11">
                <a:solidFill>
                  <a:srgbClr val="3A3745">
                    <a:alpha val="100000"/>
                  </a:srgbClr>
                </a:solidFill>
                <a:latin typeface="Deck"/>
                <a:ea typeface="Deck"/>
                <a:cs typeface="Deck"/>
              </a:rPr>
              <a:t xml:space="preserve">Confirm cover with the insurer.</a:t>
            </a:r>
            <a:endParaRPr lang="en-US" sz="2475" spc="-11" kern="400000">
              <a:latin typeface="Deck"/>
            </a:endParaRPr>
          </a:p>
        </p:txBody>
      </p:sp>
      <p:sp>
        <p:nvSpPr>
          <p:cNvPr id="7" name="s11-t005">
            <a:extLst xmlns:a="http://schemas.openxmlformats.org/drawingml/2006/main">
              <a:ext uri="{FF2B5EF4-FFF2-40B4-BE49-F238E27FC236}">
                <a16:creationId xmlns:a16="http://schemas.microsoft.com/office/drawing/2014/main" id="{0153E421-D4A9-4034-8E1B-8AE895D410B4}"/>
              </a:ext>
            </a:extLst>
          </p:cNvPr>
          <p:cNvSpPr>
            <a:spLocks xmlns:a="http://schemas.openxmlformats.org/drawingml/2006/main" noGrp="1"/>
          </p:cNvSpPr>
          <p:nvPr/>
        </p:nvSpPr>
        <p:spPr>
          <a:xfrm xmlns:a="http://schemas.openxmlformats.org/drawingml/2006/main">
            <a:off x="8096250" y="6733720"/>
            <a:ext cx="27873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8" kern="400000">
                <a:solidFill>
                  <a:srgbClr val="4F7A66"/>
                </a:solidFill>
                <a:latin typeface="Deck"/>
                <a:ea typeface="Deck"/>
                <a:cs typeface="Deck"/>
              </a:defRPr>
            </a:pPr>
            <a:r>
              <a:rPr sz="2850" b="0" i="0" kern="400000" spc="-8">
                <a:solidFill>
                  <a:srgbClr val="4F7A66">
                    <a:alpha val="100000"/>
                  </a:srgbClr>
                </a:solidFill>
                <a:latin typeface="Deck"/>
                <a:ea typeface="Deck"/>
                <a:cs typeface="Deck"/>
              </a:rPr>
              <a:t xml:space="preserve">Less searching.</a:t>
            </a:r>
            <a:endParaRPr lang="en-US" sz="2850" spc="-8" kern="400000">
              <a:latin typeface="Deck"/>
            </a:endParaRPr>
          </a:p>
        </p:txBody>
      </p:sp>
      <p:sp>
        <p:nvSpPr>
          <p:cNvPr id="8" name="s11-t006">
            <a:extLst xmlns:a="http://schemas.openxmlformats.org/drawingml/2006/main">
              <a:ext uri="{FF2B5EF4-FFF2-40B4-BE49-F238E27FC236}">
                <a16:creationId xmlns:a16="http://schemas.microsoft.com/office/drawing/2014/main" id="{190C4038-50AC-4EDE-8E44-B8A84E35F012}"/>
              </a:ext>
            </a:extLst>
          </p:cNvPr>
          <p:cNvSpPr>
            <a:spLocks xmlns:a="http://schemas.openxmlformats.org/drawingml/2006/main" noGrp="1"/>
          </p:cNvSpPr>
          <p:nvPr/>
        </p:nvSpPr>
        <p:spPr>
          <a:xfrm xmlns:a="http://schemas.openxmlformats.org/drawingml/2006/main">
            <a:off x="8096250" y="7197016"/>
            <a:ext cx="228205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23" kern="400000">
                <a:solidFill>
                  <a:srgbClr val="4F7A66"/>
                </a:solidFill>
                <a:latin typeface="Deck"/>
                <a:ea typeface="Deck"/>
                <a:cs typeface="Deck"/>
              </a:defRPr>
            </a:pPr>
            <a:r>
              <a:rPr sz="2850" b="0" i="0" kern="400000" spc="-23">
                <a:solidFill>
                  <a:srgbClr val="4F7A66">
                    <a:alpha val="100000"/>
                  </a:srgbClr>
                </a:solidFill>
                <a:latin typeface="Deck"/>
                <a:ea typeface="Deck"/>
                <a:cs typeface="Deck"/>
              </a:rPr>
              <a:t xml:space="preserve">More clarity.</a:t>
            </a:r>
            <a:endParaRPr lang="en-US" sz="2850" spc="-23" kern="400000">
              <a:latin typeface="Deck"/>
            </a:endParaRPr>
          </a:p>
        </p:txBody>
      </p:sp>
      <p:sp>
        <p:nvSpPr>
          <p:cNvPr id="9" name="s11-t007">
            <a:extLst xmlns:a="http://schemas.openxmlformats.org/drawingml/2006/main">
              <a:ext uri="{FF2B5EF4-FFF2-40B4-BE49-F238E27FC236}">
                <a16:creationId xmlns:a16="http://schemas.microsoft.com/office/drawing/2014/main" id="{EE89CAC9-93D9-4E30-B8D1-1C3F13D1F9FA}"/>
              </a:ext>
            </a:extLst>
          </p:cNvPr>
          <p:cNvSpPr>
            <a:spLocks xmlns:a="http://schemas.openxmlformats.org/drawingml/2006/main" noGrp="1"/>
          </p:cNvSpPr>
          <p:nvPr/>
        </p:nvSpPr>
        <p:spPr>
          <a:xfrm xmlns:a="http://schemas.openxmlformats.org/drawingml/2006/main">
            <a:off x="8096250" y="1571630"/>
            <a:ext cx="1561624"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3" kern="400000">
                <a:solidFill>
                  <a:srgbClr val="3A3745"/>
                </a:solidFill>
                <a:latin typeface="Deck-Medium"/>
                <a:ea typeface="Deck-Medium"/>
                <a:cs typeface="Deck-Medium"/>
              </a:defRPr>
            </a:pPr>
            <a:r>
              <a:rPr sz="1725" b="0" i="0" kern="400000" spc="293">
                <a:solidFill>
                  <a:srgbClr val="6C6971">
                    <a:alpha val="100000"/>
                  </a:srgbClr>
                </a:solidFill>
                <a:latin typeface="Deck-Medium"/>
                <a:ea typeface="Deck-Medium"/>
                <a:cs typeface="Deck-Medium"/>
              </a:rPr>
              <a:t xml:space="preserve">BENEFITS</a:t>
            </a:r>
            <a:endParaRPr lang="en-US" sz="1725" spc="293" kern="400000">
              <a:latin typeface="Deck-Medium"/>
            </a:endParaRPr>
          </a:p>
        </p:txBody>
      </p:sp>
      <p:sp>
        <p:nvSpPr>
          <p:cNvPr id="10" name="s11-t008">
            <a:extLst xmlns:a="http://schemas.openxmlformats.org/drawingml/2006/main">
              <a:ext uri="{FF2B5EF4-FFF2-40B4-BE49-F238E27FC236}">
                <a16:creationId xmlns:a16="http://schemas.microsoft.com/office/drawing/2014/main" id="{CB599372-D921-47AF-9A38-02FE53E7EA3C}"/>
              </a:ext>
            </a:extLst>
          </p:cNvPr>
          <p:cNvSpPr>
            <a:spLocks xmlns:a="http://schemas.openxmlformats.org/drawingml/2006/main" noGrp="1"/>
          </p:cNvSpPr>
          <p:nvPr/>
        </p:nvSpPr>
        <p:spPr>
          <a:xfrm xmlns:a="http://schemas.openxmlformats.org/drawingml/2006/main">
            <a:off x="952500" y="9730387"/>
            <a:ext cx="569840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7F7C83">
                    <a:alpha val="100000"/>
                  </a:srgbClr>
                </a:solidFill>
                <a:latin typeface="Deck"/>
                <a:ea typeface="Deck"/>
                <a:cs typeface="Deck"/>
              </a:rPr>
              <a:t xml:space="preserve">Mobile prototype walkthrough · Plan notes, not a live insurance check</a:t>
            </a:r>
            <a:endParaRPr lang="en-US" sz="1350" spc="3" kern="400000">
              <a:latin typeface="Deck"/>
            </a:endParaRPr>
          </a:p>
        </p:txBody>
      </p:sp>
      <p:sp>
        <p:nvSpPr>
          <p:cNvPr id="11" name="s11-t009">
            <a:extLst xmlns:a="http://schemas.openxmlformats.org/drawingml/2006/main">
              <a:ext uri="{FF2B5EF4-FFF2-40B4-BE49-F238E27FC236}">
                <a16:creationId xmlns:a16="http://schemas.microsoft.com/office/drawing/2014/main" id="{22536FA7-2BA2-40D7-ABBE-AA12067138A9}"/>
              </a:ext>
            </a:extLst>
          </p:cNvPr>
          <p:cNvSpPr>
            <a:spLocks xmlns:a="http://schemas.openxmlformats.org/drawingml/2006/main" noGrp="1"/>
          </p:cNvSpPr>
          <p:nvPr/>
        </p:nvSpPr>
        <p:spPr>
          <a:xfrm xmlns:a="http://schemas.openxmlformats.org/drawingml/2006/main">
            <a:off x="17217364" y="9730387"/>
            <a:ext cx="35519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11</a:t>
            </a:r>
            <a:endParaRPr lang="en-US" sz="1350" spc="7" kern="400000">
              <a:latin typeface="Deck"/>
            </a:endParaRPr>
          </a:p>
        </p:txBody>
      </p:sp>
    </p:spTree>
    <p:extLst>
      <p:ext uri="{BB962C8B-B14F-4D97-AF65-F5344CB8AC3E}">
        <p14:creationId xmlns:p14="http://schemas.microsoft.com/office/powerpoint/2010/main" val="1991155516"/>
      </p:ext>
    </p:extLst>
  </p:cSld>
</p:sld>
</file>

<file path=ppt/slides/slide12.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6971ba0e6e947d7"/>
          <a:stretch xmlns:a="http://schemas.openxmlformats.org/drawingml/2006/main"/>
        </p:blipFill>
        <p:spPr>
          <a:xfrm xmlns:a="http://schemas.openxmlformats.org/drawingml/2006/main">
            <a:off x="9810750" y="238125"/>
            <a:ext cx="6572250" cy="9858375"/>
          </a:xfrm>
          <a:prstGeom xmlns:a="http://schemas.openxmlformats.org/drawingml/2006/main" prst="rect">
            <a:avLst/>
          </a:prstGeom>
        </p:spPr>
      </p:pic>
      <p:sp>
        <p:nvSpPr>
          <p:cNvPr id="2" name="s12-t000">
            <a:extLst xmlns:a="http://schemas.openxmlformats.org/drawingml/2006/main">
              <a:ext uri="{FF2B5EF4-FFF2-40B4-BE49-F238E27FC236}">
                <a16:creationId xmlns:a16="http://schemas.microsoft.com/office/drawing/2014/main" id="{117AAD6A-1732-4692-95A5-539B58D2FB30}"/>
              </a:ext>
            </a:extLst>
          </p:cNvPr>
          <p:cNvSpPr>
            <a:spLocks xmlns:a="http://schemas.openxmlformats.org/drawingml/2006/main" noGrp="1"/>
          </p:cNvSpPr>
          <p:nvPr/>
        </p:nvSpPr>
        <p:spPr>
          <a:xfrm xmlns:a="http://schemas.openxmlformats.org/drawingml/2006/main">
            <a:off x="971550" y="1852818"/>
            <a:ext cx="6527635"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393" kern="400000">
                <a:solidFill>
                  <a:srgbClr val="233B30"/>
                </a:solidFill>
                <a:latin typeface="Deck-Semi-Bold"/>
                <a:ea typeface="Deck-Semi-Bold"/>
                <a:cs typeface="Deck-Semi-Bold"/>
              </a:defRPr>
            </a:pPr>
            <a:r>
              <a:rPr sz="8025" b="0" i="0" kern="400000" spc="-393">
                <a:solidFill>
                  <a:srgbClr val="233B30">
                    <a:alpha val="100000"/>
                  </a:srgbClr>
                </a:solidFill>
                <a:latin typeface="Deck-Semi-Bold"/>
                <a:ea typeface="Deck-Semi-Bold"/>
                <a:cs typeface="Deck-Semi-Bold"/>
              </a:rPr>
              <a:t xml:space="preserve">A small nudge.</a:t>
            </a:r>
            <a:endParaRPr lang="en-US" sz="8025" spc="-393" kern="400000">
              <a:latin typeface="Deck-Semi-Bold"/>
            </a:endParaRPr>
          </a:p>
        </p:txBody>
      </p:sp>
      <p:sp>
        <p:nvSpPr>
          <p:cNvPr id="3" name="s12-t001">
            <a:extLst xmlns:a="http://schemas.openxmlformats.org/drawingml/2006/main">
              <a:ext uri="{FF2B5EF4-FFF2-40B4-BE49-F238E27FC236}">
                <a16:creationId xmlns:a16="http://schemas.microsoft.com/office/drawing/2014/main" id="{775F1D3A-5084-4BCA-9FA7-A737EC8F29DF}"/>
              </a:ext>
            </a:extLst>
          </p:cNvPr>
          <p:cNvSpPr>
            <a:spLocks xmlns:a="http://schemas.openxmlformats.org/drawingml/2006/main" noGrp="1"/>
          </p:cNvSpPr>
          <p:nvPr/>
        </p:nvSpPr>
        <p:spPr>
          <a:xfrm xmlns:a="http://schemas.openxmlformats.org/drawingml/2006/main">
            <a:off x="971550" y="2917855"/>
            <a:ext cx="3226508"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02" kern="400000">
                <a:solidFill>
                  <a:srgbClr val="4F7A66"/>
                </a:solidFill>
                <a:latin typeface="Deck-Semi-Bold"/>
                <a:ea typeface="Deck-Semi-Bold"/>
                <a:cs typeface="Deck-Semi-Bold"/>
              </a:defRPr>
            </a:pPr>
            <a:r>
              <a:rPr sz="8025" b="0" i="0" kern="400000" spc="-402">
                <a:solidFill>
                  <a:srgbClr val="4F7A66">
                    <a:alpha val="100000"/>
                  </a:srgbClr>
                </a:solidFill>
                <a:latin typeface="Deck-Semi-Bold"/>
                <a:ea typeface="Deck-Semi-Bold"/>
                <a:cs typeface="Deck-Semi-Bold"/>
              </a:rPr>
              <a:t xml:space="preserve">A clear</a:t>
            </a:r>
            <a:endParaRPr lang="en-US" sz="8025" spc="-402" kern="400000">
              <a:latin typeface="Deck-Semi-Bold"/>
            </a:endParaRPr>
          </a:p>
        </p:txBody>
      </p:sp>
      <p:sp>
        <p:nvSpPr>
          <p:cNvPr id="4" name="s12-t002">
            <a:extLst xmlns:a="http://schemas.openxmlformats.org/drawingml/2006/main">
              <a:ext uri="{FF2B5EF4-FFF2-40B4-BE49-F238E27FC236}">
                <a16:creationId xmlns:a16="http://schemas.microsoft.com/office/drawing/2014/main" id="{E73E5D9C-C551-4EB5-A4EC-84CF1B2E325F}"/>
              </a:ext>
            </a:extLst>
          </p:cNvPr>
          <p:cNvSpPr>
            <a:spLocks xmlns:a="http://schemas.openxmlformats.org/drawingml/2006/main" noGrp="1"/>
          </p:cNvSpPr>
          <p:nvPr/>
        </p:nvSpPr>
        <p:spPr>
          <a:xfrm xmlns:a="http://schemas.openxmlformats.org/drawingml/2006/main">
            <a:off x="971550" y="3982893"/>
            <a:ext cx="4439917" cy="12535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025" spc="-419" kern="400000">
                <a:solidFill>
                  <a:srgbClr val="4F7A66"/>
                </a:solidFill>
                <a:latin typeface="Deck-Semi-Bold"/>
                <a:ea typeface="Deck-Semi-Bold"/>
                <a:cs typeface="Deck-Semi-Bold"/>
              </a:defRPr>
            </a:pPr>
            <a:r>
              <a:rPr sz="8025" b="0" i="0" kern="400000" spc="-419">
                <a:solidFill>
                  <a:srgbClr val="4F7A66">
                    <a:alpha val="100000"/>
                  </a:srgbClr>
                </a:solidFill>
                <a:latin typeface="Deck-Semi-Bold"/>
                <a:ea typeface="Deck-Semi-Bold"/>
                <a:cs typeface="Deck-Semi-Bold"/>
              </a:rPr>
              <a:t xml:space="preserve">next step.</a:t>
            </a:r>
            <a:endParaRPr lang="en-US" sz="8025" spc="-419" kern="400000">
              <a:latin typeface="Deck-Semi-Bold"/>
            </a:endParaRPr>
          </a:p>
        </p:txBody>
      </p:sp>
      <p:sp>
        <p:nvSpPr>
          <p:cNvPr id="5" name="s12-t003">
            <a:extLst xmlns:a="http://schemas.openxmlformats.org/drawingml/2006/main">
              <a:ext uri="{FF2B5EF4-FFF2-40B4-BE49-F238E27FC236}">
                <a16:creationId xmlns:a16="http://schemas.microsoft.com/office/drawing/2014/main" id="{4B03B06B-E1E9-43AF-82B7-062DE4A90FAA}"/>
              </a:ext>
            </a:extLst>
          </p:cNvPr>
          <p:cNvSpPr>
            <a:spLocks xmlns:a="http://schemas.openxmlformats.org/drawingml/2006/main" noGrp="1"/>
          </p:cNvSpPr>
          <p:nvPr/>
        </p:nvSpPr>
        <p:spPr>
          <a:xfrm xmlns:a="http://schemas.openxmlformats.org/drawingml/2006/main">
            <a:off x="971550" y="5617496"/>
            <a:ext cx="2536488"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3" kern="400000">
                <a:solidFill>
                  <a:srgbClr val="233B30"/>
                </a:solidFill>
                <a:latin typeface="Deck"/>
                <a:ea typeface="Deck"/>
                <a:cs typeface="Deck"/>
              </a:defRPr>
            </a:pPr>
            <a:r>
              <a:rPr sz="2550" b="0" i="0" kern="400000" spc="-13">
                <a:solidFill>
                  <a:srgbClr val="233B30">
                    <a:alpha val="100000"/>
                  </a:srgbClr>
                </a:solidFill>
                <a:latin typeface="Deck"/>
                <a:ea typeface="Deck"/>
                <a:cs typeface="Deck"/>
              </a:rPr>
              <a:t xml:space="preserve">See what’s due.</a:t>
            </a:r>
            <a:endParaRPr lang="en-US" sz="2550" spc="-13" kern="400000">
              <a:latin typeface="Deck"/>
            </a:endParaRPr>
          </a:p>
        </p:txBody>
      </p:sp>
      <p:sp>
        <p:nvSpPr>
          <p:cNvPr id="6" name="s12-t004">
            <a:extLst xmlns:a="http://schemas.openxmlformats.org/drawingml/2006/main">
              <a:ext uri="{FF2B5EF4-FFF2-40B4-BE49-F238E27FC236}">
                <a16:creationId xmlns:a16="http://schemas.microsoft.com/office/drawing/2014/main" id="{23BA616D-590D-4C4C-936B-7B6236E54022}"/>
              </a:ext>
            </a:extLst>
          </p:cNvPr>
          <p:cNvSpPr>
            <a:spLocks xmlns:a="http://schemas.openxmlformats.org/drawingml/2006/main" noGrp="1"/>
          </p:cNvSpPr>
          <p:nvPr/>
        </p:nvSpPr>
        <p:spPr>
          <a:xfrm xmlns:a="http://schemas.openxmlformats.org/drawingml/2006/main">
            <a:off x="971550" y="6096794"/>
            <a:ext cx="4680052" cy="398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550" spc="-17" kern="400000">
                <a:solidFill>
                  <a:srgbClr val="233B30"/>
                </a:solidFill>
                <a:latin typeface="Deck"/>
                <a:ea typeface="Deck"/>
                <a:cs typeface="Deck"/>
              </a:defRPr>
            </a:pPr>
            <a:r>
              <a:rPr sz="2550" b="0" i="0" kern="400000" spc="-17">
                <a:solidFill>
                  <a:srgbClr val="233B30">
                    <a:alpha val="100000"/>
                  </a:srgbClr>
                </a:solidFill>
                <a:latin typeface="Deck"/>
                <a:ea typeface="Deck"/>
                <a:cs typeface="Deck"/>
              </a:rPr>
              <a:t xml:space="preserve">Mark it taken, skipped or later.</a:t>
            </a:r>
            <a:endParaRPr lang="en-US" sz="2550" spc="-17" kern="400000">
              <a:latin typeface="Deck"/>
            </a:endParaRPr>
          </a:p>
        </p:txBody>
      </p:sp>
      <p:sp>
        <p:nvSpPr>
          <p:cNvPr id="7" name="s12-t005">
            <a:extLst xmlns:a="http://schemas.openxmlformats.org/drawingml/2006/main">
              <a:ext uri="{FF2B5EF4-FFF2-40B4-BE49-F238E27FC236}">
                <a16:creationId xmlns:a16="http://schemas.microsoft.com/office/drawing/2014/main" id="{E78DC140-0D03-4398-89B5-C9D27CA9AEA8}"/>
              </a:ext>
            </a:extLst>
          </p:cNvPr>
          <p:cNvSpPr>
            <a:spLocks xmlns:a="http://schemas.openxmlformats.org/drawingml/2006/main" noGrp="1"/>
          </p:cNvSpPr>
          <p:nvPr/>
        </p:nvSpPr>
        <p:spPr>
          <a:xfrm xmlns:a="http://schemas.openxmlformats.org/drawingml/2006/main">
            <a:off x="971550" y="1362080"/>
            <a:ext cx="37404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9" kern="400000">
                <a:solidFill>
                  <a:srgbClr val="233B30"/>
                </a:solidFill>
                <a:latin typeface="Deck-Medium"/>
                <a:ea typeface="Deck-Medium"/>
                <a:cs typeface="Deck-Medium"/>
              </a:defRPr>
            </a:pPr>
            <a:r>
              <a:rPr sz="1725" b="0" i="0" kern="400000" spc="289">
                <a:solidFill>
                  <a:srgbClr val="54695E">
                    <a:alpha val="100000"/>
                  </a:srgbClr>
                </a:solidFill>
                <a:latin typeface="Deck-Medium"/>
                <a:ea typeface="Deck-Medium"/>
                <a:cs typeface="Deck-Medium"/>
              </a:rPr>
              <a:t xml:space="preserve">ROUTINES &amp; MEDICATION</a:t>
            </a:r>
            <a:endParaRPr lang="en-US" sz="1725" spc="289" kern="400000">
              <a:latin typeface="Deck-Medium"/>
            </a:endParaRPr>
          </a:p>
        </p:txBody>
      </p:sp>
      <p:sp>
        <p:nvSpPr>
          <p:cNvPr id="8" name="s12-t006">
            <a:extLst xmlns:a="http://schemas.openxmlformats.org/drawingml/2006/main">
              <a:ext uri="{FF2B5EF4-FFF2-40B4-BE49-F238E27FC236}">
                <a16:creationId xmlns:a16="http://schemas.microsoft.com/office/drawing/2014/main" id="{602B480F-0E97-46CE-91C2-BC6840246E24}"/>
              </a:ext>
            </a:extLst>
          </p:cNvPr>
          <p:cNvSpPr>
            <a:spLocks xmlns:a="http://schemas.openxmlformats.org/drawingml/2006/main" noGrp="1"/>
          </p:cNvSpPr>
          <p:nvPr/>
        </p:nvSpPr>
        <p:spPr>
          <a:xfrm xmlns:a="http://schemas.openxmlformats.org/drawingml/2006/main">
            <a:off x="971550" y="7138494"/>
            <a:ext cx="4356811"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3" kern="400000">
                <a:solidFill>
                  <a:srgbClr val="233B30"/>
                </a:solidFill>
                <a:latin typeface="Deck"/>
                <a:ea typeface="Deck"/>
                <a:cs typeface="Deck"/>
              </a:defRPr>
            </a:pPr>
            <a:r>
              <a:rPr sz="1800" b="0" i="0" kern="400000" spc="-3">
                <a:solidFill>
                  <a:srgbClr val="61756A">
                    <a:alpha val="100000"/>
                  </a:srgbClr>
                </a:solidFill>
                <a:latin typeface="Deck"/>
                <a:ea typeface="Deck"/>
                <a:cs typeface="Deck"/>
              </a:rPr>
              <a:t xml:space="preserve">Follow existing medication instructions.</a:t>
            </a:r>
            <a:endParaRPr lang="en-US" sz="1800" spc="-3" kern="400000">
              <a:latin typeface="Deck"/>
            </a:endParaRPr>
          </a:p>
        </p:txBody>
      </p:sp>
      <p:sp>
        <p:nvSpPr>
          <p:cNvPr id="9" name="s12-t007">
            <a:extLst xmlns:a="http://schemas.openxmlformats.org/drawingml/2006/main">
              <a:ext uri="{FF2B5EF4-FFF2-40B4-BE49-F238E27FC236}">
                <a16:creationId xmlns:a16="http://schemas.microsoft.com/office/drawing/2014/main" id="{76A3688C-8E71-4819-A968-8824DF80F266}"/>
              </a:ext>
            </a:extLst>
          </p:cNvPr>
          <p:cNvSpPr>
            <a:spLocks xmlns:a="http://schemas.openxmlformats.org/drawingml/2006/main" noGrp="1"/>
          </p:cNvSpPr>
          <p:nvPr/>
        </p:nvSpPr>
        <p:spPr>
          <a:xfrm xmlns:a="http://schemas.openxmlformats.org/drawingml/2006/main">
            <a:off x="971550" y="7485966"/>
            <a:ext cx="3220898"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233B30"/>
                </a:solidFill>
                <a:latin typeface="Deck"/>
                <a:ea typeface="Deck"/>
                <a:cs typeface="Deck"/>
              </a:defRPr>
            </a:pPr>
            <a:r>
              <a:rPr sz="1800" b="0" i="0" kern="400000" spc="-7">
                <a:solidFill>
                  <a:srgbClr val="61756A">
                    <a:alpha val="100000"/>
                  </a:srgbClr>
                </a:solidFill>
                <a:latin typeface="Deck"/>
                <a:ea typeface="Deck"/>
                <a:cs typeface="Deck"/>
              </a:rPr>
              <a:t xml:space="preserve">Responses are self-reported.</a:t>
            </a:r>
            <a:endParaRPr lang="en-US" sz="1800" spc="-7" kern="400000">
              <a:latin typeface="Deck"/>
            </a:endParaRPr>
          </a:p>
        </p:txBody>
      </p:sp>
      <p:sp>
        <p:nvSpPr>
          <p:cNvPr id="10" name="s12-t008">
            <a:extLst xmlns:a="http://schemas.openxmlformats.org/drawingml/2006/main">
              <a:ext uri="{FF2B5EF4-FFF2-40B4-BE49-F238E27FC236}">
                <a16:creationId xmlns:a16="http://schemas.microsoft.com/office/drawing/2014/main" id="{12873EDF-0254-40D5-B63C-76E957180F46}"/>
              </a:ext>
            </a:extLst>
          </p:cNvPr>
          <p:cNvSpPr>
            <a:spLocks xmlns:a="http://schemas.openxmlformats.org/drawingml/2006/main" noGrp="1"/>
          </p:cNvSpPr>
          <p:nvPr/>
        </p:nvSpPr>
        <p:spPr>
          <a:xfrm xmlns:a="http://schemas.openxmlformats.org/drawingml/2006/main">
            <a:off x="952500" y="9730387"/>
            <a:ext cx="5945524"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233B30"/>
                </a:solidFill>
                <a:latin typeface="Deck"/>
                <a:ea typeface="Deck"/>
                <a:cs typeface="Deck"/>
              </a:defRPr>
            </a:pPr>
            <a:r>
              <a:rPr sz="1350" b="0" i="0" kern="400000" spc="4">
                <a:solidFill>
                  <a:srgbClr val="697C71">
                    <a:alpha val="100000"/>
                  </a:srgbClr>
                </a:solidFill>
                <a:latin typeface="Deck"/>
                <a:ea typeface="Deck"/>
                <a:cs typeface="Deck"/>
              </a:rPr>
              <a:t xml:space="preserve">Mobile prototype walkthrough · In-app reminder; push delivery is not live</a:t>
            </a:r>
            <a:endParaRPr lang="en-US" sz="1350" spc="4" kern="400000">
              <a:latin typeface="Deck"/>
            </a:endParaRPr>
          </a:p>
        </p:txBody>
      </p:sp>
      <p:sp>
        <p:nvSpPr>
          <p:cNvPr id="11" name="s12-t009">
            <a:extLst xmlns:a="http://schemas.openxmlformats.org/drawingml/2006/main">
              <a:ext uri="{FF2B5EF4-FFF2-40B4-BE49-F238E27FC236}">
                <a16:creationId xmlns:a16="http://schemas.microsoft.com/office/drawing/2014/main" id="{FB8C6AFB-3764-4C87-B77B-C4EBDCAFCE73}"/>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233B30"/>
                </a:solidFill>
                <a:latin typeface="Deck"/>
                <a:ea typeface="Deck"/>
                <a:cs typeface="Deck"/>
              </a:defRPr>
            </a:pPr>
            <a:r>
              <a:rPr sz="1350" b="0" i="0" kern="400000" spc="6">
                <a:solidFill>
                  <a:srgbClr val="697C71">
                    <a:alpha val="100000"/>
                  </a:srgbClr>
                </a:solidFill>
                <a:latin typeface="Deck"/>
                <a:ea typeface="Deck"/>
                <a:cs typeface="Deck"/>
              </a:rPr>
              <a:t xml:space="preserve">12</a:t>
            </a:r>
            <a:endParaRPr lang="en-US" sz="1350" spc="6" kern="400000">
              <a:latin typeface="Deck"/>
            </a:endParaRPr>
          </a:p>
        </p:txBody>
      </p:sp>
    </p:spTree>
    <p:extLst>
      <p:ext uri="{BB962C8B-B14F-4D97-AF65-F5344CB8AC3E}">
        <p14:creationId xmlns:p14="http://schemas.microsoft.com/office/powerpoint/2010/main" val="1204266646"/>
      </p:ext>
    </p:extLst>
  </p:cSld>
</p:sld>
</file>

<file path=ppt/slides/slide13.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120f86fb2a44481"/>
          <a:stretch xmlns:a="http://schemas.openxmlformats.org/drawingml/2006/main"/>
        </p:blipFill>
        <p:spPr>
          <a:xfrm xmlns:a="http://schemas.openxmlformats.org/drawingml/2006/main">
            <a:off x="8810625" y="4524375"/>
            <a:ext cx="8477250" cy="4095750"/>
          </a:xfrm>
          <a:prstGeom xmlns:a="http://schemas.openxmlformats.org/drawingml/2006/main" prst="rect">
            <a:avLst/>
          </a:prstGeom>
        </p:spPr>
      </p:pic>
      <p:sp>
        <p:nvSpPr>
          <p:cNvPr id="2" name="s13-t000">
            <a:extLst xmlns:a="http://schemas.openxmlformats.org/drawingml/2006/main">
              <a:ext uri="{FF2B5EF4-FFF2-40B4-BE49-F238E27FC236}">
                <a16:creationId xmlns:a16="http://schemas.microsoft.com/office/drawing/2014/main" id="{B78117B3-635E-4BF6-A7FA-873C89EC8D92}"/>
              </a:ext>
            </a:extLst>
          </p:cNvPr>
          <p:cNvSpPr>
            <a:spLocks xmlns:a="http://schemas.openxmlformats.org/drawingml/2006/main" noGrp="1"/>
          </p:cNvSpPr>
          <p:nvPr/>
        </p:nvSpPr>
        <p:spPr>
          <a:xfrm xmlns:a="http://schemas.openxmlformats.org/drawingml/2006/main">
            <a:off x="990600" y="971555"/>
            <a:ext cx="476577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2" kern="400000">
                <a:solidFill>
                  <a:srgbClr val="FAF6F0"/>
                </a:solidFill>
                <a:latin typeface="Deck-Medium"/>
                <a:ea typeface="Deck-Medium"/>
                <a:cs typeface="Deck-Medium"/>
              </a:defRPr>
            </a:pPr>
            <a:r>
              <a:rPr sz="1725" b="0" i="0" kern="400000" spc="282">
                <a:solidFill>
                  <a:srgbClr val="BBBAB6">
                    <a:alpha val="100000"/>
                  </a:srgbClr>
                </a:solidFill>
                <a:latin typeface="Deck-Medium"/>
                <a:ea typeface="Deck-Medium"/>
                <a:cs typeface="Deck-Medium"/>
              </a:rPr>
              <a:t xml:space="preserve">CARE, WHERE YOU ALREADY ARE</a:t>
            </a:r>
            <a:endParaRPr lang="en-US" sz="1725" spc="282" kern="400000">
              <a:latin typeface="Deck-Medium"/>
            </a:endParaRPr>
          </a:p>
        </p:txBody>
      </p:sp>
      <p:sp>
        <p:nvSpPr>
          <p:cNvPr id="3" name="s13-t001">
            <a:extLst xmlns:a="http://schemas.openxmlformats.org/drawingml/2006/main">
              <a:ext uri="{FF2B5EF4-FFF2-40B4-BE49-F238E27FC236}">
                <a16:creationId xmlns:a16="http://schemas.microsoft.com/office/drawing/2014/main" id="{0842070E-3E4F-4832-87C9-E770CDB9575A}"/>
              </a:ext>
            </a:extLst>
          </p:cNvPr>
          <p:cNvSpPr>
            <a:spLocks xmlns:a="http://schemas.openxmlformats.org/drawingml/2006/main" noGrp="1"/>
          </p:cNvSpPr>
          <p:nvPr/>
        </p:nvSpPr>
        <p:spPr>
          <a:xfrm xmlns:a="http://schemas.openxmlformats.org/drawingml/2006/main">
            <a:off x="962025" y="1526192"/>
            <a:ext cx="8265052"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419" kern="400000">
                <a:solidFill>
                  <a:srgbClr val="FAF6F0"/>
                </a:solidFill>
                <a:latin typeface="Deck-Semi-Bold"/>
                <a:ea typeface="Deck-Semi-Bold"/>
                <a:cs typeface="Deck-Semi-Bold"/>
              </a:defRPr>
            </a:pPr>
            <a:r>
              <a:rPr sz="7875" b="0" i="0" kern="400000" spc="-419">
                <a:solidFill>
                  <a:srgbClr val="FAF6F0">
                    <a:alpha val="100000"/>
                  </a:srgbClr>
                </a:solidFill>
                <a:latin typeface="Deck-Semi-Bold"/>
                <a:ea typeface="Deck-Semi-Bold"/>
                <a:cs typeface="Deck-Semi-Bold"/>
              </a:rPr>
              <a:t xml:space="preserve">A reminder beyond</a:t>
            </a:r>
            <a:endParaRPr lang="en-US" sz="7875" spc="-419" kern="400000">
              <a:latin typeface="Deck-Semi-Bold"/>
            </a:endParaRPr>
          </a:p>
        </p:txBody>
      </p:sp>
      <p:sp>
        <p:nvSpPr>
          <p:cNvPr id="4" name="s13-t002">
            <a:extLst xmlns:a="http://schemas.openxmlformats.org/drawingml/2006/main">
              <a:ext uri="{FF2B5EF4-FFF2-40B4-BE49-F238E27FC236}">
                <a16:creationId xmlns:a16="http://schemas.microsoft.com/office/drawing/2014/main" id="{FD02687B-0897-457A-8FA3-B00FCBD7BCC0}"/>
              </a:ext>
            </a:extLst>
          </p:cNvPr>
          <p:cNvSpPr>
            <a:spLocks xmlns:a="http://schemas.openxmlformats.org/drawingml/2006/main" noGrp="1"/>
          </p:cNvSpPr>
          <p:nvPr/>
        </p:nvSpPr>
        <p:spPr>
          <a:xfrm xmlns:a="http://schemas.openxmlformats.org/drawingml/2006/main">
            <a:off x="962025" y="2571323"/>
            <a:ext cx="5693750" cy="12301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875" spc="-399" kern="400000">
                <a:solidFill>
                  <a:srgbClr val="9BDAB6"/>
                </a:solidFill>
                <a:latin typeface="Deck-Semi-Bold"/>
                <a:ea typeface="Deck-Semi-Bold"/>
                <a:cs typeface="Deck-Semi-Bold"/>
              </a:defRPr>
            </a:pPr>
            <a:r>
              <a:rPr sz="7875" b="0" i="0" kern="400000" spc="-399">
                <a:solidFill>
                  <a:srgbClr val="9BDAB6">
                    <a:alpha val="100000"/>
                  </a:srgbClr>
                </a:solidFill>
                <a:latin typeface="Deck-Semi-Bold"/>
                <a:ea typeface="Deck-Semi-Bold"/>
                <a:cs typeface="Deck-Semi-Bold"/>
              </a:rPr>
              <a:t xml:space="preserve">the care app.</a:t>
            </a:r>
            <a:endParaRPr lang="en-US" sz="7875" spc="-399" kern="400000">
              <a:latin typeface="Deck-Semi-Bold"/>
            </a:endParaRPr>
          </a:p>
        </p:txBody>
      </p:sp>
      <p:sp>
        <p:nvSpPr>
          <p:cNvPr id="5" name="s13-t003">
            <a:extLst xmlns:a="http://schemas.openxmlformats.org/drawingml/2006/main">
              <a:ext uri="{FF2B5EF4-FFF2-40B4-BE49-F238E27FC236}">
                <a16:creationId xmlns:a16="http://schemas.microsoft.com/office/drawing/2014/main" id="{C452AFB5-58F1-4879-8911-D028572C8A9E}"/>
              </a:ext>
            </a:extLst>
          </p:cNvPr>
          <p:cNvSpPr>
            <a:spLocks xmlns:a="http://schemas.openxmlformats.org/drawingml/2006/main" noGrp="1"/>
          </p:cNvSpPr>
          <p:nvPr/>
        </p:nvSpPr>
        <p:spPr>
          <a:xfrm xmlns:a="http://schemas.openxmlformats.org/drawingml/2006/main">
            <a:off x="1009650" y="5122635"/>
            <a:ext cx="5481295"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88" kern="400000">
                <a:solidFill>
                  <a:srgbClr val="FAF6F0"/>
                </a:solidFill>
                <a:latin typeface="Deck"/>
                <a:ea typeface="Deck"/>
                <a:cs typeface="Deck"/>
              </a:defRPr>
            </a:pPr>
            <a:r>
              <a:rPr sz="3525" b="0" i="0" kern="400000" spc="-88">
                <a:solidFill>
                  <a:srgbClr val="FAF6F0">
                    <a:alpha val="100000"/>
                  </a:srgbClr>
                </a:solidFill>
                <a:latin typeface="Deck"/>
                <a:ea typeface="Deck"/>
                <a:cs typeface="Deck"/>
              </a:rPr>
              <a:t xml:space="preserve">“Remind me to drink water</a:t>
            </a:r>
            <a:endParaRPr lang="en-US" sz="3525" spc="-88" kern="400000">
              <a:latin typeface="Deck"/>
            </a:endParaRPr>
          </a:p>
        </p:txBody>
      </p:sp>
      <p:sp>
        <p:nvSpPr>
          <p:cNvPr id="6" name="s13-t004">
            <a:extLst xmlns:a="http://schemas.openxmlformats.org/drawingml/2006/main">
              <a:ext uri="{FF2B5EF4-FFF2-40B4-BE49-F238E27FC236}">
                <a16:creationId xmlns:a16="http://schemas.microsoft.com/office/drawing/2014/main" id="{E49A74B2-0967-42AE-A136-4E698DD55C7D}"/>
              </a:ext>
            </a:extLst>
          </p:cNvPr>
          <p:cNvSpPr>
            <a:spLocks xmlns:a="http://schemas.openxmlformats.org/drawingml/2006/main" noGrp="1"/>
          </p:cNvSpPr>
          <p:nvPr/>
        </p:nvSpPr>
        <p:spPr>
          <a:xfrm xmlns:a="http://schemas.openxmlformats.org/drawingml/2006/main">
            <a:off x="1009650" y="5691183"/>
            <a:ext cx="3873246"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105" kern="400000">
                <a:solidFill>
                  <a:srgbClr val="FAF6F0"/>
                </a:solidFill>
                <a:latin typeface="Deck"/>
                <a:ea typeface="Deck"/>
                <a:cs typeface="Deck"/>
              </a:defRPr>
            </a:pPr>
            <a:r>
              <a:rPr sz="3525" b="0" i="0" kern="400000" spc="-105">
                <a:solidFill>
                  <a:srgbClr val="FAF6F0">
                    <a:alpha val="100000"/>
                  </a:srgbClr>
                </a:solidFill>
                <a:latin typeface="Deck"/>
                <a:ea typeface="Deck"/>
                <a:cs typeface="Deck"/>
              </a:rPr>
              <a:t xml:space="preserve">while I’m working.”</a:t>
            </a:r>
            <a:endParaRPr lang="en-US" sz="3525" spc="-105" kern="400000">
              <a:latin typeface="Deck"/>
            </a:endParaRPr>
          </a:p>
        </p:txBody>
      </p:sp>
      <p:sp>
        <p:nvSpPr>
          <p:cNvPr id="7" name="s13-t005">
            <a:extLst xmlns:a="http://schemas.openxmlformats.org/drawingml/2006/main">
              <a:ext uri="{FF2B5EF4-FFF2-40B4-BE49-F238E27FC236}">
                <a16:creationId xmlns:a16="http://schemas.microsoft.com/office/drawing/2014/main" id="{7E5F79CD-4194-4C81-BDEF-01C0E4CC7C60}"/>
              </a:ext>
            </a:extLst>
          </p:cNvPr>
          <p:cNvSpPr>
            <a:spLocks xmlns:a="http://schemas.openxmlformats.org/drawingml/2006/main" noGrp="1"/>
          </p:cNvSpPr>
          <p:nvPr/>
        </p:nvSpPr>
        <p:spPr>
          <a:xfrm xmlns:a="http://schemas.openxmlformats.org/drawingml/2006/main">
            <a:off x="1047750" y="6670273"/>
            <a:ext cx="3241872"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4" kern="400000">
                <a:solidFill>
                  <a:srgbClr val="9BDAB6"/>
                </a:solidFill>
                <a:latin typeface="Deck"/>
                <a:ea typeface="Deck"/>
                <a:cs typeface="Deck"/>
              </a:defRPr>
            </a:pPr>
            <a:r>
              <a:rPr sz="1950" b="0" i="0" kern="400000" spc="-4">
                <a:solidFill>
                  <a:srgbClr val="9BDAB6">
                    <a:alpha val="100000"/>
                  </a:srgbClr>
                </a:solidFill>
                <a:latin typeface="Deck"/>
                <a:ea typeface="Deck"/>
                <a:cs typeface="Deck"/>
              </a:rPr>
              <a:t xml:space="preserve">CareBuddy plugin concept</a:t>
            </a:r>
            <a:endParaRPr lang="en-US" sz="1950" spc="-4" kern="400000">
              <a:latin typeface="Deck"/>
            </a:endParaRPr>
          </a:p>
        </p:txBody>
      </p:sp>
      <p:sp>
        <p:nvSpPr>
          <p:cNvPr id="8" name="s13-t006">
            <a:extLst xmlns:a="http://schemas.openxmlformats.org/drawingml/2006/main">
              <a:ext uri="{FF2B5EF4-FFF2-40B4-BE49-F238E27FC236}">
                <a16:creationId xmlns:a16="http://schemas.microsoft.com/office/drawing/2014/main" id="{4E6B4317-D106-414D-B757-4E91A53BECB6}"/>
              </a:ext>
            </a:extLst>
          </p:cNvPr>
          <p:cNvSpPr>
            <a:spLocks xmlns:a="http://schemas.openxmlformats.org/drawingml/2006/main" noGrp="1"/>
          </p:cNvSpPr>
          <p:nvPr/>
        </p:nvSpPr>
        <p:spPr>
          <a:xfrm xmlns:a="http://schemas.openxmlformats.org/drawingml/2006/main">
            <a:off x="1047750" y="7093717"/>
            <a:ext cx="2881922"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3" kern="400000">
                <a:solidFill>
                  <a:srgbClr val="A5B2A9"/>
                </a:solidFill>
                <a:latin typeface="Deck"/>
                <a:ea typeface="Deck"/>
                <a:cs typeface="Deck"/>
              </a:defRPr>
            </a:pPr>
            <a:r>
              <a:rPr sz="1725" b="0" i="0" kern="400000" spc="-3">
                <a:solidFill>
                  <a:srgbClr val="A5B2A9">
                    <a:alpha val="100000"/>
                  </a:srgbClr>
                </a:solidFill>
                <a:latin typeface="Deck"/>
                <a:ea typeface="Deck"/>
                <a:cs typeface="Deck"/>
              </a:rPr>
              <a:t xml:space="preserve">Codex experience planned</a:t>
            </a:r>
            <a:endParaRPr lang="en-US" sz="1725" spc="-3" kern="400000">
              <a:latin typeface="Deck"/>
            </a:endParaRPr>
          </a:p>
        </p:txBody>
      </p:sp>
      <p:sp>
        <p:nvSpPr>
          <p:cNvPr id="9" name="s13-t007">
            <a:extLst xmlns:a="http://schemas.openxmlformats.org/drawingml/2006/main">
              <a:ext uri="{FF2B5EF4-FFF2-40B4-BE49-F238E27FC236}">
                <a16:creationId xmlns:a16="http://schemas.microsoft.com/office/drawing/2014/main" id="{366EF15D-F851-4687-BCFD-70E7EC2E0FD7}"/>
              </a:ext>
            </a:extLst>
          </p:cNvPr>
          <p:cNvSpPr>
            <a:spLocks xmlns:a="http://schemas.openxmlformats.org/drawingml/2006/main" noGrp="1"/>
          </p:cNvSpPr>
          <p:nvPr/>
        </p:nvSpPr>
        <p:spPr>
          <a:xfrm xmlns:a="http://schemas.openxmlformats.org/drawingml/2006/main">
            <a:off x="8943975" y="8961380"/>
            <a:ext cx="4778445"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9" kern="400000">
                <a:solidFill>
                  <a:srgbClr val="FAF6F0"/>
                </a:solidFill>
                <a:latin typeface="Deck"/>
                <a:ea typeface="Deck"/>
                <a:cs typeface="Deck"/>
              </a:defRPr>
            </a:pPr>
            <a:r>
              <a:rPr sz="1650" b="0" i="0" kern="400000" spc="-9">
                <a:solidFill>
                  <a:srgbClr val="FAF6F0">
                    <a:alpha val="100000"/>
                  </a:srgbClr>
                </a:solidFill>
                <a:latin typeface="Deck"/>
                <a:ea typeface="Deck"/>
                <a:cs typeface="Deck"/>
              </a:rPr>
              <a:t xml:space="preserve">Current prototype: manual WorkBuddy handoff.</a:t>
            </a:r>
            <a:endParaRPr lang="en-US" sz="1650" spc="-9" kern="400000">
              <a:latin typeface="Deck"/>
            </a:endParaRPr>
          </a:p>
        </p:txBody>
      </p:sp>
      <p:sp>
        <p:nvSpPr>
          <p:cNvPr id="10" name="s13-t008">
            <a:extLst xmlns:a="http://schemas.openxmlformats.org/drawingml/2006/main">
              <a:ext uri="{FF2B5EF4-FFF2-40B4-BE49-F238E27FC236}">
                <a16:creationId xmlns:a16="http://schemas.microsoft.com/office/drawing/2014/main" id="{A0A0893C-37D8-4E96-9756-7714A77F0F27}"/>
              </a:ext>
            </a:extLst>
          </p:cNvPr>
          <p:cNvSpPr>
            <a:spLocks xmlns:a="http://schemas.openxmlformats.org/drawingml/2006/main" noGrp="1"/>
          </p:cNvSpPr>
          <p:nvPr/>
        </p:nvSpPr>
        <p:spPr>
          <a:xfrm xmlns:a="http://schemas.openxmlformats.org/drawingml/2006/main">
            <a:off x="8943975" y="9265227"/>
            <a:ext cx="5557133"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6" kern="400000">
                <a:solidFill>
                  <a:srgbClr val="FAF6F0"/>
                </a:solidFill>
                <a:latin typeface="Deck"/>
                <a:ea typeface="Deck"/>
                <a:cs typeface="Deck"/>
              </a:defRPr>
            </a:pPr>
            <a:r>
              <a:rPr sz="1650" b="0" i="0" kern="400000" spc="-6">
                <a:solidFill>
                  <a:srgbClr val="FAF6F0">
                    <a:alpha val="100000"/>
                  </a:srgbClr>
                </a:solidFill>
                <a:latin typeface="Deck"/>
                <a:ea typeface="Deck"/>
                <a:cs typeface="Deck"/>
              </a:rPr>
              <a:t xml:space="preserve">Export context, import a proposal, review before saving.</a:t>
            </a:r>
            <a:endParaRPr lang="en-US" sz="1650" spc="-6" kern="400000">
              <a:latin typeface="Deck"/>
            </a:endParaRPr>
          </a:p>
        </p:txBody>
      </p:sp>
      <p:sp>
        <p:nvSpPr>
          <p:cNvPr id="11" name="s13-t009">
            <a:extLst xmlns:a="http://schemas.openxmlformats.org/drawingml/2006/main">
              <a:ext uri="{FF2B5EF4-FFF2-40B4-BE49-F238E27FC236}">
                <a16:creationId xmlns:a16="http://schemas.microsoft.com/office/drawing/2014/main" id="{6F14CBF8-D276-40FE-8256-D5B76FBAD08B}"/>
              </a:ext>
            </a:extLst>
          </p:cNvPr>
          <p:cNvSpPr>
            <a:spLocks xmlns:a="http://schemas.openxmlformats.org/drawingml/2006/main" noGrp="1"/>
          </p:cNvSpPr>
          <p:nvPr/>
        </p:nvSpPr>
        <p:spPr>
          <a:xfrm xmlns:a="http://schemas.openxmlformats.org/drawingml/2006/main">
            <a:off x="952500" y="9730387"/>
            <a:ext cx="723897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FAF6F0"/>
                </a:solidFill>
                <a:latin typeface="Deck"/>
                <a:ea typeface="Deck"/>
                <a:cs typeface="Deck"/>
              </a:defRPr>
            </a:pPr>
            <a:r>
              <a:rPr sz="1350" b="0" i="0" kern="400000" spc="3">
                <a:solidFill>
                  <a:srgbClr val="A0A19D">
                    <a:alpha val="100000"/>
                  </a:srgbClr>
                </a:solidFill>
                <a:latin typeface="Deck"/>
                <a:ea typeface="Deck"/>
                <a:cs typeface="Deck"/>
              </a:rPr>
              <a:t xml:space="preserve">Early concept · Implemented scoped Codex/Claude export appears in the architecture appendix</a:t>
            </a:r>
            <a:endParaRPr lang="en-US" sz="1350" spc="3" kern="400000">
              <a:latin typeface="Deck"/>
            </a:endParaRPr>
          </a:p>
        </p:txBody>
      </p:sp>
      <p:sp>
        <p:nvSpPr>
          <p:cNvPr id="12" name="s13-t010">
            <a:extLst xmlns:a="http://schemas.openxmlformats.org/drawingml/2006/main">
              <a:ext uri="{FF2B5EF4-FFF2-40B4-BE49-F238E27FC236}">
                <a16:creationId xmlns:a16="http://schemas.microsoft.com/office/drawing/2014/main" id="{54E245A3-7823-4546-900B-B1EE0838AD25}"/>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13</a:t>
            </a:r>
            <a:endParaRPr lang="en-US" sz="1350" spc="7" kern="400000">
              <a:latin typeface="Deck"/>
            </a:endParaRPr>
          </a:p>
        </p:txBody>
      </p:sp>
    </p:spTree>
    <p:extLst>
      <p:ext uri="{BB962C8B-B14F-4D97-AF65-F5344CB8AC3E}">
        <p14:creationId xmlns:p14="http://schemas.microsoft.com/office/powerpoint/2010/main" val="365748553"/>
      </p:ext>
    </p:extLst>
  </p:cSld>
</p:sld>
</file>

<file path=ppt/slides/slide1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6a6ab759a4e6434a"/>
          <a:stretch xmlns:a="http://schemas.openxmlformats.org/drawingml/2006/main"/>
        </p:blipFill>
        <p:spPr>
          <a:xfrm xmlns:a="http://schemas.openxmlformats.org/drawingml/2006/main">
            <a:off x="7334250" y="238125"/>
            <a:ext cx="10191750" cy="9858375"/>
          </a:xfrm>
          <a:prstGeom xmlns:a="http://schemas.openxmlformats.org/drawingml/2006/main" prst="rect">
            <a:avLst/>
          </a:prstGeom>
        </p:spPr>
      </p:pic>
      <p:sp>
        <p:nvSpPr>
          <p:cNvPr id="2" name="s14-t000">
            <a:extLst xmlns:a="http://schemas.openxmlformats.org/drawingml/2006/main">
              <a:ext uri="{FF2B5EF4-FFF2-40B4-BE49-F238E27FC236}">
                <a16:creationId xmlns:a16="http://schemas.microsoft.com/office/drawing/2014/main" id="{AC84F114-19F2-45A1-98BC-EF190217B6FD}"/>
              </a:ext>
            </a:extLst>
          </p:cNvPr>
          <p:cNvSpPr>
            <a:spLocks xmlns:a="http://schemas.openxmlformats.org/drawingml/2006/main" noGrp="1"/>
          </p:cNvSpPr>
          <p:nvPr/>
        </p:nvSpPr>
        <p:spPr>
          <a:xfrm xmlns:a="http://schemas.openxmlformats.org/drawingml/2006/main">
            <a:off x="1019175" y="2022495"/>
            <a:ext cx="5030800"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55" kern="400000">
                <a:solidFill>
                  <a:srgbClr val="3A3745"/>
                </a:solidFill>
                <a:latin typeface="Deck-Semi-Bold"/>
                <a:ea typeface="Deck-Semi-Bold"/>
                <a:cs typeface="Deck-Semi-Bold"/>
              </a:defRPr>
            </a:pPr>
            <a:r>
              <a:rPr sz="7200" b="0" i="0" kern="400000" spc="-455">
                <a:solidFill>
                  <a:srgbClr val="3A3745">
                    <a:alpha val="100000"/>
                  </a:srgbClr>
                </a:solidFill>
                <a:latin typeface="Deck-Semi-Bold"/>
                <a:ea typeface="Deck-Semi-Bold"/>
                <a:cs typeface="Deck-Semi-Bold"/>
              </a:rPr>
              <a:t xml:space="preserve">Talk through</a:t>
            </a:r>
            <a:endParaRPr lang="en-US" sz="7200" spc="-455" kern="400000">
              <a:latin typeface="Deck-Semi-Bold"/>
            </a:endParaRPr>
          </a:p>
        </p:txBody>
      </p:sp>
      <p:sp>
        <p:nvSpPr>
          <p:cNvPr id="3" name="s14-t001">
            <a:extLst xmlns:a="http://schemas.openxmlformats.org/drawingml/2006/main">
              <a:ext uri="{FF2B5EF4-FFF2-40B4-BE49-F238E27FC236}">
                <a16:creationId xmlns:a16="http://schemas.microsoft.com/office/drawing/2014/main" id="{282C1C58-F575-480F-9BE8-5F055854826F}"/>
              </a:ext>
            </a:extLst>
          </p:cNvPr>
          <p:cNvSpPr>
            <a:spLocks xmlns:a="http://schemas.openxmlformats.org/drawingml/2006/main" noGrp="1"/>
          </p:cNvSpPr>
          <p:nvPr/>
        </p:nvSpPr>
        <p:spPr>
          <a:xfrm xmlns:a="http://schemas.openxmlformats.org/drawingml/2006/main">
            <a:off x="1019175" y="2978043"/>
            <a:ext cx="5394122" cy="11247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200" spc="-400" kern="400000">
                <a:solidFill>
                  <a:srgbClr val="4F7A66"/>
                </a:solidFill>
                <a:latin typeface="Deck-Semi-Bold"/>
                <a:ea typeface="Deck-Semi-Bold"/>
                <a:cs typeface="Deck-Semi-Bold"/>
              </a:defRPr>
            </a:pPr>
            <a:r>
              <a:rPr sz="7200" b="0" i="0" kern="400000" spc="-400">
                <a:solidFill>
                  <a:srgbClr val="4F7A66">
                    <a:alpha val="100000"/>
                  </a:srgbClr>
                </a:solidFill>
                <a:latin typeface="Deck-Semi-Bold"/>
                <a:ea typeface="Deck-Semi-Bold"/>
                <a:cs typeface="Deck-Semi-Bold"/>
              </a:rPr>
              <a:t xml:space="preserve">the next step.</a:t>
            </a:r>
            <a:endParaRPr lang="en-US" sz="7200" spc="-400" kern="400000">
              <a:latin typeface="Deck-Semi-Bold"/>
            </a:endParaRPr>
          </a:p>
        </p:txBody>
      </p:sp>
      <p:sp>
        <p:nvSpPr>
          <p:cNvPr id="4" name="s14-t002">
            <a:extLst xmlns:a="http://schemas.openxmlformats.org/drawingml/2006/main">
              <a:ext uri="{FF2B5EF4-FFF2-40B4-BE49-F238E27FC236}">
                <a16:creationId xmlns:a16="http://schemas.microsoft.com/office/drawing/2014/main" id="{8A7723ED-636A-4679-9868-A5A3A72D046A}"/>
              </a:ext>
            </a:extLst>
          </p:cNvPr>
          <p:cNvSpPr>
            <a:spLocks xmlns:a="http://schemas.openxmlformats.org/drawingml/2006/main" noGrp="1"/>
          </p:cNvSpPr>
          <p:nvPr/>
        </p:nvSpPr>
        <p:spPr>
          <a:xfrm xmlns:a="http://schemas.openxmlformats.org/drawingml/2006/main">
            <a:off x="1019175" y="1524005"/>
            <a:ext cx="34282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BUDDY &amp; CARE ACCESS</a:t>
            </a:r>
            <a:endParaRPr lang="en-US" sz="1725" spc="285" kern="400000">
              <a:latin typeface="Deck-Medium"/>
            </a:endParaRPr>
          </a:p>
        </p:txBody>
      </p:sp>
      <p:sp>
        <p:nvSpPr>
          <p:cNvPr id="5" name="s14-t003">
            <a:extLst xmlns:a="http://schemas.openxmlformats.org/drawingml/2006/main">
              <a:ext uri="{FF2B5EF4-FFF2-40B4-BE49-F238E27FC236}">
                <a16:creationId xmlns:a16="http://schemas.microsoft.com/office/drawing/2014/main" id="{D79FDFAB-5824-4E8F-B5EE-9BB2A818773F}"/>
              </a:ext>
            </a:extLst>
          </p:cNvPr>
          <p:cNvSpPr>
            <a:spLocks xmlns:a="http://schemas.openxmlformats.org/drawingml/2006/main" noGrp="1"/>
          </p:cNvSpPr>
          <p:nvPr/>
        </p:nvSpPr>
        <p:spPr>
          <a:xfrm xmlns:a="http://schemas.openxmlformats.org/drawingml/2006/main">
            <a:off x="1066800" y="5467193"/>
            <a:ext cx="3829555"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 kern="400000">
                <a:solidFill>
                  <a:srgbClr val="3A3745"/>
                </a:solidFill>
                <a:latin typeface="Deck"/>
                <a:ea typeface="Deck"/>
                <a:cs typeface="Deck"/>
              </a:defRPr>
            </a:pPr>
            <a:r>
              <a:rPr sz="2325" b="0" i="0" kern="400000" spc="-2">
                <a:solidFill>
                  <a:srgbClr val="3A3745">
                    <a:alpha val="100000"/>
                  </a:srgbClr>
                </a:solidFill>
                <a:latin typeface="Deck"/>
                <a:ea typeface="Deck"/>
                <a:cs typeface="Deck"/>
              </a:rPr>
              <a:t xml:space="preserve">Routines and appointment</a:t>
            </a:r>
            <a:endParaRPr lang="en-US" sz="2325" spc="-2" kern="400000">
              <a:latin typeface="Deck"/>
            </a:endParaRPr>
          </a:p>
        </p:txBody>
      </p:sp>
      <p:sp>
        <p:nvSpPr>
          <p:cNvPr id="6" name="s14-t004">
            <a:extLst xmlns:a="http://schemas.openxmlformats.org/drawingml/2006/main">
              <a:ext uri="{FF2B5EF4-FFF2-40B4-BE49-F238E27FC236}">
                <a16:creationId xmlns:a16="http://schemas.microsoft.com/office/drawing/2014/main" id="{87AE1C9C-2435-4C61-94FA-B6CA6C70B3EC}"/>
              </a:ext>
            </a:extLst>
          </p:cNvPr>
          <p:cNvSpPr>
            <a:spLocks xmlns:a="http://schemas.openxmlformats.org/drawingml/2006/main" noGrp="1"/>
          </p:cNvSpPr>
          <p:nvPr/>
        </p:nvSpPr>
        <p:spPr>
          <a:xfrm xmlns:a="http://schemas.openxmlformats.org/drawingml/2006/main">
            <a:off x="1066800" y="5895342"/>
            <a:ext cx="2695699"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21" kern="400000">
                <a:solidFill>
                  <a:srgbClr val="3A3745"/>
                </a:solidFill>
                <a:latin typeface="Deck"/>
                <a:ea typeface="Deck"/>
                <a:cs typeface="Deck"/>
              </a:defRPr>
            </a:pPr>
            <a:r>
              <a:rPr sz="2325" b="0" i="0" kern="400000" spc="-21">
                <a:solidFill>
                  <a:srgbClr val="3A3745">
                    <a:alpha val="100000"/>
                  </a:srgbClr>
                </a:solidFill>
                <a:latin typeface="Deck"/>
                <a:ea typeface="Deck"/>
                <a:cs typeface="Deck"/>
              </a:rPr>
              <a:t xml:space="preserve">preparation today.</a:t>
            </a:r>
            <a:endParaRPr lang="en-US" sz="2325" spc="-21" kern="400000">
              <a:latin typeface="Deck"/>
            </a:endParaRPr>
          </a:p>
        </p:txBody>
      </p:sp>
      <p:sp>
        <p:nvSpPr>
          <p:cNvPr id="7" name="s14-t005">
            <a:extLst xmlns:a="http://schemas.openxmlformats.org/drawingml/2006/main">
              <a:ext uri="{FF2B5EF4-FFF2-40B4-BE49-F238E27FC236}">
                <a16:creationId xmlns:a16="http://schemas.microsoft.com/office/drawing/2014/main" id="{B97FE851-6EEB-412A-AA44-2317A5FD23F8}"/>
              </a:ext>
            </a:extLst>
          </p:cNvPr>
          <p:cNvSpPr>
            <a:spLocks xmlns:a="http://schemas.openxmlformats.org/drawingml/2006/main" noGrp="1"/>
          </p:cNvSpPr>
          <p:nvPr/>
        </p:nvSpPr>
        <p:spPr>
          <a:xfrm xmlns:a="http://schemas.openxmlformats.org/drawingml/2006/main">
            <a:off x="1066800" y="6751639"/>
            <a:ext cx="4819021"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4" kern="400000">
                <a:solidFill>
                  <a:srgbClr val="3A3745"/>
                </a:solidFill>
                <a:latin typeface="Deck"/>
                <a:ea typeface="Deck"/>
                <a:cs typeface="Deck"/>
              </a:defRPr>
            </a:pPr>
            <a:r>
              <a:rPr sz="2325" b="0" i="0" kern="400000" spc="-4">
                <a:solidFill>
                  <a:srgbClr val="3A3745">
                    <a:alpha val="100000"/>
                  </a:srgbClr>
                </a:solidFill>
                <a:latin typeface="Deck"/>
                <a:ea typeface="Deck"/>
                <a:cs typeface="Deck"/>
              </a:rPr>
              <a:t xml:space="preserve">WhiteCoat teleconsult connection</a:t>
            </a:r>
            <a:endParaRPr lang="en-US" sz="2325" spc="-4" kern="400000">
              <a:latin typeface="Deck"/>
            </a:endParaRPr>
          </a:p>
        </p:txBody>
      </p:sp>
      <p:sp>
        <p:nvSpPr>
          <p:cNvPr id="8" name="s14-t006">
            <a:extLst xmlns:a="http://schemas.openxmlformats.org/drawingml/2006/main">
              <a:ext uri="{FF2B5EF4-FFF2-40B4-BE49-F238E27FC236}">
                <a16:creationId xmlns:a16="http://schemas.microsoft.com/office/drawing/2014/main" id="{0066C4AB-3DC7-470B-9132-6807E17F51A5}"/>
              </a:ext>
            </a:extLst>
          </p:cNvPr>
          <p:cNvSpPr>
            <a:spLocks xmlns:a="http://schemas.openxmlformats.org/drawingml/2006/main" noGrp="1"/>
          </p:cNvSpPr>
          <p:nvPr/>
        </p:nvSpPr>
        <p:spPr>
          <a:xfrm xmlns:a="http://schemas.openxmlformats.org/drawingml/2006/main">
            <a:off x="1066800" y="7179788"/>
            <a:ext cx="2073554" cy="363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325" spc="-8" kern="400000">
                <a:solidFill>
                  <a:srgbClr val="3A3745"/>
                </a:solidFill>
                <a:latin typeface="Deck"/>
                <a:ea typeface="Deck"/>
                <a:cs typeface="Deck"/>
              </a:defRPr>
            </a:pPr>
            <a:r>
              <a:rPr sz="2325" b="0" i="0" kern="400000" spc="-8">
                <a:solidFill>
                  <a:srgbClr val="3A3745">
                    <a:alpha val="100000"/>
                  </a:srgbClr>
                </a:solidFill>
                <a:latin typeface="Deck"/>
                <a:ea typeface="Deck"/>
                <a:cs typeface="Deck"/>
              </a:rPr>
              <a:t xml:space="preserve">is a next step.</a:t>
            </a:r>
            <a:endParaRPr lang="en-US" sz="2325" spc="-8" kern="400000">
              <a:latin typeface="Deck"/>
            </a:endParaRPr>
          </a:p>
        </p:txBody>
      </p:sp>
      <p:sp>
        <p:nvSpPr>
          <p:cNvPr id="9" name="s14-t007">
            <a:extLst xmlns:a="http://schemas.openxmlformats.org/drawingml/2006/main">
              <a:ext uri="{FF2B5EF4-FFF2-40B4-BE49-F238E27FC236}">
                <a16:creationId xmlns:a16="http://schemas.microsoft.com/office/drawing/2014/main" id="{996FD434-A6D6-4706-B781-123F8C9F2539}"/>
              </a:ext>
            </a:extLst>
          </p:cNvPr>
          <p:cNvSpPr>
            <a:spLocks xmlns:a="http://schemas.openxmlformats.org/drawingml/2006/main" noGrp="1"/>
          </p:cNvSpPr>
          <p:nvPr/>
        </p:nvSpPr>
        <p:spPr>
          <a:xfrm xmlns:a="http://schemas.openxmlformats.org/drawingml/2006/main">
            <a:off x="952500" y="9730387"/>
            <a:ext cx="743579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3" kern="400000">
                <a:solidFill>
                  <a:srgbClr val="3A3745"/>
                </a:solidFill>
                <a:latin typeface="Deck"/>
                <a:ea typeface="Deck"/>
                <a:cs typeface="Deck"/>
              </a:defRPr>
            </a:pPr>
            <a:r>
              <a:rPr sz="1350" b="0" i="0" kern="400000" spc="3">
                <a:solidFill>
                  <a:srgbClr val="817E84">
                    <a:alpha val="100000"/>
                  </a:srgbClr>
                </a:solidFill>
                <a:latin typeface="Deck"/>
                <a:ea typeface="Deck"/>
                <a:cs typeface="Deck"/>
              </a:rPr>
              <a:t xml:space="preserve">Mobile prototype walkthrough · GP planning only; no verified WhiteCoat redirect or booking</a:t>
            </a:r>
            <a:endParaRPr lang="en-US" sz="1350" spc="3" kern="400000">
              <a:latin typeface="Deck"/>
            </a:endParaRPr>
          </a:p>
        </p:txBody>
      </p:sp>
      <p:sp>
        <p:nvSpPr>
          <p:cNvPr id="10" name="s14-t008">
            <a:extLst xmlns:a="http://schemas.openxmlformats.org/drawingml/2006/main">
              <a:ext uri="{FF2B5EF4-FFF2-40B4-BE49-F238E27FC236}">
                <a16:creationId xmlns:a16="http://schemas.microsoft.com/office/drawing/2014/main" id="{20EA9B2C-C398-411C-9D4B-CDC16E40D485}"/>
              </a:ext>
            </a:extLst>
          </p:cNvPr>
          <p:cNvSpPr>
            <a:spLocks xmlns:a="http://schemas.openxmlformats.org/drawingml/2006/main" noGrp="1"/>
          </p:cNvSpPr>
          <p:nvPr/>
        </p:nvSpPr>
        <p:spPr>
          <a:xfrm xmlns:a="http://schemas.openxmlformats.org/drawingml/2006/main">
            <a:off x="17170725" y="9730387"/>
            <a:ext cx="401831"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14</a:t>
            </a:r>
            <a:endParaRPr lang="en-US" sz="1350" spc="7" kern="400000">
              <a:latin typeface="Deck"/>
            </a:endParaRPr>
          </a:p>
        </p:txBody>
      </p:sp>
    </p:spTree>
    <p:extLst>
      <p:ext uri="{BB962C8B-B14F-4D97-AF65-F5344CB8AC3E}">
        <p14:creationId xmlns:p14="http://schemas.microsoft.com/office/powerpoint/2010/main" val="1035804382"/>
      </p:ext>
    </p:extLst>
  </p:cSld>
</p:sld>
</file>

<file path=ppt/slides/slide15.xml><?xml version="1.0" encoding="utf-8"?>
<p:sld xmlns:p="http://schemas.openxmlformats.org/presentationml/2006/main">
  <p:cSld>
    <p:bg>
      <p:bgPr>
        <a:solidFill xmlns:a="http://schemas.openxmlformats.org/drawingml/2006/main">
          <a:srgbClr val="0C0F0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a78a69c6c734d71"/>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s15-t000">
            <a:extLst xmlns:a="http://schemas.openxmlformats.org/drawingml/2006/main">
              <a:ext uri="{FF2B5EF4-FFF2-40B4-BE49-F238E27FC236}">
                <a16:creationId xmlns:a16="http://schemas.microsoft.com/office/drawing/2014/main" id="{B5F8BDF3-A1DE-478C-B157-0791DC9035FE}"/>
              </a:ext>
            </a:extLst>
          </p:cNvPr>
          <p:cNvSpPr>
            <a:spLocks xmlns:a="http://schemas.openxmlformats.org/drawingml/2006/main" noGrp="1"/>
          </p:cNvSpPr>
          <p:nvPr/>
        </p:nvSpPr>
        <p:spPr>
          <a:xfrm xmlns:a="http://schemas.openxmlformats.org/drawingml/2006/main">
            <a:off x="981075" y="1777291"/>
            <a:ext cx="3670516"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21" kern="400000">
                <a:solidFill>
                  <a:srgbClr val="FAF6F0"/>
                </a:solidFill>
                <a:latin typeface="Deck-Semi-Bold"/>
                <a:ea typeface="Deck-Semi-Bold"/>
                <a:cs typeface="Deck-Semi-Bold"/>
              </a:defRPr>
            </a:pPr>
            <a:r>
              <a:rPr sz="8850" b="0" i="0" kern="400000" spc="-421">
                <a:solidFill>
                  <a:srgbClr val="FAF6F0">
                    <a:alpha val="100000"/>
                  </a:srgbClr>
                </a:solidFill>
                <a:latin typeface="Deck-Semi-Bold"/>
                <a:ea typeface="Deck-Semi-Bold"/>
                <a:cs typeface="Deck-Semi-Bold"/>
              </a:rPr>
              <a:t xml:space="preserve">Notice.</a:t>
            </a:r>
            <a:endParaRPr lang="en-US" sz="8850" spc="-421" kern="400000">
              <a:latin typeface="Deck-Semi-Bold"/>
            </a:endParaRPr>
          </a:p>
        </p:txBody>
      </p:sp>
      <p:sp>
        <p:nvSpPr>
          <p:cNvPr id="3" name="s15-t001">
            <a:extLst xmlns:a="http://schemas.openxmlformats.org/drawingml/2006/main">
              <a:ext uri="{FF2B5EF4-FFF2-40B4-BE49-F238E27FC236}">
                <a16:creationId xmlns:a16="http://schemas.microsoft.com/office/drawing/2014/main" id="{51E135A5-C2B7-4744-BE02-92261CF08195}"/>
              </a:ext>
            </a:extLst>
          </p:cNvPr>
          <p:cNvSpPr>
            <a:spLocks xmlns:a="http://schemas.openxmlformats.org/drawingml/2006/main" noGrp="1"/>
          </p:cNvSpPr>
          <p:nvPr/>
        </p:nvSpPr>
        <p:spPr>
          <a:xfrm xmlns:a="http://schemas.openxmlformats.org/drawingml/2006/main">
            <a:off x="981075" y="2968678"/>
            <a:ext cx="5825452"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72" kern="400000">
                <a:solidFill>
                  <a:srgbClr val="FAF6F0"/>
                </a:solidFill>
                <a:latin typeface="Deck-Semi-Bold"/>
                <a:ea typeface="Deck-Semi-Bold"/>
                <a:cs typeface="Deck-Semi-Bold"/>
              </a:defRPr>
            </a:pPr>
            <a:r>
              <a:rPr sz="8850" b="0" i="0" kern="400000" spc="-472">
                <a:solidFill>
                  <a:srgbClr val="FAF6F0">
                    <a:alpha val="100000"/>
                  </a:srgbClr>
                </a:solidFill>
                <a:latin typeface="Deck-Semi-Bold"/>
                <a:ea typeface="Deck-Semi-Bold"/>
                <a:cs typeface="Deck-Semi-Bold"/>
              </a:rPr>
              <a:t xml:space="preserve">Remember.</a:t>
            </a:r>
            <a:endParaRPr lang="en-US" sz="8850" spc="-472" kern="400000">
              <a:latin typeface="Deck-Semi-Bold"/>
            </a:endParaRPr>
          </a:p>
        </p:txBody>
      </p:sp>
      <p:sp>
        <p:nvSpPr>
          <p:cNvPr id="4" name="s15-t002">
            <a:extLst xmlns:a="http://schemas.openxmlformats.org/drawingml/2006/main">
              <a:ext uri="{FF2B5EF4-FFF2-40B4-BE49-F238E27FC236}">
                <a16:creationId xmlns:a16="http://schemas.microsoft.com/office/drawing/2014/main" id="{92B2867A-1E2D-4A6E-AADA-E177B6380A3D}"/>
              </a:ext>
            </a:extLst>
          </p:cNvPr>
          <p:cNvSpPr>
            <a:spLocks xmlns:a="http://schemas.openxmlformats.org/drawingml/2006/main" noGrp="1"/>
          </p:cNvSpPr>
          <p:nvPr/>
        </p:nvSpPr>
        <p:spPr>
          <a:xfrm xmlns:a="http://schemas.openxmlformats.org/drawingml/2006/main">
            <a:off x="981075" y="4160065"/>
            <a:ext cx="7686561" cy="13824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850" spc="-405" kern="400000">
                <a:solidFill>
                  <a:srgbClr val="9BDAB6"/>
                </a:solidFill>
                <a:latin typeface="Deck-Semi-Bold"/>
                <a:ea typeface="Deck-Semi-Bold"/>
                <a:cs typeface="Deck-Semi-Bold"/>
              </a:defRPr>
            </a:pPr>
            <a:r>
              <a:rPr sz="8850" b="0" i="0" kern="400000" spc="-405">
                <a:solidFill>
                  <a:srgbClr val="9BDAB6">
                    <a:alpha val="100000"/>
                  </a:srgbClr>
                </a:solidFill>
                <a:latin typeface="Deck-Semi-Bold"/>
                <a:ea typeface="Deck-Semi-Bold"/>
                <a:cs typeface="Deck-Semi-Bold"/>
              </a:rPr>
              <a:t xml:space="preserve">Follow through.</a:t>
            </a:r>
            <a:endParaRPr lang="en-US" sz="8850" spc="-405" kern="400000">
              <a:latin typeface="Deck-Semi-Bold"/>
            </a:endParaRPr>
          </a:p>
        </p:txBody>
      </p:sp>
      <p:sp>
        <p:nvSpPr>
          <p:cNvPr id="5" name="s15-t003">
            <a:extLst xmlns:a="http://schemas.openxmlformats.org/drawingml/2006/main">
              <a:ext uri="{FF2B5EF4-FFF2-40B4-BE49-F238E27FC236}">
                <a16:creationId xmlns:a16="http://schemas.microsoft.com/office/drawing/2014/main" id="{92D6395D-CE0D-4FB3-8796-A2D8A2C80CA0}"/>
              </a:ext>
            </a:extLst>
          </p:cNvPr>
          <p:cNvSpPr>
            <a:spLocks xmlns:a="http://schemas.openxmlformats.org/drawingml/2006/main" noGrp="1"/>
          </p:cNvSpPr>
          <p:nvPr/>
        </p:nvSpPr>
        <p:spPr>
          <a:xfrm xmlns:a="http://schemas.openxmlformats.org/drawingml/2006/main">
            <a:off x="981075" y="5889035"/>
            <a:ext cx="4480941"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8" kern="400000">
                <a:solidFill>
                  <a:srgbClr val="E4E7DF"/>
                </a:solidFill>
                <a:latin typeface="Deck"/>
                <a:ea typeface="Deck"/>
                <a:cs typeface="Deck"/>
              </a:defRPr>
            </a:pPr>
            <a:r>
              <a:rPr sz="2400" b="0" i="0" kern="400000" spc="-8">
                <a:solidFill>
                  <a:srgbClr val="E4E7DF">
                    <a:alpha val="100000"/>
                  </a:srgbClr>
                </a:solidFill>
                <a:latin typeface="Deck"/>
                <a:ea typeface="Deck"/>
                <a:cs typeface="Deck"/>
              </a:rPr>
              <a:t xml:space="preserve">Make the next care step easier</a:t>
            </a:r>
            <a:endParaRPr lang="en-US" sz="2400" spc="-8" kern="400000">
              <a:latin typeface="Deck"/>
            </a:endParaRPr>
          </a:p>
        </p:txBody>
      </p:sp>
      <p:sp>
        <p:nvSpPr>
          <p:cNvPr id="6" name="s15-t004">
            <a:extLst xmlns:a="http://schemas.openxmlformats.org/drawingml/2006/main">
              <a:ext uri="{FF2B5EF4-FFF2-40B4-BE49-F238E27FC236}">
                <a16:creationId xmlns:a16="http://schemas.microsoft.com/office/drawing/2014/main" id="{08F66600-0106-426F-9845-3A656525A21B}"/>
              </a:ext>
            </a:extLst>
          </p:cNvPr>
          <p:cNvSpPr>
            <a:spLocks xmlns:a="http://schemas.openxmlformats.org/drawingml/2006/main" noGrp="1"/>
          </p:cNvSpPr>
          <p:nvPr/>
        </p:nvSpPr>
        <p:spPr>
          <a:xfrm xmlns:a="http://schemas.openxmlformats.org/drawingml/2006/main">
            <a:off x="981075" y="6340139"/>
            <a:ext cx="4423943" cy="374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400" spc="-13" kern="400000">
                <a:solidFill>
                  <a:srgbClr val="E4E7DF"/>
                </a:solidFill>
                <a:latin typeface="Deck"/>
                <a:ea typeface="Deck"/>
                <a:cs typeface="Deck"/>
              </a:defRPr>
            </a:pPr>
            <a:r>
              <a:rPr sz="2400" b="0" i="0" kern="400000" spc="-13">
                <a:solidFill>
                  <a:srgbClr val="E4E7DF">
                    <a:alpha val="100000"/>
                  </a:srgbClr>
                </a:solidFill>
                <a:latin typeface="Deck"/>
                <a:ea typeface="Deck"/>
                <a:cs typeface="Deck"/>
              </a:rPr>
              <a:t xml:space="preserve">to see, discuss and remember.</a:t>
            </a:r>
            <a:endParaRPr lang="en-US" sz="2400" spc="-13" kern="400000">
              <a:latin typeface="Deck"/>
            </a:endParaRPr>
          </a:p>
        </p:txBody>
      </p:sp>
      <p:sp>
        <p:nvSpPr>
          <p:cNvPr id="7" name="s15-t005">
            <a:extLst xmlns:a="http://schemas.openxmlformats.org/drawingml/2006/main">
              <a:ext uri="{FF2B5EF4-FFF2-40B4-BE49-F238E27FC236}">
                <a16:creationId xmlns:a16="http://schemas.microsoft.com/office/drawing/2014/main" id="{24342B14-62CB-49B8-9751-8ECD81CA45E8}"/>
              </a:ext>
            </a:extLst>
          </p:cNvPr>
          <p:cNvSpPr>
            <a:spLocks xmlns:a="http://schemas.openxmlformats.org/drawingml/2006/main" noGrp="1"/>
          </p:cNvSpPr>
          <p:nvPr/>
        </p:nvSpPr>
        <p:spPr>
          <a:xfrm xmlns:a="http://schemas.openxmlformats.org/drawingml/2006/main">
            <a:off x="981075" y="1285880"/>
            <a:ext cx="345520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5" kern="400000">
                <a:solidFill>
                  <a:srgbClr val="FAF6F0"/>
                </a:solidFill>
                <a:latin typeface="Deck-Medium"/>
                <a:ea typeface="Deck-Medium"/>
                <a:cs typeface="Deck-Medium"/>
              </a:defRPr>
            </a:pPr>
            <a:r>
              <a:rPr sz="1725" b="0" i="0" kern="400000" spc="295">
                <a:solidFill>
                  <a:srgbClr val="BCB9B4">
                    <a:alpha val="100000"/>
                  </a:srgbClr>
                </a:solidFill>
                <a:latin typeface="Deck-Medium"/>
                <a:ea typeface="Deck-Medium"/>
                <a:cs typeface="Deck-Medium"/>
              </a:rPr>
              <a:t xml:space="preserve">KEEPING CARE IN VIEW</a:t>
            </a:r>
            <a:endParaRPr lang="en-US" sz="1725" spc="295" kern="400000">
              <a:latin typeface="Deck-Medium"/>
            </a:endParaRPr>
          </a:p>
        </p:txBody>
      </p:sp>
      <p:sp>
        <p:nvSpPr>
          <p:cNvPr id="8" name="s15-t006">
            <a:extLst xmlns:a="http://schemas.openxmlformats.org/drawingml/2006/main">
              <a:ext uri="{FF2B5EF4-FFF2-40B4-BE49-F238E27FC236}">
                <a16:creationId xmlns:a16="http://schemas.microsoft.com/office/drawing/2014/main" id="{CB81A6AE-907D-4128-A257-1D6047877F9C}"/>
              </a:ext>
            </a:extLst>
          </p:cNvPr>
          <p:cNvSpPr>
            <a:spLocks xmlns:a="http://schemas.openxmlformats.org/drawingml/2006/main" noGrp="1"/>
          </p:cNvSpPr>
          <p:nvPr/>
        </p:nvSpPr>
        <p:spPr>
          <a:xfrm xmlns:a="http://schemas.openxmlformats.org/drawingml/2006/main">
            <a:off x="952500" y="9730387"/>
            <a:ext cx="491519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5" kern="400000">
                <a:solidFill>
                  <a:srgbClr val="FAF6F0"/>
                </a:solidFill>
                <a:latin typeface="Deck"/>
                <a:ea typeface="Deck"/>
                <a:cs typeface="Deck"/>
              </a:defRPr>
            </a:pPr>
            <a:r>
              <a:rPr sz="1350" b="0" i="0" kern="400000" spc="5">
                <a:solidFill>
                  <a:srgbClr val="A09F9A">
                    <a:alpha val="100000"/>
                  </a:srgbClr>
                </a:solidFill>
                <a:latin typeface="Deck"/>
                <a:ea typeface="Deck"/>
                <a:cs typeface="Deck"/>
              </a:rPr>
              <a:t xml:space="preserve">Intended value · Clinical outcomes have not been evaluated</a:t>
            </a:r>
            <a:endParaRPr lang="en-US" sz="1350" spc="5" kern="400000">
              <a:latin typeface="Deck"/>
            </a:endParaRPr>
          </a:p>
        </p:txBody>
      </p:sp>
      <p:sp>
        <p:nvSpPr>
          <p:cNvPr id="9" name="s15-t007">
            <a:extLst xmlns:a="http://schemas.openxmlformats.org/drawingml/2006/main">
              <a:ext uri="{FF2B5EF4-FFF2-40B4-BE49-F238E27FC236}">
                <a16:creationId xmlns:a16="http://schemas.microsoft.com/office/drawing/2014/main" id="{EE393BEC-88B9-41F3-874D-0161031BD8B4}"/>
              </a:ext>
            </a:extLst>
          </p:cNvPr>
          <p:cNvSpPr>
            <a:spLocks xmlns:a="http://schemas.openxmlformats.org/drawingml/2006/main" noGrp="1"/>
          </p:cNvSpPr>
          <p:nvPr/>
        </p:nvSpPr>
        <p:spPr>
          <a:xfrm xmlns:a="http://schemas.openxmlformats.org/drawingml/2006/main">
            <a:off x="17176725" y="9730387"/>
            <a:ext cx="3958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8A29E">
                    <a:alpha val="100000"/>
                  </a:srgbClr>
                </a:solidFill>
                <a:latin typeface="Deck"/>
                <a:ea typeface="Deck"/>
                <a:cs typeface="Deck"/>
              </a:rPr>
              <a:t xml:space="preserve">15</a:t>
            </a:r>
            <a:endParaRPr lang="en-US" sz="1350" spc="7" kern="400000">
              <a:latin typeface="Deck"/>
            </a:endParaRPr>
          </a:p>
        </p:txBody>
      </p:sp>
    </p:spTree>
    <p:extLst>
      <p:ext uri="{BB962C8B-B14F-4D97-AF65-F5344CB8AC3E}">
        <p14:creationId xmlns:p14="http://schemas.microsoft.com/office/powerpoint/2010/main" val="24539218"/>
      </p:ext>
    </p:extLst>
  </p:cSld>
</p:sld>
</file>

<file path=ppt/slides/slide16.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9" name="s16-source-rule-0">
            <a:extLst xmlns:a="http://schemas.openxmlformats.org/drawingml/2006/main">
              <a:ext uri="{FF2B5EF4-FFF2-40B4-BE49-F238E27FC236}">
                <a16:creationId xmlns:a16="http://schemas.microsoft.com/office/drawing/2014/main" id="{22960F29-F77A-4403-B497-36488B65023D}"/>
              </a:ext>
            </a:extLst>
          </p:cNvPr>
          <p:cNvSpPr>
            <a:spLocks xmlns:a="http://schemas.openxmlformats.org/drawingml/2006/main" noGrp="1"/>
          </p:cNvSpPr>
          <p:nvPr/>
        </p:nvSpPr>
        <p:spPr>
          <a:xfrm xmlns:a="http://schemas.openxmlformats.org/drawingml/2006/main">
            <a:off x="5746440" y="4400550"/>
            <a:ext cx="11096625" cy="2862392"/>
          </a:xfrm>
          <a:prstGeom xmlns:a="http://schemas.openxmlformats.org/drawingml/2006/main" prst="rect">
            <a:avLst/>
          </a:prstGeom>
          <a:noFill xmlns:a="http://schemas.openxmlformats.org/drawingml/2006/main"/>
          <a:ln xmlns:a="http://schemas.openxmlformats.org/drawingml/2006/main" w="14288">
            <a:solidFill>
              <a:srgbClr val="537968"/>
            </a:solidFill>
          </a:ln>
        </p:spPr>
      </p:sp>
      <p:sp>
        <p:nvSpPr>
          <p:cNvPr id="2" name="s16-source-rule-1">
            <a:extLst xmlns:a="http://schemas.openxmlformats.org/drawingml/2006/main">
              <a:ext uri="{FF2B5EF4-FFF2-40B4-BE49-F238E27FC236}">
                <a16:creationId xmlns:a16="http://schemas.microsoft.com/office/drawing/2014/main" id="{CA07A478-367C-493C-A390-A6A94545AD96}"/>
              </a:ext>
            </a:extLst>
          </p:cNvPr>
          <p:cNvSpPr>
            <a:spLocks xmlns:a="http://schemas.openxmlformats.org/drawingml/2006/main" noGrp="1"/>
          </p:cNvSpPr>
          <p:nvPr/>
        </p:nvSpPr>
        <p:spPr>
          <a:xfrm xmlns:a="http://schemas.openxmlformats.org/drawingml/2006/main">
            <a:off x="101917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3" name="s16-source-rule-2">
            <a:extLst xmlns:a="http://schemas.openxmlformats.org/drawingml/2006/main">
              <a:ext uri="{FF2B5EF4-FFF2-40B4-BE49-F238E27FC236}">
                <a16:creationId xmlns:a16="http://schemas.microsoft.com/office/drawing/2014/main" id="{53C6BA6D-6F3C-4D53-9D71-25B823C3B732}"/>
              </a:ext>
            </a:extLst>
          </p:cNvPr>
          <p:cNvSpPr>
            <a:spLocks xmlns:a="http://schemas.openxmlformats.org/drawingml/2006/main" noGrp="1"/>
          </p:cNvSpPr>
          <p:nvPr/>
        </p:nvSpPr>
        <p:spPr>
          <a:xfrm xmlns:a="http://schemas.openxmlformats.org/drawingml/2006/main">
            <a:off x="6591300"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4" name="s16-source-rule-3">
            <a:extLst xmlns:a="http://schemas.openxmlformats.org/drawingml/2006/main">
              <a:ext uri="{FF2B5EF4-FFF2-40B4-BE49-F238E27FC236}">
                <a16:creationId xmlns:a16="http://schemas.microsoft.com/office/drawing/2014/main" id="{FA273BA4-98BE-48B0-97A9-57AC74254956}"/>
              </a:ext>
            </a:extLst>
          </p:cNvPr>
          <p:cNvSpPr>
            <a:spLocks xmlns:a="http://schemas.openxmlformats.org/drawingml/2006/main" noGrp="1"/>
          </p:cNvSpPr>
          <p:nvPr/>
        </p:nvSpPr>
        <p:spPr>
          <a:xfrm xmlns:a="http://schemas.openxmlformats.org/drawingml/2006/main">
            <a:off x="12163425" y="7981950"/>
            <a:ext cx="5095875" cy="9525"/>
          </a:xfrm>
          <a:prstGeom xmlns:a="http://schemas.openxmlformats.org/drawingml/2006/main" prst="rect">
            <a:avLst/>
          </a:prstGeom>
          <a:solidFill xmlns:a="http://schemas.openxmlformats.org/drawingml/2006/main">
            <a:srgbClr val="394E41"/>
          </a:solidFill>
          <a:ln xmlns:a="http://schemas.openxmlformats.org/drawingml/2006/main" w="0">
            <a:noFill/>
          </a:ln>
        </p:spPr>
      </p:sp>
      <p:sp>
        <p:nvSpPr>
          <p:cNvPr id="5" name="s16-t000">
            <a:extLst xmlns:a="http://schemas.openxmlformats.org/drawingml/2006/main">
              <a:ext uri="{FF2B5EF4-FFF2-40B4-BE49-F238E27FC236}">
                <a16:creationId xmlns:a16="http://schemas.microsoft.com/office/drawing/2014/main" id="{B4A81A28-0BB9-4E23-B304-73EBA874FE49}"/>
              </a:ext>
            </a:extLst>
          </p:cNvPr>
          <p:cNvSpPr>
            <a:spLocks xmlns:a="http://schemas.openxmlformats.org/drawingml/2006/main" noGrp="1"/>
          </p:cNvSpPr>
          <p:nvPr/>
        </p:nvSpPr>
        <p:spPr>
          <a:xfrm xmlns:a="http://schemas.openxmlformats.org/drawingml/2006/main">
            <a:off x="990600" y="800105"/>
            <a:ext cx="3219231"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1" kern="400000">
                <a:solidFill>
                  <a:srgbClr val="FAF6F0"/>
                </a:solidFill>
                <a:latin typeface="Deck-Medium"/>
                <a:ea typeface="Deck-Medium"/>
                <a:cs typeface="Deck-Medium"/>
              </a:defRPr>
            </a:pPr>
            <a:r>
              <a:rPr sz="1725" b="0" i="0" kern="400000" spc="291">
                <a:solidFill>
                  <a:srgbClr val="BBBAB6">
                    <a:alpha val="100000"/>
                  </a:srgbClr>
                </a:solidFill>
                <a:latin typeface="Deck-Medium"/>
                <a:ea typeface="Deck-Medium"/>
                <a:cs typeface="Deck-Medium"/>
              </a:rPr>
              <a:t xml:space="preserve">TEAM ARCHITECTURE</a:t>
            </a:r>
            <a:endParaRPr lang="en-US" sz="1725" spc="291" kern="400000">
              <a:latin typeface="Deck-Medium"/>
            </a:endParaRPr>
          </a:p>
        </p:txBody>
      </p:sp>
      <p:sp>
        <p:nvSpPr>
          <p:cNvPr id="6" name="s16-t001">
            <a:extLst xmlns:a="http://schemas.openxmlformats.org/drawingml/2006/main">
              <a:ext uri="{FF2B5EF4-FFF2-40B4-BE49-F238E27FC236}">
                <a16:creationId xmlns:a16="http://schemas.microsoft.com/office/drawing/2014/main" id="{9DCFBEF4-98B0-4225-96D1-726C1D90A38F}"/>
              </a:ext>
            </a:extLst>
          </p:cNvPr>
          <p:cNvSpPr>
            <a:spLocks xmlns:a="http://schemas.openxmlformats.org/drawingml/2006/main" noGrp="1"/>
          </p:cNvSpPr>
          <p:nvPr/>
        </p:nvSpPr>
        <p:spPr>
          <a:xfrm xmlns:a="http://schemas.openxmlformats.org/drawingml/2006/main">
            <a:off x="962025" y="1334987"/>
            <a:ext cx="5424164"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384" kern="400000">
                <a:solidFill>
                  <a:srgbClr val="FAF6F0"/>
                </a:solidFill>
                <a:latin typeface="Deck-Semi-Bold"/>
                <a:ea typeface="Deck-Semi-Bold"/>
                <a:cs typeface="Deck-Semi-Bold"/>
              </a:defRPr>
            </a:pPr>
            <a:r>
              <a:rPr sz="7950" b="0" i="0" kern="400000" spc="-384">
                <a:solidFill>
                  <a:srgbClr val="FAF6F0">
                    <a:alpha val="100000"/>
                  </a:srgbClr>
                </a:solidFill>
                <a:latin typeface="Deck-Semi-Bold"/>
                <a:ea typeface="Deck-Semi-Bold"/>
                <a:cs typeface="Deck-Semi-Bold"/>
              </a:rPr>
              <a:t xml:space="preserve">Built around</a:t>
            </a:r>
            <a:endParaRPr lang="en-US" sz="7950" spc="-384" kern="400000">
              <a:latin typeface="Deck-Semi-Bold"/>
            </a:endParaRPr>
          </a:p>
        </p:txBody>
      </p:sp>
      <p:sp>
        <p:nvSpPr>
          <p:cNvPr id="7" name="s16-t002">
            <a:extLst xmlns:a="http://schemas.openxmlformats.org/drawingml/2006/main">
              <a:ext uri="{FF2B5EF4-FFF2-40B4-BE49-F238E27FC236}">
                <a16:creationId xmlns:a16="http://schemas.microsoft.com/office/drawing/2014/main" id="{E55438FD-E819-4A4E-8EB9-8E5DF46013A9}"/>
              </a:ext>
            </a:extLst>
          </p:cNvPr>
          <p:cNvSpPr>
            <a:spLocks xmlns:a="http://schemas.openxmlformats.org/drawingml/2006/main" noGrp="1"/>
          </p:cNvSpPr>
          <p:nvPr/>
        </p:nvSpPr>
        <p:spPr>
          <a:xfrm xmlns:a="http://schemas.openxmlformats.org/drawingml/2006/main">
            <a:off x="962025" y="2390071"/>
            <a:ext cx="3932187" cy="12418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950" spc="-518" kern="400000">
                <a:solidFill>
                  <a:srgbClr val="9BDAB6"/>
                </a:solidFill>
                <a:latin typeface="Deck-Semi-Bold"/>
                <a:ea typeface="Deck-Semi-Bold"/>
                <a:cs typeface="Deck-Semi-Bold"/>
              </a:defRPr>
            </a:pPr>
            <a:r>
              <a:rPr sz="7950" b="0" i="0" kern="400000" spc="-518">
                <a:solidFill>
                  <a:srgbClr val="9BDAB6">
                    <a:alpha val="100000"/>
                  </a:srgbClr>
                </a:solidFill>
                <a:latin typeface="Deck-Semi-Bold"/>
                <a:ea typeface="Deck-Semi-Bold"/>
                <a:cs typeface="Deck-Semi-Bold"/>
              </a:rPr>
              <a:t xml:space="preserve">Tencent.</a:t>
            </a:r>
            <a:endParaRPr lang="en-US" sz="7950" spc="-518" kern="400000">
              <a:latin typeface="Deck-Semi-Bold"/>
            </a:endParaRPr>
          </a:p>
        </p:txBody>
      </p:sp>
      <p:sp>
        <p:nvSpPr>
          <p:cNvPr id="8" name="s16-t003">
            <a:extLst xmlns:a="http://schemas.openxmlformats.org/drawingml/2006/main">
              <a:ext uri="{FF2B5EF4-FFF2-40B4-BE49-F238E27FC236}">
                <a16:creationId xmlns:a16="http://schemas.microsoft.com/office/drawing/2014/main" id="{ADACEBA6-6EC0-45DA-958A-CC59F39DFB4C}"/>
              </a:ext>
            </a:extLst>
          </p:cNvPr>
          <p:cNvSpPr>
            <a:spLocks xmlns:a="http://schemas.openxmlformats.org/drawingml/2006/main" noGrp="1"/>
          </p:cNvSpPr>
          <p:nvPr/>
        </p:nvSpPr>
        <p:spPr>
          <a:xfrm xmlns:a="http://schemas.openxmlformats.org/drawingml/2006/main">
            <a:off x="1019175" y="4949411"/>
            <a:ext cx="1614792"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150" kern="400000">
                <a:solidFill>
                  <a:srgbClr val="8FA697"/>
                </a:solidFill>
                <a:latin typeface="Deck"/>
                <a:ea typeface="Deck"/>
                <a:cs typeface="Deck"/>
              </a:defRPr>
            </a:pPr>
            <a:r>
              <a:rPr sz="1425" b="0" i="0" kern="400000" spc="150">
                <a:solidFill>
                  <a:srgbClr val="8FA697">
                    <a:alpha val="100000"/>
                  </a:srgbClr>
                </a:solidFill>
                <a:latin typeface="Deck"/>
                <a:ea typeface="Deck"/>
                <a:cs typeface="Deck"/>
              </a:rPr>
              <a:t xml:space="preserve">USER DEVICE</a:t>
            </a:r>
            <a:endParaRPr lang="en-US" sz="1425" spc="150" kern="400000">
              <a:latin typeface="Deck"/>
            </a:endParaRPr>
          </a:p>
        </p:txBody>
      </p:sp>
      <p:sp>
        <p:nvSpPr>
          <p:cNvPr id="9" name="s16-t004">
            <a:extLst xmlns:a="http://schemas.openxmlformats.org/drawingml/2006/main">
              <a:ext uri="{FF2B5EF4-FFF2-40B4-BE49-F238E27FC236}">
                <a16:creationId xmlns:a16="http://schemas.microsoft.com/office/drawing/2014/main" id="{532EBDAB-4FB1-4523-827D-3C64B355C776}"/>
              </a:ext>
            </a:extLst>
          </p:cNvPr>
          <p:cNvSpPr>
            <a:spLocks xmlns:a="http://schemas.openxmlformats.org/drawingml/2006/main" noGrp="1"/>
          </p:cNvSpPr>
          <p:nvPr/>
        </p:nvSpPr>
        <p:spPr>
          <a:xfrm xmlns:a="http://schemas.openxmlformats.org/drawingml/2006/main">
            <a:off x="1019175" y="5357245"/>
            <a:ext cx="2287953" cy="5037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225" spc="-99" kern="400000">
                <a:solidFill>
                  <a:srgbClr val="FAF6F0"/>
                </a:solidFill>
                <a:latin typeface="Deck-Bold"/>
                <a:ea typeface="Deck-Bold"/>
                <a:cs typeface="Deck-Bold"/>
              </a:defRPr>
            </a:pPr>
            <a:r>
              <a:rPr sz="3225" b="0" i="0" kern="400000" spc="-99">
                <a:solidFill>
                  <a:srgbClr val="FAF6F0">
                    <a:alpha val="100000"/>
                  </a:srgbClr>
                </a:solidFill>
                <a:latin typeface="Deck-Bold"/>
                <a:ea typeface="Deck-Bold"/>
                <a:cs typeface="Deck-Bold"/>
              </a:rPr>
              <a:t xml:space="preserve">CareBuddy</a:t>
            </a:r>
            <a:endParaRPr lang="en-US" sz="3225" spc="-99" kern="400000">
              <a:latin typeface="Deck-Bold"/>
            </a:endParaRPr>
          </a:p>
        </p:txBody>
      </p:sp>
      <p:sp>
        <p:nvSpPr>
          <p:cNvPr id="10" name="s16-t005">
            <a:extLst xmlns:a="http://schemas.openxmlformats.org/drawingml/2006/main">
              <a:ext uri="{FF2B5EF4-FFF2-40B4-BE49-F238E27FC236}">
                <a16:creationId xmlns:a16="http://schemas.microsoft.com/office/drawing/2014/main" id="{72EA4464-FE30-413D-B25C-5392811AE4E9}"/>
              </a:ext>
            </a:extLst>
          </p:cNvPr>
          <p:cNvSpPr>
            <a:spLocks xmlns:a="http://schemas.openxmlformats.org/drawingml/2006/main" noGrp="1"/>
          </p:cNvSpPr>
          <p:nvPr/>
        </p:nvSpPr>
        <p:spPr>
          <a:xfrm xmlns:a="http://schemas.openxmlformats.org/drawingml/2006/main">
            <a:off x="1019175" y="6043398"/>
            <a:ext cx="3428524"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4" kern="400000">
                <a:solidFill>
                  <a:srgbClr val="A9BAAF"/>
                </a:solidFill>
                <a:latin typeface="Deck"/>
                <a:ea typeface="Deck"/>
                <a:cs typeface="Deck"/>
              </a:defRPr>
            </a:pPr>
            <a:r>
              <a:rPr sz="1875" b="0" i="0" kern="400000" spc="-4">
                <a:solidFill>
                  <a:srgbClr val="A9BAAF">
                    <a:alpha val="100000"/>
                  </a:srgbClr>
                </a:solidFill>
                <a:latin typeface="Deck"/>
                <a:ea typeface="Deck"/>
                <a:cs typeface="Deck"/>
              </a:rPr>
              <a:t xml:space="preserve">Care circle · Routines · Health</a:t>
            </a:r>
            <a:endParaRPr lang="en-US" sz="1875" spc="-4" kern="400000">
              <a:latin typeface="Deck"/>
            </a:endParaRPr>
          </a:p>
        </p:txBody>
      </p:sp>
      <p:sp>
        <p:nvSpPr>
          <p:cNvPr id="11" name="s16-t006">
            <a:extLst xmlns:a="http://schemas.openxmlformats.org/drawingml/2006/main">
              <a:ext uri="{FF2B5EF4-FFF2-40B4-BE49-F238E27FC236}">
                <a16:creationId xmlns:a16="http://schemas.microsoft.com/office/drawing/2014/main" id="{78A4AD27-A54E-4365-A62D-B5B9BD6A7C93}"/>
              </a:ext>
            </a:extLst>
          </p:cNvPr>
          <p:cNvSpPr>
            <a:spLocks xmlns:a="http://schemas.openxmlformats.org/drawingml/2006/main" noGrp="1"/>
          </p:cNvSpPr>
          <p:nvPr/>
        </p:nvSpPr>
        <p:spPr>
          <a:xfrm xmlns:a="http://schemas.openxmlformats.org/drawingml/2006/main">
            <a:off x="1019175" y="6395823"/>
            <a:ext cx="843201" cy="2928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75" spc="-3" kern="400000">
                <a:solidFill>
                  <a:srgbClr val="A9BAAF"/>
                </a:solidFill>
                <a:latin typeface="Deck"/>
                <a:ea typeface="Deck"/>
                <a:cs typeface="Deck"/>
              </a:defRPr>
            </a:pPr>
            <a:r>
              <a:rPr sz="1875" b="0" i="0" kern="400000" spc="-3">
                <a:solidFill>
                  <a:srgbClr val="A9BAAF">
                    <a:alpha val="100000"/>
                  </a:srgbClr>
                </a:solidFill>
                <a:latin typeface="Deck"/>
                <a:ea typeface="Deck"/>
                <a:cs typeface="Deck"/>
              </a:rPr>
              <a:t xml:space="preserve">views</a:t>
            </a:r>
            <a:endParaRPr lang="en-US" sz="1875" spc="-3" kern="400000">
              <a:latin typeface="Deck"/>
            </a:endParaRPr>
          </a:p>
        </p:txBody>
      </p:sp>
      <p:sp>
        <p:nvSpPr>
          <p:cNvPr id="12" name="s16-t007">
            <a:extLst xmlns:a="http://schemas.openxmlformats.org/drawingml/2006/main">
              <a:ext uri="{FF2B5EF4-FFF2-40B4-BE49-F238E27FC236}">
                <a16:creationId xmlns:a16="http://schemas.microsoft.com/office/drawing/2014/main" id="{C6E0B514-B48F-44F5-8DE4-6C53316E9AE1}"/>
              </a:ext>
            </a:extLst>
          </p:cNvPr>
          <p:cNvSpPr>
            <a:spLocks xmlns:a="http://schemas.openxmlformats.org/drawingml/2006/main" noGrp="1"/>
          </p:cNvSpPr>
          <p:nvPr/>
        </p:nvSpPr>
        <p:spPr>
          <a:xfrm xmlns:a="http://schemas.openxmlformats.org/drawingml/2006/main">
            <a:off x="4876800" y="5485165"/>
            <a:ext cx="726767" cy="7146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4575" spc="0" kern="400000">
                <a:solidFill>
                  <a:srgbClr val="9BDAB6"/>
                </a:solidFill>
                <a:latin typeface="Deck"/>
                <a:ea typeface="Deck"/>
                <a:cs typeface="Deck"/>
              </a:defRPr>
            </a:pPr>
            <a:r>
              <a:rPr sz="4575" b="0" i="0" kern="400000" spc="0">
                <a:solidFill>
                  <a:srgbClr val="9BDAB6">
                    <a:alpha val="100000"/>
                  </a:srgbClr>
                </a:solidFill>
                <a:latin typeface="Deck"/>
                <a:ea typeface="Deck"/>
                <a:cs typeface="Deck"/>
              </a:rPr>
              <a:t xml:space="preserve">→</a:t>
            </a:r>
            <a:endParaRPr lang="en-US" sz="4575" spc="0" kern="400000">
              <a:latin typeface="Deck"/>
            </a:endParaRPr>
          </a:p>
        </p:txBody>
      </p:sp>
      <p:sp>
        <p:nvSpPr>
          <p:cNvPr id="13" name="s16-t008">
            <a:extLst xmlns:a="http://schemas.openxmlformats.org/drawingml/2006/main">
              <a:ext uri="{FF2B5EF4-FFF2-40B4-BE49-F238E27FC236}">
                <a16:creationId xmlns:a16="http://schemas.microsoft.com/office/drawing/2014/main" id="{0E17BAF0-8FC0-4A2B-8B1F-C3EF6817B430}"/>
              </a:ext>
            </a:extLst>
          </p:cNvPr>
          <p:cNvSpPr>
            <a:spLocks xmlns:a="http://schemas.openxmlformats.org/drawingml/2006/main" noGrp="1"/>
          </p:cNvSpPr>
          <p:nvPr/>
        </p:nvSpPr>
        <p:spPr>
          <a:xfrm xmlns:a="http://schemas.openxmlformats.org/drawingml/2006/main">
            <a:off x="6189352" y="4710110"/>
            <a:ext cx="5668137" cy="2108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142" kern="400000">
                <a:solidFill>
                  <a:srgbClr val="9BDAB6"/>
                </a:solidFill>
                <a:latin typeface="Deck"/>
                <a:ea typeface="Deck"/>
                <a:cs typeface="Deck"/>
              </a:defRPr>
            </a:pPr>
            <a:r>
              <a:rPr sz="1350" b="0" i="0" kern="400000" spc="142">
                <a:solidFill>
                  <a:srgbClr val="9BDAB6">
                    <a:alpha val="100000"/>
                  </a:srgbClr>
                </a:solidFill>
                <a:latin typeface="Deck"/>
                <a:ea typeface="Deck"/>
                <a:cs typeface="Deck"/>
              </a:rPr>
              <a:t xml:space="preserve">TENCENT CLOUD · INTENDED APPLICATION BOUNDARY</a:t>
            </a:r>
            <a:endParaRPr lang="en-US" sz="1350" spc="142" kern="400000">
              <a:latin typeface="Deck"/>
            </a:endParaRPr>
          </a:p>
        </p:txBody>
      </p:sp>
      <p:sp>
        <p:nvSpPr>
          <p:cNvPr id="14" name="s16-t009">
            <a:extLst xmlns:a="http://schemas.openxmlformats.org/drawingml/2006/main">
              <a:ext uri="{FF2B5EF4-FFF2-40B4-BE49-F238E27FC236}">
                <a16:creationId xmlns:a16="http://schemas.microsoft.com/office/drawing/2014/main" id="{97D40EAE-8425-4D92-8373-C4A6D5E072A5}"/>
              </a:ext>
            </a:extLst>
          </p:cNvPr>
          <p:cNvSpPr>
            <a:spLocks xmlns:a="http://schemas.openxmlformats.org/drawingml/2006/main" noGrp="1"/>
          </p:cNvSpPr>
          <p:nvPr/>
        </p:nvSpPr>
        <p:spPr>
          <a:xfrm xmlns:a="http://schemas.openxmlformats.org/drawingml/2006/main">
            <a:off x="6189352" y="5249194"/>
            <a:ext cx="315041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96" kern="400000">
                <a:solidFill>
                  <a:srgbClr val="FAF6F0"/>
                </a:solidFill>
                <a:latin typeface="Deck-Bold"/>
                <a:ea typeface="Deck-Bold"/>
                <a:cs typeface="Deck-Bold"/>
              </a:defRPr>
            </a:pPr>
            <a:r>
              <a:rPr sz="2625" b="0" i="0" kern="400000" spc="-96">
                <a:solidFill>
                  <a:srgbClr val="FAF6F0">
                    <a:alpha val="100000"/>
                  </a:srgbClr>
                </a:solidFill>
                <a:latin typeface="Deck-Bold"/>
                <a:ea typeface="Deck-Bold"/>
                <a:cs typeface="Deck-Bold"/>
              </a:rPr>
              <a:t xml:space="preserve">CareBuddy services</a:t>
            </a:r>
            <a:endParaRPr lang="en-US" sz="2625" spc="-96" kern="400000">
              <a:latin typeface="Deck-Bold"/>
            </a:endParaRPr>
          </a:p>
        </p:txBody>
      </p:sp>
      <p:sp>
        <p:nvSpPr>
          <p:cNvPr id="15" name="s16-t010">
            <a:extLst xmlns:a="http://schemas.openxmlformats.org/drawingml/2006/main">
              <a:ext uri="{FF2B5EF4-FFF2-40B4-BE49-F238E27FC236}">
                <a16:creationId xmlns:a16="http://schemas.microsoft.com/office/drawing/2014/main" id="{60DADFBB-DE33-4EF3-B840-4D7A52F6E4DC}"/>
              </a:ext>
            </a:extLst>
          </p:cNvPr>
          <p:cNvSpPr>
            <a:spLocks xmlns:a="http://schemas.openxmlformats.org/drawingml/2006/main" noGrp="1"/>
          </p:cNvSpPr>
          <p:nvPr/>
        </p:nvSpPr>
        <p:spPr>
          <a:xfrm xmlns:a="http://schemas.openxmlformats.org/drawingml/2006/main">
            <a:off x="6189352" y="5804700"/>
            <a:ext cx="2428342"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4" kern="400000">
                <a:solidFill>
                  <a:srgbClr val="B8C7BD"/>
                </a:solidFill>
                <a:latin typeface="Deck"/>
                <a:ea typeface="Deck"/>
                <a:cs typeface="Deck"/>
              </a:defRPr>
            </a:pPr>
            <a:r>
              <a:rPr sz="1800" b="0" i="0" kern="400000" spc="-14">
                <a:solidFill>
                  <a:srgbClr val="B8C7BD">
                    <a:alpha val="100000"/>
                  </a:srgbClr>
                </a:solidFill>
                <a:latin typeface="Deck"/>
                <a:ea typeface="Deck"/>
                <a:cs typeface="Deck"/>
              </a:rPr>
              <a:t xml:space="preserve">Identity, care records</a:t>
            </a:r>
            <a:endParaRPr lang="en-US" sz="1800" spc="-14" kern="400000">
              <a:latin typeface="Deck"/>
            </a:endParaRPr>
          </a:p>
        </p:txBody>
      </p:sp>
      <p:sp>
        <p:nvSpPr>
          <p:cNvPr id="16" name="s16-t011">
            <a:extLst xmlns:a="http://schemas.openxmlformats.org/drawingml/2006/main">
              <a:ext uri="{FF2B5EF4-FFF2-40B4-BE49-F238E27FC236}">
                <a16:creationId xmlns:a16="http://schemas.microsoft.com/office/drawing/2014/main" id="{E7F2DE51-77BF-4CB5-8C81-182628D0E82D}"/>
              </a:ext>
            </a:extLst>
          </p:cNvPr>
          <p:cNvSpPr>
            <a:spLocks xmlns:a="http://schemas.openxmlformats.org/drawingml/2006/main" noGrp="1"/>
          </p:cNvSpPr>
          <p:nvPr/>
        </p:nvSpPr>
        <p:spPr>
          <a:xfrm xmlns:a="http://schemas.openxmlformats.org/drawingml/2006/main">
            <a:off x="6189352" y="6143028"/>
            <a:ext cx="2416226"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1" kern="400000">
                <a:solidFill>
                  <a:srgbClr val="B8C7BD"/>
                </a:solidFill>
                <a:latin typeface="Deck"/>
                <a:ea typeface="Deck"/>
                <a:cs typeface="Deck"/>
              </a:defRPr>
            </a:pPr>
            <a:r>
              <a:rPr sz="1800" b="0" i="0" kern="400000" spc="-1">
                <a:solidFill>
                  <a:srgbClr val="B8C7BD">
                    <a:alpha val="100000"/>
                  </a:srgbClr>
                </a:solidFill>
                <a:latin typeface="Deck"/>
                <a:ea typeface="Deck"/>
                <a:cs typeface="Deck"/>
              </a:rPr>
              <a:t xml:space="preserve">and action validation</a:t>
            </a:r>
            <a:endParaRPr lang="en-US" sz="1800" spc="-1" kern="400000">
              <a:latin typeface="Deck"/>
            </a:endParaRPr>
          </a:p>
        </p:txBody>
      </p:sp>
      <p:sp>
        <p:nvSpPr>
          <p:cNvPr id="17" name="s16-t012">
            <a:extLst xmlns:a="http://schemas.openxmlformats.org/drawingml/2006/main">
              <a:ext uri="{FF2B5EF4-FFF2-40B4-BE49-F238E27FC236}">
                <a16:creationId xmlns:a16="http://schemas.microsoft.com/office/drawing/2014/main" id="{6F35B3C2-100A-4813-8D31-46C7C1011D0A}"/>
              </a:ext>
            </a:extLst>
          </p:cNvPr>
          <p:cNvSpPr>
            <a:spLocks xmlns:a="http://schemas.openxmlformats.org/drawingml/2006/main" noGrp="1"/>
          </p:cNvSpPr>
          <p:nvPr/>
        </p:nvSpPr>
        <p:spPr>
          <a:xfrm xmlns:a="http://schemas.openxmlformats.org/drawingml/2006/main">
            <a:off x="11106503" y="5781276"/>
            <a:ext cx="614620" cy="55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525" spc="0" kern="400000">
                <a:solidFill>
                  <a:srgbClr val="9BDAB6"/>
                </a:solidFill>
                <a:latin typeface="Deck"/>
                <a:ea typeface="Deck"/>
                <a:cs typeface="Deck"/>
              </a:defRPr>
            </a:pPr>
            <a:r>
              <a:rPr sz="3525" b="0" i="0" kern="400000" spc="0">
                <a:solidFill>
                  <a:srgbClr val="9BDAB6">
                    <a:alpha val="100000"/>
                  </a:srgbClr>
                </a:solidFill>
                <a:latin typeface="Deck"/>
                <a:ea typeface="Deck"/>
                <a:cs typeface="Deck"/>
              </a:rPr>
              <a:t xml:space="preserve">→</a:t>
            </a:r>
            <a:endParaRPr lang="en-US" sz="3525" spc="0" kern="400000">
              <a:latin typeface="Deck"/>
            </a:endParaRPr>
          </a:p>
        </p:txBody>
      </p:sp>
      <p:sp>
        <p:nvSpPr>
          <p:cNvPr id="18" name="s16-t013">
            <a:extLst xmlns:a="http://schemas.openxmlformats.org/drawingml/2006/main">
              <a:ext uri="{FF2B5EF4-FFF2-40B4-BE49-F238E27FC236}">
                <a16:creationId xmlns:a16="http://schemas.microsoft.com/office/drawing/2014/main" id="{45F539DE-8365-4A02-9EF6-5DA68FC8E06F}"/>
              </a:ext>
            </a:extLst>
          </p:cNvPr>
          <p:cNvSpPr>
            <a:spLocks xmlns:a="http://schemas.openxmlformats.org/drawingml/2006/main" noGrp="1"/>
          </p:cNvSpPr>
          <p:nvPr/>
        </p:nvSpPr>
        <p:spPr>
          <a:xfrm xmlns:a="http://schemas.openxmlformats.org/drawingml/2006/main">
            <a:off x="11949726" y="5249194"/>
            <a:ext cx="2953083" cy="4100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625" spc="-147" kern="400000">
                <a:solidFill>
                  <a:srgbClr val="FAF6F0"/>
                </a:solidFill>
                <a:latin typeface="Deck-Bold"/>
                <a:ea typeface="Deck-Bold"/>
                <a:cs typeface="Deck-Bold"/>
              </a:defRPr>
            </a:pPr>
            <a:r>
              <a:rPr sz="2625" b="0" i="0" kern="400000" spc="-147">
                <a:solidFill>
                  <a:srgbClr val="FAF6F0">
                    <a:alpha val="100000"/>
                  </a:srgbClr>
                </a:solidFill>
                <a:latin typeface="Deck-Bold"/>
                <a:ea typeface="Deck-Bold"/>
                <a:cs typeface="Deck-Bold"/>
              </a:rPr>
              <a:t xml:space="preserve">Tencent TokenHub</a:t>
            </a:r>
            <a:endParaRPr lang="en-US" sz="2625" spc="-147" kern="400000">
              <a:latin typeface="Deck-Bold"/>
            </a:endParaRPr>
          </a:p>
        </p:txBody>
      </p:sp>
      <p:sp>
        <p:nvSpPr>
          <p:cNvPr id="19" name="s16-t014">
            <a:extLst xmlns:a="http://schemas.openxmlformats.org/drawingml/2006/main">
              <a:ext uri="{FF2B5EF4-FFF2-40B4-BE49-F238E27FC236}">
                <a16:creationId xmlns:a16="http://schemas.microsoft.com/office/drawing/2014/main" id="{D02F9E11-1014-49CA-9D75-86257E9F0DBF}"/>
              </a:ext>
            </a:extLst>
          </p:cNvPr>
          <p:cNvSpPr>
            <a:spLocks xmlns:a="http://schemas.openxmlformats.org/drawingml/2006/main" noGrp="1"/>
          </p:cNvSpPr>
          <p:nvPr/>
        </p:nvSpPr>
        <p:spPr>
          <a:xfrm xmlns:a="http://schemas.openxmlformats.org/drawingml/2006/main">
            <a:off x="11949726" y="5804700"/>
            <a:ext cx="1921993"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6" kern="400000">
                <a:solidFill>
                  <a:srgbClr val="B8C7BD"/>
                </a:solidFill>
                <a:latin typeface="Deck"/>
                <a:ea typeface="Deck"/>
                <a:cs typeface="Deck"/>
              </a:defRPr>
            </a:pPr>
            <a:r>
              <a:rPr sz="1800" b="0" i="0" kern="400000" spc="-6">
                <a:solidFill>
                  <a:srgbClr val="B8C7BD">
                    <a:alpha val="100000"/>
                  </a:srgbClr>
                </a:solidFill>
                <a:latin typeface="Deck"/>
                <a:ea typeface="Deck"/>
                <a:cs typeface="Deck"/>
              </a:rPr>
              <a:t xml:space="preserve">Model inference</a:t>
            </a:r>
            <a:endParaRPr lang="en-US" sz="1800" spc="-6" kern="400000">
              <a:latin typeface="Deck"/>
            </a:endParaRPr>
          </a:p>
        </p:txBody>
      </p:sp>
      <p:sp>
        <p:nvSpPr>
          <p:cNvPr id="20" name="s16-t015">
            <a:extLst xmlns:a="http://schemas.openxmlformats.org/drawingml/2006/main">
              <a:ext uri="{FF2B5EF4-FFF2-40B4-BE49-F238E27FC236}">
                <a16:creationId xmlns:a16="http://schemas.microsoft.com/office/drawing/2014/main" id="{A58A99A3-4781-4EC0-AD4D-605C226721C9}"/>
              </a:ext>
            </a:extLst>
          </p:cNvPr>
          <p:cNvSpPr>
            <a:spLocks xmlns:a="http://schemas.openxmlformats.org/drawingml/2006/main" noGrp="1"/>
          </p:cNvSpPr>
          <p:nvPr/>
        </p:nvSpPr>
        <p:spPr>
          <a:xfrm xmlns:a="http://schemas.openxmlformats.org/drawingml/2006/main">
            <a:off x="11949726" y="6143028"/>
            <a:ext cx="125836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8" kern="400000">
                <a:solidFill>
                  <a:srgbClr val="B8C7BD"/>
                </a:solidFill>
                <a:latin typeface="Deck"/>
                <a:ea typeface="Deck"/>
                <a:cs typeface="Deck"/>
              </a:defRPr>
            </a:pPr>
            <a:r>
              <a:rPr sz="1800" b="0" i="0" kern="400000" spc="-8">
                <a:solidFill>
                  <a:srgbClr val="B8C7BD">
                    <a:alpha val="100000"/>
                  </a:srgbClr>
                </a:solidFill>
                <a:latin typeface="Deck"/>
                <a:ea typeface="Deck"/>
                <a:cs typeface="Deck"/>
              </a:rPr>
              <a:t xml:space="preserve">for Buddy</a:t>
            </a:r>
            <a:endParaRPr lang="en-US" sz="1800" spc="-8" kern="400000">
              <a:latin typeface="Deck"/>
            </a:endParaRPr>
          </a:p>
        </p:txBody>
      </p:sp>
      <p:sp>
        <p:nvSpPr>
          <p:cNvPr id="21" name="s16-t016">
            <a:extLst xmlns:a="http://schemas.openxmlformats.org/drawingml/2006/main">
              <a:ext uri="{FF2B5EF4-FFF2-40B4-BE49-F238E27FC236}">
                <a16:creationId xmlns:a16="http://schemas.microsoft.com/office/drawing/2014/main" id="{ADA98C3B-8274-45CC-AC35-C5F194737D4F}"/>
              </a:ext>
            </a:extLst>
          </p:cNvPr>
          <p:cNvSpPr>
            <a:spLocks xmlns:a="http://schemas.openxmlformats.org/drawingml/2006/main" noGrp="1"/>
          </p:cNvSpPr>
          <p:nvPr/>
        </p:nvSpPr>
        <p:spPr>
          <a:xfrm xmlns:a="http://schemas.openxmlformats.org/drawingml/2006/main">
            <a:off x="1019175" y="8220076"/>
            <a:ext cx="2799074"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2" kern="400000">
                <a:solidFill>
                  <a:srgbClr val="FAF6F0"/>
                </a:solidFill>
                <a:latin typeface="Deck-Medium"/>
                <a:ea typeface="Deck-Medium"/>
                <a:cs typeface="Deck-Medium"/>
              </a:defRPr>
            </a:pPr>
            <a:r>
              <a:rPr sz="2025" b="0" i="0" kern="400000" spc="-2">
                <a:solidFill>
                  <a:srgbClr val="FAF6F0">
                    <a:alpha val="100000"/>
                  </a:srgbClr>
                </a:solidFill>
                <a:latin typeface="Deck-Medium"/>
                <a:ea typeface="Deck-Medium"/>
                <a:cs typeface="Deck-Medium"/>
              </a:rPr>
              <a:t xml:space="preserve">Built with CodeBuddy</a:t>
            </a:r>
            <a:endParaRPr lang="en-US" sz="2025" spc="-2" kern="400000">
              <a:latin typeface="Deck-Medium"/>
            </a:endParaRPr>
          </a:p>
        </p:txBody>
      </p:sp>
      <p:sp>
        <p:nvSpPr>
          <p:cNvPr id="22" name="s16-t017">
            <a:extLst xmlns:a="http://schemas.openxmlformats.org/drawingml/2006/main">
              <a:ext uri="{FF2B5EF4-FFF2-40B4-BE49-F238E27FC236}">
                <a16:creationId xmlns:a16="http://schemas.microsoft.com/office/drawing/2014/main" id="{5098B34F-E52C-414E-B460-ADD2225E4A66}"/>
              </a:ext>
            </a:extLst>
          </p:cNvPr>
          <p:cNvSpPr>
            <a:spLocks xmlns:a="http://schemas.openxmlformats.org/drawingml/2006/main" noGrp="1"/>
          </p:cNvSpPr>
          <p:nvPr/>
        </p:nvSpPr>
        <p:spPr>
          <a:xfrm xmlns:a="http://schemas.openxmlformats.org/drawingml/2006/main">
            <a:off x="1019175" y="8612612"/>
            <a:ext cx="244741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0" kern="400000">
                <a:solidFill>
                  <a:srgbClr val="9EB0A4"/>
                </a:solidFill>
                <a:latin typeface="Deck"/>
                <a:ea typeface="Deck"/>
                <a:cs typeface="Deck"/>
              </a:defRPr>
            </a:pPr>
            <a:r>
              <a:rPr sz="1650" b="0" i="0" kern="400000" spc="0">
                <a:solidFill>
                  <a:srgbClr val="9EB0A4">
                    <a:alpha val="100000"/>
                  </a:srgbClr>
                </a:solidFill>
                <a:latin typeface="Deck"/>
                <a:ea typeface="Deck"/>
                <a:cs typeface="Deck"/>
              </a:rPr>
              <a:t xml:space="preserve">Development workflow</a:t>
            </a:r>
            <a:endParaRPr lang="en-US" sz="1650" spc="0" kern="400000">
              <a:latin typeface="Deck"/>
            </a:endParaRPr>
          </a:p>
        </p:txBody>
      </p:sp>
      <p:sp>
        <p:nvSpPr>
          <p:cNvPr id="23" name="s16-t018">
            <a:extLst xmlns:a="http://schemas.openxmlformats.org/drawingml/2006/main">
              <a:ext uri="{FF2B5EF4-FFF2-40B4-BE49-F238E27FC236}">
                <a16:creationId xmlns:a16="http://schemas.microsoft.com/office/drawing/2014/main" id="{7FD7A3A2-674C-4350-B933-52797AE44420}"/>
              </a:ext>
            </a:extLst>
          </p:cNvPr>
          <p:cNvSpPr>
            <a:spLocks xmlns:a="http://schemas.openxmlformats.org/drawingml/2006/main" noGrp="1"/>
          </p:cNvSpPr>
          <p:nvPr/>
        </p:nvSpPr>
        <p:spPr>
          <a:xfrm xmlns:a="http://schemas.openxmlformats.org/drawingml/2006/main">
            <a:off x="6591300" y="8220076"/>
            <a:ext cx="3118742"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9" kern="400000">
                <a:solidFill>
                  <a:srgbClr val="FAF6F0"/>
                </a:solidFill>
                <a:latin typeface="Deck-Medium"/>
                <a:ea typeface="Deck-Medium"/>
                <a:cs typeface="Deck-Medium"/>
              </a:defRPr>
            </a:pPr>
            <a:r>
              <a:rPr sz="2025" b="0" i="0" kern="400000" spc="-9">
                <a:solidFill>
                  <a:srgbClr val="FAF6F0">
                    <a:alpha val="100000"/>
                  </a:srgbClr>
                </a:solidFill>
                <a:latin typeface="Deck-Medium"/>
                <a:ea typeface="Deck-Medium"/>
                <a:cs typeface="Deck-Medium"/>
              </a:rPr>
              <a:t xml:space="preserve">Review before execution</a:t>
            </a:r>
            <a:endParaRPr lang="en-US" sz="2025" spc="-9" kern="400000">
              <a:latin typeface="Deck-Medium"/>
            </a:endParaRPr>
          </a:p>
        </p:txBody>
      </p:sp>
      <p:sp>
        <p:nvSpPr>
          <p:cNvPr id="24" name="s16-t019">
            <a:extLst xmlns:a="http://schemas.openxmlformats.org/drawingml/2006/main">
              <a:ext uri="{FF2B5EF4-FFF2-40B4-BE49-F238E27FC236}">
                <a16:creationId xmlns:a16="http://schemas.microsoft.com/office/drawing/2014/main" id="{ECEDE7B1-5A5E-4FF6-ACA9-D16F7E3E37F2}"/>
              </a:ext>
            </a:extLst>
          </p:cNvPr>
          <p:cNvSpPr>
            <a:spLocks xmlns:a="http://schemas.openxmlformats.org/drawingml/2006/main" noGrp="1"/>
          </p:cNvSpPr>
          <p:nvPr/>
        </p:nvSpPr>
        <p:spPr>
          <a:xfrm xmlns:a="http://schemas.openxmlformats.org/drawingml/2006/main">
            <a:off x="6591300" y="8612612"/>
            <a:ext cx="3755631"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2" kern="400000">
                <a:solidFill>
                  <a:srgbClr val="9EB0A4"/>
                </a:solidFill>
                <a:latin typeface="Deck"/>
                <a:ea typeface="Deck"/>
                <a:cs typeface="Deck"/>
              </a:defRPr>
            </a:pPr>
            <a:r>
              <a:rPr sz="1650" b="0" i="0" kern="400000" spc="-2">
                <a:solidFill>
                  <a:srgbClr val="9EB0A4">
                    <a:alpha val="100000"/>
                  </a:srgbClr>
                </a:solidFill>
                <a:latin typeface="Deck"/>
                <a:ea typeface="Deck"/>
                <a:cs typeface="Deck"/>
              </a:rPr>
              <a:t xml:space="preserve">AI proposals pass application checks</a:t>
            </a:r>
            <a:endParaRPr lang="en-US" sz="1650" spc="-2" kern="400000">
              <a:latin typeface="Deck"/>
            </a:endParaRPr>
          </a:p>
        </p:txBody>
      </p:sp>
      <p:sp>
        <p:nvSpPr>
          <p:cNvPr id="25" name="s16-t020">
            <a:extLst xmlns:a="http://schemas.openxmlformats.org/drawingml/2006/main">
              <a:ext uri="{FF2B5EF4-FFF2-40B4-BE49-F238E27FC236}">
                <a16:creationId xmlns:a16="http://schemas.microsoft.com/office/drawing/2014/main" id="{10D14627-966E-419D-AEDD-52FF14F8DDB2}"/>
              </a:ext>
            </a:extLst>
          </p:cNvPr>
          <p:cNvSpPr>
            <a:spLocks xmlns:a="http://schemas.openxmlformats.org/drawingml/2006/main" noGrp="1"/>
          </p:cNvSpPr>
          <p:nvPr/>
        </p:nvSpPr>
        <p:spPr>
          <a:xfrm xmlns:a="http://schemas.openxmlformats.org/drawingml/2006/main">
            <a:off x="12163425" y="8220076"/>
            <a:ext cx="2968809" cy="31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025" spc="-6" kern="400000">
                <a:solidFill>
                  <a:srgbClr val="FAF6F0"/>
                </a:solidFill>
                <a:latin typeface="Deck-Medium"/>
                <a:ea typeface="Deck-Medium"/>
                <a:cs typeface="Deck-Medium"/>
              </a:defRPr>
            </a:pPr>
            <a:r>
              <a:rPr sz="2025" b="0" i="0" kern="400000" spc="-6">
                <a:solidFill>
                  <a:srgbClr val="FAF6F0">
                    <a:alpha val="100000"/>
                  </a:srgbClr>
                </a:solidFill>
                <a:latin typeface="Deck-Medium"/>
                <a:ea typeface="Deck-Medium"/>
                <a:cs typeface="Deck-Medium"/>
              </a:rPr>
              <a:t xml:space="preserve">External care providers</a:t>
            </a:r>
            <a:endParaRPr lang="en-US" sz="2025" spc="-6" kern="400000">
              <a:latin typeface="Deck-Medium"/>
            </a:endParaRPr>
          </a:p>
        </p:txBody>
      </p:sp>
      <p:sp>
        <p:nvSpPr>
          <p:cNvPr id="26" name="s16-t021">
            <a:extLst xmlns:a="http://schemas.openxmlformats.org/drawingml/2006/main">
              <a:ext uri="{FF2B5EF4-FFF2-40B4-BE49-F238E27FC236}">
                <a16:creationId xmlns:a16="http://schemas.microsoft.com/office/drawing/2014/main" id="{AD0C9F9F-F7F0-44CC-9396-33D59128E135}"/>
              </a:ext>
            </a:extLst>
          </p:cNvPr>
          <p:cNvSpPr>
            <a:spLocks xmlns:a="http://schemas.openxmlformats.org/drawingml/2006/main" noGrp="1"/>
          </p:cNvSpPr>
          <p:nvPr/>
        </p:nvSpPr>
        <p:spPr>
          <a:xfrm xmlns:a="http://schemas.openxmlformats.org/drawingml/2006/main">
            <a:off x="12163425" y="8612612"/>
            <a:ext cx="3661334"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4" kern="400000">
                <a:solidFill>
                  <a:srgbClr val="9EB0A4"/>
                </a:solidFill>
                <a:latin typeface="Deck"/>
                <a:ea typeface="Deck"/>
                <a:cs typeface="Deck"/>
              </a:defRPr>
            </a:pPr>
            <a:r>
              <a:rPr sz="1650" b="0" i="0" kern="400000" spc="-4">
                <a:solidFill>
                  <a:srgbClr val="9EB0A4">
                    <a:alpha val="100000"/>
                  </a:srgbClr>
                </a:solidFill>
                <a:latin typeface="Deck"/>
                <a:ea typeface="Deck"/>
                <a:cs typeface="Deck"/>
              </a:rPr>
              <a:t xml:space="preserve">Separate boundary; explicit handoff</a:t>
            </a:r>
            <a:endParaRPr lang="en-US" sz="1650" spc="-4" kern="400000">
              <a:latin typeface="Deck"/>
            </a:endParaRPr>
          </a:p>
        </p:txBody>
      </p:sp>
      <p:sp>
        <p:nvSpPr>
          <p:cNvPr id="27" name="s16-t022">
            <a:extLst xmlns:a="http://schemas.openxmlformats.org/drawingml/2006/main">
              <a:ext uri="{FF2B5EF4-FFF2-40B4-BE49-F238E27FC236}">
                <a16:creationId xmlns:a16="http://schemas.microsoft.com/office/drawing/2014/main" id="{56C098F4-AEB3-4409-9D0A-A6FD2D0F6ACD}"/>
              </a:ext>
            </a:extLst>
          </p:cNvPr>
          <p:cNvSpPr>
            <a:spLocks xmlns:a="http://schemas.openxmlformats.org/drawingml/2006/main" noGrp="1"/>
          </p:cNvSpPr>
          <p:nvPr/>
        </p:nvSpPr>
        <p:spPr>
          <a:xfrm xmlns:a="http://schemas.openxmlformats.org/drawingml/2006/main">
            <a:off x="1028700" y="9309096"/>
            <a:ext cx="8431768" cy="2225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425" spc="-5" kern="400000">
                <a:solidFill>
                  <a:srgbClr val="97A99D"/>
                </a:solidFill>
                <a:latin typeface="Deck"/>
                <a:ea typeface="Deck"/>
                <a:cs typeface="Deck"/>
              </a:defRPr>
            </a:pPr>
            <a:r>
              <a:rPr sz="1425" b="0" i="0" kern="400000" spc="-5">
                <a:solidFill>
                  <a:srgbClr val="97A99D">
                    <a:alpha val="100000"/>
                  </a:srgbClr>
                </a:solidFill>
                <a:latin typeface="Deck"/>
                <a:ea typeface="Deck"/>
                <a:cs typeface="Deck"/>
              </a:rPr>
              <a:t xml:space="preserve">Early architecture view. The submission architecture appendix provides the 9 October 2026 implementation details.</a:t>
            </a:r>
            <a:endParaRPr lang="en-US" sz="1425" spc="-5" kern="400000">
              <a:latin typeface="Deck"/>
            </a:endParaRPr>
          </a:p>
        </p:txBody>
      </p:sp>
      <p:sp>
        <p:nvSpPr>
          <p:cNvPr id="28" name="s16-t023">
            <a:extLst xmlns:a="http://schemas.openxmlformats.org/drawingml/2006/main">
              <a:ext uri="{FF2B5EF4-FFF2-40B4-BE49-F238E27FC236}">
                <a16:creationId xmlns:a16="http://schemas.microsoft.com/office/drawing/2014/main" id="{A264D294-17F8-4F9D-91A1-AB97B2EAC2F7}"/>
              </a:ext>
            </a:extLst>
          </p:cNvPr>
          <p:cNvSpPr>
            <a:spLocks xmlns:a="http://schemas.openxmlformats.org/drawingml/2006/main" noGrp="1"/>
          </p:cNvSpPr>
          <p:nvPr/>
        </p:nvSpPr>
        <p:spPr>
          <a:xfrm xmlns:a="http://schemas.openxmlformats.org/drawingml/2006/main">
            <a:off x="17171413" y="9730387"/>
            <a:ext cx="40114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16</a:t>
            </a:r>
            <a:endParaRPr lang="en-US" sz="1350" spc="6" kern="400000">
              <a:latin typeface="Deck"/>
            </a:endParaRPr>
          </a:p>
        </p:txBody>
      </p:sp>
    </p:spTree>
    <p:extLst>
      <p:ext uri="{BB962C8B-B14F-4D97-AF65-F5344CB8AC3E}">
        <p14:creationId xmlns:p14="http://schemas.microsoft.com/office/powerpoint/2010/main" val="376038455"/>
      </p:ext>
    </p:extLst>
  </p:cSld>
</p:sld>
</file>

<file path=ppt/slides/slide1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0" name="s17-source-rule-0">
            <a:extLst xmlns:a="http://schemas.openxmlformats.org/drawingml/2006/main">
              <a:ext uri="{FF2B5EF4-FFF2-40B4-BE49-F238E27FC236}">
                <a16:creationId xmlns:a16="http://schemas.microsoft.com/office/drawing/2014/main" id="{D91A3D7C-2EB0-4B3D-8DA4-9354A517C219}"/>
              </a:ext>
            </a:extLst>
          </p:cNvPr>
          <p:cNvSpPr>
            <a:spLocks xmlns:a="http://schemas.openxmlformats.org/drawingml/2006/main" noGrp="1"/>
          </p:cNvSpPr>
          <p:nvPr/>
        </p:nvSpPr>
        <p:spPr>
          <a:xfrm xmlns:a="http://schemas.openxmlformats.org/drawingml/2006/main">
            <a:off x="8972550" y="3634555"/>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2" name="s17-source-rule-1">
            <a:extLst xmlns:a="http://schemas.openxmlformats.org/drawingml/2006/main">
              <a:ext uri="{FF2B5EF4-FFF2-40B4-BE49-F238E27FC236}">
                <a16:creationId xmlns:a16="http://schemas.microsoft.com/office/drawing/2014/main" id="{D3E4D45F-C8C3-4E3C-AF20-16959D98D268}"/>
              </a:ext>
            </a:extLst>
          </p:cNvPr>
          <p:cNvSpPr>
            <a:spLocks xmlns:a="http://schemas.openxmlformats.org/drawingml/2006/main" noGrp="1"/>
          </p:cNvSpPr>
          <p:nvPr/>
        </p:nvSpPr>
        <p:spPr>
          <a:xfrm xmlns:a="http://schemas.openxmlformats.org/drawingml/2006/main">
            <a:off x="8972550" y="5202186"/>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3" name="s17-source-rule-2">
            <a:extLst xmlns:a="http://schemas.openxmlformats.org/drawingml/2006/main">
              <a:ext uri="{FF2B5EF4-FFF2-40B4-BE49-F238E27FC236}">
                <a16:creationId xmlns:a16="http://schemas.microsoft.com/office/drawing/2014/main" id="{97D1BE0D-CE2C-4A2A-9DC0-B736F0322A80}"/>
              </a:ext>
            </a:extLst>
          </p:cNvPr>
          <p:cNvSpPr>
            <a:spLocks xmlns:a="http://schemas.openxmlformats.org/drawingml/2006/main" noGrp="1"/>
          </p:cNvSpPr>
          <p:nvPr/>
        </p:nvSpPr>
        <p:spPr>
          <a:xfrm xmlns:a="http://schemas.openxmlformats.org/drawingml/2006/main">
            <a:off x="8972550" y="7164532"/>
            <a:ext cx="8267700" cy="9525"/>
          </a:xfrm>
          <a:prstGeom xmlns:a="http://schemas.openxmlformats.org/drawingml/2006/main" prst="rect">
            <a:avLst/>
          </a:prstGeom>
          <a:solidFill xmlns:a="http://schemas.openxmlformats.org/drawingml/2006/main">
            <a:srgbClr val="CACBC2"/>
          </a:solidFill>
          <a:ln xmlns:a="http://schemas.openxmlformats.org/drawingml/2006/main" w="0">
            <a:noFill/>
          </a:ln>
        </p:spPr>
      </p:sp>
      <p:sp>
        <p:nvSpPr>
          <p:cNvPr id="4" name="s17-t000">
            <a:extLst xmlns:a="http://schemas.openxmlformats.org/drawingml/2006/main">
              <a:ext uri="{FF2B5EF4-FFF2-40B4-BE49-F238E27FC236}">
                <a16:creationId xmlns:a16="http://schemas.microsoft.com/office/drawing/2014/main" id="{0EC86735-B379-4EF0-A253-D62EFF68744D}"/>
              </a:ext>
            </a:extLst>
          </p:cNvPr>
          <p:cNvSpPr>
            <a:spLocks xmlns:a="http://schemas.openxmlformats.org/drawingml/2006/main" noGrp="1"/>
          </p:cNvSpPr>
          <p:nvPr/>
        </p:nvSpPr>
        <p:spPr>
          <a:xfrm xmlns:a="http://schemas.openxmlformats.org/drawingml/2006/main">
            <a:off x="990600" y="1000130"/>
            <a:ext cx="2670867"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6" kern="400000">
                <a:solidFill>
                  <a:srgbClr val="3A3745"/>
                </a:solidFill>
                <a:latin typeface="Deck-Medium"/>
                <a:ea typeface="Deck-Medium"/>
                <a:cs typeface="Deck-Medium"/>
              </a:defRPr>
            </a:pPr>
            <a:r>
              <a:rPr sz="1725" b="0" i="0" kern="400000" spc="286">
                <a:solidFill>
                  <a:srgbClr val="6C6971">
                    <a:alpha val="100000"/>
                  </a:srgbClr>
                </a:solidFill>
                <a:latin typeface="Deck-Medium"/>
                <a:ea typeface="Deck-Medium"/>
                <a:cs typeface="Deck-Medium"/>
              </a:rPr>
              <a:t xml:space="preserve">TRUST BY DESIGN</a:t>
            </a:r>
            <a:endParaRPr lang="en-US" sz="1725" spc="286" kern="400000">
              <a:latin typeface="Deck-Medium"/>
            </a:endParaRPr>
          </a:p>
        </p:txBody>
      </p:sp>
      <p:sp>
        <p:nvSpPr>
          <p:cNvPr id="5" name="s17-t001">
            <a:extLst xmlns:a="http://schemas.openxmlformats.org/drawingml/2006/main">
              <a:ext uri="{FF2B5EF4-FFF2-40B4-BE49-F238E27FC236}">
                <a16:creationId xmlns:a16="http://schemas.microsoft.com/office/drawing/2014/main" id="{262B6CFC-07BD-427C-B7E9-87568B0F19A5}"/>
              </a:ext>
            </a:extLst>
          </p:cNvPr>
          <p:cNvSpPr>
            <a:spLocks xmlns:a="http://schemas.openxmlformats.org/drawingml/2006/main" noGrp="1"/>
          </p:cNvSpPr>
          <p:nvPr/>
        </p:nvSpPr>
        <p:spPr>
          <a:xfrm xmlns:a="http://schemas.openxmlformats.org/drawingml/2006/main">
            <a:off x="971550" y="1636966"/>
            <a:ext cx="5276164"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8" kern="400000">
                <a:solidFill>
                  <a:srgbClr val="3A3745"/>
                </a:solidFill>
                <a:latin typeface="Deck-Semi-Bold"/>
                <a:ea typeface="Deck-Semi-Bold"/>
                <a:cs typeface="Deck-Semi-Bold"/>
              </a:defRPr>
            </a:pPr>
            <a:r>
              <a:rPr sz="8250" b="0" i="0" kern="400000" spc="-388">
                <a:solidFill>
                  <a:srgbClr val="3A3745">
                    <a:alpha val="100000"/>
                  </a:srgbClr>
                </a:solidFill>
                <a:latin typeface="Deck-Semi-Bold"/>
                <a:ea typeface="Deck-Semi-Bold"/>
                <a:cs typeface="Deck-Semi-Bold"/>
              </a:rPr>
              <a:t xml:space="preserve">Care needs</a:t>
            </a:r>
            <a:endParaRPr lang="en-US" sz="8250" spc="-388" kern="400000">
              <a:latin typeface="Deck-Semi-Bold"/>
            </a:endParaRPr>
          </a:p>
        </p:txBody>
      </p:sp>
      <p:sp>
        <p:nvSpPr>
          <p:cNvPr id="6" name="s17-t002">
            <a:extLst xmlns:a="http://schemas.openxmlformats.org/drawingml/2006/main">
              <a:ext uri="{FF2B5EF4-FFF2-40B4-BE49-F238E27FC236}">
                <a16:creationId xmlns:a16="http://schemas.microsoft.com/office/drawing/2014/main" id="{CADC908E-4DE4-4E68-858D-05CF5671C8AD}"/>
              </a:ext>
            </a:extLst>
          </p:cNvPr>
          <p:cNvSpPr>
            <a:spLocks xmlns:a="http://schemas.openxmlformats.org/drawingml/2006/main" noGrp="1"/>
          </p:cNvSpPr>
          <p:nvPr/>
        </p:nvSpPr>
        <p:spPr>
          <a:xfrm xmlns:a="http://schemas.openxmlformats.org/drawingml/2006/main">
            <a:off x="971550" y="2731865"/>
            <a:ext cx="7822902" cy="128873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8250" spc="-380" kern="400000">
                <a:solidFill>
                  <a:srgbClr val="4F7A66"/>
                </a:solidFill>
                <a:latin typeface="Deck-Semi-Bold"/>
                <a:ea typeface="Deck-Semi-Bold"/>
                <a:cs typeface="Deck-Semi-Bold"/>
              </a:defRPr>
            </a:pPr>
            <a:r>
              <a:rPr sz="8250" b="0" i="0" kern="400000" spc="-380">
                <a:solidFill>
                  <a:srgbClr val="4F7A66">
                    <a:alpha val="100000"/>
                  </a:srgbClr>
                </a:solidFill>
                <a:latin typeface="Deck-Semi-Bold"/>
                <a:ea typeface="Deck-Semi-Bold"/>
                <a:cs typeface="Deck-Semi-Bold"/>
              </a:rPr>
              <a:t xml:space="preserve">clear boundaries.</a:t>
            </a:r>
            <a:endParaRPr lang="en-US" sz="8250" spc="-380" kern="400000">
              <a:latin typeface="Deck-Semi-Bold"/>
            </a:endParaRPr>
          </a:p>
        </p:txBody>
      </p:sp>
      <p:sp>
        <p:nvSpPr>
          <p:cNvPr id="7" name="s17-t003">
            <a:extLst xmlns:a="http://schemas.openxmlformats.org/drawingml/2006/main">
              <a:ext uri="{FF2B5EF4-FFF2-40B4-BE49-F238E27FC236}">
                <a16:creationId xmlns:a16="http://schemas.microsoft.com/office/drawing/2014/main" id="{E0BFB2D5-235B-4A17-B47C-2A326D921B2A}"/>
              </a:ext>
            </a:extLst>
          </p:cNvPr>
          <p:cNvSpPr>
            <a:spLocks xmlns:a="http://schemas.openxmlformats.org/drawingml/2006/main" noGrp="1"/>
          </p:cNvSpPr>
          <p:nvPr/>
        </p:nvSpPr>
        <p:spPr>
          <a:xfrm xmlns:a="http://schemas.openxmlformats.org/drawingml/2006/main">
            <a:off x="8972550" y="2333622"/>
            <a:ext cx="312342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81" kern="400000">
                <a:solidFill>
                  <a:srgbClr val="365E4B"/>
                </a:solidFill>
                <a:latin typeface="Deck-Bold"/>
                <a:ea typeface="Deck-Bold"/>
                <a:cs typeface="Deck-Bold"/>
              </a:defRPr>
            </a:pPr>
            <a:r>
              <a:rPr sz="2775" b="0" i="0" kern="400000" spc="-81">
                <a:solidFill>
                  <a:srgbClr val="365E4B">
                    <a:alpha val="100000"/>
                  </a:srgbClr>
                </a:solidFill>
                <a:latin typeface="Deck-Bold"/>
                <a:ea typeface="Deck-Bold"/>
                <a:cs typeface="Deck-Bold"/>
              </a:rPr>
              <a:t xml:space="preserve">Permissioned care</a:t>
            </a:r>
            <a:endParaRPr lang="en-US" sz="2775" spc="-81" kern="400000">
              <a:latin typeface="Deck-Bold"/>
            </a:endParaRPr>
          </a:p>
        </p:txBody>
      </p:sp>
      <p:sp>
        <p:nvSpPr>
          <p:cNvPr id="8" name="s17-t004">
            <a:extLst xmlns:a="http://schemas.openxmlformats.org/drawingml/2006/main">
              <a:ext uri="{FF2B5EF4-FFF2-40B4-BE49-F238E27FC236}">
                <a16:creationId xmlns:a16="http://schemas.microsoft.com/office/drawing/2014/main" id="{044297E5-FCB2-4127-8369-2E7989BAE608}"/>
              </a:ext>
            </a:extLst>
          </p:cNvPr>
          <p:cNvSpPr>
            <a:spLocks xmlns:a="http://schemas.openxmlformats.org/drawingml/2006/main" noGrp="1"/>
          </p:cNvSpPr>
          <p:nvPr/>
        </p:nvSpPr>
        <p:spPr>
          <a:xfrm xmlns:a="http://schemas.openxmlformats.org/drawingml/2006/main">
            <a:off x="8972550" y="2916162"/>
            <a:ext cx="6647459"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Family visibility should follow explicit access choices.</a:t>
            </a:r>
            <a:endParaRPr lang="en-US" sz="2100" spc="-5" kern="400000">
              <a:latin typeface="Deck"/>
            </a:endParaRPr>
          </a:p>
        </p:txBody>
      </p:sp>
      <p:sp>
        <p:nvSpPr>
          <p:cNvPr id="9" name="s17-t005">
            <a:extLst xmlns:a="http://schemas.openxmlformats.org/drawingml/2006/main">
              <a:ext uri="{FF2B5EF4-FFF2-40B4-BE49-F238E27FC236}">
                <a16:creationId xmlns:a16="http://schemas.microsoft.com/office/drawing/2014/main" id="{8CF8A536-F304-4111-9D10-95FDEDE7C23A}"/>
              </a:ext>
            </a:extLst>
          </p:cNvPr>
          <p:cNvSpPr>
            <a:spLocks xmlns:a="http://schemas.openxmlformats.org/drawingml/2006/main" noGrp="1"/>
          </p:cNvSpPr>
          <p:nvPr/>
        </p:nvSpPr>
        <p:spPr>
          <a:xfrm xmlns:a="http://schemas.openxmlformats.org/drawingml/2006/main">
            <a:off x="8972550" y="3901252"/>
            <a:ext cx="2524658"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4" kern="400000">
                <a:solidFill>
                  <a:srgbClr val="365E4B"/>
                </a:solidFill>
                <a:latin typeface="Deck-Bold"/>
                <a:ea typeface="Deck-Bold"/>
                <a:cs typeface="Deck-Bold"/>
              </a:defRPr>
            </a:pPr>
            <a:r>
              <a:rPr sz="2775" b="0" i="0" kern="400000" spc="-74">
                <a:solidFill>
                  <a:srgbClr val="365E4B">
                    <a:alpha val="100000"/>
                  </a:srgbClr>
                </a:solidFill>
                <a:latin typeface="Deck-Bold"/>
                <a:ea typeface="Deck-Bold"/>
                <a:cs typeface="Deck-Bold"/>
              </a:rPr>
              <a:t xml:space="preserve">Visible actions</a:t>
            </a:r>
            <a:endParaRPr lang="en-US" sz="2775" spc="-74" kern="400000">
              <a:latin typeface="Deck-Bold"/>
            </a:endParaRPr>
          </a:p>
        </p:txBody>
      </p:sp>
      <p:sp>
        <p:nvSpPr>
          <p:cNvPr id="10" name="s17-t006">
            <a:extLst xmlns:a="http://schemas.openxmlformats.org/drawingml/2006/main">
              <a:ext uri="{FF2B5EF4-FFF2-40B4-BE49-F238E27FC236}">
                <a16:creationId xmlns:a16="http://schemas.microsoft.com/office/drawing/2014/main" id="{CB6AF82D-0399-408A-9400-705B0139F6B0}"/>
              </a:ext>
            </a:extLst>
          </p:cNvPr>
          <p:cNvSpPr>
            <a:spLocks xmlns:a="http://schemas.openxmlformats.org/drawingml/2006/main" noGrp="1"/>
          </p:cNvSpPr>
          <p:nvPr/>
        </p:nvSpPr>
        <p:spPr>
          <a:xfrm xmlns:a="http://schemas.openxmlformats.org/drawingml/2006/main">
            <a:off x="8972550" y="4483792"/>
            <a:ext cx="845728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5" kern="400000">
                <a:solidFill>
                  <a:srgbClr val="747079"/>
                </a:solidFill>
                <a:latin typeface="Deck"/>
                <a:ea typeface="Deck"/>
                <a:cs typeface="Deck"/>
              </a:defRPr>
            </a:pPr>
            <a:r>
              <a:rPr sz="2100" b="0" i="0" kern="400000" spc="-5">
                <a:solidFill>
                  <a:srgbClr val="747079">
                    <a:alpha val="100000"/>
                  </a:srgbClr>
                </a:solidFill>
                <a:latin typeface="Deck"/>
                <a:ea typeface="Deck"/>
                <a:cs typeface="Deck"/>
              </a:rPr>
              <a:t xml:space="preserve">Let people review consequential proposals before saving or sharing.</a:t>
            </a:r>
            <a:endParaRPr lang="en-US" sz="2100" spc="-5" kern="400000">
              <a:latin typeface="Deck"/>
            </a:endParaRPr>
          </a:p>
        </p:txBody>
      </p:sp>
      <p:sp>
        <p:nvSpPr>
          <p:cNvPr id="11" name="s17-t007">
            <a:extLst xmlns:a="http://schemas.openxmlformats.org/drawingml/2006/main">
              <a:ext uri="{FF2B5EF4-FFF2-40B4-BE49-F238E27FC236}">
                <a16:creationId xmlns:a16="http://schemas.microsoft.com/office/drawing/2014/main" id="{757B3C16-086B-4DB4-8AFA-1B5CB7930310}"/>
              </a:ext>
            </a:extLst>
          </p:cNvPr>
          <p:cNvSpPr>
            <a:spLocks xmlns:a="http://schemas.openxmlformats.org/drawingml/2006/main" noGrp="1"/>
          </p:cNvSpPr>
          <p:nvPr/>
        </p:nvSpPr>
        <p:spPr>
          <a:xfrm xmlns:a="http://schemas.openxmlformats.org/drawingml/2006/main">
            <a:off x="8972550" y="5468882"/>
            <a:ext cx="2332234" cy="4334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75" spc="-75" kern="400000">
                <a:solidFill>
                  <a:srgbClr val="365E4B"/>
                </a:solidFill>
                <a:latin typeface="Deck-Bold"/>
                <a:ea typeface="Deck-Bold"/>
                <a:cs typeface="Deck-Bold"/>
              </a:defRPr>
            </a:pPr>
            <a:r>
              <a:rPr sz="2775" b="0" i="0" kern="400000" spc="-75">
                <a:solidFill>
                  <a:srgbClr val="365E4B">
                    <a:alpha val="100000"/>
                  </a:srgbClr>
                </a:solidFill>
                <a:latin typeface="Deck-Bold"/>
                <a:ea typeface="Deck-Bold"/>
                <a:cs typeface="Deck-Bold"/>
              </a:rPr>
              <a:t xml:space="preserve">Clinical limits</a:t>
            </a:r>
            <a:endParaRPr lang="en-US" sz="2775" spc="-75" kern="400000">
              <a:latin typeface="Deck-Bold"/>
            </a:endParaRPr>
          </a:p>
        </p:txBody>
      </p:sp>
      <p:sp>
        <p:nvSpPr>
          <p:cNvPr id="12" name="s17-t008">
            <a:extLst xmlns:a="http://schemas.openxmlformats.org/drawingml/2006/main">
              <a:ext uri="{FF2B5EF4-FFF2-40B4-BE49-F238E27FC236}">
                <a16:creationId xmlns:a16="http://schemas.microsoft.com/office/drawing/2014/main" id="{7A62F26A-AACB-410D-8E71-CACEB672506C}"/>
              </a:ext>
            </a:extLst>
          </p:cNvPr>
          <p:cNvSpPr>
            <a:spLocks xmlns:a="http://schemas.openxmlformats.org/drawingml/2006/main" noGrp="1"/>
          </p:cNvSpPr>
          <p:nvPr/>
        </p:nvSpPr>
        <p:spPr>
          <a:xfrm xmlns:a="http://schemas.openxmlformats.org/drawingml/2006/main">
            <a:off x="8972550" y="6051423"/>
            <a:ext cx="7495832"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6" kern="400000">
                <a:solidFill>
                  <a:srgbClr val="747079"/>
                </a:solidFill>
                <a:latin typeface="Deck"/>
                <a:ea typeface="Deck"/>
                <a:cs typeface="Deck"/>
              </a:defRPr>
            </a:pPr>
            <a:r>
              <a:rPr sz="2100" b="0" i="0" kern="400000" spc="-6">
                <a:solidFill>
                  <a:srgbClr val="747079">
                    <a:alpha val="100000"/>
                  </a:srgbClr>
                </a:solidFill>
                <a:latin typeface="Deck"/>
                <a:ea typeface="Deck"/>
                <a:cs typeface="Deck"/>
              </a:rPr>
              <a:t xml:space="preserve">Support routines and preparation. Refer clinical decisions to</a:t>
            </a:r>
            <a:endParaRPr lang="en-US" sz="2100" spc="-6" kern="400000">
              <a:latin typeface="Deck"/>
            </a:endParaRPr>
          </a:p>
        </p:txBody>
      </p:sp>
      <p:sp>
        <p:nvSpPr>
          <p:cNvPr id="13" name="s17-t009">
            <a:extLst xmlns:a="http://schemas.openxmlformats.org/drawingml/2006/main">
              <a:ext uri="{FF2B5EF4-FFF2-40B4-BE49-F238E27FC236}">
                <a16:creationId xmlns:a16="http://schemas.microsoft.com/office/drawing/2014/main" id="{53FC93CC-FD21-4904-9D7B-2EB77895746F}"/>
              </a:ext>
            </a:extLst>
          </p:cNvPr>
          <p:cNvSpPr>
            <a:spLocks xmlns:a="http://schemas.openxmlformats.org/drawingml/2006/main" noGrp="1"/>
          </p:cNvSpPr>
          <p:nvPr/>
        </p:nvSpPr>
        <p:spPr>
          <a:xfrm xmlns:a="http://schemas.openxmlformats.org/drawingml/2006/main">
            <a:off x="8972550" y="6446139"/>
            <a:ext cx="1951406" cy="3280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100" spc="-1" kern="400000">
                <a:solidFill>
                  <a:srgbClr val="747079"/>
                </a:solidFill>
                <a:latin typeface="Deck"/>
                <a:ea typeface="Deck"/>
                <a:cs typeface="Deck"/>
              </a:defRPr>
            </a:pPr>
            <a:r>
              <a:rPr sz="2100" b="0" i="0" kern="400000" spc="-1">
                <a:solidFill>
                  <a:srgbClr val="747079">
                    <a:alpha val="100000"/>
                  </a:srgbClr>
                </a:solidFill>
                <a:latin typeface="Deck"/>
                <a:ea typeface="Deck"/>
                <a:cs typeface="Deck"/>
              </a:rPr>
              <a:t xml:space="preserve">qualified care.</a:t>
            </a:r>
            <a:endParaRPr lang="en-US" sz="2100" spc="-1" kern="400000">
              <a:latin typeface="Deck"/>
            </a:endParaRPr>
          </a:p>
        </p:txBody>
      </p:sp>
      <p:sp>
        <p:nvSpPr>
          <p:cNvPr id="14" name="s17-t010">
            <a:extLst xmlns:a="http://schemas.openxmlformats.org/drawingml/2006/main">
              <a:ext uri="{FF2B5EF4-FFF2-40B4-BE49-F238E27FC236}">
                <a16:creationId xmlns:a16="http://schemas.microsoft.com/office/drawing/2014/main" id="{D60EACB9-007C-4CB4-A4AA-F1731100241E}"/>
              </a:ext>
            </a:extLst>
          </p:cNvPr>
          <p:cNvSpPr>
            <a:spLocks xmlns:a="http://schemas.openxmlformats.org/drawingml/2006/main" noGrp="1"/>
          </p:cNvSpPr>
          <p:nvPr/>
        </p:nvSpPr>
        <p:spPr>
          <a:xfrm xmlns:a="http://schemas.openxmlformats.org/drawingml/2006/main">
            <a:off x="1038225" y="6885754"/>
            <a:ext cx="2161022" cy="246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575" spc="218" kern="400000">
                <a:solidFill>
                  <a:srgbClr val="858174"/>
                </a:solidFill>
                <a:latin typeface="Deck"/>
                <a:ea typeface="Deck"/>
                <a:cs typeface="Deck"/>
              </a:defRPr>
            </a:pPr>
            <a:r>
              <a:rPr sz="1575" b="0" i="0" kern="400000" spc="218">
                <a:solidFill>
                  <a:srgbClr val="858174">
                    <a:alpha val="100000"/>
                  </a:srgbClr>
                </a:solidFill>
                <a:latin typeface="Deck"/>
                <a:ea typeface="Deck"/>
                <a:cs typeface="Deck"/>
              </a:rPr>
              <a:t xml:space="preserve">THE TRADE-OFF</a:t>
            </a:r>
            <a:endParaRPr lang="en-US" sz="1575" spc="218" kern="400000">
              <a:latin typeface="Deck"/>
            </a:endParaRPr>
          </a:p>
        </p:txBody>
      </p:sp>
      <p:sp>
        <p:nvSpPr>
          <p:cNvPr id="15" name="s17-t011">
            <a:extLst xmlns:a="http://schemas.openxmlformats.org/drawingml/2006/main">
              <a:ext uri="{FF2B5EF4-FFF2-40B4-BE49-F238E27FC236}">
                <a16:creationId xmlns:a16="http://schemas.microsoft.com/office/drawing/2014/main" id="{02B98E1B-F4C2-4726-8FEE-DB13AE1526ED}"/>
              </a:ext>
            </a:extLst>
          </p:cNvPr>
          <p:cNvSpPr>
            <a:spLocks xmlns:a="http://schemas.openxmlformats.org/drawingml/2006/main" noGrp="1"/>
          </p:cNvSpPr>
          <p:nvPr/>
        </p:nvSpPr>
        <p:spPr>
          <a:xfrm xmlns:a="http://schemas.openxmlformats.org/drawingml/2006/main">
            <a:off x="1038225" y="7368733"/>
            <a:ext cx="1956245"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5" kern="400000">
                <a:solidFill>
                  <a:srgbClr val="3A3745"/>
                </a:solidFill>
                <a:latin typeface="Deck"/>
                <a:ea typeface="Deck"/>
                <a:cs typeface="Deck"/>
              </a:defRPr>
            </a:pPr>
            <a:r>
              <a:rPr sz="3000" b="0" i="0" kern="400000" spc="-95">
                <a:solidFill>
                  <a:srgbClr val="3A3745">
                    <a:alpha val="100000"/>
                  </a:srgbClr>
                </a:solidFill>
                <a:latin typeface="Deck"/>
                <a:ea typeface="Deck"/>
                <a:cs typeface="Deck"/>
              </a:rPr>
              <a:t xml:space="preserve">Less silent</a:t>
            </a:r>
            <a:endParaRPr lang="en-US" sz="3000" spc="-95" kern="400000">
              <a:latin typeface="Deck"/>
            </a:endParaRPr>
          </a:p>
        </p:txBody>
      </p:sp>
      <p:sp>
        <p:nvSpPr>
          <p:cNvPr id="16" name="s17-t012">
            <a:extLst xmlns:a="http://schemas.openxmlformats.org/drawingml/2006/main">
              <a:ext uri="{FF2B5EF4-FFF2-40B4-BE49-F238E27FC236}">
                <a16:creationId xmlns:a16="http://schemas.microsoft.com/office/drawing/2014/main" id="{79F53716-6AF1-4B27-9090-19A530740239}"/>
              </a:ext>
            </a:extLst>
          </p:cNvPr>
          <p:cNvSpPr>
            <a:spLocks xmlns:a="http://schemas.openxmlformats.org/drawingml/2006/main" noGrp="1"/>
          </p:cNvSpPr>
          <p:nvPr/>
        </p:nvSpPr>
        <p:spPr>
          <a:xfrm xmlns:a="http://schemas.openxmlformats.org/drawingml/2006/main">
            <a:off x="1038225" y="7856413"/>
            <a:ext cx="2227898"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4" kern="400000">
                <a:solidFill>
                  <a:srgbClr val="3A3745"/>
                </a:solidFill>
                <a:latin typeface="Deck"/>
                <a:ea typeface="Deck"/>
                <a:cs typeface="Deck"/>
              </a:defRPr>
            </a:pPr>
            <a:r>
              <a:rPr sz="3000" b="0" i="0" kern="400000" spc="-94">
                <a:solidFill>
                  <a:srgbClr val="3A3745">
                    <a:alpha val="100000"/>
                  </a:srgbClr>
                </a:solidFill>
                <a:latin typeface="Deck"/>
                <a:ea typeface="Deck"/>
                <a:cs typeface="Deck"/>
              </a:rPr>
              <a:t xml:space="preserve">automation.</a:t>
            </a:r>
            <a:endParaRPr lang="en-US" sz="3000" spc="-94" kern="400000">
              <a:latin typeface="Deck"/>
            </a:endParaRPr>
          </a:p>
        </p:txBody>
      </p:sp>
      <p:sp>
        <p:nvSpPr>
          <p:cNvPr id="17" name="s17-t013">
            <a:extLst xmlns:a="http://schemas.openxmlformats.org/drawingml/2006/main">
              <a:ext uri="{FF2B5EF4-FFF2-40B4-BE49-F238E27FC236}">
                <a16:creationId xmlns:a16="http://schemas.microsoft.com/office/drawing/2014/main" id="{7C2F4DD5-65B3-4175-AC37-28C985D9A36A}"/>
              </a:ext>
            </a:extLst>
          </p:cNvPr>
          <p:cNvSpPr>
            <a:spLocks xmlns:a="http://schemas.openxmlformats.org/drawingml/2006/main" noGrp="1"/>
          </p:cNvSpPr>
          <p:nvPr/>
        </p:nvSpPr>
        <p:spPr>
          <a:xfrm xmlns:a="http://schemas.openxmlformats.org/drawingml/2006/main">
            <a:off x="1038225" y="8344093"/>
            <a:ext cx="3676917" cy="4686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3000" spc="-98" kern="400000">
                <a:solidFill>
                  <a:srgbClr val="4F7A66"/>
                </a:solidFill>
                <a:latin typeface="Deck-Medium"/>
                <a:ea typeface="Deck-Medium"/>
                <a:cs typeface="Deck-Medium"/>
              </a:defRPr>
            </a:pPr>
            <a:r>
              <a:rPr sz="3000" b="0" i="0" kern="400000" spc="-98">
                <a:solidFill>
                  <a:srgbClr val="4F7A66">
                    <a:alpha val="100000"/>
                  </a:srgbClr>
                </a:solidFill>
                <a:latin typeface="Deck-Medium"/>
                <a:ea typeface="Deck-Medium"/>
                <a:cs typeface="Deck-Medium"/>
              </a:rPr>
              <a:t xml:space="preserve">More human control.</a:t>
            </a:r>
            <a:endParaRPr lang="en-US" sz="3000" spc="-98" kern="400000">
              <a:latin typeface="Deck-Medium"/>
            </a:endParaRPr>
          </a:p>
        </p:txBody>
      </p:sp>
      <p:sp>
        <p:nvSpPr>
          <p:cNvPr id="18" name="s17-t014">
            <a:extLst xmlns:a="http://schemas.openxmlformats.org/drawingml/2006/main">
              <a:ext uri="{FF2B5EF4-FFF2-40B4-BE49-F238E27FC236}">
                <a16:creationId xmlns:a16="http://schemas.microsoft.com/office/drawing/2014/main" id="{73C946F1-0B8B-49E8-85AC-3E0226A6B761}"/>
              </a:ext>
            </a:extLst>
          </p:cNvPr>
          <p:cNvSpPr>
            <a:spLocks xmlns:a="http://schemas.openxmlformats.org/drawingml/2006/main" noGrp="1"/>
          </p:cNvSpPr>
          <p:nvPr/>
        </p:nvSpPr>
        <p:spPr>
          <a:xfrm xmlns:a="http://schemas.openxmlformats.org/drawingml/2006/main">
            <a:off x="952500" y="9730387"/>
            <a:ext cx="4891735"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2" kern="400000">
                <a:solidFill>
                  <a:srgbClr val="3A3745"/>
                </a:solidFill>
                <a:latin typeface="Deck"/>
                <a:ea typeface="Deck"/>
                <a:cs typeface="Deck"/>
              </a:defRPr>
            </a:pPr>
            <a:r>
              <a:rPr sz="1350" b="0" i="0" kern="400000" spc="2">
                <a:solidFill>
                  <a:srgbClr val="817E84">
                    <a:alpha val="100000"/>
                  </a:srgbClr>
                </a:solidFill>
                <a:latin typeface="Deck"/>
                <a:ea typeface="Deck"/>
                <a:cs typeface="Deck"/>
              </a:rPr>
              <a:t xml:space="preserve">Production design requirements · Validation remains ahead</a:t>
            </a:r>
            <a:endParaRPr lang="en-US" sz="1350" spc="2" kern="400000">
              <a:latin typeface="Deck"/>
            </a:endParaRPr>
          </a:p>
        </p:txBody>
      </p:sp>
      <p:sp>
        <p:nvSpPr>
          <p:cNvPr id="19" name="s17-t015">
            <a:extLst xmlns:a="http://schemas.openxmlformats.org/drawingml/2006/main">
              <a:ext uri="{FF2B5EF4-FFF2-40B4-BE49-F238E27FC236}">
                <a16:creationId xmlns:a16="http://schemas.microsoft.com/office/drawing/2014/main" id="{FE14FC15-0545-43FA-A760-645A42F78432}"/>
              </a:ext>
            </a:extLst>
          </p:cNvPr>
          <p:cNvSpPr>
            <a:spLocks xmlns:a="http://schemas.openxmlformats.org/drawingml/2006/main" noGrp="1"/>
          </p:cNvSpPr>
          <p:nvPr/>
        </p:nvSpPr>
        <p:spPr>
          <a:xfrm xmlns:a="http://schemas.openxmlformats.org/drawingml/2006/main">
            <a:off x="17186668" y="9730387"/>
            <a:ext cx="385886"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17E84">
                    <a:alpha val="100000"/>
                  </a:srgbClr>
                </a:solidFill>
                <a:latin typeface="Deck"/>
                <a:ea typeface="Deck"/>
                <a:cs typeface="Deck"/>
              </a:rPr>
              <a:t xml:space="preserve">17</a:t>
            </a:r>
            <a:endParaRPr lang="en-US" sz="1350" spc="7" kern="400000">
              <a:latin typeface="Deck"/>
            </a:endParaRPr>
          </a:p>
        </p:txBody>
      </p:sp>
    </p:spTree>
    <p:extLst>
      <p:ext uri="{BB962C8B-B14F-4D97-AF65-F5344CB8AC3E}">
        <p14:creationId xmlns:p14="http://schemas.microsoft.com/office/powerpoint/2010/main" val="609523272"/>
      </p:ext>
    </p:extLst>
  </p:cSld>
</p:sld>
</file>

<file path=ppt/slides/slide18.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22" name="s18-source-rule-0">
            <a:extLst xmlns:a="http://schemas.openxmlformats.org/drawingml/2006/main">
              <a:ext uri="{FF2B5EF4-FFF2-40B4-BE49-F238E27FC236}">
                <a16:creationId xmlns:a16="http://schemas.microsoft.com/office/drawing/2014/main" id="{4478532B-DD9C-4575-8BA5-7CC3887A0F88}"/>
              </a:ext>
            </a:extLst>
          </p:cNvPr>
          <p:cNvSpPr>
            <a:spLocks xmlns:a="http://schemas.openxmlformats.org/drawingml/2006/main" noGrp="1"/>
          </p:cNvSpPr>
          <p:nvPr/>
        </p:nvSpPr>
        <p:spPr>
          <a:xfrm xmlns:a="http://schemas.openxmlformats.org/drawingml/2006/main">
            <a:off x="8896350" y="2727467"/>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2" name="s18-source-rule-1">
            <a:extLst xmlns:a="http://schemas.openxmlformats.org/drawingml/2006/main">
              <a:ext uri="{FF2B5EF4-FFF2-40B4-BE49-F238E27FC236}">
                <a16:creationId xmlns:a16="http://schemas.microsoft.com/office/drawing/2014/main" id="{A6D84AD9-DE92-414D-BB44-14D9B1C7B40E}"/>
              </a:ext>
            </a:extLst>
          </p:cNvPr>
          <p:cNvSpPr>
            <a:spLocks xmlns:a="http://schemas.openxmlformats.org/drawingml/2006/main" noGrp="1"/>
          </p:cNvSpPr>
          <p:nvPr/>
        </p:nvSpPr>
        <p:spPr>
          <a:xfrm xmlns:a="http://schemas.openxmlformats.org/drawingml/2006/main">
            <a:off x="8896350" y="4273834"/>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3" name="s18-source-rule-2">
            <a:extLst xmlns:a="http://schemas.openxmlformats.org/drawingml/2006/main">
              <a:ext uri="{FF2B5EF4-FFF2-40B4-BE49-F238E27FC236}">
                <a16:creationId xmlns:a16="http://schemas.microsoft.com/office/drawing/2014/main" id="{0F19C7E4-BA89-49B4-A252-3D4EB2D6E3CF}"/>
              </a:ext>
            </a:extLst>
          </p:cNvPr>
          <p:cNvSpPr>
            <a:spLocks xmlns:a="http://schemas.openxmlformats.org/drawingml/2006/main" noGrp="1"/>
          </p:cNvSpPr>
          <p:nvPr/>
        </p:nvSpPr>
        <p:spPr>
          <a:xfrm xmlns:a="http://schemas.openxmlformats.org/drawingml/2006/main">
            <a:off x="8896350" y="5820201"/>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4" name="s18-source-rule-3">
            <a:extLst xmlns:a="http://schemas.openxmlformats.org/drawingml/2006/main">
              <a:ext uri="{FF2B5EF4-FFF2-40B4-BE49-F238E27FC236}">
                <a16:creationId xmlns:a16="http://schemas.microsoft.com/office/drawing/2014/main" id="{7AC58022-04CE-4BD2-9CE0-B0DF3D64AAB7}"/>
              </a:ext>
            </a:extLst>
          </p:cNvPr>
          <p:cNvSpPr>
            <a:spLocks xmlns:a="http://schemas.openxmlformats.org/drawingml/2006/main" noGrp="1"/>
          </p:cNvSpPr>
          <p:nvPr/>
        </p:nvSpPr>
        <p:spPr>
          <a:xfrm xmlns:a="http://schemas.openxmlformats.org/drawingml/2006/main">
            <a:off x="8896350" y="7366568"/>
            <a:ext cx="8391525" cy="9525"/>
          </a:xfrm>
          <a:prstGeom xmlns:a="http://schemas.openxmlformats.org/drawingml/2006/main" prst="rect">
            <a:avLst/>
          </a:prstGeom>
          <a:solidFill xmlns:a="http://schemas.openxmlformats.org/drawingml/2006/main">
            <a:srgbClr val="314E3E"/>
          </a:solidFill>
          <a:ln xmlns:a="http://schemas.openxmlformats.org/drawingml/2006/main" w="0">
            <a:noFill/>
          </a:ln>
        </p:spPr>
      </p:sp>
      <p:sp>
        <p:nvSpPr>
          <p:cNvPr id="5" name="s18-t000">
            <a:extLst xmlns:a="http://schemas.openxmlformats.org/drawingml/2006/main">
              <a:ext uri="{FF2B5EF4-FFF2-40B4-BE49-F238E27FC236}">
                <a16:creationId xmlns:a16="http://schemas.microsoft.com/office/drawing/2014/main" id="{423AAC5A-7BE0-47FD-A9EA-A060964E9F4A}"/>
              </a:ext>
            </a:extLst>
          </p:cNvPr>
          <p:cNvSpPr>
            <a:spLocks xmlns:a="http://schemas.openxmlformats.org/drawingml/2006/main" noGrp="1"/>
          </p:cNvSpPr>
          <p:nvPr/>
        </p:nvSpPr>
        <p:spPr>
          <a:xfrm xmlns:a="http://schemas.openxmlformats.org/drawingml/2006/main">
            <a:off x="990600" y="1066805"/>
            <a:ext cx="2896295"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4" kern="400000">
                <a:solidFill>
                  <a:srgbClr val="FAF6F0"/>
                </a:solidFill>
                <a:latin typeface="Deck-Medium"/>
                <a:ea typeface="Deck-Medium"/>
                <a:cs typeface="Deck-Medium"/>
              </a:defRPr>
            </a:pPr>
            <a:r>
              <a:rPr sz="1725" b="0" i="0" kern="400000" spc="284">
                <a:solidFill>
                  <a:srgbClr val="BBBAB6">
                    <a:alpha val="100000"/>
                  </a:srgbClr>
                </a:solidFill>
                <a:latin typeface="Deck-Medium"/>
                <a:ea typeface="Deck-Medium"/>
                <a:cs typeface="Deck-Medium"/>
              </a:rPr>
              <a:t xml:space="preserve">WHAT COMES NEXT</a:t>
            </a:r>
            <a:endParaRPr lang="en-US" sz="1725" spc="284" kern="400000">
              <a:latin typeface="Deck-Medium"/>
            </a:endParaRPr>
          </a:p>
        </p:txBody>
      </p:sp>
      <p:sp>
        <p:nvSpPr>
          <p:cNvPr id="6" name="s18-t001">
            <a:extLst xmlns:a="http://schemas.openxmlformats.org/drawingml/2006/main">
              <a:ext uri="{FF2B5EF4-FFF2-40B4-BE49-F238E27FC236}">
                <a16:creationId xmlns:a16="http://schemas.microsoft.com/office/drawing/2014/main" id="{DB44E8FE-38A9-4F10-8E47-0211E6250ACC}"/>
              </a:ext>
            </a:extLst>
          </p:cNvPr>
          <p:cNvSpPr>
            <a:spLocks xmlns:a="http://schemas.openxmlformats.org/drawingml/2006/main" noGrp="1"/>
          </p:cNvSpPr>
          <p:nvPr/>
        </p:nvSpPr>
        <p:spPr>
          <a:xfrm xmlns:a="http://schemas.openxmlformats.org/drawingml/2006/main">
            <a:off x="962025" y="1702594"/>
            <a:ext cx="5791114"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50" kern="400000">
                <a:solidFill>
                  <a:srgbClr val="FAF6F0"/>
                </a:solidFill>
                <a:latin typeface="Deck-Semi-Bold"/>
                <a:ea typeface="Deck-Semi-Bold"/>
                <a:cs typeface="Deck-Semi-Bold"/>
              </a:defRPr>
            </a:pPr>
            <a:r>
              <a:rPr sz="9375" b="0" i="0" kern="400000" spc="-450">
                <a:solidFill>
                  <a:srgbClr val="FAF6F0">
                    <a:alpha val="100000"/>
                  </a:srgbClr>
                </a:solidFill>
                <a:latin typeface="Deck-Semi-Bold"/>
                <a:ea typeface="Deck-Semi-Bold"/>
                <a:cs typeface="Deck-Semi-Bold"/>
              </a:rPr>
              <a:t xml:space="preserve">More ways</a:t>
            </a:r>
            <a:endParaRPr lang="en-US" sz="9375" spc="-450" kern="400000">
              <a:latin typeface="Deck-Semi-Bold"/>
            </a:endParaRPr>
          </a:p>
        </p:txBody>
      </p:sp>
      <p:sp>
        <p:nvSpPr>
          <p:cNvPr id="7" name="s18-t002">
            <a:extLst xmlns:a="http://schemas.openxmlformats.org/drawingml/2006/main">
              <a:ext uri="{FF2B5EF4-FFF2-40B4-BE49-F238E27FC236}">
                <a16:creationId xmlns:a16="http://schemas.microsoft.com/office/drawing/2014/main" id="{C4FFE51C-553F-4BAF-AFC3-5320247A4D07}"/>
              </a:ext>
            </a:extLst>
          </p:cNvPr>
          <p:cNvSpPr>
            <a:spLocks xmlns:a="http://schemas.openxmlformats.org/drawingml/2006/main" noGrp="1"/>
          </p:cNvSpPr>
          <p:nvPr/>
        </p:nvSpPr>
        <p:spPr>
          <a:xfrm xmlns:a="http://schemas.openxmlformats.org/drawingml/2006/main">
            <a:off x="962025" y="2946797"/>
            <a:ext cx="4028256" cy="1464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375" spc="-432" kern="400000">
                <a:solidFill>
                  <a:srgbClr val="9BDAB6"/>
                </a:solidFill>
                <a:latin typeface="Deck-Semi-Bold"/>
                <a:ea typeface="Deck-Semi-Bold"/>
                <a:cs typeface="Deck-Semi-Bold"/>
              </a:defRPr>
            </a:pPr>
            <a:r>
              <a:rPr sz="9375" b="0" i="0" kern="400000" spc="-432">
                <a:solidFill>
                  <a:srgbClr val="9BDAB6">
                    <a:alpha val="100000"/>
                  </a:srgbClr>
                </a:solidFill>
                <a:latin typeface="Deck-Semi-Bold"/>
                <a:ea typeface="Deck-Semi-Bold"/>
                <a:cs typeface="Deck-Semi-Bold"/>
              </a:rPr>
              <a:t xml:space="preserve">to care.</a:t>
            </a:r>
            <a:endParaRPr lang="en-US" sz="9375" spc="-432" kern="400000">
              <a:latin typeface="Deck-Semi-Bold"/>
            </a:endParaRPr>
          </a:p>
        </p:txBody>
      </p:sp>
      <p:sp>
        <p:nvSpPr>
          <p:cNvPr id="8" name="s18-t003">
            <a:extLst xmlns:a="http://schemas.openxmlformats.org/drawingml/2006/main">
              <a:ext uri="{FF2B5EF4-FFF2-40B4-BE49-F238E27FC236}">
                <a16:creationId xmlns:a16="http://schemas.microsoft.com/office/drawing/2014/main" id="{EA167684-C166-463E-A535-670E373BEBED}"/>
              </a:ext>
            </a:extLst>
          </p:cNvPr>
          <p:cNvSpPr>
            <a:spLocks xmlns:a="http://schemas.openxmlformats.org/drawingml/2006/main" noGrp="1"/>
          </p:cNvSpPr>
          <p:nvPr/>
        </p:nvSpPr>
        <p:spPr>
          <a:xfrm xmlns:a="http://schemas.openxmlformats.org/drawingml/2006/main">
            <a:off x="9639300" y="1485904"/>
            <a:ext cx="3215526"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0" kern="400000">
                <a:solidFill>
                  <a:srgbClr val="FAF6F0"/>
                </a:solidFill>
                <a:latin typeface="Deck-Medium"/>
                <a:ea typeface="Deck-Medium"/>
                <a:cs typeface="Deck-Medium"/>
              </a:defRPr>
            </a:pPr>
            <a:r>
              <a:rPr sz="2700" b="0" i="0" kern="400000" spc="-80">
                <a:solidFill>
                  <a:srgbClr val="FAF6F0">
                    <a:alpha val="100000"/>
                  </a:srgbClr>
                </a:solidFill>
                <a:latin typeface="Deck-Medium"/>
                <a:ea typeface="Deck-Medium"/>
                <a:cs typeface="Deck-Medium"/>
              </a:rPr>
              <a:t xml:space="preserve">Benefits, connected</a:t>
            </a:r>
            <a:endParaRPr lang="en-US" sz="2700" spc="-80" kern="400000">
              <a:latin typeface="Deck-Medium"/>
            </a:endParaRPr>
          </a:p>
        </p:txBody>
      </p:sp>
      <p:sp>
        <p:nvSpPr>
          <p:cNvPr id="9" name="s18-t004">
            <a:extLst xmlns:a="http://schemas.openxmlformats.org/drawingml/2006/main">
              <a:ext uri="{FF2B5EF4-FFF2-40B4-BE49-F238E27FC236}">
                <a16:creationId xmlns:a16="http://schemas.microsoft.com/office/drawing/2014/main" id="{C69317AE-BE8C-49F6-A6D7-3AB437CC8650}"/>
              </a:ext>
            </a:extLst>
          </p:cNvPr>
          <p:cNvSpPr>
            <a:spLocks xmlns:a="http://schemas.openxmlformats.org/drawingml/2006/main" noGrp="1"/>
          </p:cNvSpPr>
          <p:nvPr/>
        </p:nvSpPr>
        <p:spPr>
          <a:xfrm xmlns:a="http://schemas.openxmlformats.org/drawingml/2006/main">
            <a:off x="9639300" y="2063490"/>
            <a:ext cx="601357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3" kern="400000">
                <a:solidFill>
                  <a:srgbClr val="A8BCB0"/>
                </a:solidFill>
                <a:latin typeface="Deck"/>
                <a:ea typeface="Deck"/>
                <a:cs typeface="Deck"/>
              </a:defRPr>
            </a:pPr>
            <a:r>
              <a:rPr sz="1950" b="0" i="0" kern="400000" spc="-3">
                <a:solidFill>
                  <a:srgbClr val="A8BCB0">
                    <a:alpha val="100000"/>
                  </a:srgbClr>
                </a:solidFill>
                <a:latin typeface="Deck"/>
                <a:ea typeface="Deck"/>
                <a:cs typeface="Deck"/>
              </a:rPr>
              <a:t xml:space="preserve">Insurance information and clearer benefit guidance</a:t>
            </a:r>
            <a:endParaRPr lang="en-US" sz="1950" spc="-3" kern="400000">
              <a:latin typeface="Deck"/>
            </a:endParaRPr>
          </a:p>
        </p:txBody>
      </p:sp>
      <p:sp>
        <p:nvSpPr>
          <p:cNvPr id="10" name="s18-t005">
            <a:extLst xmlns:a="http://schemas.openxmlformats.org/drawingml/2006/main">
              <a:ext uri="{FF2B5EF4-FFF2-40B4-BE49-F238E27FC236}">
                <a16:creationId xmlns:a16="http://schemas.microsoft.com/office/drawing/2014/main" id="{26BEF18C-E214-48ED-8DF6-35F358C270BB}"/>
              </a:ext>
            </a:extLst>
          </p:cNvPr>
          <p:cNvSpPr>
            <a:spLocks xmlns:a="http://schemas.openxmlformats.org/drawingml/2006/main" noGrp="1"/>
          </p:cNvSpPr>
          <p:nvPr/>
        </p:nvSpPr>
        <p:spPr>
          <a:xfrm xmlns:a="http://schemas.openxmlformats.org/drawingml/2006/main">
            <a:off x="8896350" y="1571630"/>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18-t006">
            <a:extLst xmlns:a="http://schemas.openxmlformats.org/drawingml/2006/main">
              <a:ext uri="{FF2B5EF4-FFF2-40B4-BE49-F238E27FC236}">
                <a16:creationId xmlns:a16="http://schemas.microsoft.com/office/drawing/2014/main" id="{1B69D9F5-0F79-4FC5-92E0-CD730F4FD27C}"/>
              </a:ext>
            </a:extLst>
          </p:cNvPr>
          <p:cNvSpPr>
            <a:spLocks xmlns:a="http://schemas.openxmlformats.org/drawingml/2006/main" noGrp="1"/>
          </p:cNvSpPr>
          <p:nvPr/>
        </p:nvSpPr>
        <p:spPr>
          <a:xfrm xmlns:a="http://schemas.openxmlformats.org/drawingml/2006/main">
            <a:off x="9639300" y="3032271"/>
            <a:ext cx="290863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A more useful day</a:t>
            </a:r>
            <a:endParaRPr lang="en-US" sz="2700" spc="-83" kern="400000">
              <a:latin typeface="Deck-Medium"/>
            </a:endParaRPr>
          </a:p>
        </p:txBody>
      </p:sp>
      <p:sp>
        <p:nvSpPr>
          <p:cNvPr id="12" name="s18-t007">
            <a:extLst xmlns:a="http://schemas.openxmlformats.org/drawingml/2006/main">
              <a:ext uri="{FF2B5EF4-FFF2-40B4-BE49-F238E27FC236}">
                <a16:creationId xmlns:a16="http://schemas.microsoft.com/office/drawing/2014/main" id="{5DDD7535-9906-454C-922D-48A998DACC44}"/>
              </a:ext>
            </a:extLst>
          </p:cNvPr>
          <p:cNvSpPr>
            <a:spLocks xmlns:a="http://schemas.openxmlformats.org/drawingml/2006/main" noGrp="1"/>
          </p:cNvSpPr>
          <p:nvPr/>
        </p:nvSpPr>
        <p:spPr>
          <a:xfrm xmlns:a="http://schemas.openxmlformats.org/drawingml/2006/main">
            <a:off x="9639300" y="3609857"/>
            <a:ext cx="513020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7" kern="400000">
                <a:solidFill>
                  <a:srgbClr val="A8BCB0"/>
                </a:solidFill>
                <a:latin typeface="Deck"/>
                <a:ea typeface="Deck"/>
                <a:cs typeface="Deck"/>
              </a:defRPr>
            </a:pPr>
            <a:r>
              <a:rPr sz="1950" b="0" i="0" kern="400000" spc="-7">
                <a:solidFill>
                  <a:srgbClr val="A8BCB0">
                    <a:alpha val="100000"/>
                  </a:srgbClr>
                </a:solidFill>
                <a:latin typeface="Deck"/>
                <a:ea typeface="Deck"/>
                <a:cs typeface="Deck"/>
              </a:rPr>
              <a:t xml:space="preserve">Relevant news, weather and timely routines</a:t>
            </a:r>
            <a:endParaRPr lang="en-US" sz="1950" spc="-7" kern="400000">
              <a:latin typeface="Deck"/>
            </a:endParaRPr>
          </a:p>
        </p:txBody>
      </p:sp>
      <p:sp>
        <p:nvSpPr>
          <p:cNvPr id="13" name="s18-t008">
            <a:extLst xmlns:a="http://schemas.openxmlformats.org/drawingml/2006/main">
              <a:ext uri="{FF2B5EF4-FFF2-40B4-BE49-F238E27FC236}">
                <a16:creationId xmlns:a16="http://schemas.microsoft.com/office/drawing/2014/main" id="{5EEB6AFE-2449-4389-8DE0-FE3E302921C6}"/>
              </a:ext>
            </a:extLst>
          </p:cNvPr>
          <p:cNvSpPr>
            <a:spLocks xmlns:a="http://schemas.openxmlformats.org/drawingml/2006/main" noGrp="1"/>
          </p:cNvSpPr>
          <p:nvPr/>
        </p:nvSpPr>
        <p:spPr>
          <a:xfrm xmlns:a="http://schemas.openxmlformats.org/drawingml/2006/main">
            <a:off x="8896350" y="311799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18-t009">
            <a:extLst xmlns:a="http://schemas.openxmlformats.org/drawingml/2006/main">
              <a:ext uri="{FF2B5EF4-FFF2-40B4-BE49-F238E27FC236}">
                <a16:creationId xmlns:a16="http://schemas.microsoft.com/office/drawing/2014/main" id="{0F7CF28A-75E9-4B77-BD3D-8BB1328A9DFB}"/>
              </a:ext>
            </a:extLst>
          </p:cNvPr>
          <p:cNvSpPr>
            <a:spLocks xmlns:a="http://schemas.openxmlformats.org/drawingml/2006/main" noGrp="1"/>
          </p:cNvSpPr>
          <p:nvPr/>
        </p:nvSpPr>
        <p:spPr>
          <a:xfrm xmlns:a="http://schemas.openxmlformats.org/drawingml/2006/main">
            <a:off x="9639300" y="4578638"/>
            <a:ext cx="284005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83" kern="400000">
                <a:solidFill>
                  <a:srgbClr val="FAF6F0"/>
                </a:solidFill>
                <a:latin typeface="Deck-Medium"/>
                <a:ea typeface="Deck-Medium"/>
                <a:cs typeface="Deck-Medium"/>
              </a:defRPr>
            </a:pPr>
            <a:r>
              <a:rPr sz="2700" b="0" i="0" kern="400000" spc="-83">
                <a:solidFill>
                  <a:srgbClr val="FAF6F0">
                    <a:alpha val="100000"/>
                  </a:srgbClr>
                </a:solidFill>
                <a:latin typeface="Deck-Medium"/>
                <a:ea typeface="Deck-Medium"/>
                <a:cs typeface="Deck-Medium"/>
              </a:rPr>
              <a:t xml:space="preserve">Care within reach</a:t>
            </a:r>
            <a:endParaRPr lang="en-US" sz="2700" spc="-83" kern="400000">
              <a:latin typeface="Deck-Medium"/>
            </a:endParaRPr>
          </a:p>
        </p:txBody>
      </p:sp>
      <p:sp>
        <p:nvSpPr>
          <p:cNvPr id="15" name="s18-t010">
            <a:extLst xmlns:a="http://schemas.openxmlformats.org/drawingml/2006/main">
              <a:ext uri="{FF2B5EF4-FFF2-40B4-BE49-F238E27FC236}">
                <a16:creationId xmlns:a16="http://schemas.microsoft.com/office/drawing/2014/main" id="{EDC82963-AA3A-4B10-AB26-55CE85E524FD}"/>
              </a:ext>
            </a:extLst>
          </p:cNvPr>
          <p:cNvSpPr>
            <a:spLocks xmlns:a="http://schemas.openxmlformats.org/drawingml/2006/main" noGrp="1"/>
          </p:cNvSpPr>
          <p:nvPr/>
        </p:nvSpPr>
        <p:spPr>
          <a:xfrm xmlns:a="http://schemas.openxmlformats.org/drawingml/2006/main">
            <a:off x="9639300" y="5156224"/>
            <a:ext cx="6045765"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8BCB0"/>
                </a:solidFill>
                <a:latin typeface="Deck"/>
                <a:ea typeface="Deck"/>
                <a:cs typeface="Deck"/>
              </a:defRPr>
            </a:pPr>
            <a:r>
              <a:rPr sz="1950" b="0" i="0" kern="400000" spc="-5">
                <a:solidFill>
                  <a:srgbClr val="A8BCB0">
                    <a:alpha val="100000"/>
                  </a:srgbClr>
                </a:solidFill>
                <a:latin typeface="Deck"/>
                <a:ea typeface="Deck"/>
                <a:cs typeface="Deck"/>
              </a:rPr>
              <a:t xml:space="preserve">Doctor discovery and WhiteCoat teleconsult access</a:t>
            </a:r>
            <a:endParaRPr lang="en-US" sz="1950" spc="-5" kern="400000">
              <a:latin typeface="Deck"/>
            </a:endParaRPr>
          </a:p>
        </p:txBody>
      </p:sp>
      <p:sp>
        <p:nvSpPr>
          <p:cNvPr id="16" name="s18-t011">
            <a:extLst xmlns:a="http://schemas.openxmlformats.org/drawingml/2006/main">
              <a:ext uri="{FF2B5EF4-FFF2-40B4-BE49-F238E27FC236}">
                <a16:creationId xmlns:a16="http://schemas.microsoft.com/office/drawing/2014/main" id="{0601BCCE-C81D-4B90-AE18-327F0360A35C}"/>
              </a:ext>
            </a:extLst>
          </p:cNvPr>
          <p:cNvSpPr>
            <a:spLocks xmlns:a="http://schemas.openxmlformats.org/drawingml/2006/main" noGrp="1"/>
          </p:cNvSpPr>
          <p:nvPr/>
        </p:nvSpPr>
        <p:spPr>
          <a:xfrm xmlns:a="http://schemas.openxmlformats.org/drawingml/2006/main">
            <a:off x="8896350" y="4664364"/>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18-t012">
            <a:extLst xmlns:a="http://schemas.openxmlformats.org/drawingml/2006/main">
              <a:ext uri="{FF2B5EF4-FFF2-40B4-BE49-F238E27FC236}">
                <a16:creationId xmlns:a16="http://schemas.microsoft.com/office/drawing/2014/main" id="{5B9F15DD-52D0-4780-915B-D2F260AF8C35}"/>
              </a:ext>
            </a:extLst>
          </p:cNvPr>
          <p:cNvSpPr>
            <a:spLocks xmlns:a="http://schemas.openxmlformats.org/drawingml/2006/main" noGrp="1"/>
          </p:cNvSpPr>
          <p:nvPr/>
        </p:nvSpPr>
        <p:spPr>
          <a:xfrm xmlns:a="http://schemas.openxmlformats.org/drawingml/2006/main">
            <a:off x="9639300" y="6125005"/>
            <a:ext cx="4085120" cy="4217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700" spc="-91" kern="400000">
                <a:solidFill>
                  <a:srgbClr val="FAF6F0"/>
                </a:solidFill>
                <a:latin typeface="Deck-Medium"/>
                <a:ea typeface="Deck-Medium"/>
                <a:cs typeface="Deck-Medium"/>
              </a:defRPr>
            </a:pPr>
            <a:r>
              <a:rPr sz="2700" b="0" i="0" kern="400000" spc="-91">
                <a:solidFill>
                  <a:srgbClr val="FAF6F0">
                    <a:alpha val="100000"/>
                  </a:srgbClr>
                </a:solidFill>
                <a:latin typeface="Deck-Medium"/>
                <a:ea typeface="Deck-Medium"/>
                <a:cs typeface="Deck-Medium"/>
              </a:rPr>
              <a:t xml:space="preserve">CareBuddy, alongside you</a:t>
            </a:r>
            <a:endParaRPr lang="en-US" sz="2700" spc="-91" kern="400000">
              <a:latin typeface="Deck-Medium"/>
            </a:endParaRPr>
          </a:p>
        </p:txBody>
      </p:sp>
      <p:sp>
        <p:nvSpPr>
          <p:cNvPr id="18" name="s18-t013">
            <a:extLst xmlns:a="http://schemas.openxmlformats.org/drawingml/2006/main">
              <a:ext uri="{FF2B5EF4-FFF2-40B4-BE49-F238E27FC236}">
                <a16:creationId xmlns:a16="http://schemas.microsoft.com/office/drawing/2014/main" id="{3C256608-EACE-4B5A-80A0-E10CE7600BB8}"/>
              </a:ext>
            </a:extLst>
          </p:cNvPr>
          <p:cNvSpPr>
            <a:spLocks xmlns:a="http://schemas.openxmlformats.org/drawingml/2006/main" noGrp="1"/>
          </p:cNvSpPr>
          <p:nvPr/>
        </p:nvSpPr>
        <p:spPr>
          <a:xfrm xmlns:a="http://schemas.openxmlformats.org/drawingml/2006/main">
            <a:off x="9639300" y="6702591"/>
            <a:ext cx="6808527"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8BCB0"/>
                </a:solidFill>
                <a:latin typeface="Deck"/>
                <a:ea typeface="Deck"/>
                <a:cs typeface="Deck"/>
              </a:defRPr>
            </a:pPr>
            <a:r>
              <a:rPr sz="1950" b="0" i="0" kern="400000" spc="-6">
                <a:solidFill>
                  <a:srgbClr val="A8BCB0">
                    <a:alpha val="100000"/>
                  </a:srgbClr>
                </a:solidFill>
                <a:latin typeface="Deck"/>
                <a:ea typeface="Deck"/>
                <a:cs typeface="Deck"/>
              </a:rPr>
              <a:t xml:space="preserve">A plugin experience, including hydration prompts in Codex</a:t>
            </a:r>
            <a:endParaRPr lang="en-US" sz="1950" spc="-6" kern="400000">
              <a:latin typeface="Deck"/>
            </a:endParaRPr>
          </a:p>
        </p:txBody>
      </p:sp>
      <p:sp>
        <p:nvSpPr>
          <p:cNvPr id="19" name="s18-t014">
            <a:extLst xmlns:a="http://schemas.openxmlformats.org/drawingml/2006/main">
              <a:ext uri="{FF2B5EF4-FFF2-40B4-BE49-F238E27FC236}">
                <a16:creationId xmlns:a16="http://schemas.microsoft.com/office/drawing/2014/main" id="{51EAC7E3-415F-423F-B2D0-5C08E025D3C0}"/>
              </a:ext>
            </a:extLst>
          </p:cNvPr>
          <p:cNvSpPr>
            <a:spLocks xmlns:a="http://schemas.openxmlformats.org/drawingml/2006/main" noGrp="1"/>
          </p:cNvSpPr>
          <p:nvPr/>
        </p:nvSpPr>
        <p:spPr>
          <a:xfrm xmlns:a="http://schemas.openxmlformats.org/drawingml/2006/main">
            <a:off x="8896350" y="6210731"/>
            <a:ext cx="534648"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1" kern="400000">
                <a:solidFill>
                  <a:srgbClr val="9BDAB6"/>
                </a:solidFill>
                <a:latin typeface="Deck"/>
                <a:ea typeface="Deck"/>
                <a:cs typeface="Deck"/>
              </a:defRPr>
            </a:pPr>
            <a:r>
              <a:rPr sz="1725" b="0" i="0" kern="400000" spc="151">
                <a:solidFill>
                  <a:srgbClr val="9BDAB6">
                    <a:alpha val="100000"/>
                  </a:srgbClr>
                </a:solidFill>
                <a:latin typeface="Deck"/>
                <a:ea typeface="Deck"/>
                <a:cs typeface="Deck"/>
              </a:rPr>
              <a:t xml:space="preserve">04</a:t>
            </a:r>
            <a:endParaRPr lang="en-US" sz="1725" spc="151" kern="400000">
              <a:latin typeface="Deck"/>
            </a:endParaRPr>
          </a:p>
        </p:txBody>
      </p:sp>
      <p:sp>
        <p:nvSpPr>
          <p:cNvPr id="20" name="s18-t015">
            <a:extLst xmlns:a="http://schemas.openxmlformats.org/drawingml/2006/main">
              <a:ext uri="{FF2B5EF4-FFF2-40B4-BE49-F238E27FC236}">
                <a16:creationId xmlns:a16="http://schemas.microsoft.com/office/drawing/2014/main" id="{4B6B4496-CD46-4D9F-9E04-07D82DB86EAF}"/>
              </a:ext>
            </a:extLst>
          </p:cNvPr>
          <p:cNvSpPr>
            <a:spLocks xmlns:a="http://schemas.openxmlformats.org/drawingml/2006/main" noGrp="1"/>
          </p:cNvSpPr>
          <p:nvPr/>
        </p:nvSpPr>
        <p:spPr>
          <a:xfrm xmlns:a="http://schemas.openxmlformats.org/drawingml/2006/main">
            <a:off x="952500" y="9730387"/>
            <a:ext cx="477494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FAF6F0"/>
                </a:solidFill>
                <a:latin typeface="Deck"/>
                <a:ea typeface="Deck"/>
                <a:cs typeface="Deck"/>
              </a:defRPr>
            </a:pPr>
            <a:r>
              <a:rPr sz="1350" b="0" i="0" kern="400000" spc="4">
                <a:solidFill>
                  <a:srgbClr val="A0A19D">
                    <a:alpha val="100000"/>
                  </a:srgbClr>
                </a:solidFill>
                <a:latin typeface="Deck"/>
                <a:ea typeface="Deck"/>
                <a:cs typeface="Deck"/>
              </a:rPr>
              <a:t xml:space="preserve">Roadmap · Integrations and clinical workflows are not live</a:t>
            </a:r>
            <a:endParaRPr lang="en-US" sz="1350" spc="4" kern="400000">
              <a:latin typeface="Deck"/>
            </a:endParaRPr>
          </a:p>
        </p:txBody>
      </p:sp>
      <p:sp>
        <p:nvSpPr>
          <p:cNvPr id="21" name="s18-t016">
            <a:extLst xmlns:a="http://schemas.openxmlformats.org/drawingml/2006/main">
              <a:ext uri="{FF2B5EF4-FFF2-40B4-BE49-F238E27FC236}">
                <a16:creationId xmlns:a16="http://schemas.microsoft.com/office/drawing/2014/main" id="{9A9AE364-FA1E-4177-9CA9-B70262ED8DA2}"/>
              </a:ext>
            </a:extLst>
          </p:cNvPr>
          <p:cNvSpPr>
            <a:spLocks xmlns:a="http://schemas.openxmlformats.org/drawingml/2006/main" noGrp="1"/>
          </p:cNvSpPr>
          <p:nvPr/>
        </p:nvSpPr>
        <p:spPr>
          <a:xfrm xmlns:a="http://schemas.openxmlformats.org/drawingml/2006/main">
            <a:off x="17174157" y="9730387"/>
            <a:ext cx="398402"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FAF6F0"/>
                </a:solidFill>
                <a:latin typeface="Deck"/>
                <a:ea typeface="Deck"/>
                <a:cs typeface="Deck"/>
              </a:defRPr>
            </a:pPr>
            <a:r>
              <a:rPr sz="1350" b="0" i="0" kern="400000" spc="7">
                <a:solidFill>
                  <a:srgbClr val="A0A19D">
                    <a:alpha val="100000"/>
                  </a:srgbClr>
                </a:solidFill>
                <a:latin typeface="Deck"/>
                <a:ea typeface="Deck"/>
                <a:cs typeface="Deck"/>
              </a:rPr>
              <a:t xml:space="preserve">18</a:t>
            </a:r>
            <a:endParaRPr lang="en-US" sz="1350" spc="7" kern="400000">
              <a:latin typeface="Deck"/>
            </a:endParaRPr>
          </a:p>
        </p:txBody>
      </p:sp>
    </p:spTree>
    <p:extLst>
      <p:ext uri="{BB962C8B-B14F-4D97-AF65-F5344CB8AC3E}">
        <p14:creationId xmlns:p14="http://schemas.microsoft.com/office/powerpoint/2010/main" val="1696436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84df58a9b0c4977"/>
          <a:stretch xmlns:a="http://schemas.openxmlformats.org/drawingml/2006/main"/>
        </p:blipFill>
        <p:spPr>
          <a:xfrm xmlns:a="http://schemas.openxmlformats.org/drawingml/2006/main">
            <a:off x="7334250" y="666750"/>
            <a:ext cx="3619500" cy="2571750"/>
          </a:xfrm>
          <a:prstGeom xmlns:a="http://schemas.openxmlformats.org/drawingml/2006/main" prst="rect">
            <a:avLst/>
          </a:prstGeom>
        </p:spPr>
      </p:pic>
      <p:sp>
        <p:nvSpPr>
          <p:cNvPr id="2" name="s19-t000">
            <a:extLst xmlns:a="http://schemas.openxmlformats.org/drawingml/2006/main">
              <a:ext uri="{FF2B5EF4-FFF2-40B4-BE49-F238E27FC236}">
                <a16:creationId xmlns:a16="http://schemas.microsoft.com/office/drawing/2014/main" id="{9B3DF65E-B0D3-4035-BA29-F551366FEFEA}"/>
              </a:ext>
            </a:extLst>
          </p:cNvPr>
          <p:cNvSpPr>
            <a:spLocks xmlns:a="http://schemas.openxmlformats.org/drawingml/2006/main" noGrp="1"/>
          </p:cNvSpPr>
          <p:nvPr/>
        </p:nvSpPr>
        <p:spPr>
          <a:xfrm xmlns:a="http://schemas.openxmlformats.org/drawingml/2006/main">
            <a:off x="4273288" y="3718170"/>
            <a:ext cx="10043331"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39" kern="400000">
                <a:solidFill>
                  <a:srgbClr val="3A3745"/>
                </a:solidFill>
                <a:latin typeface="Deck-Semi-Bold"/>
                <a:ea typeface="Deck-Semi-Bold"/>
                <a:cs typeface="Deck-Semi-Bold"/>
              </a:defRPr>
            </a:pPr>
            <a:r>
              <a:rPr sz="9675" b="0" i="0" kern="400000" spc="-439">
                <a:solidFill>
                  <a:srgbClr val="3A3745">
                    <a:alpha val="100000"/>
                  </a:srgbClr>
                </a:solidFill>
                <a:latin typeface="Deck-Semi-Bold"/>
                <a:ea typeface="Deck-Semi-Bold"/>
                <a:cs typeface="Deck-Semi-Bold"/>
              </a:rPr>
              <a:t xml:space="preserve">Less to remember.</a:t>
            </a:r>
            <a:endParaRPr lang="en-US" sz="9675" spc="-439" kern="400000">
              <a:latin typeface="Deck-Semi-Bold"/>
            </a:endParaRPr>
          </a:p>
        </p:txBody>
      </p:sp>
      <p:sp>
        <p:nvSpPr>
          <p:cNvPr id="3" name="s19-t001">
            <a:extLst xmlns:a="http://schemas.openxmlformats.org/drawingml/2006/main">
              <a:ext uri="{FF2B5EF4-FFF2-40B4-BE49-F238E27FC236}">
                <a16:creationId xmlns:a16="http://schemas.microsoft.com/office/drawing/2014/main" id="{EB01245E-B25E-47E5-ABE4-92E2A210423C}"/>
              </a:ext>
            </a:extLst>
          </p:cNvPr>
          <p:cNvSpPr>
            <a:spLocks xmlns:a="http://schemas.openxmlformats.org/drawingml/2006/main" noGrp="1"/>
          </p:cNvSpPr>
          <p:nvPr/>
        </p:nvSpPr>
        <p:spPr>
          <a:xfrm xmlns:a="http://schemas.openxmlformats.org/drawingml/2006/main">
            <a:off x="4177294" y="5032906"/>
            <a:ext cx="10236394" cy="15113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9675" spc="-417" kern="400000">
                <a:solidFill>
                  <a:srgbClr val="4F7A66"/>
                </a:solidFill>
                <a:latin typeface="Deck-Semi-Bold"/>
                <a:ea typeface="Deck-Semi-Bold"/>
                <a:cs typeface="Deck-Semi-Bold"/>
              </a:defRPr>
            </a:pPr>
            <a:r>
              <a:rPr sz="9675" b="0" i="0" kern="400000" spc="-417">
                <a:solidFill>
                  <a:srgbClr val="4F7A66">
                    <a:alpha val="100000"/>
                  </a:srgbClr>
                </a:solidFill>
                <a:latin typeface="Deck-Semi-Bold"/>
                <a:ea typeface="Deck-Semi-Bold"/>
                <a:cs typeface="Deck-Semi-Bold"/>
              </a:rPr>
              <a:t xml:space="preserve">More room to care.</a:t>
            </a:r>
            <a:endParaRPr lang="en-US" sz="9675" spc="-417" kern="400000">
              <a:latin typeface="Deck-Semi-Bold"/>
            </a:endParaRPr>
          </a:p>
        </p:txBody>
      </p:sp>
      <p:sp>
        <p:nvSpPr>
          <p:cNvPr id="4" name="s19-t002">
            <a:hlinkClick xmlns:r="http://schemas.openxmlformats.org/officeDocument/2006/relationships" xmlns:a="http://schemas.openxmlformats.org/drawingml/2006/main" r:id="Rea0d6863fbef4d5d"/>
            <a:extLst xmlns:a="http://schemas.openxmlformats.org/drawingml/2006/main">
              <a:ext uri="{FF2B5EF4-FFF2-40B4-BE49-F238E27FC236}">
                <a16:creationId xmlns:a16="http://schemas.microsoft.com/office/drawing/2014/main" id="{CA998AFF-B2FE-4BC6-98B5-CA635C4652DF}"/>
              </a:ext>
            </a:extLst>
          </p:cNvPr>
          <p:cNvSpPr>
            <a:spLocks xmlns:a="http://schemas.openxmlformats.org/drawingml/2006/main" noGrp="1"/>
          </p:cNvSpPr>
          <p:nvPr/>
        </p:nvSpPr>
        <p:spPr>
          <a:xfrm xmlns:a="http://schemas.openxmlformats.org/drawingml/2006/main">
            <a:off x="7720324" y="7099482"/>
            <a:ext cx="3085477"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4F7A66"/>
                </a:solidFill>
                <a:latin typeface="Deck-Medium"/>
                <a:ea typeface="Deck-Medium"/>
                <a:cs typeface="Deck-Medium"/>
              </a:defRPr>
            </a:pPr>
            <a:r>
              <a:rPr sz="2850" b="0" i="0" kern="400000" spc="71" u="none">
                <a:solidFill>
                  <a:srgbClr val="4F7A66">
                    <a:alpha val="100000"/>
                  </a:srgbClr>
                </a:solidFill>
                <a:latin typeface="Deck-Medium"/>
                <a:ea typeface="Deck-Medium"/>
                <a:cs typeface="Deck-Medium"/>
              </a:rPr>
              <a:t xml:space="preserve">carebuddy.life ↗</a:t>
            </a:r>
            <a:endParaRPr lang="en-US" sz="2850" spc="71" kern="400000">
              <a:latin typeface="Deck-Medium"/>
            </a:endParaRPr>
          </a:p>
        </p:txBody>
      </p:sp>
      <p:sp>
        <p:nvSpPr>
          <p:cNvPr id="5" name="s19-t003">
            <a:extLst xmlns:a="http://schemas.openxmlformats.org/drawingml/2006/main">
              <a:ext uri="{FF2B5EF4-FFF2-40B4-BE49-F238E27FC236}">
                <a16:creationId xmlns:a16="http://schemas.microsoft.com/office/drawing/2014/main" id="{F66517CE-8A34-4D58-8A71-0E370C45040B}"/>
              </a:ext>
            </a:extLst>
          </p:cNvPr>
          <p:cNvSpPr>
            <a:spLocks xmlns:a="http://schemas.openxmlformats.org/drawingml/2006/main" noGrp="1"/>
          </p:cNvSpPr>
          <p:nvPr/>
        </p:nvSpPr>
        <p:spPr>
          <a:xfrm xmlns:a="http://schemas.openxmlformats.org/drawingml/2006/main">
            <a:off x="6727561" y="8667582"/>
            <a:ext cx="5072253"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7" kern="400000">
                <a:solidFill>
                  <a:srgbClr val="807C7B"/>
                </a:solidFill>
                <a:latin typeface="Deck"/>
                <a:ea typeface="Deck"/>
                <a:cs typeface="Deck"/>
              </a:defRPr>
            </a:pPr>
            <a:r>
              <a:rPr sz="1950" b="0" i="0" kern="400000" spc="-17">
                <a:solidFill>
                  <a:srgbClr val="807C7B">
                    <a:alpha val="100000"/>
                  </a:srgbClr>
                </a:solidFill>
                <a:latin typeface="Deck"/>
                <a:ea typeface="Deck"/>
                <a:cs typeface="Deck"/>
              </a:rPr>
              <a:t xml:space="preserve">Alex Lew · Shao Quan Chew · Yau Boon Tan</a:t>
            </a:r>
            <a:endParaRPr lang="en-US" sz="1950" spc="-17" kern="400000">
              <a:latin typeface="Deck"/>
            </a:endParaRPr>
          </a:p>
        </p:txBody>
      </p:sp>
      <p:sp>
        <p:nvSpPr>
          <p:cNvPr id="6" name="s19-t004">
            <a:extLst xmlns:a="http://schemas.openxmlformats.org/drawingml/2006/main">
              <a:ext uri="{FF2B5EF4-FFF2-40B4-BE49-F238E27FC236}">
                <a16:creationId xmlns:a16="http://schemas.microsoft.com/office/drawing/2014/main" id="{9F17FC99-94DF-4A5B-9D8C-7A54FC03A508}"/>
              </a:ext>
            </a:extLst>
          </p:cNvPr>
          <p:cNvSpPr>
            <a:spLocks xmlns:a="http://schemas.openxmlformats.org/drawingml/2006/main" noGrp="1"/>
          </p:cNvSpPr>
          <p:nvPr/>
        </p:nvSpPr>
        <p:spPr>
          <a:xfrm xmlns:a="http://schemas.openxmlformats.org/drawingml/2006/main">
            <a:off x="952500" y="9730387"/>
            <a:ext cx="4694739"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0" kern="400000">
                <a:solidFill>
                  <a:srgbClr val="3A3745"/>
                </a:solidFill>
                <a:latin typeface="Deck"/>
                <a:ea typeface="Deck"/>
                <a:cs typeface="Deck"/>
              </a:defRPr>
            </a:pPr>
            <a:r>
              <a:rPr sz="1350" b="0" i="0" kern="400000" spc="0">
                <a:solidFill>
                  <a:srgbClr val="83818A">
                    <a:alpha val="100000"/>
                  </a:srgbClr>
                </a:solidFill>
                <a:latin typeface="Deck"/>
                <a:ea typeface="Deck"/>
                <a:cs typeface="Deck"/>
              </a:rPr>
              <a:t xml:space="preserve">Tencent Cloud AI CAN DO IT Hackathon Singapore 2026</a:t>
            </a:r>
            <a:endParaRPr lang="en-US" sz="1350" spc="0" kern="400000">
              <a:latin typeface="Deck"/>
            </a:endParaRPr>
          </a:p>
        </p:txBody>
      </p:sp>
      <p:sp>
        <p:nvSpPr>
          <p:cNvPr id="7" name="s19-t005">
            <a:extLst xmlns:a="http://schemas.openxmlformats.org/drawingml/2006/main">
              <a:ext uri="{FF2B5EF4-FFF2-40B4-BE49-F238E27FC236}">
                <a16:creationId xmlns:a16="http://schemas.microsoft.com/office/drawing/2014/main" id="{26D4A3D3-AA90-42D7-8C52-F7ED78F8A81D}"/>
              </a:ext>
            </a:extLst>
          </p:cNvPr>
          <p:cNvSpPr>
            <a:spLocks xmlns:a="http://schemas.openxmlformats.org/drawingml/2006/main" noGrp="1"/>
          </p:cNvSpPr>
          <p:nvPr/>
        </p:nvSpPr>
        <p:spPr>
          <a:xfrm xmlns:a="http://schemas.openxmlformats.org/drawingml/2006/main">
            <a:off x="17171237" y="9730387"/>
            <a:ext cx="401317"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7" kern="400000">
                <a:solidFill>
                  <a:srgbClr val="3A3745"/>
                </a:solidFill>
                <a:latin typeface="Deck"/>
                <a:ea typeface="Deck"/>
                <a:cs typeface="Deck"/>
              </a:defRPr>
            </a:pPr>
            <a:r>
              <a:rPr sz="1350" b="0" i="0" kern="400000" spc="7">
                <a:solidFill>
                  <a:srgbClr val="83818A">
                    <a:alpha val="100000"/>
                  </a:srgbClr>
                </a:solidFill>
                <a:latin typeface="Deck"/>
                <a:ea typeface="Deck"/>
                <a:cs typeface="Deck"/>
              </a:rPr>
              <a:t xml:space="preserve">19</a:t>
            </a:r>
            <a:endParaRPr lang="en-US" sz="1350" spc="7" kern="400000">
              <a:latin typeface="Deck"/>
            </a:endParaRPr>
          </a:p>
        </p:txBody>
      </p:sp>
    </p:spTree>
    <p:extLst>
      <p:ext uri="{BB962C8B-B14F-4D97-AF65-F5344CB8AC3E}">
        <p14:creationId xmlns:p14="http://schemas.microsoft.com/office/powerpoint/2010/main" val="134065747"/>
      </p:ext>
    </p:extLst>
  </p:cSld>
</p:sld>
</file>

<file path=ppt/slides/slide2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s20-source-rule-0">
            <a:extLst xmlns:a="http://schemas.openxmlformats.org/drawingml/2006/main">
              <a:ext uri="{FF2B5EF4-FFF2-40B4-BE49-F238E27FC236}">
                <a16:creationId xmlns:a16="http://schemas.microsoft.com/office/drawing/2014/main" id="{F1413B17-1780-43B0-AC75-DC6791721669}"/>
              </a:ext>
            </a:extLst>
          </p:cNvPr>
          <p:cNvSpPr>
            <a:spLocks xmlns:a="http://schemas.openxmlformats.org/drawingml/2006/main" noGrp="1"/>
          </p:cNvSpPr>
          <p:nvPr/>
        </p:nvSpPr>
        <p:spPr>
          <a:xfrm xmlns:a="http://schemas.openxmlformats.org/drawingml/2006/main">
            <a:off x="100965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2" name="s20-source-rule-1">
            <a:extLst xmlns:a="http://schemas.openxmlformats.org/drawingml/2006/main">
              <a:ext uri="{FF2B5EF4-FFF2-40B4-BE49-F238E27FC236}">
                <a16:creationId xmlns:a16="http://schemas.microsoft.com/office/drawing/2014/main" id="{F21BF2E6-B8EE-4668-8CC6-B351B7F5F849}"/>
              </a:ext>
            </a:extLst>
          </p:cNvPr>
          <p:cNvSpPr>
            <a:spLocks xmlns:a="http://schemas.openxmlformats.org/drawingml/2006/main" noGrp="1"/>
          </p:cNvSpPr>
          <p:nvPr/>
        </p:nvSpPr>
        <p:spPr>
          <a:xfrm xmlns:a="http://schemas.openxmlformats.org/drawingml/2006/main">
            <a:off x="9677400" y="3951060"/>
            <a:ext cx="7524750" cy="9525"/>
          </a:xfrm>
          <a:prstGeom xmlns:a="http://schemas.openxmlformats.org/drawingml/2006/main" prst="rect">
            <a:avLst/>
          </a:prstGeom>
          <a:solidFill xmlns:a="http://schemas.openxmlformats.org/drawingml/2006/main">
            <a:srgbClr val="C8C9BF"/>
          </a:solidFill>
          <a:ln xmlns:a="http://schemas.openxmlformats.org/drawingml/2006/main" w="0">
            <a:noFill/>
          </a:ln>
        </p:spPr>
      </p:sp>
      <p:sp>
        <p:nvSpPr>
          <p:cNvPr id="3" name="s20-t000">
            <a:extLst xmlns:a="http://schemas.openxmlformats.org/drawingml/2006/main">
              <a:ext uri="{FF2B5EF4-FFF2-40B4-BE49-F238E27FC236}">
                <a16:creationId xmlns:a16="http://schemas.microsoft.com/office/drawing/2014/main" id="{E5CF9150-4688-4C19-A094-D9676129914A}"/>
              </a:ext>
            </a:extLst>
          </p:cNvPr>
          <p:cNvSpPr>
            <a:spLocks xmlns:a="http://schemas.openxmlformats.org/drawingml/2006/main" noGrp="1"/>
          </p:cNvSpPr>
          <p:nvPr/>
        </p:nvSpPr>
        <p:spPr>
          <a:xfrm xmlns:a="http://schemas.openxmlformats.org/drawingml/2006/main">
            <a:off x="1009650" y="1415010"/>
            <a:ext cx="5991330"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369" kern="400000">
                <a:solidFill>
                  <a:srgbClr val="3A3745"/>
                </a:solidFill>
                <a:latin typeface="Deck-Semi-Bold"/>
                <a:ea typeface="Deck-Semi-Bold"/>
                <a:cs typeface="Deck-Semi-Bold"/>
              </a:defRPr>
            </a:pPr>
            <a:r>
              <a:rPr sz="6975" b="0" i="0" kern="400000" spc="-369">
                <a:solidFill>
                  <a:srgbClr val="3A3745">
                    <a:alpha val="100000"/>
                  </a:srgbClr>
                </a:solidFill>
                <a:latin typeface="Deck-Semi-Bold"/>
                <a:ea typeface="Deck-Semi-Bold"/>
                <a:cs typeface="Deck-Semi-Bold"/>
              </a:rPr>
              <a:t xml:space="preserve">What the demo</a:t>
            </a:r>
            <a:endParaRPr lang="en-US" sz="6975" spc="-369" kern="400000">
              <a:latin typeface="Deck-Semi-Bold"/>
            </a:endParaRPr>
          </a:p>
        </p:txBody>
      </p:sp>
      <p:sp>
        <p:nvSpPr>
          <p:cNvPr id="4" name="s20-t001">
            <a:extLst xmlns:a="http://schemas.openxmlformats.org/drawingml/2006/main">
              <a:ext uri="{FF2B5EF4-FFF2-40B4-BE49-F238E27FC236}">
                <a16:creationId xmlns:a16="http://schemas.microsoft.com/office/drawing/2014/main" id="{3B454573-EB3B-4951-8445-E6FA4EBFDA4C}"/>
              </a:ext>
            </a:extLst>
          </p:cNvPr>
          <p:cNvSpPr>
            <a:spLocks xmlns:a="http://schemas.openxmlformats.org/drawingml/2006/main" noGrp="1"/>
          </p:cNvSpPr>
          <p:nvPr/>
        </p:nvSpPr>
        <p:spPr>
          <a:xfrm xmlns:a="http://schemas.openxmlformats.org/drawingml/2006/main">
            <a:off x="1009650" y="2340697"/>
            <a:ext cx="5047945"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6975" spc="-426" kern="400000">
                <a:solidFill>
                  <a:srgbClr val="4F7A66"/>
                </a:solidFill>
                <a:latin typeface="Deck-Semi-Bold"/>
                <a:ea typeface="Deck-Semi-Bold"/>
                <a:cs typeface="Deck-Semi-Bold"/>
              </a:defRPr>
            </a:pPr>
            <a:r>
              <a:rPr sz="6975" b="0" i="0" kern="400000" spc="-426">
                <a:solidFill>
                  <a:srgbClr val="4F7A66">
                    <a:alpha val="100000"/>
                  </a:srgbClr>
                </a:solidFill>
                <a:latin typeface="Deck-Semi-Bold"/>
                <a:ea typeface="Deck-Semi-Bold"/>
                <a:cs typeface="Deck-Semi-Bold"/>
              </a:rPr>
              <a:t xml:space="preserve">shows today.</a:t>
            </a:r>
            <a:endParaRPr lang="en-US" sz="6975" spc="-426" kern="400000">
              <a:latin typeface="Deck-Semi-Bold"/>
            </a:endParaRPr>
          </a:p>
        </p:txBody>
      </p:sp>
      <p:sp>
        <p:nvSpPr>
          <p:cNvPr id="5" name="s20-t016">
            <a:extLst xmlns:a="http://schemas.openxmlformats.org/drawingml/2006/main">
              <a:ext uri="{FF2B5EF4-FFF2-40B4-BE49-F238E27FC236}">
                <a16:creationId xmlns:a16="http://schemas.microsoft.com/office/drawing/2014/main" id="{C2584EAA-4960-4441-97C6-D6133536DADF}"/>
              </a:ext>
            </a:extLst>
          </p:cNvPr>
          <p:cNvSpPr>
            <a:spLocks xmlns:a="http://schemas.openxmlformats.org/drawingml/2006/main" noGrp="1"/>
          </p:cNvSpPr>
          <p:nvPr/>
        </p:nvSpPr>
        <p:spPr>
          <a:xfrm xmlns:a="http://schemas.openxmlformats.org/drawingml/2006/main">
            <a:off x="1009650" y="914405"/>
            <a:ext cx="286431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85" kern="400000">
                <a:solidFill>
                  <a:srgbClr val="3A3745"/>
                </a:solidFill>
                <a:latin typeface="Deck-Medium"/>
                <a:ea typeface="Deck-Medium"/>
                <a:cs typeface="Deck-Medium"/>
              </a:defRPr>
            </a:pPr>
            <a:r>
              <a:rPr sz="1725" b="0" i="0" kern="400000" spc="285">
                <a:solidFill>
                  <a:srgbClr val="6C6971">
                    <a:alpha val="100000"/>
                  </a:srgbClr>
                </a:solidFill>
                <a:latin typeface="Deck-Medium"/>
                <a:ea typeface="Deck-Medium"/>
                <a:cs typeface="Deck-Medium"/>
              </a:rPr>
              <a:t xml:space="preserve">PROTOTYPE SCOPE</a:t>
            </a:r>
            <a:endParaRPr lang="en-US" sz="1725" spc="285" kern="400000">
              <a:latin typeface="Deck-Medium"/>
            </a:endParaRPr>
          </a:p>
        </p:txBody>
      </p:sp>
      <p:sp>
        <p:nvSpPr>
          <p:cNvPr id="6" name="s20-t017">
            <a:extLst xmlns:a="http://schemas.openxmlformats.org/drawingml/2006/main">
              <a:ext uri="{FF2B5EF4-FFF2-40B4-BE49-F238E27FC236}">
                <a16:creationId xmlns:a16="http://schemas.microsoft.com/office/drawing/2014/main" id="{7CDAC01D-E43E-4FAB-BDDB-21A4F306D253}"/>
              </a:ext>
            </a:extLst>
          </p:cNvPr>
          <p:cNvSpPr>
            <a:spLocks xmlns:a="http://schemas.openxmlformats.org/drawingml/2006/main" noGrp="1"/>
          </p:cNvSpPr>
          <p:nvPr/>
        </p:nvSpPr>
        <p:spPr>
          <a:xfrm xmlns:a="http://schemas.openxmlformats.org/drawingml/2006/main">
            <a:off x="1019175" y="8895624"/>
            <a:ext cx="11844147" cy="28117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800" spc="-7" kern="400000">
                <a:solidFill>
                  <a:srgbClr val="767177"/>
                </a:solidFill>
                <a:latin typeface="Deck"/>
                <a:ea typeface="Deck"/>
                <a:cs typeface="Deck"/>
              </a:defRPr>
            </a:pPr>
            <a:r>
              <a:rPr sz="1800" b="0" i="0" kern="400000" spc="-7">
                <a:solidFill>
                  <a:srgbClr val="767177">
                    <a:alpha val="100000"/>
                  </a:srgbClr>
                </a:solidFill>
                <a:latin typeface="Deck"/>
                <a:ea typeface="Deck"/>
                <a:cs typeface="Deck"/>
              </a:rPr>
              <a:t xml:space="preserve">Screens are captured from carebuddy.life. Fictional records and illustrative flows are used throughout the demo.</a:t>
            </a:r>
            <a:endParaRPr lang="en-US" sz="1800" spc="-7" kern="400000">
              <a:latin typeface="Deck"/>
            </a:endParaRPr>
          </a:p>
        </p:txBody>
      </p:sp>
      <p:sp>
        <p:nvSpPr>
          <p:cNvPr id="7" name="s20-t018">
            <a:extLst xmlns:a="http://schemas.openxmlformats.org/drawingml/2006/main">
              <a:ext uri="{FF2B5EF4-FFF2-40B4-BE49-F238E27FC236}">
                <a16:creationId xmlns:a16="http://schemas.microsoft.com/office/drawing/2014/main" id="{8EB3590A-22BF-45A2-8ECD-CA4EC07E3EB4}"/>
              </a:ext>
            </a:extLst>
          </p:cNvPr>
          <p:cNvSpPr>
            <a:spLocks xmlns:a="http://schemas.openxmlformats.org/drawingml/2006/main" noGrp="1"/>
          </p:cNvSpPr>
          <p:nvPr/>
        </p:nvSpPr>
        <p:spPr>
          <a:xfrm xmlns:a="http://schemas.openxmlformats.org/drawingml/2006/main">
            <a:off x="952500" y="9730387"/>
            <a:ext cx="2290953"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4" kern="400000">
                <a:solidFill>
                  <a:srgbClr val="3A3745"/>
                </a:solidFill>
                <a:latin typeface="Deck"/>
                <a:ea typeface="Deck"/>
                <a:cs typeface="Deck"/>
              </a:defRPr>
            </a:pPr>
            <a:r>
              <a:rPr sz="1350" b="0" i="0" kern="400000" spc="4">
                <a:solidFill>
                  <a:srgbClr val="817E84">
                    <a:alpha val="100000"/>
                  </a:srgbClr>
                </a:solidFill>
                <a:latin typeface="Deck"/>
                <a:ea typeface="Deck"/>
                <a:cs typeface="Deck"/>
              </a:rPr>
              <a:t xml:space="preserve">Updated 9 October 2026</a:t>
            </a:r>
            <a:endParaRPr lang="en-US" sz="1350" spc="4" kern="400000">
              <a:latin typeface="Deck"/>
            </a:endParaRPr>
          </a:p>
        </p:txBody>
      </p:sp>
      <p:sp>
        <p:nvSpPr>
          <p:cNvPr id="8" name="s20-t019">
            <a:extLst xmlns:a="http://schemas.openxmlformats.org/drawingml/2006/main">
              <a:ext uri="{FF2B5EF4-FFF2-40B4-BE49-F238E27FC236}">
                <a16:creationId xmlns:a16="http://schemas.microsoft.com/office/drawing/2014/main" id="{370BFC12-2830-4D87-ABE7-29C14EEAE360}"/>
              </a:ext>
            </a:extLst>
          </p:cNvPr>
          <p:cNvSpPr>
            <a:spLocks xmlns:a="http://schemas.openxmlformats.org/drawingml/2006/main" noGrp="1"/>
          </p:cNvSpPr>
          <p:nvPr/>
        </p:nvSpPr>
        <p:spPr>
          <a:xfrm xmlns:a="http://schemas.openxmlformats.org/drawingml/2006/main">
            <a:off x="17124942" y="9730387"/>
            <a:ext cx="447608"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3A3745"/>
                </a:solidFill>
                <a:latin typeface="Deck"/>
                <a:ea typeface="Deck"/>
                <a:cs typeface="Deck"/>
              </a:defRPr>
            </a:pPr>
            <a:r>
              <a:rPr sz="1350" b="0" i="0" kern="400000" spc="6">
                <a:solidFill>
                  <a:srgbClr val="817E84">
                    <a:alpha val="100000"/>
                  </a:srgbClr>
                </a:solidFill>
                <a:latin typeface="Deck"/>
                <a:ea typeface="Deck"/>
                <a:cs typeface="Deck"/>
              </a:rPr>
              <a:t xml:space="preserve">20</a:t>
            </a:r>
            <a:endParaRPr lang="en-US" sz="1350" spc="6" kern="400000">
              <a:latin typeface="Deck"/>
            </a:endParaRPr>
          </a:p>
        </p:txBody>
      </p:sp>
      <p:graphicFrame>
        <p:nvGraphicFramePr>
          <p:cNvPr id="19" name=""/>
          <p:cNvGraphicFramePr/>
          <p:nvPr/>
        </p:nvGraphicFramePr>
        <p:xfrm>
          <a:off xmlns:a="http://schemas.openxmlformats.org/drawingml/2006/main" x="100965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93">
                          <a:solidFill>
                            <a:srgbClr val="4F7A66">
                              <a:alpha val="100000"/>
                            </a:srgbClr>
                          </a:solidFill>
                          <a:latin typeface="Deck-Bold"/>
                          <a:ea typeface="Deck-Bold"/>
                          <a:cs typeface="Deck-Bold"/>
                        </a:defRPr>
                      </a:pPr>
                      <a:r>
                        <a:rPr sz="2700" b="0" i="0" kern="400000" spc="-93">
                          <a:solidFill>
                            <a:srgbClr val="4F7A66">
                              <a:alpha val="100000"/>
                            </a:srgbClr>
                          </a:solidFill>
                          <a:latin typeface="Deck-Bold"/>
                          <a:ea typeface="Deck-Bold"/>
                          <a:cs typeface="Deck-Bold"/>
                        </a:rPr>
                        <a:t xml:space="preserve">Visible in the prototype</a:t>
                      </a:r>
                      <a:endParaRPr lang="en-US" sz="2700" spc="-93"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Onboarding and care profiles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Daily routines and medication actions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Illustrative sleep and health readings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Benefits and saved Buddy actions</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4">
                          <a:solidFill>
                            <a:srgbClr val="3A3745">
                              <a:alpha val="100000"/>
                            </a:srgbClr>
                          </a:solidFill>
                          <a:latin typeface="Deck"/>
                          <a:ea typeface="Deck"/>
                          <a:cs typeface="Deck"/>
                        </a:defRPr>
                      </a:pPr>
                      <a:r>
                        <a:rPr sz="2175" b="0" i="0" kern="400000" spc="-4">
                          <a:solidFill>
                            <a:srgbClr val="3A3745">
                              <a:alpha val="100000"/>
                            </a:srgbClr>
                          </a:solidFill>
                          <a:latin typeface="Deck"/>
                          <a:ea typeface="Deck"/>
                          <a:cs typeface="Deck"/>
                        </a:rPr>
                        <a:t xml:space="preserve">GP planning and WhiteCoat redirect</a:t>
                      </a:r>
                      <a:endParaRPr lang="en-US" sz="2175" spc="-4"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10">
                          <a:solidFill>
                            <a:srgbClr val="3A3745">
                              <a:alpha val="100000"/>
                            </a:srgbClr>
                          </a:solidFill>
                          <a:latin typeface="Deck"/>
                          <a:ea typeface="Deck"/>
                          <a:cs typeface="Deck"/>
                        </a:defRPr>
                      </a:pPr>
                      <a:r>
                        <a:rPr sz="2175" b="0" i="0" kern="400000" spc="-10">
                          <a:solidFill>
                            <a:srgbClr val="3A3745">
                              <a:alpha val="100000"/>
                            </a:srgbClr>
                          </a:solidFill>
                          <a:latin typeface="Deck"/>
                          <a:ea typeface="Deck"/>
                          <a:cs typeface="Deck"/>
                        </a:rPr>
                        <a:t xml:space="preserve">Scoped Codex / Claude assistant export</a:t>
                      </a:r>
                      <a:endParaRPr lang="en-US" sz="2175" spc="-10"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graphicFrame>
        <p:nvGraphicFramePr>
          <p:cNvPr id="20" name=""/>
          <p:cNvGraphicFramePr/>
          <p:nvPr/>
        </p:nvGraphicFramePr>
        <p:xfrm>
          <a:off xmlns:a="http://schemas.openxmlformats.org/drawingml/2006/main" x="9677400" y="4209438"/>
          <a:ext xmlns:a="http://schemas.openxmlformats.org/drawingml/2006/main" cx="7524750" cy="3484247"/>
        </p:xfrm>
        <a:graphic xmlns:a="http://schemas.openxmlformats.org/drawingml/2006/main">
          <a:graphicData uri="http://schemas.openxmlformats.org/drawingml/2006/table">
            <a:tbl>
              <a:tblPr firstRow="0" firstCol="0" lastCol="0" bandRow="0" bandCol="0"/>
              <a:tblGrid>
                <a:gridCol w="7524750"/>
              </a:tblGrid>
              <a:tr h="749620">
                <a:tc>
                  <a:txBody>
                    <a:bodyPr wrap="square" lIns="0" tIns="0" rIns="0" bIns="0" anchor="t" anchorCtr="0" horzOverflow="overflow" vertOverflow="overflow">
                      <a:noAutofit/>
                    </a:bodyPr>
                    <a:lstStyle/>
                    <a:p>
                      <a:pPr algn="l">
                        <a:defRPr sz="2700" b="0" i="0" kern="400000" spc="-89">
                          <a:solidFill>
                            <a:srgbClr val="4F7A66">
                              <a:alpha val="100000"/>
                            </a:srgbClr>
                          </a:solidFill>
                          <a:latin typeface="Deck-Bold"/>
                          <a:ea typeface="Deck-Bold"/>
                          <a:cs typeface="Deck-Bold"/>
                        </a:defRPr>
                      </a:pPr>
                      <a:r>
                        <a:rPr sz="2700" b="0" i="0" kern="400000" spc="-89">
                          <a:solidFill>
                            <a:srgbClr val="4F7A66">
                              <a:alpha val="100000"/>
                            </a:srgbClr>
                          </a:solidFill>
                          <a:latin typeface="Deck-Bold"/>
                          <a:ea typeface="Deck-Bold"/>
                          <a:cs typeface="Deck-Bold"/>
                        </a:rPr>
                        <a:t xml:space="preserve">Still ahead</a:t>
                      </a:r>
                      <a:endParaRPr lang="en-US" sz="2700" spc="-89" kern="400000">
                        <a:latin typeface="Deck-Bold"/>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Verified sign-up and authentication</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6">
                          <a:solidFill>
                            <a:srgbClr val="3A3745">
                              <a:alpha val="100000"/>
                            </a:srgbClr>
                          </a:solidFill>
                          <a:latin typeface="Deck"/>
                          <a:ea typeface="Deck"/>
                          <a:cs typeface="Deck"/>
                        </a:defRPr>
                      </a:pPr>
                      <a:r>
                        <a:rPr sz="2175" b="0" i="0" kern="400000" spc="-6">
                          <a:solidFill>
                            <a:srgbClr val="3A3745">
                              <a:alpha val="100000"/>
                            </a:srgbClr>
                          </a:solidFill>
                          <a:latin typeface="Deck"/>
                          <a:ea typeface="Deck"/>
                          <a:cs typeface="Deck"/>
                        </a:rPr>
                        <a:t xml:space="preserve">Connected wearable measurements</a:t>
                      </a:r>
                      <a:endParaRPr lang="en-US" sz="2175" spc="-6"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Live insurance eligibility checks</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3">
                          <a:solidFill>
                            <a:srgbClr val="3A3745">
                              <a:alpha val="100000"/>
                            </a:srgbClr>
                          </a:solidFill>
                          <a:latin typeface="Deck"/>
                          <a:ea typeface="Deck"/>
                          <a:cs typeface="Deck"/>
                        </a:defRPr>
                      </a:pPr>
                      <a:r>
                        <a:rPr sz="2175" b="0" i="0" kern="400000" spc="-3">
                          <a:solidFill>
                            <a:srgbClr val="3A3745">
                              <a:alpha val="100000"/>
                            </a:srgbClr>
                          </a:solidFill>
                          <a:latin typeface="Deck"/>
                          <a:ea typeface="Deck"/>
                          <a:cs typeface="Deck"/>
                        </a:rPr>
                        <a:t xml:space="preserve">Durable hosted notification scheduling</a:t>
                      </a:r>
                      <a:endParaRPr lang="en-US" sz="2175" spc="-3"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8">
                          <a:solidFill>
                            <a:srgbClr val="3A3745">
                              <a:alpha val="100000"/>
                            </a:srgbClr>
                          </a:solidFill>
                          <a:latin typeface="Deck"/>
                          <a:ea typeface="Deck"/>
                          <a:cs typeface="Deck"/>
                        </a:defRPr>
                      </a:pPr>
                      <a:r>
                        <a:rPr sz="2175" b="0" i="0" kern="400000" spc="-8">
                          <a:solidFill>
                            <a:srgbClr val="3A3745">
                              <a:alpha val="100000"/>
                            </a:srgbClr>
                          </a:solidFill>
                          <a:latin typeface="Deck"/>
                          <a:ea typeface="Deck"/>
                          <a:cs typeface="Deck"/>
                        </a:rPr>
                        <a:t xml:space="preserve">Consent-verified family sharing</a:t>
                      </a:r>
                      <a:endParaRPr lang="en-US" sz="2175" spc="-8" kern="400000">
                        <a:latin typeface="Deck"/>
                      </a:endParaRPr>
                    </a:p>
                  </a:txBody>
                  <a:tcPr marL="0" marR="0" marT="0" marB="0" anchor="t">
                    <a:lnL w="0">
                      <a:noFill/>
                    </a:lnL>
                    <a:lnR w="0">
                      <a:noFill/>
                    </a:lnR>
                    <a:lnT w="0">
                      <a:noFill/>
                    </a:lnT>
                    <a:lnB w="0">
                      <a:noFill/>
                    </a:lnB>
                    <a:lnTlToBr w="0">
                      <a:noFill/>
                    </a:lnTlToBr>
                    <a:lnBlToTr w="0">
                      <a:noFill/>
                    </a:lnBlToTr>
                    <a:noFill/>
                  </a:tcPr>
                </a:tc>
              </a:tr>
              <a:tr h="455771">
                <a:tc>
                  <a:txBody>
                    <a:bodyPr wrap="square" lIns="0" tIns="0" rIns="0" bIns="0" anchor="t" anchorCtr="0" horzOverflow="overflow" vertOverflow="overflow">
                      <a:noAutofit/>
                    </a:bodyPr>
                    <a:lstStyle/>
                    <a:p>
                      <a:pPr algn="l">
                        <a:defRPr sz="2175" b="0" i="0" kern="400000" spc="-5">
                          <a:solidFill>
                            <a:srgbClr val="3A3745">
                              <a:alpha val="100000"/>
                            </a:srgbClr>
                          </a:solidFill>
                          <a:latin typeface="Deck"/>
                          <a:ea typeface="Deck"/>
                          <a:cs typeface="Deck"/>
                        </a:defRPr>
                      </a:pPr>
                      <a:r>
                        <a:rPr sz="2175" b="0" i="0" kern="400000" spc="-5">
                          <a:solidFill>
                            <a:srgbClr val="3A3745">
                              <a:alpha val="100000"/>
                            </a:srgbClr>
                          </a:solidFill>
                          <a:latin typeface="Deck"/>
                          <a:ea typeface="Deck"/>
                          <a:cs typeface="Deck"/>
                        </a:rPr>
                        <a:t xml:space="preserve">WhiteCoat teleconsult booking</a:t>
                      </a:r>
                      <a:endParaRPr lang="en-US" sz="2175" spc="-5" kern="400000">
                        <a:latin typeface="Deck"/>
                      </a:endParaRPr>
                    </a:p>
                  </a:txBody>
                  <a:tcPr marL="0" marR="0" marT="0" marB="0" anchor="t">
                    <a:lnL w="0">
                      <a:noFill/>
                    </a:lnL>
                    <a:lnR w="0">
                      <a:noFill/>
                    </a:lnR>
                    <a:lnT w="0">
                      <a:noFill/>
                    </a:lnT>
                    <a:lnB w="0">
                      <a:noFill/>
                    </a:lnB>
                    <a:lnTlToBr w="0">
                      <a:noFill/>
                    </a:lnTlToBr>
                    <a:lnBlToTr w="0">
                      <a:noFill/>
                    </a:lnBlToTr>
                    <a:noFill/>
                  </a:tcPr>
                </a:tc>
              </a:tr>
            </a:tbl>
          </a:graphicData>
        </a:graphic>
      </p:graphicFrame>
    </p:spTree>
    <p:extLst>
      <p:ext uri="{BB962C8B-B14F-4D97-AF65-F5344CB8AC3E}">
        <p14:creationId xmlns:p14="http://schemas.microsoft.com/office/powerpoint/2010/main" val="1670865884"/>
      </p:ext>
    </p:extLst>
  </p:cSld>
</p:sld>
</file>

<file path=ppt/slides/slide21.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8" name="s21-source-rule-0">
            <a:extLst xmlns:a="http://schemas.openxmlformats.org/drawingml/2006/main">
              <a:ext uri="{FF2B5EF4-FFF2-40B4-BE49-F238E27FC236}">
                <a16:creationId xmlns:a16="http://schemas.microsoft.com/office/drawing/2014/main" id="{B02EF675-037D-4066-BE58-FAD3412C1112}"/>
              </a:ext>
            </a:extLst>
          </p:cNvPr>
          <p:cNvSpPr>
            <a:spLocks xmlns:a="http://schemas.openxmlformats.org/drawingml/2006/main" noGrp="1"/>
          </p:cNvSpPr>
          <p:nvPr/>
        </p:nvSpPr>
        <p:spPr>
          <a:xfrm xmlns:a="http://schemas.openxmlformats.org/drawingml/2006/main">
            <a:off x="1009650" y="4921648"/>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2" name="s21-source-rule-1">
            <a:extLst xmlns:a="http://schemas.openxmlformats.org/drawingml/2006/main">
              <a:ext uri="{FF2B5EF4-FFF2-40B4-BE49-F238E27FC236}">
                <a16:creationId xmlns:a16="http://schemas.microsoft.com/office/drawing/2014/main" id="{9D293504-6A77-435B-9B1C-0728A109F93D}"/>
              </a:ext>
            </a:extLst>
          </p:cNvPr>
          <p:cNvSpPr>
            <a:spLocks xmlns:a="http://schemas.openxmlformats.org/drawingml/2006/main" noGrp="1"/>
          </p:cNvSpPr>
          <p:nvPr/>
        </p:nvSpPr>
        <p:spPr>
          <a:xfrm xmlns:a="http://schemas.openxmlformats.org/drawingml/2006/main">
            <a:off x="1009650" y="6377201"/>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3" name="s21-source-rule-2">
            <a:extLst xmlns:a="http://schemas.openxmlformats.org/drawingml/2006/main">
              <a:ext uri="{FF2B5EF4-FFF2-40B4-BE49-F238E27FC236}">
                <a16:creationId xmlns:a16="http://schemas.microsoft.com/office/drawing/2014/main" id="{E3F42F8C-B4E5-4BC8-A620-10C6307535F6}"/>
              </a:ext>
            </a:extLst>
          </p:cNvPr>
          <p:cNvSpPr>
            <a:spLocks xmlns:a="http://schemas.openxmlformats.org/drawingml/2006/main" noGrp="1"/>
          </p:cNvSpPr>
          <p:nvPr/>
        </p:nvSpPr>
        <p:spPr>
          <a:xfrm xmlns:a="http://schemas.openxmlformats.org/drawingml/2006/main">
            <a:off x="1009650" y="7832754"/>
            <a:ext cx="16192500" cy="9525"/>
          </a:xfrm>
          <a:prstGeom xmlns:a="http://schemas.openxmlformats.org/drawingml/2006/main" prst="rect">
            <a:avLst/>
          </a:prstGeom>
          <a:solidFill xmlns:a="http://schemas.openxmlformats.org/drawingml/2006/main">
            <a:srgbClr val="30483C"/>
          </a:solidFill>
          <a:ln xmlns:a="http://schemas.openxmlformats.org/drawingml/2006/main" w="0">
            <a:noFill/>
          </a:ln>
        </p:spPr>
      </p:sp>
      <p:sp>
        <p:nvSpPr>
          <p:cNvPr id="4" name="s21-t000">
            <a:extLst xmlns:a="http://schemas.openxmlformats.org/drawingml/2006/main">
              <a:ext uri="{FF2B5EF4-FFF2-40B4-BE49-F238E27FC236}">
                <a16:creationId xmlns:a16="http://schemas.microsoft.com/office/drawing/2014/main" id="{B6BCF772-D549-4B68-AB67-8C1EE08596A8}"/>
              </a:ext>
            </a:extLst>
          </p:cNvPr>
          <p:cNvSpPr>
            <a:spLocks xmlns:a="http://schemas.openxmlformats.org/drawingml/2006/main" noGrp="1"/>
          </p:cNvSpPr>
          <p:nvPr/>
        </p:nvSpPr>
        <p:spPr>
          <a:xfrm xmlns:a="http://schemas.openxmlformats.org/drawingml/2006/main">
            <a:off x="1009650" y="1563179"/>
            <a:ext cx="7202891" cy="11598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7425" spc="-421" kern="400000">
                <a:solidFill>
                  <a:srgbClr val="FAF6F0"/>
                </a:solidFill>
                <a:latin typeface="Deck-Semi-Bold"/>
                <a:ea typeface="Deck-Semi-Bold"/>
                <a:cs typeface="Deck-Semi-Bold"/>
              </a:defRPr>
            </a:pPr>
            <a:r>
              <a:rPr sz="7425" b="0" i="0" kern="400000" spc="-421">
                <a:solidFill>
                  <a:srgbClr val="FAF6F0">
                    <a:alpha val="100000"/>
                  </a:srgbClr>
                </a:solidFill>
                <a:latin typeface="Deck-Semi-Bold"/>
                <a:ea typeface="Deck-Semi-Bold"/>
                <a:cs typeface="Deck-Semi-Bold"/>
              </a:rPr>
              <a:t xml:space="preserve">See it for yourself.</a:t>
            </a:r>
            <a:endParaRPr lang="en-US" sz="7425" spc="-421" kern="400000">
              <a:latin typeface="Deck-Semi-Bold"/>
            </a:endParaRPr>
          </a:p>
        </p:txBody>
      </p:sp>
      <p:sp>
        <p:nvSpPr>
          <p:cNvPr id="5" name="s21-t001">
            <a:extLst xmlns:a="http://schemas.openxmlformats.org/drawingml/2006/main">
              <a:ext uri="{FF2B5EF4-FFF2-40B4-BE49-F238E27FC236}">
                <a16:creationId xmlns:a16="http://schemas.microsoft.com/office/drawing/2014/main" id="{092B559A-FFF4-4B12-B120-CCBD4EA90364}"/>
              </a:ext>
            </a:extLst>
          </p:cNvPr>
          <p:cNvSpPr>
            <a:spLocks xmlns:a="http://schemas.openxmlformats.org/drawingml/2006/main" noGrp="1"/>
          </p:cNvSpPr>
          <p:nvPr/>
        </p:nvSpPr>
        <p:spPr>
          <a:xfrm xmlns:a="http://schemas.openxmlformats.org/drawingml/2006/main">
            <a:off x="1009650" y="8417373"/>
            <a:ext cx="9787528"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13" kern="400000">
                <a:solidFill>
                  <a:srgbClr val="8BA494"/>
                </a:solidFill>
                <a:latin typeface="Deck"/>
                <a:ea typeface="Deck"/>
                <a:cs typeface="Deck"/>
              </a:defRPr>
            </a:pPr>
            <a:r>
              <a:rPr sz="1650" b="0" i="0" kern="400000" spc="-13">
                <a:solidFill>
                  <a:srgbClr val="8BA494">
                    <a:alpha val="100000"/>
                  </a:srgbClr>
                </a:solidFill>
                <a:latin typeface="Deck"/>
                <a:ea typeface="Deck"/>
                <a:cs typeface="Deck"/>
              </a:rPr>
              <a:t xml:space="preserve">Product screenshots captured 8 October 2026. Team: Alex Lew, Shao Quan Chew and Yau Boon Tan.</a:t>
            </a:r>
            <a:endParaRPr lang="en-US" sz="1650" spc="-13" kern="400000">
              <a:latin typeface="Deck"/>
            </a:endParaRPr>
          </a:p>
        </p:txBody>
      </p:sp>
      <p:sp>
        <p:nvSpPr>
          <p:cNvPr id="6" name="s21-t002">
            <a:extLst xmlns:a="http://schemas.openxmlformats.org/drawingml/2006/main">
              <a:ext uri="{FF2B5EF4-FFF2-40B4-BE49-F238E27FC236}">
                <a16:creationId xmlns:a16="http://schemas.microsoft.com/office/drawing/2014/main" id="{C2F3E37D-93E1-42F7-AAF8-B514D633AA2E}"/>
              </a:ext>
            </a:extLst>
          </p:cNvPr>
          <p:cNvSpPr>
            <a:spLocks xmlns:a="http://schemas.openxmlformats.org/drawingml/2006/main" noGrp="1"/>
          </p:cNvSpPr>
          <p:nvPr/>
        </p:nvSpPr>
        <p:spPr>
          <a:xfrm xmlns:a="http://schemas.openxmlformats.org/drawingml/2006/main">
            <a:off x="1009650" y="8731698"/>
            <a:ext cx="10746429" cy="257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650" spc="-5" kern="400000">
                <a:solidFill>
                  <a:srgbClr val="8BA494"/>
                </a:solidFill>
                <a:latin typeface="Deck"/>
                <a:ea typeface="Deck"/>
                <a:cs typeface="Deck"/>
              </a:defRPr>
            </a:pPr>
            <a:r>
              <a:rPr sz="1650" b="0" i="0" kern="400000" spc="-5">
                <a:solidFill>
                  <a:srgbClr val="8BA494">
                    <a:alpha val="100000"/>
                  </a:srgbClr>
                </a:solidFill>
                <a:latin typeface="Deck"/>
                <a:ea typeface="Deck"/>
                <a:cs typeface="Deck"/>
              </a:rPr>
              <a:t xml:space="preserve">Human imagery is illustrative. Additional source detail and presenter notes are included with the HTML source.</a:t>
            </a:r>
            <a:endParaRPr lang="en-US" sz="1650" spc="-5" kern="400000">
              <a:latin typeface="Deck"/>
            </a:endParaRPr>
          </a:p>
        </p:txBody>
      </p:sp>
      <p:sp>
        <p:nvSpPr>
          <p:cNvPr id="7" name="s21-t003">
            <a:extLst xmlns:a="http://schemas.openxmlformats.org/drawingml/2006/main">
              <a:ext uri="{FF2B5EF4-FFF2-40B4-BE49-F238E27FC236}">
                <a16:creationId xmlns:a16="http://schemas.microsoft.com/office/drawing/2014/main" id="{8F29C7DE-CE92-4673-8538-28D9B97447BE}"/>
              </a:ext>
            </a:extLst>
          </p:cNvPr>
          <p:cNvSpPr>
            <a:spLocks xmlns:a="http://schemas.openxmlformats.org/drawingml/2006/main" noGrp="1"/>
          </p:cNvSpPr>
          <p:nvPr/>
        </p:nvSpPr>
        <p:spPr>
          <a:xfrm xmlns:a="http://schemas.openxmlformats.org/drawingml/2006/main">
            <a:off x="1009650" y="942980"/>
            <a:ext cx="4813306"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290" kern="400000">
                <a:solidFill>
                  <a:srgbClr val="FAF6F0"/>
                </a:solidFill>
                <a:latin typeface="Deck-Medium"/>
                <a:ea typeface="Deck-Medium"/>
                <a:cs typeface="Deck-Medium"/>
              </a:defRPr>
            </a:pPr>
            <a:r>
              <a:rPr sz="1725" b="0" i="0" kern="400000" spc="290">
                <a:solidFill>
                  <a:srgbClr val="BBBAB6">
                    <a:alpha val="100000"/>
                  </a:srgbClr>
                </a:solidFill>
                <a:latin typeface="Deck-Medium"/>
                <a:ea typeface="Deck-Medium"/>
                <a:cs typeface="Deck-Medium"/>
              </a:rPr>
              <a:t xml:space="preserve">REFERENCES &amp; DEMONSTRATION</a:t>
            </a:r>
            <a:endParaRPr lang="en-US" sz="1725" spc="290" kern="400000">
              <a:latin typeface="Deck-Medium"/>
            </a:endParaRPr>
          </a:p>
        </p:txBody>
      </p:sp>
      <p:sp>
        <p:nvSpPr>
          <p:cNvPr id="8" name="s21-t004">
            <a:hlinkClick xmlns:r="http://schemas.openxmlformats.org/officeDocument/2006/relationships" xmlns:a="http://schemas.openxmlformats.org/drawingml/2006/main" r:id="R23e81c7488d84ca2"/>
            <a:extLst xmlns:a="http://schemas.openxmlformats.org/drawingml/2006/main">
              <a:ext uri="{FF2B5EF4-FFF2-40B4-BE49-F238E27FC236}">
                <a16:creationId xmlns:a16="http://schemas.microsoft.com/office/drawing/2014/main" id="{B7896C4A-9446-4FCA-9039-F554A4E42D0D}"/>
              </a:ext>
            </a:extLst>
          </p:cNvPr>
          <p:cNvSpPr>
            <a:spLocks xmlns:a="http://schemas.openxmlformats.org/drawingml/2006/main" noGrp="1"/>
          </p:cNvSpPr>
          <p:nvPr/>
        </p:nvSpPr>
        <p:spPr>
          <a:xfrm xmlns:a="http://schemas.openxmlformats.org/drawingml/2006/main">
            <a:off x="1771650" y="3732793"/>
            <a:ext cx="4997101"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71" kern="400000" u="none">
                <a:solidFill>
                  <a:srgbClr val="9BDAB6"/>
                </a:solidFill>
                <a:latin typeface="Deck"/>
                <a:ea typeface="Deck"/>
                <a:cs typeface="Deck"/>
              </a:defRPr>
            </a:pPr>
            <a:r>
              <a:rPr sz="2850" b="0" i="0" kern="400000" spc="-71" u="none">
                <a:solidFill>
                  <a:srgbClr val="9BDAB6">
                    <a:alpha val="100000"/>
                  </a:srgbClr>
                </a:solidFill>
                <a:latin typeface="Deck"/>
                <a:ea typeface="Deck"/>
                <a:cs typeface="Deck"/>
              </a:rPr>
              <a:t xml:space="preserve">CareBuddy product &amp; brand ↗</a:t>
            </a:r>
            <a:endParaRPr lang="en-US" sz="2850" spc="-71" kern="400000">
              <a:latin typeface="Deck"/>
            </a:endParaRPr>
          </a:p>
        </p:txBody>
      </p:sp>
      <p:sp>
        <p:nvSpPr>
          <p:cNvPr id="9" name="s21-t005">
            <a:extLst xmlns:a="http://schemas.openxmlformats.org/drawingml/2006/main">
              <a:ext uri="{FF2B5EF4-FFF2-40B4-BE49-F238E27FC236}">
                <a16:creationId xmlns:a16="http://schemas.microsoft.com/office/drawing/2014/main" id="{D2D54BE4-475B-4A2F-8D49-63B3B7B8BC30}"/>
              </a:ext>
            </a:extLst>
          </p:cNvPr>
          <p:cNvSpPr>
            <a:spLocks xmlns:a="http://schemas.openxmlformats.org/drawingml/2006/main" noGrp="1"/>
          </p:cNvSpPr>
          <p:nvPr/>
        </p:nvSpPr>
        <p:spPr>
          <a:xfrm xmlns:a="http://schemas.openxmlformats.org/drawingml/2006/main">
            <a:off x="1771650" y="4314440"/>
            <a:ext cx="6058891"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5" kern="400000">
                <a:solidFill>
                  <a:srgbClr val="AEBCB3"/>
                </a:solidFill>
                <a:latin typeface="Deck"/>
                <a:ea typeface="Deck"/>
                <a:cs typeface="Deck"/>
              </a:defRPr>
            </a:pPr>
            <a:r>
              <a:rPr sz="1950" b="0" i="0" kern="400000" spc="-5">
                <a:solidFill>
                  <a:srgbClr val="AEBCB3">
                    <a:alpha val="100000"/>
                  </a:srgbClr>
                </a:solidFill>
                <a:latin typeface="Deck"/>
                <a:ea typeface="Deck"/>
                <a:cs typeface="Deck"/>
              </a:rPr>
              <a:t xml:space="preserve">Current slogan, visual identity and public prototype.</a:t>
            </a:r>
            <a:endParaRPr lang="en-US" sz="1950" spc="-5" kern="400000">
              <a:latin typeface="Deck"/>
            </a:endParaRPr>
          </a:p>
        </p:txBody>
      </p:sp>
      <p:sp>
        <p:nvSpPr>
          <p:cNvPr id="10" name="s21-t006">
            <a:extLst xmlns:a="http://schemas.openxmlformats.org/drawingml/2006/main">
              <a:ext uri="{FF2B5EF4-FFF2-40B4-BE49-F238E27FC236}">
                <a16:creationId xmlns:a16="http://schemas.microsoft.com/office/drawing/2014/main" id="{DABD6220-9BAB-4AD4-B091-50B6D012A4A1}"/>
              </a:ext>
            </a:extLst>
          </p:cNvPr>
          <p:cNvSpPr>
            <a:spLocks xmlns:a="http://schemas.openxmlformats.org/drawingml/2006/main" noGrp="1"/>
          </p:cNvSpPr>
          <p:nvPr/>
        </p:nvSpPr>
        <p:spPr>
          <a:xfrm xmlns:a="http://schemas.openxmlformats.org/drawingml/2006/main">
            <a:off x="1009650" y="3761374"/>
            <a:ext cx="475059"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01</a:t>
            </a:r>
            <a:endParaRPr lang="en-US" sz="1725" spc="150" kern="400000">
              <a:latin typeface="Deck"/>
            </a:endParaRPr>
          </a:p>
        </p:txBody>
      </p:sp>
      <p:sp>
        <p:nvSpPr>
          <p:cNvPr id="11" name="s21-t007">
            <a:hlinkClick xmlns:r="http://schemas.openxmlformats.org/officeDocument/2006/relationships" xmlns:a="http://schemas.openxmlformats.org/drawingml/2006/main" r:id="R977ab59221c74515"/>
            <a:extLst xmlns:a="http://schemas.openxmlformats.org/drawingml/2006/main">
              <a:ext uri="{FF2B5EF4-FFF2-40B4-BE49-F238E27FC236}">
                <a16:creationId xmlns:a16="http://schemas.microsoft.com/office/drawing/2014/main" id="{93586D50-CC11-40EC-8F39-9363FFBFD9A1}"/>
              </a:ext>
            </a:extLst>
          </p:cNvPr>
          <p:cNvSpPr>
            <a:spLocks xmlns:a="http://schemas.openxmlformats.org/drawingml/2006/main" noGrp="1"/>
          </p:cNvSpPr>
          <p:nvPr/>
        </p:nvSpPr>
        <p:spPr>
          <a:xfrm xmlns:a="http://schemas.openxmlformats.org/drawingml/2006/main">
            <a:off x="1771650" y="5188346"/>
            <a:ext cx="3332998"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68" kern="400000" u="none">
                <a:solidFill>
                  <a:srgbClr val="9BDAB6"/>
                </a:solidFill>
                <a:latin typeface="Deck"/>
                <a:ea typeface="Deck"/>
                <a:cs typeface="Deck"/>
              </a:defRPr>
            </a:pPr>
            <a:r>
              <a:rPr sz="2850" b="0" i="0" kern="400000" spc="-68" u="none">
                <a:solidFill>
                  <a:srgbClr val="9BDAB6">
                    <a:alpha val="100000"/>
                  </a:srgbClr>
                </a:solidFill>
                <a:latin typeface="Deck"/>
                <a:ea typeface="Deck"/>
                <a:cs typeface="Deck"/>
              </a:rPr>
              <a:t xml:space="preserve">CareBuddy demo ↗</a:t>
            </a:r>
            <a:endParaRPr lang="en-US" sz="2850" spc="-68" kern="400000">
              <a:latin typeface="Deck"/>
            </a:endParaRPr>
          </a:p>
        </p:txBody>
      </p:sp>
      <p:sp>
        <p:nvSpPr>
          <p:cNvPr id="12" name="s21-t008">
            <a:extLst xmlns:a="http://schemas.openxmlformats.org/drawingml/2006/main">
              <a:ext uri="{FF2B5EF4-FFF2-40B4-BE49-F238E27FC236}">
                <a16:creationId xmlns:a16="http://schemas.microsoft.com/office/drawing/2014/main" id="{D0AD99B4-EEDA-4EDD-AF35-3AF8BA27B624}"/>
              </a:ext>
            </a:extLst>
          </p:cNvPr>
          <p:cNvSpPr>
            <a:spLocks xmlns:a="http://schemas.openxmlformats.org/drawingml/2006/main" noGrp="1"/>
          </p:cNvSpPr>
          <p:nvPr/>
        </p:nvSpPr>
        <p:spPr>
          <a:xfrm xmlns:a="http://schemas.openxmlformats.org/drawingml/2006/main">
            <a:off x="1771650" y="5769993"/>
            <a:ext cx="875357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13" kern="400000">
                <a:solidFill>
                  <a:srgbClr val="AEBCB3"/>
                </a:solidFill>
                <a:latin typeface="Deck"/>
                <a:ea typeface="Deck"/>
                <a:cs typeface="Deck"/>
              </a:defRPr>
            </a:pPr>
            <a:r>
              <a:rPr sz="1950" b="0" i="0" kern="400000" spc="-13">
                <a:solidFill>
                  <a:srgbClr val="AEBCB3">
                    <a:alpha val="100000"/>
                  </a:srgbClr>
                </a:solidFill>
                <a:latin typeface="Deck"/>
                <a:ea typeface="Deck"/>
                <a:cs typeface="Deck"/>
              </a:rPr>
              <a:t xml:space="preserve">Original screens: Today, Family, Health, Sleep, Benefits, Buddy and Settings.</a:t>
            </a:r>
            <a:endParaRPr lang="en-US" sz="1950" spc="-13" kern="400000">
              <a:latin typeface="Deck"/>
            </a:endParaRPr>
          </a:p>
        </p:txBody>
      </p:sp>
      <p:sp>
        <p:nvSpPr>
          <p:cNvPr id="13" name="s21-t009">
            <a:extLst xmlns:a="http://schemas.openxmlformats.org/drawingml/2006/main">
              <a:ext uri="{FF2B5EF4-FFF2-40B4-BE49-F238E27FC236}">
                <a16:creationId xmlns:a16="http://schemas.microsoft.com/office/drawing/2014/main" id="{DD85B413-8CC6-43FA-A358-77FD46D3A405}"/>
              </a:ext>
            </a:extLst>
          </p:cNvPr>
          <p:cNvSpPr>
            <a:spLocks xmlns:a="http://schemas.openxmlformats.org/drawingml/2006/main" noGrp="1"/>
          </p:cNvSpPr>
          <p:nvPr/>
        </p:nvSpPr>
        <p:spPr>
          <a:xfrm xmlns:a="http://schemas.openxmlformats.org/drawingml/2006/main">
            <a:off x="1009650" y="5216927"/>
            <a:ext cx="523913"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02</a:t>
            </a:r>
            <a:endParaRPr lang="en-US" sz="1725" spc="150" kern="400000">
              <a:latin typeface="Deck"/>
            </a:endParaRPr>
          </a:p>
        </p:txBody>
      </p:sp>
      <p:sp>
        <p:nvSpPr>
          <p:cNvPr id="14" name="s21-t010">
            <a:hlinkClick xmlns:r="http://schemas.openxmlformats.org/officeDocument/2006/relationships" xmlns:a="http://schemas.openxmlformats.org/drawingml/2006/main" r:id="R3ed6cdc3ef654af7"/>
            <a:extLst xmlns:a="http://schemas.openxmlformats.org/drawingml/2006/main">
              <a:ext uri="{FF2B5EF4-FFF2-40B4-BE49-F238E27FC236}">
                <a16:creationId xmlns:a16="http://schemas.microsoft.com/office/drawing/2014/main" id="{4FB56056-C6CB-4D94-B628-0CADCDC2E1E9}"/>
              </a:ext>
            </a:extLst>
          </p:cNvPr>
          <p:cNvSpPr>
            <a:spLocks xmlns:a="http://schemas.openxmlformats.org/drawingml/2006/main" noGrp="1"/>
          </p:cNvSpPr>
          <p:nvPr/>
        </p:nvSpPr>
        <p:spPr>
          <a:xfrm xmlns:a="http://schemas.openxmlformats.org/drawingml/2006/main">
            <a:off x="1771650" y="6643899"/>
            <a:ext cx="3509439" cy="4451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2850" spc="-110" kern="400000" u="none">
                <a:solidFill>
                  <a:srgbClr val="9BDAB6"/>
                </a:solidFill>
                <a:latin typeface="Deck"/>
                <a:ea typeface="Deck"/>
                <a:cs typeface="Deck"/>
              </a:defRPr>
            </a:pPr>
            <a:r>
              <a:rPr sz="2850" b="0" i="0" kern="400000" spc="-110" u="none">
                <a:solidFill>
                  <a:srgbClr val="9BDAB6">
                    <a:alpha val="100000"/>
                  </a:srgbClr>
                </a:solidFill>
                <a:latin typeface="Deck"/>
                <a:ea typeface="Deck"/>
                <a:cs typeface="Deck"/>
              </a:rPr>
              <a:t xml:space="preserve">Tencent TokenHub ↗</a:t>
            </a:r>
            <a:endParaRPr lang="en-US" sz="2850" spc="-110" kern="400000">
              <a:latin typeface="Deck"/>
            </a:endParaRPr>
          </a:p>
        </p:txBody>
      </p:sp>
      <p:sp>
        <p:nvSpPr>
          <p:cNvPr id="15" name="s21-t011">
            <a:extLst xmlns:a="http://schemas.openxmlformats.org/drawingml/2006/main">
              <a:ext uri="{FF2B5EF4-FFF2-40B4-BE49-F238E27FC236}">
                <a16:creationId xmlns:a16="http://schemas.microsoft.com/office/drawing/2014/main" id="{CC82E5B2-F293-4101-B84B-E139C0839B06}"/>
              </a:ext>
            </a:extLst>
          </p:cNvPr>
          <p:cNvSpPr>
            <a:spLocks xmlns:a="http://schemas.openxmlformats.org/drawingml/2006/main" noGrp="1"/>
          </p:cNvSpPr>
          <p:nvPr/>
        </p:nvSpPr>
        <p:spPr>
          <a:xfrm xmlns:a="http://schemas.openxmlformats.org/drawingml/2006/main">
            <a:off x="1771650" y="7225547"/>
            <a:ext cx="9202560" cy="304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950" spc="-6" kern="400000">
                <a:solidFill>
                  <a:srgbClr val="AEBCB3"/>
                </a:solidFill>
                <a:latin typeface="Deck"/>
                <a:ea typeface="Deck"/>
                <a:cs typeface="Deck"/>
              </a:defRPr>
            </a:pPr>
            <a:r>
              <a:rPr sz="1950" b="0" i="0" kern="400000" spc="-6">
                <a:solidFill>
                  <a:srgbClr val="AEBCB3">
                    <a:alpha val="100000"/>
                  </a:srgbClr>
                </a:solidFill>
                <a:latin typeface="Deck"/>
                <a:ea typeface="Deck"/>
                <a:cs typeface="Deck"/>
              </a:rPr>
              <a:t xml:space="preserve">Architecture names are supplied by the team; deployment evidence is separate.</a:t>
            </a:r>
            <a:endParaRPr lang="en-US" sz="1950" spc="-6" kern="400000">
              <a:latin typeface="Deck"/>
            </a:endParaRPr>
          </a:p>
        </p:txBody>
      </p:sp>
      <p:sp>
        <p:nvSpPr>
          <p:cNvPr id="16" name="s21-t012">
            <a:extLst xmlns:a="http://schemas.openxmlformats.org/drawingml/2006/main">
              <a:ext uri="{FF2B5EF4-FFF2-40B4-BE49-F238E27FC236}">
                <a16:creationId xmlns:a16="http://schemas.microsoft.com/office/drawing/2014/main" id="{1067A211-A871-453E-BC82-F990619FB8EE}"/>
              </a:ext>
            </a:extLst>
          </p:cNvPr>
          <p:cNvSpPr>
            <a:spLocks xmlns:a="http://schemas.openxmlformats.org/drawingml/2006/main" noGrp="1"/>
          </p:cNvSpPr>
          <p:nvPr/>
        </p:nvSpPr>
        <p:spPr>
          <a:xfrm xmlns:a="http://schemas.openxmlformats.org/drawingml/2006/main">
            <a:off x="1009650" y="6672481"/>
            <a:ext cx="526980" cy="2694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725" spc="150" kern="400000">
                <a:solidFill>
                  <a:srgbClr val="9BDAB6"/>
                </a:solidFill>
                <a:latin typeface="Deck"/>
                <a:ea typeface="Deck"/>
                <a:cs typeface="Deck"/>
              </a:defRPr>
            </a:pPr>
            <a:r>
              <a:rPr sz="1725" b="0" i="0" kern="400000" spc="150">
                <a:solidFill>
                  <a:srgbClr val="9BDAB6">
                    <a:alpha val="100000"/>
                  </a:srgbClr>
                </a:solidFill>
                <a:latin typeface="Deck"/>
                <a:ea typeface="Deck"/>
                <a:cs typeface="Deck"/>
              </a:rPr>
              <a:t xml:space="preserve">03</a:t>
            </a:r>
            <a:endParaRPr lang="en-US" sz="1725" spc="150" kern="400000">
              <a:latin typeface="Deck"/>
            </a:endParaRPr>
          </a:p>
        </p:txBody>
      </p:sp>
      <p:sp>
        <p:nvSpPr>
          <p:cNvPr id="17" name="s21-t013">
            <a:extLst xmlns:a="http://schemas.openxmlformats.org/drawingml/2006/main">
              <a:ext uri="{FF2B5EF4-FFF2-40B4-BE49-F238E27FC236}">
                <a16:creationId xmlns:a16="http://schemas.microsoft.com/office/drawing/2014/main" id="{F17BC578-0E95-4E99-8F4D-CC6849957D70}"/>
              </a:ext>
            </a:extLst>
          </p:cNvPr>
          <p:cNvSpPr>
            <a:spLocks xmlns:a="http://schemas.openxmlformats.org/drawingml/2006/main" noGrp="1"/>
          </p:cNvSpPr>
          <p:nvPr/>
        </p:nvSpPr>
        <p:spPr>
          <a:xfrm xmlns:a="http://schemas.openxmlformats.org/drawingml/2006/main">
            <a:off x="17179124" y="9730387"/>
            <a:ext cx="393430" cy="2108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chorCtr="0" horzOverflow="overflow" vertOverflow="overflow">
            <a:noAutofit/>
          </a:bodyPr>
          <a:lstStyle xmlns:a="http://schemas.openxmlformats.org/drawingml/2006/main"/>
          <a:p xmlns:a="http://schemas.openxmlformats.org/drawingml/2006/main">
            <a:pPr algn="l">
              <a:defRPr sz="1350" spc="6" kern="400000">
                <a:solidFill>
                  <a:srgbClr val="FAF6F0"/>
                </a:solidFill>
                <a:latin typeface="Deck"/>
                <a:ea typeface="Deck"/>
                <a:cs typeface="Deck"/>
              </a:defRPr>
            </a:pPr>
            <a:r>
              <a:rPr sz="1350" b="0" i="0" kern="400000" spc="6">
                <a:solidFill>
                  <a:srgbClr val="A0A19D">
                    <a:alpha val="100000"/>
                  </a:srgbClr>
                </a:solidFill>
                <a:latin typeface="Deck"/>
                <a:ea typeface="Deck"/>
                <a:cs typeface="Deck"/>
              </a:rPr>
              <a:t xml:space="preserve">21</a:t>
            </a:r>
            <a:endParaRPr lang="en-US" sz="1350" spc="6" kern="400000">
              <a:latin typeface="Deck"/>
            </a:endParaRPr>
          </a:p>
        </p:txBody>
      </p:sp>
    </p:spTree>
    <p:extLst>
      <p:ext uri="{BB962C8B-B14F-4D97-AF65-F5344CB8AC3E}">
        <p14:creationId xmlns:p14="http://schemas.microsoft.com/office/powerpoint/2010/main" val="1791565596"/>
      </p:ext>
    </p:extLst>
  </p:cSld>
</p:sld>
</file>

<file path=ppt/slides/slide22.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cxnSp>
        <p:nvCxnSpPr>
          <p:cNvPr id="43" name=""/>
          <p:cNvCxnSpPr>
            <a:stCxn xmlns:a="http://schemas.openxmlformats.org/drawingml/2006/main" id="14" idx="3"/>
            <a:endCxn xmlns:a="http://schemas.openxmlformats.org/drawingml/2006/main" id="24" idx="1"/>
          </p:cNvCxnSpPr>
          <p:nvPr/>
        </p:nvCxnSpPr>
        <p:spPr>
          <a:xfrm xmlns:a="http://schemas.openxmlformats.org/drawingml/2006/main" flipV="1">
            <a:off x="10191750" y="4924425"/>
            <a:ext cx="3619500" cy="190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4" name=""/>
          <p:cNvCxnSpPr>
            <a:stCxn xmlns:a="http://schemas.openxmlformats.org/drawingml/2006/main" id="17" idx="3"/>
            <a:endCxn xmlns:a="http://schemas.openxmlformats.org/drawingml/2006/main" id="20" idx="1"/>
          </p:cNvCxnSpPr>
          <p:nvPr/>
        </p:nvCxnSpPr>
        <p:spPr>
          <a:xfrm xmlns:a="http://schemas.openxmlformats.org/drawingml/2006/main" flipV="1">
            <a:off x="10191750" y="5857875"/>
            <a:ext cx="628650" cy="103822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5" name=""/>
          <p:cNvCxnSpPr>
            <a:stCxn xmlns:a="http://schemas.openxmlformats.org/drawingml/2006/main" id="14" idx="3"/>
            <a:endCxn xmlns:a="http://schemas.openxmlformats.org/drawingml/2006/main" id="20" idx="1"/>
          </p:cNvCxnSpPr>
          <p:nvPr/>
        </p:nvCxnSpPr>
        <p:spPr>
          <a:xfrm xmlns:a="http://schemas.openxmlformats.org/drawingml/2006/main">
            <a:off x="10191750" y="4943475"/>
            <a:ext cx="628650" cy="91440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6" name=""/>
          <p:cNvCxnSpPr>
            <a:stCxn xmlns:a="http://schemas.openxmlformats.org/drawingml/2006/main" id="9" idx="3"/>
            <a:endCxn xmlns:a="http://schemas.openxmlformats.org/drawingml/2006/main" id="17" idx="1"/>
          </p:cNvCxnSpPr>
          <p:nvPr/>
        </p:nvCxnSpPr>
        <p:spPr>
          <a:xfrm xmlns:a="http://schemas.openxmlformats.org/drawingml/2006/main">
            <a:off x="6953250" y="5762625"/>
            <a:ext cx="838200" cy="1133475"/>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7" name=""/>
          <p:cNvCxnSpPr>
            <a:stCxn xmlns:a="http://schemas.openxmlformats.org/drawingml/2006/main" id="9" idx="3"/>
            <a:endCxn xmlns:a="http://schemas.openxmlformats.org/drawingml/2006/main" id="14" idx="1"/>
          </p:cNvCxnSpPr>
          <p:nvPr/>
        </p:nvCxnSpPr>
        <p:spPr>
          <a:xfrm xmlns:a="http://schemas.openxmlformats.org/drawingml/2006/main" flipV="1">
            <a:off x="6953250" y="4943475"/>
            <a:ext cx="838200" cy="819150"/>
          </a:xfrm>
          <a:prstGeom xmlns:a="http://schemas.openxmlformats.org/drawingml/2006/main" prst="bentConnector3">
            <a:avLst>
              <a:gd name="adj1" fmla="val 50000"/>
            </a:avLst>
          </a:prstGeom>
          <a:ln xmlns:a="http://schemas.openxmlformats.org/drawingml/2006/main" w="19050">
            <a:solidFill>
              <a:srgbClr val="9BDAB6"/>
            </a:solidFill>
            <a:tailEnd type="triangle" w="med" len="med"/>
          </a:ln>
        </p:spPr>
      </p:cxnSp>
      <p:cxnSp>
        <p:nvCxnSpPr>
          <p:cNvPr id="48" name=""/>
          <p:cNvCxnSpPr>
            <a:stCxn xmlns:a="http://schemas.openxmlformats.org/drawingml/2006/main" id="6" idx="3"/>
            <a:endCxn xmlns:a="http://schemas.openxmlformats.org/drawingml/2006/main" id="9" idx="1"/>
          </p:cNvCxnSpPr>
          <p:nvPr/>
        </p:nvCxnSpPr>
        <p:spPr>
          <a:xfrm xmlns:a="http://schemas.openxmlformats.org/drawingml/2006/main">
            <a:off x="3438525" y="5762625"/>
            <a:ext cx="752475" cy="0"/>
          </a:xfrm>
          <a:prstGeom xmlns:a="http://schemas.openxmlformats.org/drawingml/2006/main" prst="straightConnector1">
            <a:avLst/>
          </a:prstGeom>
          <a:ln xmlns:a="http://schemas.openxmlformats.org/drawingml/2006/main" w="19050">
            <a:solidFill>
              <a:srgbClr val="9BDAB6"/>
            </a:solidFill>
            <a:tailEnd type="triangle" w="med" len="med"/>
          </a:ln>
        </p:spPr>
      </p:cxnSp>
      <p:sp>
        <p:nvSpPr>
          <p:cNvPr id="49" name="appendix-text-1">
            <a:extLst xmlns:a="http://schemas.openxmlformats.org/drawingml/2006/main">
              <a:ext uri="{FF2B5EF4-FFF2-40B4-BE49-F238E27FC236}">
                <a16:creationId xmlns:a16="http://schemas.microsoft.com/office/drawing/2014/main" id="{7BA94566-6CC2-46C5-9DE1-FD3EB917D1BB}"/>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STRATEGY &amp; PRODUCTION APPENDIX</a:t>
            </a:r>
          </a:p>
        </p:txBody>
      </p:sp>
      <p:sp>
        <p:nvSpPr>
          <p:cNvPr id="2" name="appendix-text-2">
            <a:extLst xmlns:a="http://schemas.openxmlformats.org/drawingml/2006/main">
              <a:ext uri="{FF2B5EF4-FFF2-40B4-BE49-F238E27FC236}">
                <a16:creationId xmlns:a16="http://schemas.microsoft.com/office/drawing/2014/main" id="{6F6EBF7A-D114-4079-8757-D0F3FC203825}"/>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FAF6F0"/>
                </a:solidFill>
                <a:latin typeface="Deck-Semi-Bold"/>
                <a:ea typeface="Deck-Semi-Bold"/>
                <a:cs typeface="Deck-Semi-Bold"/>
              </a:defRPr>
            </a:pPr>
            <a:r>
              <a:rPr sz="6525">
                <a:solidFill>
                  <a:srgbClr val="FAF6F0"/>
                </a:solidFill>
                <a:latin typeface="Deck-Semi-Bold"/>
                <a:ea typeface="Deck-Semi-Bold"/>
                <a:cs typeface="Deck-Semi-Bold"/>
              </a:rPr>
              <a:t>High availability architecture</a:t>
            </a:r>
          </a:p>
        </p:txBody>
      </p:sp>
      <p:sp>
        <p:nvSpPr>
          <p:cNvPr id="3" name="appendix-text-3">
            <a:extLst xmlns:a="http://schemas.openxmlformats.org/drawingml/2006/main">
              <a:ext uri="{FF2B5EF4-FFF2-40B4-BE49-F238E27FC236}">
                <a16:creationId xmlns:a16="http://schemas.microsoft.com/office/drawing/2014/main" id="{2B25E3A0-3B15-4F0A-9A78-F92E325C2591}"/>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Proposed Tencent Cloud deployment in Singapore</a:t>
            </a:r>
          </a:p>
        </p:txBody>
      </p:sp>
      <p:sp>
        <p:nvSpPr>
          <p:cNvPr id="4" name="Singapore-region-boundary">
            <a:extLst xmlns:a="http://schemas.openxmlformats.org/drawingml/2006/main">
              <a:ext uri="{FF2B5EF4-FFF2-40B4-BE49-F238E27FC236}">
                <a16:creationId xmlns:a16="http://schemas.microsoft.com/office/drawing/2014/main" id="{B2B20CFD-397C-4EDE-A699-3F66EE25F63D}"/>
              </a:ext>
            </a:extLst>
          </p:cNvPr>
          <p:cNvSpPr>
            <a:spLocks xmlns:a="http://schemas.openxmlformats.org/drawingml/2006/main" noGrp="1"/>
          </p:cNvSpPr>
          <p:nvPr/>
        </p:nvSpPr>
        <p:spPr>
          <a:xfrm xmlns:a="http://schemas.openxmlformats.org/drawingml/2006/main">
            <a:off x="3876675" y="3333750"/>
            <a:ext cx="9382125" cy="4667250"/>
          </a:xfrm>
          <a:prstGeom xmlns:a="http://schemas.openxmlformats.org/drawingml/2006/main" prst="rect">
            <a:avLst/>
          </a:prstGeom>
          <a:noFill xmlns:a="http://schemas.openxmlformats.org/drawingml/2006/main"/>
          <a:ln xmlns:a="http://schemas.openxmlformats.org/drawingml/2006/main" w="14288">
            <a:solidFill>
              <a:srgbClr val="557C63"/>
            </a:solidFill>
          </a:ln>
        </p:spPr>
      </p:sp>
      <p:sp>
        <p:nvSpPr>
          <p:cNvPr id="5" name="appendix-text-4">
            <a:extLst xmlns:a="http://schemas.openxmlformats.org/drawingml/2006/main">
              <a:ext uri="{FF2B5EF4-FFF2-40B4-BE49-F238E27FC236}">
                <a16:creationId xmlns:a16="http://schemas.microsoft.com/office/drawing/2014/main" id="{39F0EFFC-0B95-436C-AE47-149AE912489D}"/>
              </a:ext>
            </a:extLst>
          </p:cNvPr>
          <p:cNvSpPr>
            <a:spLocks xmlns:a="http://schemas.openxmlformats.org/drawingml/2006/main" noGrp="1"/>
          </p:cNvSpPr>
          <p:nvPr/>
        </p:nvSpPr>
        <p:spPr>
          <a:xfrm xmlns:a="http://schemas.openxmlformats.org/drawingml/2006/main">
            <a:off x="4095750" y="3524250"/>
            <a:ext cx="8905875"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9BDAB6"/>
                </a:solidFill>
                <a:latin typeface="Deck-Medium"/>
                <a:ea typeface="Deck-Medium"/>
                <a:cs typeface="Deck-Medium"/>
              </a:defRPr>
            </a:pPr>
            <a:r>
              <a:rPr sz="1650">
                <a:solidFill>
                  <a:srgbClr val="9BDAB6"/>
                </a:solidFill>
                <a:latin typeface="Deck-Medium"/>
                <a:ea typeface="Deck-Medium"/>
                <a:cs typeface="Deck-Medium"/>
              </a:rPr>
              <a:t>SINGAPORE REGION · SAME VPC, TWO AVAILABILITY ZONES</a:t>
            </a:r>
          </a:p>
        </p:txBody>
      </p:sp>
      <p:sp>
        <p:nvSpPr>
          <p:cNvPr id="6" name="CareBuddy-PWA">
            <a:extLst xmlns:a="http://schemas.openxmlformats.org/drawingml/2006/main">
              <a:ext uri="{FF2B5EF4-FFF2-40B4-BE49-F238E27FC236}">
                <a16:creationId xmlns:a16="http://schemas.microsoft.com/office/drawing/2014/main" id="{0BE8B5E1-EA77-4D49-8D4D-C083E92880F8}"/>
              </a:ext>
            </a:extLst>
          </p:cNvPr>
          <p:cNvSpPr>
            <a:spLocks xmlns:a="http://schemas.openxmlformats.org/drawingml/2006/main" noGrp="1"/>
          </p:cNvSpPr>
          <p:nvPr/>
        </p:nvSpPr>
        <p:spPr>
          <a:xfrm xmlns:a="http://schemas.openxmlformats.org/drawingml/2006/main">
            <a:off x="990600" y="5191125"/>
            <a:ext cx="2447925"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7" name="appendix-text-5">
            <a:extLst xmlns:a="http://schemas.openxmlformats.org/drawingml/2006/main">
              <a:ext uri="{FF2B5EF4-FFF2-40B4-BE49-F238E27FC236}">
                <a16:creationId xmlns:a16="http://schemas.microsoft.com/office/drawing/2014/main" id="{05527D46-641B-4706-81A9-7993AEC03AD4}"/>
              </a:ext>
            </a:extLst>
          </p:cNvPr>
          <p:cNvSpPr>
            <a:spLocks xmlns:a="http://schemas.openxmlformats.org/drawingml/2006/main" noGrp="1"/>
          </p:cNvSpPr>
          <p:nvPr/>
        </p:nvSpPr>
        <p:spPr>
          <a:xfrm xmlns:a="http://schemas.openxmlformats.org/drawingml/2006/main">
            <a:off x="1143000" y="5381625"/>
            <a:ext cx="21431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CareBuddy PWA</a:t>
            </a:r>
          </a:p>
        </p:txBody>
      </p:sp>
      <p:sp>
        <p:nvSpPr>
          <p:cNvPr id="8" name="appendix-text-6">
            <a:extLst xmlns:a="http://schemas.openxmlformats.org/drawingml/2006/main">
              <a:ext uri="{FF2B5EF4-FFF2-40B4-BE49-F238E27FC236}">
                <a16:creationId xmlns:a16="http://schemas.microsoft.com/office/drawing/2014/main" id="{BBE1AFEE-3A8D-4E56-8729-AACB53BD23FB}"/>
              </a:ext>
            </a:extLst>
          </p:cNvPr>
          <p:cNvSpPr>
            <a:spLocks xmlns:a="http://schemas.openxmlformats.org/drawingml/2006/main" noGrp="1"/>
          </p:cNvSpPr>
          <p:nvPr/>
        </p:nvSpPr>
        <p:spPr>
          <a:xfrm xmlns:a="http://schemas.openxmlformats.org/drawingml/2006/main">
            <a:off x="1143000" y="5819775"/>
            <a:ext cx="21431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Family &amp; caregivers</a:t>
            </a:r>
          </a:p>
        </p:txBody>
      </p:sp>
      <p:sp>
        <p:nvSpPr>
          <p:cNvPr id="9" name="regional-load-balancer">
            <a:extLst xmlns:a="http://schemas.openxmlformats.org/drawingml/2006/main">
              <a:ext uri="{FF2B5EF4-FFF2-40B4-BE49-F238E27FC236}">
                <a16:creationId xmlns:a16="http://schemas.microsoft.com/office/drawing/2014/main" id="{BAD0AC37-8C8B-4D21-A45C-CF8E6CE3496E}"/>
              </a:ext>
            </a:extLst>
          </p:cNvPr>
          <p:cNvSpPr>
            <a:spLocks xmlns:a="http://schemas.openxmlformats.org/drawingml/2006/main" noGrp="1"/>
          </p:cNvSpPr>
          <p:nvPr/>
        </p:nvSpPr>
        <p:spPr>
          <a:xfrm xmlns:a="http://schemas.openxmlformats.org/drawingml/2006/main">
            <a:off x="4191000" y="5191125"/>
            <a:ext cx="2762250" cy="11430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0" name="appendix-text-7">
            <a:extLst xmlns:a="http://schemas.openxmlformats.org/drawingml/2006/main">
              <a:ext uri="{FF2B5EF4-FFF2-40B4-BE49-F238E27FC236}">
                <a16:creationId xmlns:a16="http://schemas.microsoft.com/office/drawing/2014/main" id="{3703D929-9687-4C3E-8D1B-9CC5AB4BA0BB}"/>
              </a:ext>
            </a:extLst>
          </p:cNvPr>
          <p:cNvSpPr>
            <a:spLocks xmlns:a="http://schemas.openxmlformats.org/drawingml/2006/main" noGrp="1"/>
          </p:cNvSpPr>
          <p:nvPr/>
        </p:nvSpPr>
        <p:spPr>
          <a:xfrm xmlns:a="http://schemas.openxmlformats.org/drawingml/2006/main">
            <a:off x="4343400" y="5381625"/>
            <a:ext cx="2457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WAF + regional CLB</a:t>
            </a:r>
          </a:p>
        </p:txBody>
      </p:sp>
      <p:sp>
        <p:nvSpPr>
          <p:cNvPr id="11" name="appendix-text-8">
            <a:extLst xmlns:a="http://schemas.openxmlformats.org/drawingml/2006/main">
              <a:ext uri="{FF2B5EF4-FFF2-40B4-BE49-F238E27FC236}">
                <a16:creationId xmlns:a16="http://schemas.microsoft.com/office/drawing/2014/main" id="{AEE72CA2-DC85-4E43-A78C-FA09EF24BD44}"/>
              </a:ext>
            </a:extLst>
          </p:cNvPr>
          <p:cNvSpPr>
            <a:spLocks xmlns:a="http://schemas.openxmlformats.org/drawingml/2006/main" noGrp="1"/>
          </p:cNvSpPr>
          <p:nvPr/>
        </p:nvSpPr>
        <p:spPr>
          <a:xfrm xmlns:a="http://schemas.openxmlformats.org/drawingml/2006/main">
            <a:off x="4343400" y="5819775"/>
            <a:ext cx="24574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Healthy replicas only</a:t>
            </a:r>
          </a:p>
        </p:txBody>
      </p:sp>
      <p:sp>
        <p:nvSpPr>
          <p:cNvPr id="12" name="appendix-text-9">
            <a:extLst xmlns:a="http://schemas.openxmlformats.org/drawingml/2006/main">
              <a:ext uri="{FF2B5EF4-FFF2-40B4-BE49-F238E27FC236}">
                <a16:creationId xmlns:a16="http://schemas.microsoft.com/office/drawing/2014/main" id="{8EC6228C-39B1-4EED-B556-0D1CE10FA111}"/>
              </a:ext>
            </a:extLst>
          </p:cNvPr>
          <p:cNvSpPr>
            <a:spLocks xmlns:a="http://schemas.openxmlformats.org/drawingml/2006/main" noGrp="1"/>
          </p:cNvSpPr>
          <p:nvPr/>
        </p:nvSpPr>
        <p:spPr>
          <a:xfrm xmlns:a="http://schemas.openxmlformats.org/drawingml/2006/main">
            <a:off x="7791450" y="4067175"/>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1</a:t>
            </a:r>
          </a:p>
        </p:txBody>
      </p:sp>
      <p:sp>
        <p:nvSpPr>
          <p:cNvPr id="13" name="appendix-text-10">
            <a:extLst xmlns:a="http://schemas.openxmlformats.org/drawingml/2006/main">
              <a:ext uri="{FF2B5EF4-FFF2-40B4-BE49-F238E27FC236}">
                <a16:creationId xmlns:a16="http://schemas.microsoft.com/office/drawing/2014/main" id="{52F0B40D-7178-49DF-8A62-693A40D3EFDF}"/>
              </a:ext>
            </a:extLst>
          </p:cNvPr>
          <p:cNvSpPr>
            <a:spLocks xmlns:a="http://schemas.openxmlformats.org/drawingml/2006/main" noGrp="1"/>
          </p:cNvSpPr>
          <p:nvPr/>
        </p:nvSpPr>
        <p:spPr>
          <a:xfrm xmlns:a="http://schemas.openxmlformats.org/drawingml/2006/main">
            <a:off x="7791450" y="6019800"/>
            <a:ext cx="247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500">
                <a:solidFill>
                  <a:srgbClr val="9BDAB6"/>
                </a:solidFill>
                <a:latin typeface="Deck-Medium"/>
                <a:ea typeface="Deck-Medium"/>
                <a:cs typeface="Deck-Medium"/>
              </a:defRPr>
            </a:pPr>
            <a:r>
              <a:rPr sz="1500">
                <a:solidFill>
                  <a:srgbClr val="9BDAB6"/>
                </a:solidFill>
                <a:latin typeface="Deck-Medium"/>
                <a:ea typeface="Deck-Medium"/>
                <a:cs typeface="Deck-Medium"/>
              </a:rPr>
              <a:t>SINGAPORE ZONE 2</a:t>
            </a:r>
          </a:p>
        </p:txBody>
      </p:sp>
      <p:sp>
        <p:nvSpPr>
          <p:cNvPr id="14" name="API-replica-zone-1">
            <a:extLst xmlns:a="http://schemas.openxmlformats.org/drawingml/2006/main">
              <a:ext uri="{FF2B5EF4-FFF2-40B4-BE49-F238E27FC236}">
                <a16:creationId xmlns:a16="http://schemas.microsoft.com/office/drawing/2014/main" id="{1D5EE665-BEA2-4CC8-A6F2-9A9825F71B8C}"/>
              </a:ext>
            </a:extLst>
          </p:cNvPr>
          <p:cNvSpPr>
            <a:spLocks xmlns:a="http://schemas.openxmlformats.org/drawingml/2006/main" noGrp="1"/>
          </p:cNvSpPr>
          <p:nvPr/>
        </p:nvSpPr>
        <p:spPr>
          <a:xfrm xmlns:a="http://schemas.openxmlformats.org/drawingml/2006/main">
            <a:off x="7791450" y="4410075"/>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5" name="appendix-text-11">
            <a:extLst xmlns:a="http://schemas.openxmlformats.org/drawingml/2006/main">
              <a:ext uri="{FF2B5EF4-FFF2-40B4-BE49-F238E27FC236}">
                <a16:creationId xmlns:a16="http://schemas.microsoft.com/office/drawing/2014/main" id="{7DBFFF4F-7D62-4914-8D9D-414DB84C953C}"/>
              </a:ext>
            </a:extLst>
          </p:cNvPr>
          <p:cNvSpPr>
            <a:spLocks xmlns:a="http://schemas.openxmlformats.org/drawingml/2006/main" noGrp="1"/>
          </p:cNvSpPr>
          <p:nvPr/>
        </p:nvSpPr>
        <p:spPr>
          <a:xfrm xmlns:a="http://schemas.openxmlformats.org/drawingml/2006/main">
            <a:off x="7943850" y="4600575"/>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6" name="appendix-text-12">
            <a:extLst xmlns:a="http://schemas.openxmlformats.org/drawingml/2006/main">
              <a:ext uri="{FF2B5EF4-FFF2-40B4-BE49-F238E27FC236}">
                <a16:creationId xmlns:a16="http://schemas.microsoft.com/office/drawing/2014/main" id="{561747E3-30C5-4830-80BE-87A8950FE9DA}"/>
              </a:ext>
            </a:extLst>
          </p:cNvPr>
          <p:cNvSpPr>
            <a:spLocks xmlns:a="http://schemas.openxmlformats.org/drawingml/2006/main" noGrp="1"/>
          </p:cNvSpPr>
          <p:nvPr/>
        </p:nvSpPr>
        <p:spPr>
          <a:xfrm xmlns:a="http://schemas.openxmlformats.org/drawingml/2006/main">
            <a:off x="7943850" y="5038725"/>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17" name="API-replica-zone-2">
            <a:extLst xmlns:a="http://schemas.openxmlformats.org/drawingml/2006/main">
              <a:ext uri="{FF2B5EF4-FFF2-40B4-BE49-F238E27FC236}">
                <a16:creationId xmlns:a16="http://schemas.microsoft.com/office/drawing/2014/main" id="{81CE6D2D-7ABE-4FDC-AEC5-444991E2C7EA}"/>
              </a:ext>
            </a:extLst>
          </p:cNvPr>
          <p:cNvSpPr>
            <a:spLocks xmlns:a="http://schemas.openxmlformats.org/drawingml/2006/main" noGrp="1"/>
          </p:cNvSpPr>
          <p:nvPr/>
        </p:nvSpPr>
        <p:spPr>
          <a:xfrm xmlns:a="http://schemas.openxmlformats.org/drawingml/2006/main">
            <a:off x="7791450" y="6362700"/>
            <a:ext cx="2400300" cy="10668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18" name="appendix-text-13">
            <a:extLst xmlns:a="http://schemas.openxmlformats.org/drawingml/2006/main">
              <a:ext uri="{FF2B5EF4-FFF2-40B4-BE49-F238E27FC236}">
                <a16:creationId xmlns:a16="http://schemas.microsoft.com/office/drawing/2014/main" id="{75E0208F-87A1-4E75-AB1B-A6B8D2B599C8}"/>
              </a:ext>
            </a:extLst>
          </p:cNvPr>
          <p:cNvSpPr>
            <a:spLocks xmlns:a="http://schemas.openxmlformats.org/drawingml/2006/main" noGrp="1"/>
          </p:cNvSpPr>
          <p:nvPr/>
        </p:nvSpPr>
        <p:spPr>
          <a:xfrm xmlns:a="http://schemas.openxmlformats.org/drawingml/2006/main">
            <a:off x="7943850" y="6553200"/>
            <a:ext cx="2095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Medium"/>
                <a:ea typeface="Deck-Medium"/>
                <a:cs typeface="Deck-Medium"/>
              </a:defRPr>
            </a:pPr>
            <a:r>
              <a:rPr sz="2175">
                <a:solidFill>
                  <a:srgbClr val="FAF6F0"/>
                </a:solidFill>
                <a:latin typeface="Deck-Medium"/>
                <a:ea typeface="Deck-Medium"/>
                <a:cs typeface="Deck-Medium"/>
              </a:rPr>
              <a:t>Stateless API</a:t>
            </a:r>
          </a:p>
        </p:txBody>
      </p:sp>
      <p:sp>
        <p:nvSpPr>
          <p:cNvPr id="19" name="appendix-text-14">
            <a:extLst xmlns:a="http://schemas.openxmlformats.org/drawingml/2006/main">
              <a:ext uri="{FF2B5EF4-FFF2-40B4-BE49-F238E27FC236}">
                <a16:creationId xmlns:a16="http://schemas.microsoft.com/office/drawing/2014/main" id="{E8D6C717-4CB2-46FC-8369-9813BEA75992}"/>
              </a:ext>
            </a:extLst>
          </p:cNvPr>
          <p:cNvSpPr>
            <a:spLocks xmlns:a="http://schemas.openxmlformats.org/drawingml/2006/main" noGrp="1"/>
          </p:cNvSpPr>
          <p:nvPr/>
        </p:nvSpPr>
        <p:spPr>
          <a:xfrm xmlns:a="http://schemas.openxmlformats.org/drawingml/2006/main">
            <a:off x="7943850" y="6991350"/>
            <a:ext cx="20955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Replica + worker</a:t>
            </a:r>
          </a:p>
        </p:txBody>
      </p:sp>
      <p:sp>
        <p:nvSpPr>
          <p:cNvPr id="20" name="managed-database">
            <a:extLst xmlns:a="http://schemas.openxmlformats.org/drawingml/2006/main">
              <a:ext uri="{FF2B5EF4-FFF2-40B4-BE49-F238E27FC236}">
                <a16:creationId xmlns:a16="http://schemas.microsoft.com/office/drawing/2014/main" id="{4A8ED98A-70AA-44C2-834D-1A579C4F9A73}"/>
              </a:ext>
            </a:extLst>
          </p:cNvPr>
          <p:cNvSpPr>
            <a:spLocks xmlns:a="http://schemas.openxmlformats.org/drawingml/2006/main" noGrp="1"/>
          </p:cNvSpPr>
          <p:nvPr/>
        </p:nvSpPr>
        <p:spPr>
          <a:xfrm xmlns:a="http://schemas.openxmlformats.org/drawingml/2006/main">
            <a:off x="10820400" y="5191125"/>
            <a:ext cx="2162175" cy="133350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1" name="appendix-text-15">
            <a:extLst xmlns:a="http://schemas.openxmlformats.org/drawingml/2006/main">
              <a:ext uri="{FF2B5EF4-FFF2-40B4-BE49-F238E27FC236}">
                <a16:creationId xmlns:a16="http://schemas.microsoft.com/office/drawing/2014/main" id="{4FBFCB61-EC9A-492C-837F-898970111E02}"/>
              </a:ext>
            </a:extLst>
          </p:cNvPr>
          <p:cNvSpPr>
            <a:spLocks xmlns:a="http://schemas.openxmlformats.org/drawingml/2006/main" noGrp="1"/>
          </p:cNvSpPr>
          <p:nvPr/>
        </p:nvSpPr>
        <p:spPr>
          <a:xfrm xmlns:a="http://schemas.openxmlformats.org/drawingml/2006/main">
            <a:off x="10972800" y="5381625"/>
            <a:ext cx="1857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FAF6F0"/>
                </a:solidFill>
                <a:latin typeface="Deck-Medium"/>
                <a:ea typeface="Deck-Medium"/>
                <a:cs typeface="Deck-Medium"/>
              </a:defRPr>
            </a:pPr>
            <a:r>
              <a:rPr sz="2100">
                <a:solidFill>
                  <a:srgbClr val="FAF6F0"/>
                </a:solidFill>
                <a:latin typeface="Deck-Medium"/>
                <a:ea typeface="Deck-Medium"/>
                <a:cs typeface="Deck-Medium"/>
              </a:rPr>
              <a:t>Managed SQL</a:t>
            </a:r>
          </a:p>
        </p:txBody>
      </p:sp>
      <p:sp>
        <p:nvSpPr>
          <p:cNvPr id="22" name="appendix-text-16">
            <a:extLst xmlns:a="http://schemas.openxmlformats.org/drawingml/2006/main">
              <a:ext uri="{FF2B5EF4-FFF2-40B4-BE49-F238E27FC236}">
                <a16:creationId xmlns:a16="http://schemas.microsoft.com/office/drawing/2014/main" id="{95208A88-434B-4C4C-B96B-26C9E9AC6F16}"/>
              </a:ext>
            </a:extLst>
          </p:cNvPr>
          <p:cNvSpPr>
            <a:spLocks xmlns:a="http://schemas.openxmlformats.org/drawingml/2006/main" noGrp="1"/>
          </p:cNvSpPr>
          <p:nvPr/>
        </p:nvSpPr>
        <p:spPr>
          <a:xfrm xmlns:a="http://schemas.openxmlformats.org/drawingml/2006/main">
            <a:off x="10972800" y="58197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Primary, standby</a:t>
            </a:r>
          </a:p>
        </p:txBody>
      </p:sp>
      <p:sp>
        <p:nvSpPr>
          <p:cNvPr id="23" name="appendix-text-17">
            <a:extLst xmlns:a="http://schemas.openxmlformats.org/drawingml/2006/main">
              <a:ext uri="{FF2B5EF4-FFF2-40B4-BE49-F238E27FC236}">
                <a16:creationId xmlns:a16="http://schemas.microsoft.com/office/drawing/2014/main" id="{25BB2670-BFEC-40DB-9589-CB9D89CEF085}"/>
              </a:ext>
            </a:extLst>
          </p:cNvPr>
          <p:cNvSpPr>
            <a:spLocks xmlns:a="http://schemas.openxmlformats.org/drawingml/2006/main" noGrp="1"/>
          </p:cNvSpPr>
          <p:nvPr/>
        </p:nvSpPr>
        <p:spPr>
          <a:xfrm xmlns:a="http://schemas.openxmlformats.org/drawingml/2006/main">
            <a:off x="10972800" y="6124575"/>
            <a:ext cx="185737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Across zones</a:t>
            </a:r>
          </a:p>
        </p:txBody>
      </p:sp>
      <p:sp>
        <p:nvSpPr>
          <p:cNvPr id="24" name="external-AI-dependency">
            <a:extLst xmlns:a="http://schemas.openxmlformats.org/drawingml/2006/main">
              <a:ext uri="{FF2B5EF4-FFF2-40B4-BE49-F238E27FC236}">
                <a16:creationId xmlns:a16="http://schemas.microsoft.com/office/drawing/2014/main" id="{F8B92DBA-C4A3-4EBF-AD8B-6A682FFB3067}"/>
              </a:ext>
            </a:extLst>
          </p:cNvPr>
          <p:cNvSpPr>
            <a:spLocks xmlns:a="http://schemas.openxmlformats.org/drawingml/2006/main" noGrp="1"/>
          </p:cNvSpPr>
          <p:nvPr/>
        </p:nvSpPr>
        <p:spPr>
          <a:xfrm xmlns:a="http://schemas.openxmlformats.org/drawingml/2006/main">
            <a:off x="13811250" y="4305300"/>
            <a:ext cx="3476625" cy="1238250"/>
          </a:xfrm>
          <a:prstGeom xmlns:a="http://schemas.openxmlformats.org/drawingml/2006/main" prst="rect">
            <a:avLst/>
          </a:prstGeom>
          <a:solidFill xmlns:a="http://schemas.openxmlformats.org/drawingml/2006/main">
            <a:srgbClr val="13241C"/>
          </a:solidFill>
          <a:ln xmlns:a="http://schemas.openxmlformats.org/drawingml/2006/main" w="15240">
            <a:solidFill>
              <a:srgbClr val="557C63"/>
            </a:solidFill>
          </a:ln>
        </p:spPr>
      </p:sp>
      <p:sp>
        <p:nvSpPr>
          <p:cNvPr id="25" name="appendix-text-18">
            <a:extLst xmlns:a="http://schemas.openxmlformats.org/drawingml/2006/main">
              <a:ext uri="{FF2B5EF4-FFF2-40B4-BE49-F238E27FC236}">
                <a16:creationId xmlns:a16="http://schemas.microsoft.com/office/drawing/2014/main" id="{A395D509-343D-4406-BB04-3F6CECB75D93}"/>
              </a:ext>
            </a:extLst>
          </p:cNvPr>
          <p:cNvSpPr>
            <a:spLocks xmlns:a="http://schemas.openxmlformats.org/drawingml/2006/main" noGrp="1"/>
          </p:cNvSpPr>
          <p:nvPr/>
        </p:nvSpPr>
        <p:spPr>
          <a:xfrm xmlns:a="http://schemas.openxmlformats.org/drawingml/2006/main">
            <a:off x="13963650" y="4495800"/>
            <a:ext cx="3171825"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FAF6F0"/>
                </a:solidFill>
                <a:latin typeface="Deck-Medium"/>
                <a:ea typeface="Deck-Medium"/>
                <a:cs typeface="Deck-Medium"/>
              </a:defRPr>
            </a:pPr>
            <a:r>
              <a:rPr sz="2475">
                <a:solidFill>
                  <a:srgbClr val="FAF6F0"/>
                </a:solidFill>
                <a:latin typeface="Deck-Medium"/>
                <a:ea typeface="Deck-Medium"/>
                <a:cs typeface="Deck-Medium"/>
              </a:rPr>
              <a:t>Tencent TokenHub</a:t>
            </a:r>
          </a:p>
        </p:txBody>
      </p:sp>
      <p:sp>
        <p:nvSpPr>
          <p:cNvPr id="26" name="appendix-text-19">
            <a:extLst xmlns:a="http://schemas.openxmlformats.org/drawingml/2006/main">
              <a:ext uri="{FF2B5EF4-FFF2-40B4-BE49-F238E27FC236}">
                <a16:creationId xmlns:a16="http://schemas.microsoft.com/office/drawing/2014/main" id="{7634FB96-6120-4AF7-8AAD-0DB0C64B70AF}"/>
              </a:ext>
            </a:extLst>
          </p:cNvPr>
          <p:cNvSpPr>
            <a:spLocks xmlns:a="http://schemas.openxmlformats.org/drawingml/2006/main" noGrp="1"/>
          </p:cNvSpPr>
          <p:nvPr/>
        </p:nvSpPr>
        <p:spPr>
          <a:xfrm xmlns:a="http://schemas.openxmlformats.org/drawingml/2006/main">
            <a:off x="13963650" y="4933950"/>
            <a:ext cx="31718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External model inference</a:t>
            </a:r>
          </a:p>
        </p:txBody>
      </p:sp>
      <p:sp>
        <p:nvSpPr>
          <p:cNvPr id="33" name="appendix-text-20">
            <a:extLst xmlns:a="http://schemas.openxmlformats.org/drawingml/2006/main">
              <a:ext uri="{FF2B5EF4-FFF2-40B4-BE49-F238E27FC236}">
                <a16:creationId xmlns:a16="http://schemas.microsoft.com/office/drawing/2014/main" id="{C3F58370-0751-4FBC-9F37-009ED6D3EB25}"/>
              </a:ext>
            </a:extLst>
          </p:cNvPr>
          <p:cNvSpPr>
            <a:spLocks xmlns:a="http://schemas.openxmlformats.org/drawingml/2006/main" noGrp="1"/>
          </p:cNvSpPr>
          <p:nvPr/>
        </p:nvSpPr>
        <p:spPr>
          <a:xfrm xmlns:a="http://schemas.openxmlformats.org/drawingml/2006/main">
            <a:off x="4133850" y="7620000"/>
            <a:ext cx="881062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Durable outbox + retries · encrypted backups · probes &amp; alerts</a:t>
            </a:r>
          </a:p>
        </p:txBody>
      </p:sp>
      <p:sp>
        <p:nvSpPr>
          <p:cNvPr id="34" name="appendix-text-21">
            <a:extLst xmlns:a="http://schemas.openxmlformats.org/drawingml/2006/main">
              <a:ext uri="{FF2B5EF4-FFF2-40B4-BE49-F238E27FC236}">
                <a16:creationId xmlns:a16="http://schemas.microsoft.com/office/drawing/2014/main" id="{DEF6F7E8-BBC4-46F8-8982-4E9A6552B962}"/>
              </a:ext>
            </a:extLst>
          </p:cNvPr>
          <p:cNvSpPr>
            <a:spLocks xmlns:a="http://schemas.openxmlformats.org/drawingml/2006/main" noGrp="1"/>
          </p:cNvSpPr>
          <p:nvPr/>
        </p:nvSpPr>
        <p:spPr>
          <a:xfrm xmlns:a="http://schemas.openxmlformats.org/drawingml/2006/main">
            <a:off x="13811250" y="5962650"/>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Timeout + circuit breaker</a:t>
            </a:r>
          </a:p>
        </p:txBody>
      </p:sp>
      <p:sp>
        <p:nvSpPr>
          <p:cNvPr id="35" name="appendix-text-22">
            <a:extLst xmlns:a="http://schemas.openxmlformats.org/drawingml/2006/main">
              <a:ext uri="{FF2B5EF4-FFF2-40B4-BE49-F238E27FC236}">
                <a16:creationId xmlns:a16="http://schemas.microsoft.com/office/drawing/2014/main" id="{E6780E08-D84F-4F37-9E94-B4E1E306B46D}"/>
              </a:ext>
            </a:extLst>
          </p:cNvPr>
          <p:cNvSpPr>
            <a:spLocks xmlns:a="http://schemas.openxmlformats.org/drawingml/2006/main" noGrp="1"/>
          </p:cNvSpPr>
          <p:nvPr/>
        </p:nvSpPr>
        <p:spPr>
          <a:xfrm xmlns:a="http://schemas.openxmlformats.org/drawingml/2006/main">
            <a:off x="13811250" y="6353175"/>
            <a:ext cx="3476625"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9BDAB6"/>
                </a:solidFill>
                <a:latin typeface="Deck"/>
                <a:ea typeface="Deck"/>
                <a:cs typeface="Deck"/>
              </a:defRPr>
            </a:pPr>
            <a:r>
              <a:rPr sz="2025">
                <a:solidFill>
                  <a:srgbClr val="9BDAB6"/>
                </a:solidFill>
                <a:latin typeface="Deck"/>
                <a:ea typeface="Deck"/>
                <a:cs typeface="Deck"/>
              </a:rPr>
              <a:t>Manual actions still work</a:t>
            </a:r>
          </a:p>
        </p:txBody>
      </p:sp>
      <p:sp>
        <p:nvSpPr>
          <p:cNvPr id="36" name="appendix-text-23">
            <a:extLst xmlns:a="http://schemas.openxmlformats.org/drawingml/2006/main">
              <a:ext uri="{FF2B5EF4-FFF2-40B4-BE49-F238E27FC236}">
                <a16:creationId xmlns:a16="http://schemas.microsoft.com/office/drawing/2014/main" id="{58AB7F7E-53B7-4B27-9FED-30FE6A3E937D}"/>
              </a:ext>
            </a:extLst>
          </p:cNvPr>
          <p:cNvSpPr>
            <a:spLocks xmlns:a="http://schemas.openxmlformats.org/drawingml/2006/main" noGrp="1"/>
          </p:cNvSpPr>
          <p:nvPr/>
        </p:nvSpPr>
        <p:spPr>
          <a:xfrm xmlns:a="http://schemas.openxmlformats.org/drawingml/2006/main">
            <a:off x="13811250" y="7058025"/>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Review model data-processing</a:t>
            </a:r>
          </a:p>
        </p:txBody>
      </p:sp>
      <p:sp>
        <p:nvSpPr>
          <p:cNvPr id="37" name="appendix-text-24">
            <a:extLst xmlns:a="http://schemas.openxmlformats.org/drawingml/2006/main">
              <a:ext uri="{FF2B5EF4-FFF2-40B4-BE49-F238E27FC236}">
                <a16:creationId xmlns:a16="http://schemas.microsoft.com/office/drawing/2014/main" id="{117D1895-95CA-4A74-9ACE-6F2D73306724}"/>
              </a:ext>
            </a:extLst>
          </p:cNvPr>
          <p:cNvSpPr>
            <a:spLocks xmlns:a="http://schemas.openxmlformats.org/drawingml/2006/main" noGrp="1"/>
          </p:cNvSpPr>
          <p:nvPr/>
        </p:nvSpPr>
        <p:spPr>
          <a:xfrm xmlns:a="http://schemas.openxmlformats.org/drawingml/2006/main">
            <a:off x="13811250" y="7391400"/>
            <a:ext cx="3476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00">
                <a:solidFill>
                  <a:srgbClr val="A8BCB0"/>
                </a:solidFill>
                <a:latin typeface="Deck"/>
                <a:ea typeface="Deck"/>
                <a:cs typeface="Deck"/>
              </a:defRPr>
            </a:pPr>
            <a:r>
              <a:rPr sz="1800">
                <a:solidFill>
                  <a:srgbClr val="A8BCB0"/>
                </a:solidFill>
                <a:latin typeface="Deck"/>
                <a:ea typeface="Deck"/>
                <a:cs typeface="Deck"/>
              </a:rPr>
              <a:t>locations before the pilot</a:t>
            </a:r>
          </a:p>
        </p:txBody>
      </p:sp>
      <p:sp>
        <p:nvSpPr>
          <p:cNvPr id="38" name="appendix-text-25">
            <a:extLst xmlns:a="http://schemas.openxmlformats.org/drawingml/2006/main">
              <a:ext uri="{FF2B5EF4-FFF2-40B4-BE49-F238E27FC236}">
                <a16:creationId xmlns:a16="http://schemas.microsoft.com/office/drawing/2014/main" id="{3153CBFD-6F09-4986-9B03-F720C737D29A}"/>
              </a:ext>
            </a:extLst>
          </p:cNvPr>
          <p:cNvSpPr>
            <a:spLocks xmlns:a="http://schemas.openxmlformats.org/drawingml/2006/main" noGrp="1"/>
          </p:cNvSpPr>
          <p:nvPr/>
        </p:nvSpPr>
        <p:spPr>
          <a:xfrm xmlns:a="http://schemas.openxmlformats.org/drawingml/2006/main">
            <a:off x="1009650" y="8543925"/>
            <a:ext cx="33337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9BDAB6"/>
                </a:solidFill>
                <a:latin typeface="Deck-Medium"/>
                <a:ea typeface="Deck-Medium"/>
                <a:cs typeface="Deck-Medium"/>
              </a:defRPr>
            </a:pPr>
            <a:r>
              <a:rPr sz="2250">
                <a:solidFill>
                  <a:srgbClr val="9BDAB6"/>
                </a:solidFill>
                <a:latin typeface="Deck-Medium"/>
                <a:ea typeface="Deck-Medium"/>
                <a:cs typeface="Deck-Medium"/>
              </a:rPr>
              <a:t>Targets to validate</a:t>
            </a:r>
          </a:p>
        </p:txBody>
      </p:sp>
      <p:sp>
        <p:nvSpPr>
          <p:cNvPr id="39" name="appendix-text-26">
            <a:extLst xmlns:a="http://schemas.openxmlformats.org/drawingml/2006/main">
              <a:ext uri="{FF2B5EF4-FFF2-40B4-BE49-F238E27FC236}">
                <a16:creationId xmlns:a16="http://schemas.microsoft.com/office/drawing/2014/main" id="{2481DFD2-0E8F-44CB-AF09-5C2BA7B834B3}"/>
              </a:ext>
            </a:extLst>
          </p:cNvPr>
          <p:cNvSpPr>
            <a:spLocks xmlns:a="http://schemas.openxmlformats.org/drawingml/2006/main" noGrp="1"/>
          </p:cNvSpPr>
          <p:nvPr/>
        </p:nvSpPr>
        <p:spPr>
          <a:xfrm xmlns:a="http://schemas.openxmlformats.org/drawingml/2006/main">
            <a:off x="4381500" y="8543925"/>
            <a:ext cx="12620625"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FAF6F0"/>
                </a:solidFill>
                <a:latin typeface="Deck"/>
                <a:ea typeface="Deck"/>
                <a:cs typeface="Deck"/>
              </a:defRPr>
            </a:pPr>
            <a:r>
              <a:rPr sz="2175">
                <a:solidFill>
                  <a:srgbClr val="FAF6F0"/>
                </a:solidFill>
                <a:latin typeface="Deck"/>
                <a:ea typeface="Deck"/>
                <a:cs typeface="Deck"/>
              </a:rPr>
              <a:t>99.9% core availability · restore ≤30 min · data loss ≤15 min</a:t>
            </a:r>
          </a:p>
        </p:txBody>
      </p:sp>
      <p:sp>
        <p:nvSpPr>
          <p:cNvPr id="40" name="appendix-text-27">
            <a:extLst xmlns:a="http://schemas.openxmlformats.org/drawingml/2006/main">
              <a:ext uri="{FF2B5EF4-FFF2-40B4-BE49-F238E27FC236}">
                <a16:creationId xmlns:a16="http://schemas.microsoft.com/office/drawing/2014/main" id="{9DA1C90D-5900-4FC2-A4F5-E0619B59FD62}"/>
              </a:ext>
            </a:extLst>
          </p:cNvPr>
          <p:cNvSpPr>
            <a:spLocks xmlns:a="http://schemas.openxmlformats.org/drawingml/2006/main" noGrp="1"/>
          </p:cNvSpPr>
          <p:nvPr/>
        </p:nvSpPr>
        <p:spPr>
          <a:xfrm xmlns:a="http://schemas.openxmlformats.org/drawingml/2006/main">
            <a:off x="1009650" y="9077325"/>
            <a:ext cx="160020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A8BCB0"/>
                </a:solidFill>
                <a:latin typeface="Deck"/>
                <a:ea typeface="Deck"/>
                <a:cs typeface="Deck"/>
              </a:defRPr>
            </a:pPr>
            <a:r>
              <a:rPr sz="1875">
                <a:solidFill>
                  <a:srgbClr val="A8BCB0"/>
                </a:solidFill>
                <a:latin typeface="Deck"/>
                <a:ea typeface="Deck"/>
                <a:cs typeface="Deck"/>
              </a:rPr>
              <a:t>Regional disaster recovery needs a separate approved location and recovery plan.</a:t>
            </a:r>
          </a:p>
        </p:txBody>
      </p:sp>
      <p:sp>
        <p:nvSpPr>
          <p:cNvPr id="41" name="appendix-text-28">
            <a:extLst xmlns:a="http://schemas.openxmlformats.org/drawingml/2006/main">
              <a:ext uri="{FF2B5EF4-FFF2-40B4-BE49-F238E27FC236}">
                <a16:creationId xmlns:a16="http://schemas.microsoft.com/office/drawing/2014/main" id="{A8629C51-F564-4570-923D-9981421CB365}"/>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design; deployment choices and failover/restore drills still required. Source: Tencent Cloud Regions and Zones.</a:t>
            </a:r>
          </a:p>
        </p:txBody>
      </p:sp>
      <p:sp>
        <p:nvSpPr>
          <p:cNvPr id="42" name="appendix-text-29">
            <a:extLst xmlns:a="http://schemas.openxmlformats.org/drawingml/2006/main">
              <a:ext uri="{FF2B5EF4-FFF2-40B4-BE49-F238E27FC236}">
                <a16:creationId xmlns:a16="http://schemas.microsoft.com/office/drawing/2014/main" id="{D970E851-1549-4B02-AF86-A7030294FF12}"/>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22</a:t>
            </a:r>
          </a:p>
        </p:txBody>
      </p:sp>
    </p:spTree>
    <p:extLst>
      <p:ext uri="{BB962C8B-B14F-4D97-AF65-F5344CB8AC3E}">
        <p14:creationId xmlns:p14="http://schemas.microsoft.com/office/powerpoint/2010/main" val="1567535765"/>
      </p:ext>
    </p:extLst>
  </p:cSld>
</p:sld>
</file>

<file path=ppt/slides/slide2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41" name=""/>
          <p:cNvCxnSpPr>
            <a:stCxn xmlns:a="http://schemas.openxmlformats.org/drawingml/2006/main" id="14" idx="2"/>
            <a:endCxn xmlns:a="http://schemas.openxmlformats.org/drawingml/2006/main" id="20" idx="0"/>
          </p:cNvCxnSpPr>
          <p:nvPr/>
        </p:nvCxnSpPr>
        <p:spPr>
          <a:xfrm xmlns:a="http://schemas.openxmlformats.org/drawingml/2006/main">
            <a:off x="5343525" y="6934200"/>
            <a:ext cx="0" cy="800100"/>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2" name=""/>
          <p:cNvCxnSpPr>
            <a:stCxn xmlns:a="http://schemas.openxmlformats.org/drawingml/2006/main" id="11" idx="2"/>
            <a:endCxn xmlns:a="http://schemas.openxmlformats.org/drawingml/2006/main" id="14" idx="0"/>
          </p:cNvCxnSpPr>
          <p:nvPr/>
        </p:nvCxnSpPr>
        <p:spPr>
          <a:xfrm xmlns:a="http://schemas.openxmlformats.org/drawingml/2006/main" flipH="1">
            <a:off x="5343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cxnSp>
        <p:nvCxnSpPr>
          <p:cNvPr id="43" name=""/>
          <p:cNvCxnSpPr>
            <a:stCxn xmlns:a="http://schemas.openxmlformats.org/drawingml/2006/main" id="8" idx="2"/>
            <a:endCxn xmlns:a="http://schemas.openxmlformats.org/drawingml/2006/main" id="14" idx="0"/>
          </p:cNvCxnSpPr>
          <p:nvPr/>
        </p:nvCxnSpPr>
        <p:spPr>
          <a:xfrm xmlns:a="http://schemas.openxmlformats.org/drawingml/2006/main">
            <a:off x="5343525" y="4972050"/>
            <a:ext cx="0" cy="866775"/>
          </a:xfrm>
          <a:prstGeom xmlns:a="http://schemas.openxmlformats.org/drawingml/2006/main" prst="straightConnector1">
            <a:avLst/>
          </a:prstGeom>
          <a:ln xmlns:a="http://schemas.openxmlformats.org/drawingml/2006/main" w="19050">
            <a:solidFill>
              <a:srgbClr val="4F7A66"/>
            </a:solidFill>
            <a:tailEnd type="triangle" w="med" len="med"/>
          </a:ln>
        </p:spPr>
      </p:cxnSp>
      <p:cxnSp>
        <p:nvCxnSpPr>
          <p:cNvPr id="44" name=""/>
          <p:cNvCxnSpPr>
            <a:stCxn xmlns:a="http://schemas.openxmlformats.org/drawingml/2006/main" id="5" idx="2"/>
            <a:endCxn xmlns:a="http://schemas.openxmlformats.org/drawingml/2006/main" id="14" idx="0"/>
          </p:cNvCxnSpPr>
          <p:nvPr/>
        </p:nvCxnSpPr>
        <p:spPr>
          <a:xfrm xmlns:a="http://schemas.openxmlformats.org/drawingml/2006/main">
            <a:off x="2295525" y="4972050"/>
            <a:ext cx="3048000" cy="866775"/>
          </a:xfrm>
          <a:prstGeom xmlns:a="http://schemas.openxmlformats.org/drawingml/2006/main" prst="bentConnector4">
            <a:avLst>
              <a:gd name="adj1" fmla="val 0"/>
              <a:gd name="adj2" fmla="val 50000"/>
            </a:avLst>
          </a:prstGeom>
          <a:ln xmlns:a="http://schemas.openxmlformats.org/drawingml/2006/main" w="19050">
            <a:solidFill>
              <a:srgbClr val="4F7A66"/>
            </a:solidFill>
            <a:tailEnd type="triangle" w="med" len="med"/>
          </a:ln>
        </p:spPr>
      </p:cxnSp>
      <p:sp>
        <p:nvSpPr>
          <p:cNvPr id="45" name="appendix-text-30">
            <a:extLst xmlns:a="http://schemas.openxmlformats.org/drawingml/2006/main">
              <a:ext uri="{FF2B5EF4-FFF2-40B4-BE49-F238E27FC236}">
                <a16:creationId xmlns:a16="http://schemas.microsoft.com/office/drawing/2014/main" id="{57D1C5E7-BF57-4DFB-A92D-54746FF16C9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31">
            <a:extLst xmlns:a="http://schemas.openxmlformats.org/drawingml/2006/main">
              <a:ext uri="{FF2B5EF4-FFF2-40B4-BE49-F238E27FC236}">
                <a16:creationId xmlns:a16="http://schemas.microsoft.com/office/drawing/2014/main" id="{50A04727-0F9B-4A79-9E13-2A6EABFDA161}"/>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Multi-tenancy</a:t>
            </a:r>
          </a:p>
        </p:txBody>
      </p:sp>
      <p:sp>
        <p:nvSpPr>
          <p:cNvPr id="3" name="appendix-text-32">
            <a:extLst xmlns:a="http://schemas.openxmlformats.org/drawingml/2006/main">
              <a:ext uri="{FF2B5EF4-FFF2-40B4-BE49-F238E27FC236}">
                <a16:creationId xmlns:a16="http://schemas.microsoft.com/office/drawing/2014/main" id="{67260436-8316-4484-A2EC-4EBB435FA07F}"/>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One platform; organisation boundaries and consent within each care circle</a:t>
            </a:r>
          </a:p>
        </p:txBody>
      </p:sp>
      <p:sp>
        <p:nvSpPr>
          <p:cNvPr id="4" name="appendix-text-33">
            <a:extLst xmlns:a="http://schemas.openxmlformats.org/drawingml/2006/main">
              <a:ext uri="{FF2B5EF4-FFF2-40B4-BE49-F238E27FC236}">
                <a16:creationId xmlns:a16="http://schemas.microsoft.com/office/drawing/2014/main" id="{E874857C-D69A-4668-B6F2-1D8F86744C58}"/>
              </a:ext>
            </a:extLst>
          </p:cNvPr>
          <p:cNvSpPr>
            <a:spLocks xmlns:a="http://schemas.openxmlformats.org/drawingml/2006/main" noGrp="1"/>
          </p:cNvSpPr>
          <p:nvPr/>
        </p:nvSpPr>
        <p:spPr>
          <a:xfrm xmlns:a="http://schemas.openxmlformats.org/drawingml/2006/main">
            <a:off x="1009650" y="3409950"/>
            <a:ext cx="857250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TENANT = ORGANISATION OR DIRECT FAMILY ACCOUNT</a:t>
            </a:r>
          </a:p>
        </p:txBody>
      </p:sp>
      <p:sp>
        <p:nvSpPr>
          <p:cNvPr id="5" name="tenant-A">
            <a:extLst xmlns:a="http://schemas.openxmlformats.org/drawingml/2006/main">
              <a:ext uri="{FF2B5EF4-FFF2-40B4-BE49-F238E27FC236}">
                <a16:creationId xmlns:a16="http://schemas.microsoft.com/office/drawing/2014/main" id="{3E2955E5-5414-4720-BE16-639462A97D74}"/>
              </a:ext>
            </a:extLst>
          </p:cNvPr>
          <p:cNvSpPr>
            <a:spLocks xmlns:a="http://schemas.openxmlformats.org/drawingml/2006/main" noGrp="1"/>
          </p:cNvSpPr>
          <p:nvPr/>
        </p:nvSpPr>
        <p:spPr>
          <a:xfrm xmlns:a="http://schemas.openxmlformats.org/drawingml/2006/main">
            <a:off x="1009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6" name="appendix-text-34">
            <a:extLst xmlns:a="http://schemas.openxmlformats.org/drawingml/2006/main">
              <a:ext uri="{FF2B5EF4-FFF2-40B4-BE49-F238E27FC236}">
                <a16:creationId xmlns:a16="http://schemas.microsoft.com/office/drawing/2014/main" id="{29731904-9F06-4A27-9600-94523D0D5051}"/>
              </a:ext>
            </a:extLst>
          </p:cNvPr>
          <p:cNvSpPr>
            <a:spLocks xmlns:a="http://schemas.openxmlformats.org/drawingml/2006/main" noGrp="1"/>
          </p:cNvSpPr>
          <p:nvPr/>
        </p:nvSpPr>
        <p:spPr>
          <a:xfrm xmlns:a="http://schemas.openxmlformats.org/drawingml/2006/main">
            <a:off x="1162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A</a:t>
            </a:r>
          </a:p>
        </p:txBody>
      </p:sp>
      <p:sp>
        <p:nvSpPr>
          <p:cNvPr id="7" name="appendix-text-35">
            <a:extLst xmlns:a="http://schemas.openxmlformats.org/drawingml/2006/main">
              <a:ext uri="{FF2B5EF4-FFF2-40B4-BE49-F238E27FC236}">
                <a16:creationId xmlns:a16="http://schemas.microsoft.com/office/drawing/2014/main" id="{0FE9F989-5601-408C-A10E-F34A4DA2E0B5}"/>
              </a:ext>
            </a:extLst>
          </p:cNvPr>
          <p:cNvSpPr>
            <a:spLocks xmlns:a="http://schemas.openxmlformats.org/drawingml/2006/main" noGrp="1"/>
          </p:cNvSpPr>
          <p:nvPr/>
        </p:nvSpPr>
        <p:spPr>
          <a:xfrm xmlns:a="http://schemas.openxmlformats.org/drawingml/2006/main">
            <a:off x="1162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A1, A2</a:t>
            </a:r>
          </a:p>
        </p:txBody>
      </p:sp>
      <p:sp>
        <p:nvSpPr>
          <p:cNvPr id="8" name="tenant-B">
            <a:extLst xmlns:a="http://schemas.openxmlformats.org/drawingml/2006/main">
              <a:ext uri="{FF2B5EF4-FFF2-40B4-BE49-F238E27FC236}">
                <a16:creationId xmlns:a16="http://schemas.microsoft.com/office/drawing/2014/main" id="{8D11E90C-2694-434A-86C6-1C1C2471721E}"/>
              </a:ext>
            </a:extLst>
          </p:cNvPr>
          <p:cNvSpPr>
            <a:spLocks xmlns:a="http://schemas.openxmlformats.org/drawingml/2006/main" noGrp="1"/>
          </p:cNvSpPr>
          <p:nvPr/>
        </p:nvSpPr>
        <p:spPr>
          <a:xfrm xmlns:a="http://schemas.openxmlformats.org/drawingml/2006/main">
            <a:off x="4057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9" name="appendix-text-36">
            <a:extLst xmlns:a="http://schemas.openxmlformats.org/drawingml/2006/main">
              <a:ext uri="{FF2B5EF4-FFF2-40B4-BE49-F238E27FC236}">
                <a16:creationId xmlns:a16="http://schemas.microsoft.com/office/drawing/2014/main" id="{6862209A-B183-433F-BFB6-377F5D17758D}"/>
              </a:ext>
            </a:extLst>
          </p:cNvPr>
          <p:cNvSpPr>
            <a:spLocks xmlns:a="http://schemas.openxmlformats.org/drawingml/2006/main" noGrp="1"/>
          </p:cNvSpPr>
          <p:nvPr/>
        </p:nvSpPr>
        <p:spPr>
          <a:xfrm xmlns:a="http://schemas.openxmlformats.org/drawingml/2006/main">
            <a:off x="4210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Partner B</a:t>
            </a:r>
          </a:p>
        </p:txBody>
      </p:sp>
      <p:sp>
        <p:nvSpPr>
          <p:cNvPr id="10" name="appendix-text-37">
            <a:extLst xmlns:a="http://schemas.openxmlformats.org/drawingml/2006/main">
              <a:ext uri="{FF2B5EF4-FFF2-40B4-BE49-F238E27FC236}">
                <a16:creationId xmlns:a16="http://schemas.microsoft.com/office/drawing/2014/main" id="{2AF7DA4A-3E72-41AE-96D0-07EAACEB487B}"/>
              </a:ext>
            </a:extLst>
          </p:cNvPr>
          <p:cNvSpPr>
            <a:spLocks xmlns:a="http://schemas.openxmlformats.org/drawingml/2006/main" noGrp="1"/>
          </p:cNvSpPr>
          <p:nvPr/>
        </p:nvSpPr>
        <p:spPr>
          <a:xfrm xmlns:a="http://schemas.openxmlformats.org/drawingml/2006/main">
            <a:off x="4210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Care circles B1, B2</a:t>
            </a:r>
          </a:p>
        </p:txBody>
      </p:sp>
      <p:sp>
        <p:nvSpPr>
          <p:cNvPr id="11" name="direct-family">
            <a:extLst xmlns:a="http://schemas.openxmlformats.org/drawingml/2006/main">
              <a:ext uri="{FF2B5EF4-FFF2-40B4-BE49-F238E27FC236}">
                <a16:creationId xmlns:a16="http://schemas.microsoft.com/office/drawing/2014/main" id="{E492AAAD-CC76-4589-A650-907F00A6FA37}"/>
              </a:ext>
            </a:extLst>
          </p:cNvPr>
          <p:cNvSpPr>
            <a:spLocks xmlns:a="http://schemas.openxmlformats.org/drawingml/2006/main" noGrp="1"/>
          </p:cNvSpPr>
          <p:nvPr/>
        </p:nvSpPr>
        <p:spPr>
          <a:xfrm xmlns:a="http://schemas.openxmlformats.org/drawingml/2006/main">
            <a:off x="7105650" y="3971925"/>
            <a:ext cx="2571750" cy="100012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2" name="appendix-text-38">
            <a:extLst xmlns:a="http://schemas.openxmlformats.org/drawingml/2006/main">
              <a:ext uri="{FF2B5EF4-FFF2-40B4-BE49-F238E27FC236}">
                <a16:creationId xmlns:a16="http://schemas.microsoft.com/office/drawing/2014/main" id="{12D4EAF7-4359-4DDB-9C2D-8E74B666F889}"/>
              </a:ext>
            </a:extLst>
          </p:cNvPr>
          <p:cNvSpPr>
            <a:spLocks xmlns:a="http://schemas.openxmlformats.org/drawingml/2006/main" noGrp="1"/>
          </p:cNvSpPr>
          <p:nvPr/>
        </p:nvSpPr>
        <p:spPr>
          <a:xfrm xmlns:a="http://schemas.openxmlformats.org/drawingml/2006/main">
            <a:off x="7258050" y="4162425"/>
            <a:ext cx="2266950" cy="404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550">
                <a:solidFill>
                  <a:srgbClr val="3A3745"/>
                </a:solidFill>
                <a:latin typeface="Deck-Medium"/>
                <a:ea typeface="Deck-Medium"/>
                <a:cs typeface="Deck-Medium"/>
              </a:defRPr>
            </a:pPr>
            <a:r>
              <a:rPr sz="2550">
                <a:solidFill>
                  <a:srgbClr val="3A3745"/>
                </a:solidFill>
                <a:latin typeface="Deck-Medium"/>
                <a:ea typeface="Deck-Medium"/>
                <a:cs typeface="Deck-Medium"/>
              </a:rPr>
              <a:t>Direct family</a:t>
            </a:r>
          </a:p>
        </p:txBody>
      </p:sp>
      <p:sp>
        <p:nvSpPr>
          <p:cNvPr id="13" name="appendix-text-39">
            <a:extLst xmlns:a="http://schemas.openxmlformats.org/drawingml/2006/main">
              <a:ext uri="{FF2B5EF4-FFF2-40B4-BE49-F238E27FC236}">
                <a16:creationId xmlns:a16="http://schemas.microsoft.com/office/drawing/2014/main" id="{92A186B1-6160-4163-AAA5-F5A02511E514}"/>
              </a:ext>
            </a:extLst>
          </p:cNvPr>
          <p:cNvSpPr>
            <a:spLocks xmlns:a="http://schemas.openxmlformats.org/drawingml/2006/main" noGrp="1"/>
          </p:cNvSpPr>
          <p:nvPr/>
        </p:nvSpPr>
        <p:spPr>
          <a:xfrm xmlns:a="http://schemas.openxmlformats.org/drawingml/2006/main">
            <a:off x="7258050" y="4600575"/>
            <a:ext cx="2266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Private care circle</a:t>
            </a:r>
          </a:p>
        </p:txBody>
      </p:sp>
      <p:sp>
        <p:nvSpPr>
          <p:cNvPr id="14" name="shared-policy-enforcement">
            <a:extLst xmlns:a="http://schemas.openxmlformats.org/drawingml/2006/main">
              <a:ext uri="{FF2B5EF4-FFF2-40B4-BE49-F238E27FC236}">
                <a16:creationId xmlns:a16="http://schemas.microsoft.com/office/drawing/2014/main" id="{F8AA21EC-D853-4A38-AA6C-698A57E3A583}"/>
              </a:ext>
            </a:extLst>
          </p:cNvPr>
          <p:cNvSpPr>
            <a:spLocks xmlns:a="http://schemas.openxmlformats.org/drawingml/2006/main" noGrp="1"/>
          </p:cNvSpPr>
          <p:nvPr/>
        </p:nvSpPr>
        <p:spPr>
          <a:xfrm xmlns:a="http://schemas.openxmlformats.org/drawingml/2006/main">
            <a:off x="1009650" y="5838825"/>
            <a:ext cx="8667750" cy="1095375"/>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15" name="appendix-text-40">
            <a:extLst xmlns:a="http://schemas.openxmlformats.org/drawingml/2006/main">
              <a:ext uri="{FF2B5EF4-FFF2-40B4-BE49-F238E27FC236}">
                <a16:creationId xmlns:a16="http://schemas.microsoft.com/office/drawing/2014/main" id="{8C42E14E-8174-4484-9D7B-C9939754113C}"/>
              </a:ext>
            </a:extLst>
          </p:cNvPr>
          <p:cNvSpPr>
            <a:spLocks xmlns:a="http://schemas.openxmlformats.org/drawingml/2006/main" noGrp="1"/>
          </p:cNvSpPr>
          <p:nvPr/>
        </p:nvSpPr>
        <p:spPr>
          <a:xfrm xmlns:a="http://schemas.openxmlformats.org/drawingml/2006/main">
            <a:off x="1162050" y="6029325"/>
            <a:ext cx="8362950" cy="4167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3A3745"/>
                </a:solidFill>
                <a:latin typeface="Deck-Medium"/>
                <a:ea typeface="Deck-Medium"/>
                <a:cs typeface="Deck-Medium"/>
              </a:defRPr>
            </a:pPr>
            <a:r>
              <a:rPr sz="2625">
                <a:solidFill>
                  <a:srgbClr val="3A3745"/>
                </a:solidFill>
                <a:latin typeface="Deck-Medium"/>
                <a:ea typeface="Deck-Medium"/>
                <a:cs typeface="Deck-Medium"/>
              </a:rPr>
              <a:t>Shared application + access policy</a:t>
            </a:r>
          </a:p>
        </p:txBody>
      </p:sp>
      <p:sp>
        <p:nvSpPr>
          <p:cNvPr id="16" name="appendix-text-41">
            <a:extLst xmlns:a="http://schemas.openxmlformats.org/drawingml/2006/main">
              <a:ext uri="{FF2B5EF4-FFF2-40B4-BE49-F238E27FC236}">
                <a16:creationId xmlns:a16="http://schemas.microsoft.com/office/drawing/2014/main" id="{A1F27AF7-6444-42A6-8AB0-A8086EED7628}"/>
              </a:ext>
            </a:extLst>
          </p:cNvPr>
          <p:cNvSpPr>
            <a:spLocks xmlns:a="http://schemas.openxmlformats.org/drawingml/2006/main" noGrp="1"/>
          </p:cNvSpPr>
          <p:nvPr/>
        </p:nvSpPr>
        <p:spPr>
          <a:xfrm xmlns:a="http://schemas.openxmlformats.org/drawingml/2006/main">
            <a:off x="1162050" y="6467475"/>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Verified identity → tenant membership → circle permission</a:t>
            </a:r>
          </a:p>
        </p:txBody>
      </p:sp>
      <p:sp>
        <p:nvSpPr>
          <p:cNvPr id="20" name="tenant-scoped-data">
            <a:extLst xmlns:a="http://schemas.openxmlformats.org/drawingml/2006/main">
              <a:ext uri="{FF2B5EF4-FFF2-40B4-BE49-F238E27FC236}">
                <a16:creationId xmlns:a16="http://schemas.microsoft.com/office/drawing/2014/main" id="{37C4E31E-7F49-4A68-8E15-09BBA95434AD}"/>
              </a:ext>
            </a:extLst>
          </p:cNvPr>
          <p:cNvSpPr>
            <a:spLocks xmlns:a="http://schemas.openxmlformats.org/drawingml/2006/main" noGrp="1"/>
          </p:cNvSpPr>
          <p:nvPr/>
        </p:nvSpPr>
        <p:spPr>
          <a:xfrm xmlns:a="http://schemas.openxmlformats.org/drawingml/2006/main">
            <a:off x="1009650" y="7734300"/>
            <a:ext cx="8667750" cy="1104900"/>
          </a:xfrm>
          <a:prstGeom xmlns:a="http://schemas.openxmlformats.org/drawingml/2006/main" prst="rect">
            <a:avLst/>
          </a:prstGeom>
          <a:solidFill xmlns:a="http://schemas.openxmlformats.org/drawingml/2006/main">
            <a:srgbClr val="FFFFFF"/>
          </a:solidFill>
          <a:ln xmlns:a="http://schemas.openxmlformats.org/drawingml/2006/main" w="15240">
            <a:solidFill>
              <a:srgbClr val="4F7A66"/>
            </a:solidFill>
          </a:ln>
        </p:spPr>
      </p:sp>
      <p:sp>
        <p:nvSpPr>
          <p:cNvPr id="21" name="appendix-text-42">
            <a:extLst xmlns:a="http://schemas.openxmlformats.org/drawingml/2006/main">
              <a:ext uri="{FF2B5EF4-FFF2-40B4-BE49-F238E27FC236}">
                <a16:creationId xmlns:a16="http://schemas.microsoft.com/office/drawing/2014/main" id="{B9014924-CA61-4155-A9C0-E932BE34F58A}"/>
              </a:ext>
            </a:extLst>
          </p:cNvPr>
          <p:cNvSpPr>
            <a:spLocks xmlns:a="http://schemas.openxmlformats.org/drawingml/2006/main" noGrp="1"/>
          </p:cNvSpPr>
          <p:nvPr/>
        </p:nvSpPr>
        <p:spPr>
          <a:xfrm xmlns:a="http://schemas.openxmlformats.org/drawingml/2006/main">
            <a:off x="1162050" y="7924800"/>
            <a:ext cx="836295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3A3745"/>
                </a:solidFill>
                <a:latin typeface="Deck-Medium"/>
                <a:ea typeface="Deck-Medium"/>
                <a:cs typeface="Deck-Medium"/>
              </a:defRPr>
            </a:pPr>
            <a:r>
              <a:rPr sz="2475">
                <a:solidFill>
                  <a:srgbClr val="3A3745"/>
                </a:solidFill>
                <a:latin typeface="Deck-Medium"/>
                <a:ea typeface="Deck-Medium"/>
                <a:cs typeface="Deck-Medium"/>
              </a:rPr>
              <a:t>Tenant-scoped records, files and AI context</a:t>
            </a:r>
          </a:p>
        </p:txBody>
      </p:sp>
      <p:sp>
        <p:nvSpPr>
          <p:cNvPr id="22" name="appendix-text-43">
            <a:extLst xmlns:a="http://schemas.openxmlformats.org/drawingml/2006/main">
              <a:ext uri="{FF2B5EF4-FFF2-40B4-BE49-F238E27FC236}">
                <a16:creationId xmlns:a16="http://schemas.microsoft.com/office/drawing/2014/main" id="{C667B014-D188-4745-BECD-1BC93BC727B9}"/>
              </a:ext>
            </a:extLst>
          </p:cNvPr>
          <p:cNvSpPr>
            <a:spLocks xmlns:a="http://schemas.openxmlformats.org/drawingml/2006/main" noGrp="1"/>
          </p:cNvSpPr>
          <p:nvPr/>
        </p:nvSpPr>
        <p:spPr>
          <a:xfrm xmlns:a="http://schemas.openxmlformats.org/drawingml/2006/main">
            <a:off x="1162050" y="8362950"/>
            <a:ext cx="836295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4F7A66"/>
                </a:solidFill>
                <a:latin typeface="Deck"/>
                <a:ea typeface="Deck"/>
                <a:cs typeface="Deck"/>
              </a:defRPr>
            </a:pPr>
            <a:r>
              <a:rPr sz="1875">
                <a:solidFill>
                  <a:srgbClr val="4F7A66"/>
                </a:solidFill>
                <a:latin typeface="Deck"/>
                <a:ea typeface="Deck"/>
                <a:cs typeface="Deck"/>
              </a:rPr>
              <a:t>tenant_id + care_circle_id on every operation</a:t>
            </a:r>
          </a:p>
        </p:txBody>
      </p:sp>
      <p:sp>
        <p:nvSpPr>
          <p:cNvPr id="24" name="appendix-text-44">
            <a:extLst xmlns:a="http://schemas.openxmlformats.org/drawingml/2006/main">
              <a:ext uri="{FF2B5EF4-FFF2-40B4-BE49-F238E27FC236}">
                <a16:creationId xmlns:a16="http://schemas.microsoft.com/office/drawing/2014/main" id="{C45E3D41-FC78-48B6-9BEF-B3DFF1CE9E8C}"/>
              </a:ext>
            </a:extLst>
          </p:cNvPr>
          <p:cNvSpPr>
            <a:spLocks xmlns:a="http://schemas.openxmlformats.org/drawingml/2006/main" noGrp="1"/>
          </p:cNvSpPr>
          <p:nvPr/>
        </p:nvSpPr>
        <p:spPr>
          <a:xfrm xmlns:a="http://schemas.openxmlformats.org/drawingml/2006/main">
            <a:off x="10591800" y="359092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Access within a circle</a:t>
            </a:r>
          </a:p>
        </p:txBody>
      </p:sp>
      <p:sp>
        <p:nvSpPr>
          <p:cNvPr id="25" name="appendix-text-45">
            <a:extLst xmlns:a="http://schemas.openxmlformats.org/drawingml/2006/main">
              <a:ext uri="{FF2B5EF4-FFF2-40B4-BE49-F238E27FC236}">
                <a16:creationId xmlns:a16="http://schemas.microsoft.com/office/drawing/2014/main" id="{3920537C-88EA-45E6-B919-3B6083F988BB}"/>
              </a:ext>
            </a:extLst>
          </p:cNvPr>
          <p:cNvSpPr>
            <a:spLocks xmlns:a="http://schemas.openxmlformats.org/drawingml/2006/main" noGrp="1"/>
          </p:cNvSpPr>
          <p:nvPr/>
        </p:nvSpPr>
        <p:spPr>
          <a:xfrm xmlns:a="http://schemas.openxmlformats.org/drawingml/2006/main">
            <a:off x="10591800" y="40957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family owner grants view or edit rights.</a:t>
            </a:r>
          </a:p>
        </p:txBody>
      </p:sp>
      <p:sp>
        <p:nvSpPr>
          <p:cNvPr id="26" name="appendix-text-46">
            <a:extLst xmlns:a="http://schemas.openxmlformats.org/drawingml/2006/main">
              <a:ext uri="{FF2B5EF4-FFF2-40B4-BE49-F238E27FC236}">
                <a16:creationId xmlns:a16="http://schemas.microsoft.com/office/drawing/2014/main" id="{56482517-CA4B-4439-A3BC-2CB08D2268D0}"/>
              </a:ext>
            </a:extLst>
          </p:cNvPr>
          <p:cNvSpPr>
            <a:spLocks xmlns:a="http://schemas.openxmlformats.org/drawingml/2006/main" noGrp="1"/>
          </p:cNvSpPr>
          <p:nvPr/>
        </p:nvSpPr>
        <p:spPr>
          <a:xfrm xmlns:a="http://schemas.openxmlformats.org/drawingml/2006/main">
            <a:off x="10591800" y="448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Sponsor access follows explicit consent.</a:t>
            </a:r>
          </a:p>
        </p:txBody>
      </p:sp>
      <p:sp>
        <p:nvSpPr>
          <p:cNvPr id="27" name="">
            <a:extLst xmlns:a="http://schemas.openxmlformats.org/drawingml/2006/main">
              <a:ext uri="{FF2B5EF4-FFF2-40B4-BE49-F238E27FC236}">
                <a16:creationId xmlns:a16="http://schemas.microsoft.com/office/drawing/2014/main" id="{BBC20FF3-94A8-4638-B19F-A86AE6A676CB}"/>
              </a:ext>
            </a:extLst>
          </p:cNvPr>
          <p:cNvSpPr>
            <a:spLocks xmlns:a="http://schemas.openxmlformats.org/drawingml/2006/main" noGrp="1"/>
          </p:cNvSpPr>
          <p:nvPr/>
        </p:nvSpPr>
        <p:spPr>
          <a:xfrm xmlns:a="http://schemas.openxmlformats.org/drawingml/2006/main">
            <a:off x="10591800" y="483870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8" name="appendix-text-47">
            <a:extLst xmlns:a="http://schemas.openxmlformats.org/drawingml/2006/main">
              <a:ext uri="{FF2B5EF4-FFF2-40B4-BE49-F238E27FC236}">
                <a16:creationId xmlns:a16="http://schemas.microsoft.com/office/drawing/2014/main" id="{66C88D5A-32F7-4326-BDEA-893367FDA363}"/>
              </a:ext>
            </a:extLst>
          </p:cNvPr>
          <p:cNvSpPr>
            <a:spLocks xmlns:a="http://schemas.openxmlformats.org/drawingml/2006/main" noGrp="1"/>
          </p:cNvSpPr>
          <p:nvPr/>
        </p:nvSpPr>
        <p:spPr>
          <a:xfrm xmlns:a="http://schemas.openxmlformats.org/drawingml/2006/main">
            <a:off x="10591800" y="49911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Isolation across tenants</a:t>
            </a:r>
          </a:p>
        </p:txBody>
      </p:sp>
      <p:sp>
        <p:nvSpPr>
          <p:cNvPr id="29" name="appendix-text-48">
            <a:extLst xmlns:a="http://schemas.openxmlformats.org/drawingml/2006/main">
              <a:ext uri="{FF2B5EF4-FFF2-40B4-BE49-F238E27FC236}">
                <a16:creationId xmlns:a16="http://schemas.microsoft.com/office/drawing/2014/main" id="{7DC70346-2B67-4E51-AAA4-72499675BB67}"/>
              </a:ext>
            </a:extLst>
          </p:cNvPr>
          <p:cNvSpPr>
            <a:spLocks xmlns:a="http://schemas.openxmlformats.org/drawingml/2006/main" noGrp="1"/>
          </p:cNvSpPr>
          <p:nvPr/>
        </p:nvSpPr>
        <p:spPr>
          <a:xfrm xmlns:a="http://schemas.openxmlformats.org/drawingml/2006/main">
            <a:off x="10591800" y="54959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Validate tenant and circle scope on every</a:t>
            </a:r>
          </a:p>
        </p:txBody>
      </p:sp>
      <p:sp>
        <p:nvSpPr>
          <p:cNvPr id="30" name="appendix-text-49">
            <a:extLst xmlns:a="http://schemas.openxmlformats.org/drawingml/2006/main">
              <a:ext uri="{FF2B5EF4-FFF2-40B4-BE49-F238E27FC236}">
                <a16:creationId xmlns:a16="http://schemas.microsoft.com/office/drawing/2014/main" id="{9CE9CB1F-89C3-431D-BC9E-542DB49B52F4}"/>
              </a:ext>
            </a:extLst>
          </p:cNvPr>
          <p:cNvSpPr>
            <a:spLocks xmlns:a="http://schemas.openxmlformats.org/drawingml/2006/main" noGrp="1"/>
          </p:cNvSpPr>
          <p:nvPr/>
        </p:nvSpPr>
        <p:spPr>
          <a:xfrm xmlns:a="http://schemas.openxmlformats.org/drawingml/2006/main">
            <a:off x="10591800" y="588645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query, object path, job and AI request.</a:t>
            </a:r>
          </a:p>
        </p:txBody>
      </p:sp>
      <p:sp>
        <p:nvSpPr>
          <p:cNvPr id="31" name="">
            <a:extLst xmlns:a="http://schemas.openxmlformats.org/drawingml/2006/main">
              <a:ext uri="{FF2B5EF4-FFF2-40B4-BE49-F238E27FC236}">
                <a16:creationId xmlns:a16="http://schemas.microsoft.com/office/drawing/2014/main" id="{1447558F-0B0E-4DA0-8B93-B1397F6107D7}"/>
              </a:ext>
            </a:extLst>
          </p:cNvPr>
          <p:cNvSpPr>
            <a:spLocks xmlns:a="http://schemas.openxmlformats.org/drawingml/2006/main" noGrp="1"/>
          </p:cNvSpPr>
          <p:nvPr/>
        </p:nvSpPr>
        <p:spPr>
          <a:xfrm xmlns:a="http://schemas.openxmlformats.org/drawingml/2006/main">
            <a:off x="10591800" y="6238875"/>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2" name="appendix-text-50">
            <a:extLst xmlns:a="http://schemas.openxmlformats.org/drawingml/2006/main">
              <a:ext uri="{FF2B5EF4-FFF2-40B4-BE49-F238E27FC236}">
                <a16:creationId xmlns:a16="http://schemas.microsoft.com/office/drawing/2014/main" id="{C2E72D44-82F3-42F6-B862-2B811FE44AC7}"/>
              </a:ext>
            </a:extLst>
          </p:cNvPr>
          <p:cNvSpPr>
            <a:spLocks xmlns:a="http://schemas.openxmlformats.org/drawingml/2006/main" noGrp="1"/>
          </p:cNvSpPr>
          <p:nvPr/>
        </p:nvSpPr>
        <p:spPr>
          <a:xfrm xmlns:a="http://schemas.openxmlformats.org/drawingml/2006/main">
            <a:off x="10591800" y="6391275"/>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Operations at scale</a:t>
            </a:r>
          </a:p>
        </p:txBody>
      </p:sp>
      <p:sp>
        <p:nvSpPr>
          <p:cNvPr id="33" name="appendix-text-51">
            <a:extLst xmlns:a="http://schemas.openxmlformats.org/drawingml/2006/main">
              <a:ext uri="{FF2B5EF4-FFF2-40B4-BE49-F238E27FC236}">
                <a16:creationId xmlns:a16="http://schemas.microsoft.com/office/drawing/2014/main" id="{73127312-B3C4-4E99-A955-E8E703186B12}"/>
              </a:ext>
            </a:extLst>
          </p:cNvPr>
          <p:cNvSpPr>
            <a:spLocks xmlns:a="http://schemas.openxmlformats.org/drawingml/2006/main" noGrp="1"/>
          </p:cNvSpPr>
          <p:nvPr/>
        </p:nvSpPr>
        <p:spPr>
          <a:xfrm xmlns:a="http://schemas.openxmlformats.org/drawingml/2006/main">
            <a:off x="10591800" y="68961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Separate quotas, audit logs and billing.</a:t>
            </a:r>
          </a:p>
        </p:txBody>
      </p:sp>
      <p:sp>
        <p:nvSpPr>
          <p:cNvPr id="34" name="appendix-text-52">
            <a:extLst xmlns:a="http://schemas.openxmlformats.org/drawingml/2006/main">
              <a:ext uri="{FF2B5EF4-FFF2-40B4-BE49-F238E27FC236}">
                <a16:creationId xmlns:a16="http://schemas.microsoft.com/office/drawing/2014/main" id="{34180E16-D2B1-49A5-9033-0BB20247350D}"/>
              </a:ext>
            </a:extLst>
          </p:cNvPr>
          <p:cNvSpPr>
            <a:spLocks xmlns:a="http://schemas.openxmlformats.org/drawingml/2006/main" noGrp="1"/>
          </p:cNvSpPr>
          <p:nvPr/>
        </p:nvSpPr>
        <p:spPr>
          <a:xfrm xmlns:a="http://schemas.openxmlformats.org/drawingml/2006/main">
            <a:off x="10591800" y="728662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Test denied access across tenant boundaries.</a:t>
            </a:r>
          </a:p>
        </p:txBody>
      </p:sp>
      <p:sp>
        <p:nvSpPr>
          <p:cNvPr id="35" name="">
            <a:extLst xmlns:a="http://schemas.openxmlformats.org/drawingml/2006/main">
              <a:ext uri="{FF2B5EF4-FFF2-40B4-BE49-F238E27FC236}">
                <a16:creationId xmlns:a16="http://schemas.microsoft.com/office/drawing/2014/main" id="{398521B4-2515-4A9D-A820-AD2CCC480C7E}"/>
              </a:ext>
            </a:extLst>
          </p:cNvPr>
          <p:cNvSpPr>
            <a:spLocks xmlns:a="http://schemas.openxmlformats.org/drawingml/2006/main" noGrp="1"/>
          </p:cNvSpPr>
          <p:nvPr/>
        </p:nvSpPr>
        <p:spPr>
          <a:xfrm xmlns:a="http://schemas.openxmlformats.org/drawingml/2006/main">
            <a:off x="10591800" y="7639050"/>
            <a:ext cx="66675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36" name="appendix-text-53">
            <a:extLst xmlns:a="http://schemas.openxmlformats.org/drawingml/2006/main">
              <a:ext uri="{FF2B5EF4-FFF2-40B4-BE49-F238E27FC236}">
                <a16:creationId xmlns:a16="http://schemas.microsoft.com/office/drawing/2014/main" id="{77B52BB8-D598-4139-BED2-3FAF13D76919}"/>
              </a:ext>
            </a:extLst>
          </p:cNvPr>
          <p:cNvSpPr>
            <a:spLocks xmlns:a="http://schemas.openxmlformats.org/drawingml/2006/main" noGrp="1"/>
          </p:cNvSpPr>
          <p:nvPr/>
        </p:nvSpPr>
        <p:spPr>
          <a:xfrm xmlns:a="http://schemas.openxmlformats.org/drawingml/2006/main">
            <a:off x="10591800" y="77914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Enterprise option</a:t>
            </a:r>
          </a:p>
        </p:txBody>
      </p:sp>
      <p:sp>
        <p:nvSpPr>
          <p:cNvPr id="37" name="appendix-text-54">
            <a:extLst xmlns:a="http://schemas.openxmlformats.org/drawingml/2006/main">
              <a:ext uri="{FF2B5EF4-FFF2-40B4-BE49-F238E27FC236}">
                <a16:creationId xmlns:a16="http://schemas.microsoft.com/office/drawing/2014/main" id="{6711DBD8-FF37-4838-ACBF-FADA6A2093F7}"/>
              </a:ext>
            </a:extLst>
          </p:cNvPr>
          <p:cNvSpPr>
            <a:spLocks xmlns:a="http://schemas.openxmlformats.org/drawingml/2006/main" noGrp="1"/>
          </p:cNvSpPr>
          <p:nvPr/>
        </p:nvSpPr>
        <p:spPr>
          <a:xfrm xmlns:a="http://schemas.openxmlformats.org/drawingml/2006/main">
            <a:off x="10591800" y="8296275"/>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Offer a dedicated database when contracts</a:t>
            </a:r>
          </a:p>
        </p:txBody>
      </p:sp>
      <p:sp>
        <p:nvSpPr>
          <p:cNvPr id="38" name="appendix-text-55">
            <a:extLst xmlns:a="http://schemas.openxmlformats.org/drawingml/2006/main">
              <a:ext uri="{FF2B5EF4-FFF2-40B4-BE49-F238E27FC236}">
                <a16:creationId xmlns:a16="http://schemas.microsoft.com/office/drawing/2014/main" id="{B39F2237-99BB-4C73-9918-87F2D49F184C}"/>
              </a:ext>
            </a:extLst>
          </p:cNvPr>
          <p:cNvSpPr>
            <a:spLocks xmlns:a="http://schemas.openxmlformats.org/drawingml/2006/main" noGrp="1"/>
          </p:cNvSpPr>
          <p:nvPr/>
        </p:nvSpPr>
        <p:spPr>
          <a:xfrm xmlns:a="http://schemas.openxmlformats.org/drawingml/2006/main">
            <a:off x="10591800" y="8686800"/>
            <a:ext cx="6667500" cy="345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require stronger physical separation.</a:t>
            </a:r>
          </a:p>
        </p:txBody>
      </p:sp>
      <p:sp>
        <p:nvSpPr>
          <p:cNvPr id="39" name="appendix-text-56">
            <a:extLst xmlns:a="http://schemas.openxmlformats.org/drawingml/2006/main">
              <a:ext uri="{FF2B5EF4-FFF2-40B4-BE49-F238E27FC236}">
                <a16:creationId xmlns:a16="http://schemas.microsoft.com/office/drawing/2014/main" id="{00A93027-8A54-4B11-ADF5-465827D630F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model; production identity, consent enforcement and server-side tenant storage remain implementation work.</a:t>
            </a:r>
          </a:p>
        </p:txBody>
      </p:sp>
      <p:sp>
        <p:nvSpPr>
          <p:cNvPr id="40" name="appendix-text-57">
            <a:extLst xmlns:a="http://schemas.openxmlformats.org/drawingml/2006/main">
              <a:ext uri="{FF2B5EF4-FFF2-40B4-BE49-F238E27FC236}">
                <a16:creationId xmlns:a16="http://schemas.microsoft.com/office/drawing/2014/main" id="{B17AFFB1-74B4-47BB-B52F-438C70F942AA}"/>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23</a:t>
            </a:r>
          </a:p>
        </p:txBody>
      </p:sp>
    </p:spTree>
    <p:extLst>
      <p:ext uri="{BB962C8B-B14F-4D97-AF65-F5344CB8AC3E}">
        <p14:creationId xmlns:p14="http://schemas.microsoft.com/office/powerpoint/2010/main" val="1499621995"/>
      </p:ext>
    </p:extLst>
  </p:cSld>
</p:sld>
</file>

<file path=ppt/slides/slide2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58">
            <a:extLst xmlns:a="http://schemas.openxmlformats.org/drawingml/2006/main">
              <a:ext uri="{FF2B5EF4-FFF2-40B4-BE49-F238E27FC236}">
                <a16:creationId xmlns:a16="http://schemas.microsoft.com/office/drawing/2014/main" id="{DE8D07A5-2C71-4A9A-AD38-9C8F63F3B659}"/>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59">
            <a:extLst xmlns:a="http://schemas.openxmlformats.org/drawingml/2006/main">
              <a:ext uri="{FF2B5EF4-FFF2-40B4-BE49-F238E27FC236}">
                <a16:creationId xmlns:a16="http://schemas.microsoft.com/office/drawing/2014/main" id="{9BB61787-81CB-4D57-812C-7D1B17675FC4}"/>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Singapore TAM, SAM &amp; SOM</a:t>
            </a:r>
          </a:p>
        </p:txBody>
      </p:sp>
      <p:sp>
        <p:nvSpPr>
          <p:cNvPr id="3" name="appendix-text-60">
            <a:extLst xmlns:a="http://schemas.openxmlformats.org/drawingml/2006/main">
              <a:ext uri="{FF2B5EF4-FFF2-40B4-BE49-F238E27FC236}">
                <a16:creationId xmlns:a16="http://schemas.microsoft.com/office/drawing/2014/main" id="{681687B4-A9D8-4107-8BF0-BFDCEB11B85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Illustrative annual revenue potential at S$120 per care circle</a:t>
            </a:r>
          </a:p>
        </p:txBody>
      </p:sp>
      <p:graphicFrame>
        <p:nvGraphicFramePr>
          <p:cNvPr id="14" name=""/>
          <p:cNvGraphicFramePr/>
          <p:nvPr/>
        </p:nvGraphicFramePr>
        <p:xfrm>
          <a:off xmlns:a="http://schemas.openxmlformats.org/drawingml/2006/main" x="1009650" y="3495675"/>
          <a:ext xmlns:a="http://schemas.openxmlformats.org/drawingml/2006/main" cx="16268700" cy="4867275"/>
        </p:xfrm>
        <a:graphic xmlns:a="http://schemas.openxmlformats.org/drawingml/2006/main">
          <a:graphicData uri="http://schemas.openxmlformats.org/drawingml/2006/table">
            <a:tbl>
              <a:tblPr firstRow="0" firstCol="0" lastCol="0" bandRow="0" bandCol="0"/>
              <a:tblGrid>
                <a:gridCol w="5381625"/>
                <a:gridCol w="5381625"/>
                <a:gridCol w="5505450"/>
              </a:tblGrid>
              <a:tr h="638175">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TAM · Total market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SAM · Initial segment</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325">
                          <a:solidFill>
                            <a:srgbClr val="4F7A66"/>
                          </a:solidFill>
                          <a:latin typeface="Deck-Medium"/>
                          <a:ea typeface="Deck-Medium"/>
                          <a:cs typeface="Deck-Medium"/>
                        </a:rPr>
                        <a:t>SOM · Year-3 scenario</a:t>
                      </a:r>
                    </a:p>
                  </a:txBody>
                  <a:tcPr marL="0" marR="190500" marT="47625" marB="47625" anchor="t">
                    <a:lnL w="0">
                      <a:noFill/>
                    </a:lnL>
                    <a:lnR w="0">
                      <a:noFill/>
                    </a:lnR>
                    <a:lnT w="0">
                      <a:noFill/>
                    </a:lnT>
                    <a:lnB w="0">
                      <a:noFill/>
                    </a:lnB>
                    <a:lnTlToBr w="0">
                      <a:noFill/>
                    </a:lnTlToBr>
                    <a:lnBlToTr w="0">
                      <a:noFill/>
                    </a:lnBlToTr>
                    <a:noFill/>
                  </a:tcPr>
                </a:tc>
              </a:tr>
              <a:tr h="1095375">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S$178.8m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S$53.6m</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5475">
                          <a:solidFill>
                            <a:srgbClr val="4F7A66"/>
                          </a:solidFill>
                          <a:latin typeface="Deck-Semi-Bold"/>
                          <a:ea typeface="Deck-Semi-Bold"/>
                          <a:cs typeface="Deck-Semi-Bold"/>
                        </a:rPr>
                        <a:t>S$0.60m</a:t>
                      </a:r>
                    </a:p>
                  </a:txBody>
                  <a:tcPr marL="0" marR="190500" marT="47625" marB="47625" anchor="t">
                    <a:lnL w="0">
                      <a:noFill/>
                    </a:lnL>
                    <a:lnR w="0">
                      <a:noFill/>
                    </a:lnR>
                    <a:lnT w="0">
                      <a:noFill/>
                    </a:lnT>
                    <a:lnB w="0">
                      <a:noFill/>
                    </a:lnB>
                    <a:lnTlToBr w="0">
                      <a:noFill/>
                    </a:lnTlToBr>
                    <a:lnBlToTr w="0">
                      <a:noFill/>
                    </a:lnBlToTr>
                    <a:noFill/>
                  </a:tcPr>
                </a:tc>
              </a:tr>
              <a:tr h="733425">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1.49m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447,000 care circles</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400">
                          <a:solidFill>
                            <a:srgbClr val="3A3745"/>
                          </a:solidFill>
                          <a:latin typeface="Deck-Medium"/>
                          <a:ea typeface="Deck-Medium"/>
                          <a:cs typeface="Deck-Medium"/>
                        </a:rPr>
                        <a:t>5,000 funded care circles</a:t>
                      </a:r>
                    </a:p>
                  </a:txBody>
                  <a:tcPr marL="0" marR="190500" marT="47625" marB="47625" anchor="t">
                    <a:lnL w="0">
                      <a:noFill/>
                    </a:lnL>
                    <a:lnR w="0">
                      <a:noFill/>
                    </a:lnR>
                    <a:lnT w="0">
                      <a:noFill/>
                    </a:lnT>
                    <a:lnB w="0">
                      <a:noFill/>
                    </a:lnB>
                    <a:lnTlToBr w="0">
                      <a:noFill/>
                    </a:lnTlToBr>
                    <a:lnBlToTr w="0">
                      <a:noFill/>
                    </a:lnBlToTr>
                    <a:noFill/>
                  </a:tcPr>
                </a:tc>
              </a:tr>
              <a:tr h="1066800">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All resident households</a:t>
                      </a:r>
                    </a:p>
                    <a:p>
                      <a:pPr algn="l">
                        <a:lnSpc>
                          <a:spcPct val="120000"/>
                        </a:lnSpc>
                      </a:pPr>
                      <a:r>
                        <a:rPr sz="2100">
                          <a:solidFill>
                            <a:srgbClr val="3A3745"/>
                          </a:solidFill>
                          <a:latin typeface="Deck"/>
                          <a:ea typeface="Deck"/>
                          <a:cs typeface="Deck"/>
                        </a:rPr>
                        <a:t>Upper bound, before need or adoption</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Assumed 30% of households</a:t>
                      </a:r>
                    </a:p>
                    <a:p>
                      <a:pPr algn="l">
                        <a:lnSpc>
                          <a:spcPct val="120000"/>
                        </a:lnSpc>
                      </a:pPr>
                      <a:r>
                        <a:rPr sz="2100">
                          <a:solidFill>
                            <a:srgbClr val="3A3745"/>
                          </a:solidFill>
                          <a:latin typeface="Deck"/>
                          <a:ea typeface="Deck"/>
                          <a:cs typeface="Deck"/>
                        </a:rPr>
                        <a:t>Have a need and can use the service</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3A3745"/>
                          </a:solidFill>
                          <a:latin typeface="Deck"/>
                          <a:ea typeface="Deck"/>
                          <a:cs typeface="Deck"/>
                        </a:rPr>
                        <a:t>Target through partner distribution</a:t>
                      </a:r>
                    </a:p>
                    <a:p>
                      <a:pPr algn="l">
                        <a:lnSpc>
                          <a:spcPct val="120000"/>
                        </a:lnSpc>
                      </a:pPr>
                      <a:r>
                        <a:rPr sz="2100">
                          <a:solidFill>
                            <a:srgbClr val="3A3745"/>
                          </a:solidFill>
                          <a:latin typeface="Deck"/>
                          <a:ea typeface="Deck"/>
                          <a:cs typeface="Deck"/>
                        </a:rPr>
                        <a:t>About 1.1% of modelled SAM</a:t>
                      </a:r>
                    </a:p>
                  </a:txBody>
                  <a:tcPr marL="0" marR="190500" marT="47625" marB="47625" anchor="t">
                    <a:lnL w="0">
                      <a:noFill/>
                    </a:lnL>
                    <a:lnR w="0">
                      <a:noFill/>
                    </a:lnR>
                    <a:lnT w="0">
                      <a:noFill/>
                    </a:lnT>
                    <a:lnB w="0">
                      <a:noFill/>
                    </a:lnB>
                    <a:lnTlToBr w="0">
                      <a:noFill/>
                    </a:lnTlToBr>
                    <a:lnBlToTr w="0">
                      <a:noFill/>
                    </a:lnBlToTr>
                    <a:noFill/>
                  </a:tcPr>
                </a:tc>
              </a:tr>
              <a:tr h="1333500">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1.49m × 30% × S$120 per year</a:t>
                      </a:r>
                    </a:p>
                  </a:txBody>
                  <a:tcPr marL="0" marR="190500" marT="47625" marB="47625" anchor="t">
                    <a:lnL w="0">
                      <a:noFill/>
                    </a:lnL>
                    <a:lnR w="0">
                      <a:noFill/>
                    </a:lnR>
                    <a:lnT w="0">
                      <a:noFill/>
                    </a:lnT>
                    <a:lnB w="0">
                      <a:noFill/>
                    </a:lnB>
                    <a:lnTlToBr w="0">
                      <a:noFill/>
                    </a:lnTlToBr>
                    <a:lnBlToTr w="0">
                      <a:noFill/>
                    </a:lnBlToTr>
                    <a:noFill/>
                  </a:tcPr>
                </a:tc>
                <a:tc>
                  <a:txBody>
                    <a:bodyPr wrap="none" lIns="0" tIns="47625" rIns="190500" bIns="47625" anchor="t" anchorCtr="0">
                      <a:noAutofit/>
                    </a:bodyPr>
                    <a:lstStyle/>
                    <a:p>
                      <a:pPr algn="l">
                        <a:lnSpc>
                          <a:spcPct val="120000"/>
                        </a:lnSpc>
                      </a:pPr>
                      <a:r>
                        <a:rPr sz="2100">
                          <a:solidFill>
                            <a:srgbClr val="77717D"/>
                          </a:solidFill>
                          <a:latin typeface="Deck"/>
                          <a:ea typeface="Deck"/>
                          <a:cs typeface="Deck"/>
                        </a:rPr>
                        <a:t>5 partners × 5,000 eligible circles</a:t>
                      </a:r>
                    </a:p>
                    <a:p>
                      <a:pPr algn="l">
                        <a:lnSpc>
                          <a:spcPct val="120000"/>
                        </a:lnSpc>
                      </a:pPr>
                      <a:r>
                        <a:rPr sz="2100">
                          <a:solidFill>
                            <a:srgbClr val="77717D"/>
                          </a:solidFill>
                          <a:latin typeface="Deck"/>
                          <a:ea typeface="Deck"/>
                          <a:cs typeface="Deck"/>
                        </a:rPr>
                        <a:t>× 20% funded conversion</a:t>
                      </a:r>
                    </a:p>
                    <a:p>
                      <a:pPr algn="l">
                        <a:lnSpc>
                          <a:spcPct val="120000"/>
                        </a:lnSpc>
                      </a:pPr>
                      <a:r>
                        <a:rPr sz="2100">
                          <a:solidFill>
                            <a:srgbClr val="77717D"/>
                          </a:solidFill>
                          <a:latin typeface="Deck"/>
                          <a:ea typeface="Deck"/>
                          <a:cs typeface="Deck"/>
                        </a:rPr>
                        <a:t>× S$120 per year</a:t>
                      </a:r>
                    </a:p>
                  </a:txBody>
                  <a:tcPr marL="0" marR="190500" marT="47625" marB="47625"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D5867A1E-3F68-4548-AAE2-17E360E17901}"/>
              </a:ext>
            </a:extLst>
          </p:cNvPr>
          <p:cNvSpPr>
            <a:spLocks xmlns:a="http://schemas.openxmlformats.org/drawingml/2006/main" noGrp="1"/>
          </p:cNvSpPr>
          <p:nvPr/>
        </p:nvSpPr>
        <p:spPr>
          <a:xfrm xmlns:a="http://schemas.openxmlformats.org/drawingml/2006/main">
            <a:off x="1009650" y="33432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701EE80-9701-4794-8F62-E9DBED7FB4E7}"/>
              </a:ext>
            </a:extLst>
          </p:cNvPr>
          <p:cNvSpPr>
            <a:spLocks xmlns:a="http://schemas.openxmlformats.org/drawingml/2006/main" noGrp="1"/>
          </p:cNvSpPr>
          <p:nvPr/>
        </p:nvSpPr>
        <p:spPr>
          <a:xfrm xmlns:a="http://schemas.openxmlformats.org/drawingml/2006/main">
            <a:off x="1009650" y="84391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1">
            <a:extLst xmlns:a="http://schemas.openxmlformats.org/drawingml/2006/main">
              <a:ext uri="{FF2B5EF4-FFF2-40B4-BE49-F238E27FC236}">
                <a16:creationId xmlns:a16="http://schemas.microsoft.com/office/drawing/2014/main" id="{F8147BFD-0448-476A-B147-20DFEF293869}"/>
              </a:ext>
            </a:extLst>
          </p:cNvPr>
          <p:cNvSpPr>
            <a:spLocks xmlns:a="http://schemas.openxmlformats.org/drawingml/2006/main" noGrp="1"/>
          </p:cNvSpPr>
          <p:nvPr/>
        </p:nvSpPr>
        <p:spPr>
          <a:xfrm xmlns:a="http://schemas.openxmlformats.org/drawingml/2006/main">
            <a:off x="1009650" y="877252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Assumptions: one circle per household; S$10/month; 30% SAM eligibility; partner reach and conversion are unvalidated.</a:t>
            </a:r>
          </a:p>
        </p:txBody>
      </p:sp>
      <p:sp>
        <p:nvSpPr>
          <p:cNvPr id="8" name="appendix-text-62">
            <a:extLst xmlns:a="http://schemas.openxmlformats.org/drawingml/2006/main">
              <a:ext uri="{FF2B5EF4-FFF2-40B4-BE49-F238E27FC236}">
                <a16:creationId xmlns:a16="http://schemas.microsoft.com/office/drawing/2014/main" id="{DCC3EFFE-C689-427D-BD9E-F7AB45F5E24C}"/>
              </a:ext>
            </a:extLst>
          </p:cNvPr>
          <p:cNvSpPr>
            <a:spLocks xmlns:a="http://schemas.openxmlformats.org/drawingml/2006/main" noGrp="1"/>
          </p:cNvSpPr>
          <p:nvPr/>
        </p:nvSpPr>
        <p:spPr>
          <a:xfrm xmlns:a="http://schemas.openxmlformats.org/drawingml/2006/main">
            <a:off x="1009650" y="9096375"/>
            <a:ext cx="1626870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
                <a:ea typeface="Deck"/>
                <a:cs typeface="Deck"/>
              </a:defRPr>
            </a:pPr>
            <a:r>
              <a:rPr sz="1725">
                <a:solidFill>
                  <a:srgbClr val="77717D"/>
                </a:solidFill>
                <a:latin typeface="Deck"/>
                <a:ea typeface="Deck"/>
                <a:cs typeface="Deck"/>
              </a:rPr>
              <a:t>TAM and SAM are potential revenue, not current spend. SOM is a target scenario, not a forecast.</a:t>
            </a:r>
          </a:p>
        </p:txBody>
      </p:sp>
      <p:sp>
        <p:nvSpPr>
          <p:cNvPr id="9" name="appendix-text-63">
            <a:extLst xmlns:a="http://schemas.openxmlformats.org/drawingml/2006/main">
              <a:ext uri="{FF2B5EF4-FFF2-40B4-BE49-F238E27FC236}">
                <a16:creationId xmlns:a16="http://schemas.microsoft.com/office/drawing/2014/main" id="{9CF084F8-6CE6-4734-807F-5F96C4B1338F}"/>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Demographic base: 1.49m resident households in 2025, SingStat Population Trends 2026. All commercial inputs are assumptions.</a:t>
            </a:r>
          </a:p>
        </p:txBody>
      </p:sp>
      <p:sp>
        <p:nvSpPr>
          <p:cNvPr id="10" name="appendix-text-64">
            <a:extLst xmlns:a="http://schemas.openxmlformats.org/drawingml/2006/main">
              <a:ext uri="{FF2B5EF4-FFF2-40B4-BE49-F238E27FC236}">
                <a16:creationId xmlns:a16="http://schemas.microsoft.com/office/drawing/2014/main" id="{5E992CE6-5F17-48CB-96C7-61F75D88D20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24</a:t>
            </a:r>
          </a:p>
        </p:txBody>
      </p:sp>
    </p:spTree>
    <p:extLst>
      <p:ext uri="{BB962C8B-B14F-4D97-AF65-F5344CB8AC3E}">
        <p14:creationId xmlns:p14="http://schemas.microsoft.com/office/powerpoint/2010/main" val="835320171"/>
      </p:ext>
    </p:extLst>
  </p:cSld>
</p:sld>
</file>

<file path=ppt/slides/slide2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65">
            <a:extLst xmlns:a="http://schemas.openxmlformats.org/drawingml/2006/main">
              <a:ext uri="{FF2B5EF4-FFF2-40B4-BE49-F238E27FC236}">
                <a16:creationId xmlns:a16="http://schemas.microsoft.com/office/drawing/2014/main" id="{297AFB93-BB2D-424B-9083-B8CA5352487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66">
            <a:extLst xmlns:a="http://schemas.openxmlformats.org/drawingml/2006/main">
              <a:ext uri="{FF2B5EF4-FFF2-40B4-BE49-F238E27FC236}">
                <a16:creationId xmlns:a16="http://schemas.microsoft.com/office/drawing/2014/main" id="{31071419-8F5F-49B1-95AC-B3DCFAC626FA}"/>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SWOT analysis</a:t>
            </a:r>
          </a:p>
        </p:txBody>
      </p:sp>
      <p:sp>
        <p:nvSpPr>
          <p:cNvPr id="3" name="appendix-text-67">
            <a:extLst xmlns:a="http://schemas.openxmlformats.org/drawingml/2006/main">
              <a:ext uri="{FF2B5EF4-FFF2-40B4-BE49-F238E27FC236}">
                <a16:creationId xmlns:a16="http://schemas.microsoft.com/office/drawing/2014/main" id="{43D3F563-9A9A-49EA-BF97-84FF1CB29796}"/>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Prototype strengths, production gaps and the conditions for adoption</a:t>
            </a:r>
          </a:p>
        </p:txBody>
      </p:sp>
      <p:graphicFrame>
        <p:nvGraphicFramePr>
          <p:cNvPr id="14" name=""/>
          <p:cNvGraphicFramePr/>
          <p:nvPr/>
        </p:nvGraphicFramePr>
        <p:xfrm>
          <a:off xmlns:a="http://schemas.openxmlformats.org/drawingml/2006/main" x="1009650" y="3533775"/>
          <a:ext xmlns:a="http://schemas.openxmlformats.org/drawingml/2006/main" cx="16268700" cy="4991100"/>
        </p:xfrm>
        <a:graphic xmlns:a="http://schemas.openxmlformats.org/drawingml/2006/main">
          <a:graphicData uri="http://schemas.openxmlformats.org/drawingml/2006/table">
            <a:tbl>
              <a:tblPr firstRow="0" firstCol="0" lastCol="0" bandRow="0" bandCol="0"/>
              <a:tblGrid>
                <a:gridCol w="8143875"/>
                <a:gridCol w="8124825"/>
              </a:tblGrid>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Strengths</a:t>
                      </a:r>
                    </a:p>
                    <a:p>
                      <a:pPr algn="l">
                        <a:lnSpc>
                          <a:spcPct val="120000"/>
                        </a:lnSpc>
                      </a:pPr>
                      <a:r>
                        <a:rPr sz="2250">
                          <a:solidFill>
                            <a:srgbClr val="3A3745"/>
                          </a:solidFill>
                          <a:latin typeface="Deck"/>
                          <a:ea typeface="Deck"/>
                          <a:cs typeface="Deck"/>
                        </a:rPr>
                        <a:t>Working mobile care-circle prototype</a:t>
                      </a:r>
                    </a:p>
                    <a:p>
                      <a:pPr algn="l">
                        <a:lnSpc>
                          <a:spcPct val="120000"/>
                        </a:lnSpc>
                      </a:pPr>
                      <a:r>
                        <a:rPr sz="2250">
                          <a:solidFill>
                            <a:srgbClr val="3A3745"/>
                          </a:solidFill>
                          <a:latin typeface="Deck"/>
                          <a:ea typeface="Deck"/>
                          <a:cs typeface="Deck"/>
                        </a:rPr>
                        <a:t>Confirmable actions with scoped AI context</a:t>
                      </a:r>
                    </a:p>
                    <a:p>
                      <a:pPr algn="l">
                        <a:lnSpc>
                          <a:spcPct val="120000"/>
                        </a:lnSpc>
                      </a:pPr>
                      <a:r>
                        <a:rPr sz="2250">
                          <a:solidFill>
                            <a:srgbClr val="3A3745"/>
                          </a:solidFill>
                          <a:latin typeface="Deck"/>
                          <a:ea typeface="Deck"/>
                          <a:cs typeface="Deck"/>
                        </a:rPr>
                        <a:t>Clear routine and coordination use case</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Weaknesses</a:t>
                      </a:r>
                    </a:p>
                    <a:p>
                      <a:pPr algn="l">
                        <a:lnSpc>
                          <a:spcPct val="120000"/>
                        </a:lnSpc>
                      </a:pPr>
                      <a:r>
                        <a:rPr sz="2250">
                          <a:solidFill>
                            <a:srgbClr val="3A3745"/>
                          </a:solidFill>
                          <a:latin typeface="Deck"/>
                          <a:ea typeface="Deck"/>
                          <a:cs typeface="Deck"/>
                        </a:rPr>
                        <a:t>Production identity and tenant storage pending</a:t>
                      </a:r>
                    </a:p>
                    <a:p>
                      <a:pPr algn="l">
                        <a:lnSpc>
                          <a:spcPct val="120000"/>
                        </a:lnSpc>
                      </a:pPr>
                      <a:r>
                        <a:rPr sz="2250">
                          <a:solidFill>
                            <a:srgbClr val="3A3745"/>
                          </a:solidFill>
                          <a:latin typeface="Deck"/>
                          <a:ea typeface="Deck"/>
                          <a:cs typeface="Deck"/>
                        </a:rPr>
                        <a:t>Retention and willingness to pay untested</a:t>
                      </a:r>
                    </a:p>
                    <a:p>
                      <a:pPr algn="l">
                        <a:lnSpc>
                          <a:spcPct val="120000"/>
                        </a:lnSpc>
                      </a:pPr>
                      <a:r>
                        <a:rPr sz="2250">
                          <a:solidFill>
                            <a:srgbClr val="3A3745"/>
                          </a:solidFill>
                          <a:latin typeface="Deck"/>
                          <a:ea typeface="Deck"/>
                          <a:cs typeface="Deck"/>
                        </a:rPr>
                        <a:t>Clinical and wearable integrations limited</a:t>
                      </a:r>
                    </a:p>
                  </a:txBody>
                  <a:tcPr marL="0" marR="266700" marT="171450" marB="171450" anchor="t">
                    <a:lnL w="0">
                      <a:noFill/>
                    </a:lnL>
                    <a:lnR w="0">
                      <a:noFill/>
                    </a:lnR>
                    <a:lnT w="0">
                      <a:noFill/>
                    </a:lnT>
                    <a:lnB w="0">
                      <a:noFill/>
                    </a:lnB>
                    <a:lnTlToBr w="0">
                      <a:noFill/>
                    </a:lnTlToBr>
                    <a:lnBlToTr w="0">
                      <a:noFill/>
                    </a:lnBlToTr>
                    <a:noFill/>
                  </a:tcPr>
                </a:tc>
              </a:tr>
              <a:tr h="2495550">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Opportunities</a:t>
                      </a:r>
                    </a:p>
                    <a:p>
                      <a:pPr algn="l">
                        <a:lnSpc>
                          <a:spcPct val="120000"/>
                        </a:lnSpc>
                      </a:pPr>
                      <a:r>
                        <a:rPr sz="2250">
                          <a:solidFill>
                            <a:srgbClr val="3A3745"/>
                          </a:solidFill>
                          <a:latin typeface="Deck"/>
                          <a:ea typeface="Deck"/>
                          <a:cs typeface="Deck"/>
                        </a:rPr>
                        <a:t>Singapore’s ageing population</a:t>
                      </a:r>
                    </a:p>
                    <a:p>
                      <a:pPr algn="l">
                        <a:lnSpc>
                          <a:spcPct val="120000"/>
                        </a:lnSpc>
                      </a:pPr>
                      <a:r>
                        <a:rPr sz="2250">
                          <a:solidFill>
                            <a:srgbClr val="3A3745"/>
                          </a:solidFill>
                          <a:latin typeface="Deck"/>
                          <a:ea typeface="Deck"/>
                          <a:cs typeface="Deck"/>
                        </a:rPr>
                        <a:t>Caregiver pilots via community or clinical partners</a:t>
                      </a:r>
                    </a:p>
                    <a:p>
                      <a:pPr algn="l">
                        <a:lnSpc>
                          <a:spcPct val="120000"/>
                        </a:lnSpc>
                      </a:pPr>
                      <a:r>
                        <a:rPr sz="2250">
                          <a:solidFill>
                            <a:srgbClr val="3A3745"/>
                          </a:solidFill>
                          <a:latin typeface="Deck"/>
                          <a:ea typeface="Deck"/>
                          <a:cs typeface="Deck"/>
                        </a:rPr>
                        <a:t>Tencent Cloud and NTU collaboration potential</a:t>
                      </a:r>
                    </a:p>
                  </a:txBody>
                  <a:tcPr marL="0" marR="266700" marT="171450" marB="171450" anchor="t">
                    <a:lnL w="0">
                      <a:noFill/>
                    </a:lnL>
                    <a:lnR w="0">
                      <a:noFill/>
                    </a:lnR>
                    <a:lnT w="0">
                      <a:noFill/>
                    </a:lnT>
                    <a:lnB w="0">
                      <a:noFill/>
                    </a:lnB>
                    <a:lnTlToBr w="0">
                      <a:noFill/>
                    </a:lnTlToBr>
                    <a:lnBlToTr w="0">
                      <a:noFill/>
                    </a:lnBlToTr>
                    <a:noFill/>
                  </a:tcPr>
                </a:tc>
                <a:tc>
                  <a:txBody>
                    <a:bodyPr wrap="none" lIns="0" tIns="171450" rIns="266700" bIns="171450" anchor="t" anchorCtr="0">
                      <a:noAutofit/>
                    </a:bodyPr>
                    <a:lstStyle/>
                    <a:p>
                      <a:pPr algn="l">
                        <a:lnSpc>
                          <a:spcPct val="120000"/>
                        </a:lnSpc>
                      </a:pPr>
                      <a:r>
                        <a:rPr sz="2700" b="0">
                          <a:solidFill>
                            <a:srgbClr val="4F7A66"/>
                          </a:solidFill>
                          <a:latin typeface="Deck-Medium"/>
                          <a:ea typeface="Deck-Medium"/>
                          <a:cs typeface="Deck-Medium"/>
                        </a:rPr>
                        <a:t>Threats</a:t>
                      </a:r>
                    </a:p>
                    <a:p>
                      <a:pPr algn="l">
                        <a:lnSpc>
                          <a:spcPct val="120000"/>
                        </a:lnSpc>
                      </a:pPr>
                      <a:r>
                        <a:rPr sz="2250">
                          <a:solidFill>
                            <a:srgbClr val="3A3745"/>
                          </a:solidFill>
                          <a:latin typeface="Deck"/>
                          <a:ea typeface="Deck"/>
                          <a:cs typeface="Deck"/>
                        </a:rPr>
                        <a:t>Trusted care platforms and existing reminder tools</a:t>
                      </a:r>
                    </a:p>
                    <a:p>
                      <a:pPr algn="l">
                        <a:lnSpc>
                          <a:spcPct val="120000"/>
                        </a:lnSpc>
                      </a:pPr>
                      <a:r>
                        <a:rPr sz="2250">
                          <a:solidFill>
                            <a:srgbClr val="3A3745"/>
                          </a:solidFill>
                          <a:latin typeface="Deck"/>
                          <a:ea typeface="Deck"/>
                          <a:cs typeface="Deck"/>
                        </a:rPr>
                        <a:t>Low repeat use or limited digital confidence</a:t>
                      </a:r>
                    </a:p>
                    <a:p>
                      <a:pPr algn="l">
                        <a:lnSpc>
                          <a:spcPct val="120000"/>
                        </a:lnSpc>
                      </a:pPr>
                      <a:r>
                        <a:rPr sz="2250">
                          <a:solidFill>
                            <a:srgbClr val="3A3745"/>
                          </a:solidFill>
                          <a:latin typeface="Deck"/>
                          <a:ea typeface="Deck"/>
                          <a:cs typeface="Deck"/>
                        </a:rPr>
                        <a:t>Trust failures and AI/provider cost dependence</a:t>
                      </a:r>
                    </a:p>
                  </a:txBody>
                  <a:tcPr marL="0" marR="266700" marT="171450" marB="1714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1110700A-75D7-41A4-9913-BFAD9C2927E4}"/>
              </a:ext>
            </a:extLst>
          </p:cNvPr>
          <p:cNvSpPr>
            <a:spLocks xmlns:a="http://schemas.openxmlformats.org/drawingml/2006/main" noGrp="1"/>
          </p:cNvSpPr>
          <p:nvPr/>
        </p:nvSpPr>
        <p:spPr>
          <a:xfrm xmlns:a="http://schemas.openxmlformats.org/drawingml/2006/main">
            <a:off x="1009650" y="33813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F2026D0D-8972-4FEA-BC4D-F2974272CB21}"/>
              </a:ext>
            </a:extLst>
          </p:cNvPr>
          <p:cNvSpPr>
            <a:spLocks xmlns:a="http://schemas.openxmlformats.org/drawingml/2006/main" noGrp="1"/>
          </p:cNvSpPr>
          <p:nvPr/>
        </p:nvSpPr>
        <p:spPr>
          <a:xfrm xmlns:a="http://schemas.openxmlformats.org/drawingml/2006/main">
            <a:off x="1009650" y="60007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68">
            <a:extLst xmlns:a="http://schemas.openxmlformats.org/drawingml/2006/main">
              <a:ext uri="{FF2B5EF4-FFF2-40B4-BE49-F238E27FC236}">
                <a16:creationId xmlns:a16="http://schemas.microsoft.com/office/drawing/2014/main" id="{E3738EBD-159A-4884-9C29-8E8D2BC8F5A5}"/>
              </a:ext>
            </a:extLst>
          </p:cNvPr>
          <p:cNvSpPr>
            <a:spLocks xmlns:a="http://schemas.openxmlformats.org/drawingml/2006/main" noGrp="1"/>
          </p:cNvSpPr>
          <p:nvPr/>
        </p:nvSpPr>
        <p:spPr>
          <a:xfrm xmlns:a="http://schemas.openxmlformats.org/drawingml/2006/main">
            <a:off x="1009650" y="870585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Near-term priority</a:t>
            </a:r>
          </a:p>
        </p:txBody>
      </p:sp>
      <p:sp>
        <p:nvSpPr>
          <p:cNvPr id="8" name="appendix-text-69">
            <a:extLst xmlns:a="http://schemas.openxmlformats.org/drawingml/2006/main">
              <a:ext uri="{FF2B5EF4-FFF2-40B4-BE49-F238E27FC236}">
                <a16:creationId xmlns:a16="http://schemas.microsoft.com/office/drawing/2014/main" id="{21B05462-E913-4EA8-B002-CC929A0D232D}"/>
              </a:ext>
            </a:extLst>
          </p:cNvPr>
          <p:cNvSpPr>
            <a:spLocks xmlns:a="http://schemas.openxmlformats.org/drawingml/2006/main" noGrp="1"/>
          </p:cNvSpPr>
          <p:nvPr/>
        </p:nvSpPr>
        <p:spPr>
          <a:xfrm xmlns:a="http://schemas.openxmlformats.org/drawingml/2006/main">
            <a:off x="4191000" y="8724900"/>
            <a:ext cx="13087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Validate repeat use and a paying sponsor while closing identity and tenant-isolation gaps.</a:t>
            </a:r>
          </a:p>
        </p:txBody>
      </p:sp>
      <p:sp>
        <p:nvSpPr>
          <p:cNvPr id="9" name="appendix-text-70">
            <a:extLst xmlns:a="http://schemas.openxmlformats.org/drawingml/2006/main">
              <a:ext uri="{FF2B5EF4-FFF2-40B4-BE49-F238E27FC236}">
                <a16:creationId xmlns:a16="http://schemas.microsoft.com/office/drawing/2014/main" id="{732980C2-B77D-4657-BCE1-8F00B27E3D31}"/>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Strategic assessment; no clinical outcome, adoption or partner commitment is claimed. Prototype context: 7–8 October 2026.</a:t>
            </a:r>
          </a:p>
        </p:txBody>
      </p:sp>
      <p:sp>
        <p:nvSpPr>
          <p:cNvPr id="10" name="appendix-text-71">
            <a:extLst xmlns:a="http://schemas.openxmlformats.org/drawingml/2006/main">
              <a:ext uri="{FF2B5EF4-FFF2-40B4-BE49-F238E27FC236}">
                <a16:creationId xmlns:a16="http://schemas.microsoft.com/office/drawing/2014/main" id="{5DA504A7-80BA-4DA5-B51A-2D39259D4D66}"/>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25</a:t>
            </a:r>
          </a:p>
        </p:txBody>
      </p:sp>
    </p:spTree>
    <p:extLst>
      <p:ext uri="{BB962C8B-B14F-4D97-AF65-F5344CB8AC3E}">
        <p14:creationId xmlns:p14="http://schemas.microsoft.com/office/powerpoint/2010/main" val="35627989"/>
      </p:ext>
    </p:extLst>
  </p:cSld>
</p:sld>
</file>

<file path=ppt/slides/slide2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1" name="appendix-text-72">
            <a:extLst xmlns:a="http://schemas.openxmlformats.org/drawingml/2006/main">
              <a:ext uri="{FF2B5EF4-FFF2-40B4-BE49-F238E27FC236}">
                <a16:creationId xmlns:a16="http://schemas.microsoft.com/office/drawing/2014/main" id="{C049351B-1EF8-4E6E-8506-54D5785338FD}"/>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STRATEGY &amp; PRODUCTION APPENDIX</a:t>
            </a:r>
          </a:p>
        </p:txBody>
      </p:sp>
      <p:sp>
        <p:nvSpPr>
          <p:cNvPr id="2" name="appendix-text-73">
            <a:extLst xmlns:a="http://schemas.openxmlformats.org/drawingml/2006/main">
              <a:ext uri="{FF2B5EF4-FFF2-40B4-BE49-F238E27FC236}">
                <a16:creationId xmlns:a16="http://schemas.microsoft.com/office/drawing/2014/main" id="{59D5228E-DD5A-4BB4-BC30-F5B83C9C311F}"/>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Go-to-market strategy</a:t>
            </a:r>
          </a:p>
        </p:txBody>
      </p:sp>
      <p:sp>
        <p:nvSpPr>
          <p:cNvPr id="3" name="appendix-text-74">
            <a:extLst xmlns:a="http://schemas.openxmlformats.org/drawingml/2006/main">
              <a:ext uri="{FF2B5EF4-FFF2-40B4-BE49-F238E27FC236}">
                <a16:creationId xmlns:a16="http://schemas.microsoft.com/office/drawing/2014/main" id="{D1D735F3-E11C-4BEC-8C57-1213C7A69FD9}"/>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Singapore caregiver pilots first; sponsor-funded distribution after validation</a:t>
            </a:r>
          </a:p>
        </p:txBody>
      </p:sp>
      <p:graphicFrame>
        <p:nvGraphicFramePr>
          <p:cNvPr id="14" name=""/>
          <p:cNvGraphicFramePr/>
          <p:nvPr/>
        </p:nvGraphicFramePr>
        <p:xfrm>
          <a:off xmlns:a="http://schemas.openxmlformats.org/drawingml/2006/main" x="1009650" y="3419475"/>
          <a:ext xmlns:a="http://schemas.openxmlformats.org/drawingml/2006/main" cx="16268700" cy="4972050"/>
        </p:xfrm>
        <a:graphic xmlns:a="http://schemas.openxmlformats.org/drawingml/2006/main">
          <a:graphicData uri="http://schemas.openxmlformats.org/drawingml/2006/table">
            <a:tbl>
              <a:tblPr firstRow="0" firstCol="0" lastCol="0" bandRow="0" bandCol="0"/>
              <a:tblGrid>
                <a:gridCol w="5429250"/>
                <a:gridCol w="5429250"/>
                <a:gridCol w="5410200"/>
              </a:tblGrid>
              <a:tr h="619125">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0–3</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4–6</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00">
                          <a:solidFill>
                            <a:srgbClr val="77717D"/>
                          </a:solidFill>
                          <a:latin typeface="Deck-Medium"/>
                          <a:ea typeface="Deck-Medium"/>
                          <a:cs typeface="Deck-Medium"/>
                        </a:rPr>
                        <a:t>Months 7–12</a:t>
                      </a:r>
                    </a:p>
                  </a:txBody>
                  <a:tcPr marL="0" marR="228600" marT="95250" marB="95250" anchor="t">
                    <a:lnL w="0">
                      <a:noFill/>
                    </a:lnL>
                    <a:lnR w="0">
                      <a:noFill/>
                    </a:lnR>
                    <a:lnT w="0">
                      <a:noFill/>
                    </a:lnT>
                    <a:lnB w="0">
                      <a:noFill/>
                    </a:lnB>
                    <a:lnTlToBr w="0">
                      <a:noFill/>
                    </a:lnTlToBr>
                    <a:lnBlToTr w="0">
                      <a:noFill/>
                    </a:lnBlToTr>
                    <a:noFill/>
                  </a:tcPr>
                </a:tc>
              </a:tr>
              <a:tr h="752475">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Caregiver pilot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Paid cohort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225">
                          <a:solidFill>
                            <a:srgbClr val="4F7A66"/>
                          </a:solidFill>
                          <a:latin typeface="Deck-Semi-Bold"/>
                          <a:ea typeface="Deck-Semi-Bold"/>
                          <a:cs typeface="Deck-Semi-Bold"/>
                        </a:rPr>
                        <a:t>Partner rollout</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100 circles through one</a:t>
                      </a:r>
                    </a:p>
                    <a:p>
                      <a:pPr algn="l">
                        <a:lnSpc>
                          <a:spcPct val="120000"/>
                        </a:lnSpc>
                      </a:pPr>
                      <a:r>
                        <a:rPr sz="2175">
                          <a:solidFill>
                            <a:srgbClr val="3A3745"/>
                          </a:solidFill>
                          <a:latin typeface="Deck"/>
                          <a:ea typeface="Deck"/>
                          <a:cs typeface="Deck"/>
                        </a:rPr>
                        <a:t>community or clinical partner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Pilot sponsor, then employers</a:t>
                      </a:r>
                    </a:p>
                    <a:p>
                      <a:pPr algn="l">
                        <a:lnSpc>
                          <a:spcPct val="120000"/>
                        </a:lnSpc>
                      </a:pPr>
                      <a:r>
                        <a:rPr sz="2175">
                          <a:solidFill>
                            <a:srgbClr val="3A3745"/>
                          </a:solidFill>
                          <a:latin typeface="Deck"/>
                          <a:ea typeface="Deck"/>
                          <a:cs typeface="Deck"/>
                        </a:rPr>
                        <a:t>with caregiver benefits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Employer or insurer distribution;</a:t>
                      </a:r>
                    </a:p>
                    <a:p>
                      <a:pPr algn="l">
                        <a:lnSpc>
                          <a:spcPct val="120000"/>
                        </a:lnSpc>
                      </a:pPr>
                      <a:r>
                        <a:rPr sz="2175">
                          <a:solidFill>
                            <a:srgbClr val="3A3745"/>
                          </a:solidFill>
                          <a:latin typeface="Deck"/>
                          <a:ea typeface="Deck"/>
                          <a:cs typeface="Deck"/>
                        </a:rPr>
                        <a:t>regional partner discovery later</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Daily routines and shared tasks</a:t>
                      </a:r>
                    </a:p>
                    <a:p>
                      <a:pPr algn="l">
                        <a:lnSpc>
                          <a:spcPct val="120000"/>
                        </a:lnSpc>
                      </a:pPr>
                      <a:r>
                        <a:rPr sz="2175">
                          <a:solidFill>
                            <a:srgbClr val="3A3745"/>
                          </a:solidFill>
                          <a:latin typeface="Deck"/>
                          <a:ea typeface="Deck"/>
                          <a:cs typeface="Deck"/>
                        </a:rPr>
                        <a:t>Guided onboarding and support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Annual sponsor plan: S$120/circle</a:t>
                      </a:r>
                    </a:p>
                    <a:p>
                      <a:pPr algn="l">
                        <a:lnSpc>
                          <a:spcPct val="120000"/>
                        </a:lnSpc>
                      </a:pPr>
                      <a:r>
                        <a:rPr sz="2175">
                          <a:solidFill>
                            <a:srgbClr val="3A3745"/>
                          </a:solidFill>
                          <a:latin typeface="Deck"/>
                          <a:ea typeface="Deck"/>
                          <a:cs typeface="Deck"/>
                        </a:rPr>
                        <a:t>Test pricing and service levels</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Repeatable onboarding and support</a:t>
                      </a:r>
                    </a:p>
                    <a:p>
                      <a:pPr algn="l">
                        <a:lnSpc>
                          <a:spcPct val="120000"/>
                        </a:lnSpc>
                      </a:pPr>
                      <a:r>
                        <a:rPr sz="2175">
                          <a:solidFill>
                            <a:srgbClr val="3A3745"/>
                          </a:solidFill>
                          <a:latin typeface="Deck"/>
                          <a:ea typeface="Deck"/>
                          <a:cs typeface="Deck"/>
                        </a:rPr>
                        <a:t>Expand integrations when needed</a:t>
                      </a:r>
                    </a:p>
                  </a:txBody>
                  <a:tcPr marL="0" marR="228600" marT="95250" marB="95250" anchor="t">
                    <a:lnL w="0">
                      <a:noFill/>
                    </a:lnL>
                    <a:lnR w="0">
                      <a:noFill/>
                    </a:lnR>
                    <a:lnT w="0">
                      <a:noFill/>
                    </a:lnT>
                    <a:lnB w="0">
                      <a:noFill/>
                    </a:lnB>
                    <a:lnTlToBr w="0">
                      <a:noFill/>
                    </a:lnTlToBr>
                    <a:lnBlToTr w="0">
                      <a:noFill/>
                    </a:lnBlToTr>
                    <a:noFill/>
                  </a:tcPr>
                </a:tc>
              </a:tr>
              <a:tr h="1200150">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≥80% activation in 7 days</a:t>
                      </a:r>
                    </a:p>
                    <a:p>
                      <a:pPr algn="l">
                        <a:lnSpc>
                          <a:spcPct val="120000"/>
                        </a:lnSpc>
                      </a:pPr>
                      <a:r>
                        <a:rPr sz="2175">
                          <a:solidFill>
                            <a:srgbClr val="3A3745"/>
                          </a:solidFill>
                          <a:latin typeface="Deck"/>
                          <a:ea typeface="Deck"/>
                          <a:cs typeface="Deck"/>
                        </a:rPr>
                        <a:t>≥50% active in usage week 8</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signed paid extension</a:t>
                      </a:r>
                    </a:p>
                    <a:p>
                      <a:pPr algn="l">
                        <a:lnSpc>
                          <a:spcPct val="120000"/>
                        </a:lnSpc>
                      </a:pPr>
                      <a:r>
                        <a:rPr sz="2175">
                          <a:solidFill>
                            <a:srgbClr val="3A3745"/>
                          </a:solidFill>
                          <a:latin typeface="Deck"/>
                          <a:ea typeface="Deck"/>
                          <a:cs typeface="Deck"/>
                        </a:rPr>
                        <a:t>Manageable cost per active circle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175">
                          <a:solidFill>
                            <a:srgbClr val="3A3745"/>
                          </a:solidFill>
                          <a:latin typeface="Deck"/>
                          <a:ea typeface="Deck"/>
                          <a:cs typeface="Deck"/>
                        </a:rPr>
                        <a:t>Gate: 2–3 paying partners</a:t>
                      </a:r>
                    </a:p>
                    <a:p>
                      <a:pPr algn="l">
                        <a:lnSpc>
                          <a:spcPct val="120000"/>
                        </a:lnSpc>
                      </a:pPr>
                      <a:r>
                        <a:rPr sz="2175">
                          <a:solidFill>
                            <a:srgbClr val="3A3745"/>
                          </a:solidFill>
                          <a:latin typeface="Deck"/>
                          <a:ea typeface="Deck"/>
                          <a:cs typeface="Deck"/>
                        </a:rPr>
                        <a:t>Repeatable retention and economics</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33A109C6-9435-49D4-842B-2EB3EF950921}"/>
              </a:ext>
            </a:extLst>
          </p:cNvPr>
          <p:cNvSpPr>
            <a:spLocks xmlns:a="http://schemas.openxmlformats.org/drawingml/2006/main" noGrp="1"/>
          </p:cNvSpPr>
          <p:nvPr/>
        </p:nvSpPr>
        <p:spPr>
          <a:xfrm xmlns:a="http://schemas.openxmlformats.org/drawingml/2006/main">
            <a:off x="1009650" y="32575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6" name="">
            <a:extLst xmlns:a="http://schemas.openxmlformats.org/drawingml/2006/main">
              <a:ext uri="{FF2B5EF4-FFF2-40B4-BE49-F238E27FC236}">
                <a16:creationId xmlns:a16="http://schemas.microsoft.com/office/drawing/2014/main" id="{5E6853B7-E98C-4350-BD63-6F0F54397D88}"/>
              </a:ext>
            </a:extLst>
          </p:cNvPr>
          <p:cNvSpPr>
            <a:spLocks xmlns:a="http://schemas.openxmlformats.org/drawingml/2006/main" noGrp="1"/>
          </p:cNvSpPr>
          <p:nvPr/>
        </p:nvSpPr>
        <p:spPr>
          <a:xfrm xmlns:a="http://schemas.openxmlformats.org/drawingml/2006/main">
            <a:off x="1009650" y="854392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7" name="appendix-text-75">
            <a:extLst xmlns:a="http://schemas.openxmlformats.org/drawingml/2006/main">
              <a:ext uri="{FF2B5EF4-FFF2-40B4-BE49-F238E27FC236}">
                <a16:creationId xmlns:a16="http://schemas.microsoft.com/office/drawing/2014/main" id="{52EE2A7E-6ADA-4022-8DDB-0893A5B6CAF8}"/>
              </a:ext>
            </a:extLst>
          </p:cNvPr>
          <p:cNvSpPr>
            <a:spLocks xmlns:a="http://schemas.openxmlformats.org/drawingml/2006/main" noGrp="1"/>
          </p:cNvSpPr>
          <p:nvPr/>
        </p:nvSpPr>
        <p:spPr>
          <a:xfrm xmlns:a="http://schemas.openxmlformats.org/drawingml/2006/main">
            <a:off x="1009650" y="8886825"/>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Business model hypothesis: partners fund care circles; family access is included.</a:t>
            </a:r>
          </a:p>
        </p:txBody>
      </p:sp>
      <p:sp>
        <p:nvSpPr>
          <p:cNvPr id="8" name="appendix-text-76">
            <a:extLst xmlns:a="http://schemas.openxmlformats.org/drawingml/2006/main">
              <a:ext uri="{FF2B5EF4-FFF2-40B4-BE49-F238E27FC236}">
                <a16:creationId xmlns:a16="http://schemas.microsoft.com/office/drawing/2014/main" id="{ADD6E0D1-AE12-4912-8D4D-31F860B6A9AF}"/>
              </a:ext>
            </a:extLst>
          </p:cNvPr>
          <p:cNvSpPr>
            <a:spLocks xmlns:a="http://schemas.openxmlformats.org/drawingml/2006/main" noGrp="1"/>
          </p:cNvSpPr>
          <p:nvPr/>
        </p:nvSpPr>
        <p:spPr>
          <a:xfrm xmlns:a="http://schemas.openxmlformats.org/drawingml/2006/main">
            <a:off x="1009650" y="9239250"/>
            <a:ext cx="1626870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875">
                <a:solidFill>
                  <a:srgbClr val="77717D"/>
                </a:solidFill>
                <a:latin typeface="Deck"/>
                <a:ea typeface="Deck"/>
                <a:cs typeface="Deck"/>
              </a:defRPr>
            </a:pPr>
            <a:r>
              <a:rPr sz="1875">
                <a:solidFill>
                  <a:srgbClr val="77717D"/>
                </a:solidFill>
                <a:latin typeface="Deck"/>
                <a:ea typeface="Deck"/>
                <a:cs typeface="Deck"/>
              </a:rPr>
              <a:t>The timeline starts after production readiness. All milestones and pricing are proposed targets.</a:t>
            </a:r>
          </a:p>
        </p:txBody>
      </p:sp>
      <p:sp>
        <p:nvSpPr>
          <p:cNvPr id="9" name="appendix-text-77">
            <a:extLst xmlns:a="http://schemas.openxmlformats.org/drawingml/2006/main">
              <a:ext uri="{FF2B5EF4-FFF2-40B4-BE49-F238E27FC236}">
                <a16:creationId xmlns:a16="http://schemas.microsoft.com/office/drawing/2014/main" id="{A97F17B2-15F7-46E7-9209-C715DDF40757}"/>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GTM plan. Clinical effectiveness, acquisition cost and willingness to pay need evidence from the pilot.</a:t>
            </a:r>
          </a:p>
        </p:txBody>
      </p:sp>
      <p:sp>
        <p:nvSpPr>
          <p:cNvPr id="10" name="appendix-text-78">
            <a:extLst xmlns:a="http://schemas.openxmlformats.org/drawingml/2006/main">
              <a:ext uri="{FF2B5EF4-FFF2-40B4-BE49-F238E27FC236}">
                <a16:creationId xmlns:a16="http://schemas.microsoft.com/office/drawing/2014/main" id="{455FCB92-1215-445A-AAD1-3D94B5C8265E}"/>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26</a:t>
            </a:r>
          </a:p>
        </p:txBody>
      </p:sp>
    </p:spTree>
    <p:extLst>
      <p:ext uri="{BB962C8B-B14F-4D97-AF65-F5344CB8AC3E}">
        <p14:creationId xmlns:p14="http://schemas.microsoft.com/office/powerpoint/2010/main" val="165012851"/>
      </p:ext>
    </p:extLst>
  </p:cSld>
</p:sld>
</file>

<file path=ppt/slides/slide27.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32" name="appendix-text-79">
            <a:extLst xmlns:a="http://schemas.openxmlformats.org/drawingml/2006/main">
              <a:ext uri="{FF2B5EF4-FFF2-40B4-BE49-F238E27FC236}">
                <a16:creationId xmlns:a16="http://schemas.microsoft.com/office/drawing/2014/main" id="{3B1B870A-5C78-48D8-887E-7C343D6D5B7A}"/>
              </a:ext>
            </a:extLst>
          </p:cNvPr>
          <p:cNvSpPr>
            <a:spLocks xmlns:a="http://schemas.openxmlformats.org/drawingml/2006/main" noGrp="1"/>
          </p:cNvSpPr>
          <p:nvPr/>
        </p:nvSpPr>
        <p:spPr>
          <a:xfrm xmlns:a="http://schemas.openxmlformats.org/drawingml/2006/main">
            <a:off x="990600" y="819150"/>
            <a:ext cx="61912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PARTNERSHIP OPPORTUNITIES</a:t>
            </a:r>
          </a:p>
        </p:txBody>
      </p:sp>
      <p:sp>
        <p:nvSpPr>
          <p:cNvPr id="2" name="appendix-text-80">
            <a:extLst xmlns:a="http://schemas.openxmlformats.org/drawingml/2006/main">
              <a:ext uri="{FF2B5EF4-FFF2-40B4-BE49-F238E27FC236}">
                <a16:creationId xmlns:a16="http://schemas.microsoft.com/office/drawing/2014/main" id="{574F6417-14A5-4B08-BE69-C0CE342A25FF}"/>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Tencent</a:t>
            </a:r>
          </a:p>
        </p:txBody>
      </p:sp>
      <p:sp>
        <p:nvSpPr>
          <p:cNvPr id="3" name="appendix-text-81">
            <a:extLst xmlns:a="http://schemas.openxmlformats.org/drawingml/2006/main">
              <a:ext uri="{FF2B5EF4-FFF2-40B4-BE49-F238E27FC236}">
                <a16:creationId xmlns:a16="http://schemas.microsoft.com/office/drawing/2014/main" id="{81DD5A5C-15D0-415E-8A7F-6E717836FCF9}"/>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partnership</a:t>
            </a:r>
          </a:p>
        </p:txBody>
      </p:sp>
      <p:sp>
        <p:nvSpPr>
          <p:cNvPr id="4" name="appendix-text-82">
            <a:extLst xmlns:a="http://schemas.openxmlformats.org/drawingml/2006/main">
              <a:ext uri="{FF2B5EF4-FFF2-40B4-BE49-F238E27FC236}">
                <a16:creationId xmlns:a16="http://schemas.microsoft.com/office/drawing/2014/main" id="{BB9D0D9D-979F-4499-B64E-816322B88A9F}"/>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opportunities</a:t>
            </a:r>
          </a:p>
        </p:txBody>
      </p:sp>
      <p:sp>
        <p:nvSpPr>
          <p:cNvPr id="5" name="appendix-text-83">
            <a:extLst xmlns:a="http://schemas.openxmlformats.org/drawingml/2006/main">
              <a:ext uri="{FF2B5EF4-FFF2-40B4-BE49-F238E27FC236}">
                <a16:creationId xmlns:a16="http://schemas.microsoft.com/office/drawing/2014/main" id="{927E3C7E-73D7-4B6F-8C7D-9F59241CD658}"/>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Production readiness and distribution</a:t>
            </a:r>
          </a:p>
        </p:txBody>
      </p:sp>
      <p:sp>
        <p:nvSpPr>
          <p:cNvPr id="6" name="appendix-text-84">
            <a:extLst xmlns:a="http://schemas.openxmlformats.org/drawingml/2006/main">
              <a:ext uri="{FF2B5EF4-FFF2-40B4-BE49-F238E27FC236}">
                <a16:creationId xmlns:a16="http://schemas.microsoft.com/office/drawing/2014/main" id="{059D0E51-9254-4989-ACC2-CC61AABAA700}"/>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for a Singapore care-coordination pilot.</a:t>
            </a:r>
          </a:p>
        </p:txBody>
      </p:sp>
      <p:sp>
        <p:nvSpPr>
          <p:cNvPr id="7" name="appendix-text-85">
            <a:extLst xmlns:a="http://schemas.openxmlformats.org/drawingml/2006/main">
              <a:ext uri="{FF2B5EF4-FFF2-40B4-BE49-F238E27FC236}">
                <a16:creationId xmlns:a16="http://schemas.microsoft.com/office/drawing/2014/main" id="{2ACA573F-5510-4E06-912E-8ADAE68E52F5}"/>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86">
            <a:extLst xmlns:a="http://schemas.openxmlformats.org/drawingml/2006/main">
              <a:ext uri="{FF2B5EF4-FFF2-40B4-BE49-F238E27FC236}">
                <a16:creationId xmlns:a16="http://schemas.microsoft.com/office/drawing/2014/main" id="{B5FCF1CA-935F-46B0-9D58-7A07EEE8E299}"/>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Potential value to Tencent: a reference</a:t>
            </a:r>
          </a:p>
        </p:txBody>
      </p:sp>
      <p:sp>
        <p:nvSpPr>
          <p:cNvPr id="9" name="appendix-text-87">
            <a:extLst xmlns:a="http://schemas.openxmlformats.org/drawingml/2006/main">
              <a:ext uri="{FF2B5EF4-FFF2-40B4-BE49-F238E27FC236}">
                <a16:creationId xmlns:a16="http://schemas.microsoft.com/office/drawing/2014/main" id="{75DEAD38-F90C-4160-94D5-2320BC02592D}"/>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A8BCB0"/>
                </a:solidFill>
                <a:latin typeface="Deck"/>
                <a:ea typeface="Deck"/>
                <a:cs typeface="Deck"/>
              </a:defRPr>
            </a:pPr>
            <a:r>
              <a:rPr sz="2325">
                <a:solidFill>
                  <a:srgbClr val="A8BCB0"/>
                </a:solidFill>
                <a:latin typeface="Deck"/>
                <a:ea typeface="Deck"/>
                <a:cs typeface="Deck"/>
              </a:rPr>
              <a:t>workload for cloud and AI services.</a:t>
            </a:r>
          </a:p>
        </p:txBody>
      </p:sp>
      <p:sp>
        <p:nvSpPr>
          <p:cNvPr id="10" name="appendix-text-88">
            <a:extLst xmlns:a="http://schemas.openxmlformats.org/drawingml/2006/main">
              <a:ext uri="{FF2B5EF4-FFF2-40B4-BE49-F238E27FC236}">
                <a16:creationId xmlns:a16="http://schemas.microsoft.com/office/drawing/2014/main" id="{87D6F421-7592-4CA2-A66F-B29A1A92C31E}"/>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9BDAB6"/>
                </a:solidFill>
                <a:latin typeface="Deck-Medium"/>
                <a:ea typeface="Deck-Medium"/>
                <a:cs typeface="Deck-Medium"/>
              </a:defRPr>
            </a:pPr>
            <a:r>
              <a:rPr sz="2700">
                <a:solidFill>
                  <a:srgbClr val="9BDAB6"/>
                </a:solidFill>
                <a:latin typeface="Deck-Medium"/>
                <a:ea typeface="Deck-Medium"/>
                <a:cs typeface="Deck-Medium"/>
              </a:rPr>
              <a:t>Initial ask</a:t>
            </a:r>
          </a:p>
        </p:txBody>
      </p:sp>
      <p:sp>
        <p:nvSpPr>
          <p:cNvPr id="11" name="appendix-text-89">
            <a:extLst xmlns:a="http://schemas.openxmlformats.org/drawingml/2006/main">
              <a:ext uri="{FF2B5EF4-FFF2-40B4-BE49-F238E27FC236}">
                <a16:creationId xmlns:a16="http://schemas.microsoft.com/office/drawing/2014/main" id="{80ABB94A-9A18-444B-A5D8-0CF24EA11E0B}"/>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 technical workshop and a defined</a:t>
            </a:r>
          </a:p>
        </p:txBody>
      </p:sp>
      <p:sp>
        <p:nvSpPr>
          <p:cNvPr id="12" name="appendix-text-90">
            <a:extLst xmlns:a="http://schemas.openxmlformats.org/drawingml/2006/main">
              <a:ext uri="{FF2B5EF4-FFF2-40B4-BE49-F238E27FC236}">
                <a16:creationId xmlns:a16="http://schemas.microsoft.com/office/drawing/2014/main" id="{39261550-D393-43BD-9211-1AC9FD49F4A7}"/>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cloud/model support package.</a:t>
            </a:r>
          </a:p>
        </p:txBody>
      </p:sp>
      <p:sp>
        <p:nvSpPr>
          <p:cNvPr id="13" name="appendix-text-91">
            <a:extLst xmlns:a="http://schemas.openxmlformats.org/drawingml/2006/main">
              <a:ext uri="{FF2B5EF4-FFF2-40B4-BE49-F238E27FC236}">
                <a16:creationId xmlns:a16="http://schemas.microsoft.com/office/drawing/2014/main" id="{BF63EC1B-5BD0-427B-8EB2-27B1E612D183}"/>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01</a:t>
            </a:r>
          </a:p>
        </p:txBody>
      </p:sp>
      <p:sp>
        <p:nvSpPr>
          <p:cNvPr id="14" name="appendix-text-92">
            <a:extLst xmlns:a="http://schemas.openxmlformats.org/drawingml/2006/main">
              <a:ext uri="{FF2B5EF4-FFF2-40B4-BE49-F238E27FC236}">
                <a16:creationId xmlns:a16="http://schemas.microsoft.com/office/drawing/2014/main" id="{576A4648-9956-4F20-B2D5-2D5B00FFCA55}"/>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Cloud architecture &amp; pilot support</a:t>
            </a:r>
          </a:p>
        </p:txBody>
      </p:sp>
      <p:sp>
        <p:nvSpPr>
          <p:cNvPr id="15" name="appendix-text-93">
            <a:extLst xmlns:a="http://schemas.openxmlformats.org/drawingml/2006/main">
              <a:ext uri="{FF2B5EF4-FFF2-40B4-BE49-F238E27FC236}">
                <a16:creationId xmlns:a16="http://schemas.microsoft.com/office/drawing/2014/main" id="{FBCF291D-F20D-4D36-98EE-6149B7F6EA53}"/>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Review availability and data boundaries.</a:t>
            </a:r>
          </a:p>
        </p:txBody>
      </p:sp>
      <p:sp>
        <p:nvSpPr>
          <p:cNvPr id="16" name="appendix-text-94">
            <a:extLst xmlns:a="http://schemas.openxmlformats.org/drawingml/2006/main">
              <a:ext uri="{FF2B5EF4-FFF2-40B4-BE49-F238E27FC236}">
                <a16:creationId xmlns:a16="http://schemas.microsoft.com/office/drawing/2014/main" id="{CD589528-D4F4-4EA4-98EE-F63ED644247A}"/>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Request cloud support for a defined pilot</a:t>
            </a:r>
          </a:p>
        </p:txBody>
      </p:sp>
      <p:sp>
        <p:nvSpPr>
          <p:cNvPr id="17" name="appendix-text-95">
            <a:extLst xmlns:a="http://schemas.openxmlformats.org/drawingml/2006/main">
              <a:ext uri="{FF2B5EF4-FFF2-40B4-BE49-F238E27FC236}">
                <a16:creationId xmlns:a16="http://schemas.microsoft.com/office/drawing/2014/main" id="{F7E6A83D-9100-4EB2-889F-C0C6B5848AAE}"/>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budget, with a deployment and recovery review.</a:t>
            </a:r>
          </a:p>
        </p:txBody>
      </p:sp>
      <p:sp>
        <p:nvSpPr>
          <p:cNvPr id="18" name="">
            <a:extLst xmlns:a="http://schemas.openxmlformats.org/drawingml/2006/main">
              <a:ext uri="{FF2B5EF4-FFF2-40B4-BE49-F238E27FC236}">
                <a16:creationId xmlns:a16="http://schemas.microsoft.com/office/drawing/2014/main" id="{6D3D6422-8C38-4E90-AF78-2EC6423BAA3D}"/>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19" name="appendix-text-96">
            <a:extLst xmlns:a="http://schemas.openxmlformats.org/drawingml/2006/main">
              <a:ext uri="{FF2B5EF4-FFF2-40B4-BE49-F238E27FC236}">
                <a16:creationId xmlns:a16="http://schemas.microsoft.com/office/drawing/2014/main" id="{669449EF-FCC5-4A79-8A4C-D174273888AF}"/>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02</a:t>
            </a:r>
          </a:p>
        </p:txBody>
      </p:sp>
      <p:sp>
        <p:nvSpPr>
          <p:cNvPr id="20" name="appendix-text-97">
            <a:extLst xmlns:a="http://schemas.openxmlformats.org/drawingml/2006/main">
              <a:ext uri="{FF2B5EF4-FFF2-40B4-BE49-F238E27FC236}">
                <a16:creationId xmlns:a16="http://schemas.microsoft.com/office/drawing/2014/main" id="{00A97B9D-A392-47CF-8F2D-CDEA29C1E634}"/>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AI quality &amp; cost</a:t>
            </a:r>
          </a:p>
        </p:txBody>
      </p:sp>
      <p:sp>
        <p:nvSpPr>
          <p:cNvPr id="21" name="appendix-text-98">
            <a:extLst xmlns:a="http://schemas.openxmlformats.org/drawingml/2006/main">
              <a:ext uri="{FF2B5EF4-FFF2-40B4-BE49-F238E27FC236}">
                <a16:creationId xmlns:a16="http://schemas.microsoft.com/office/drawing/2014/main" id="{C995CA16-F778-42F3-B573-68F88CAB462F}"/>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Compare models on caregiver tasks and language</a:t>
            </a:r>
          </a:p>
        </p:txBody>
      </p:sp>
      <p:sp>
        <p:nvSpPr>
          <p:cNvPr id="22" name="appendix-text-99">
            <a:extLst xmlns:a="http://schemas.openxmlformats.org/drawingml/2006/main">
              <a:ext uri="{FF2B5EF4-FFF2-40B4-BE49-F238E27FC236}">
                <a16:creationId xmlns:a16="http://schemas.microsoft.com/office/drawing/2014/main" id="{97CF2751-99B9-4E2F-BE9F-AAC33AF71078}"/>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coverage. Track latency, cost and confirmed</a:t>
            </a:r>
          </a:p>
        </p:txBody>
      </p:sp>
      <p:sp>
        <p:nvSpPr>
          <p:cNvPr id="23" name="appendix-text-100">
            <a:extLst xmlns:a="http://schemas.openxmlformats.org/drawingml/2006/main">
              <a:ext uri="{FF2B5EF4-FFF2-40B4-BE49-F238E27FC236}">
                <a16:creationId xmlns:a16="http://schemas.microsoft.com/office/drawing/2014/main" id="{F6A0E355-0058-423E-9014-0D2829FAAB10}"/>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actions before increasing usage.</a:t>
            </a:r>
          </a:p>
        </p:txBody>
      </p:sp>
      <p:sp>
        <p:nvSpPr>
          <p:cNvPr id="24" name="">
            <a:extLst xmlns:a="http://schemas.openxmlformats.org/drawingml/2006/main">
              <a:ext uri="{FF2B5EF4-FFF2-40B4-BE49-F238E27FC236}">
                <a16:creationId xmlns:a16="http://schemas.microsoft.com/office/drawing/2014/main" id="{4097F8E9-A9C7-4DD0-BACC-692573D17318}"/>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25" name="appendix-text-101">
            <a:extLst xmlns:a="http://schemas.openxmlformats.org/drawingml/2006/main">
              <a:ext uri="{FF2B5EF4-FFF2-40B4-BE49-F238E27FC236}">
                <a16:creationId xmlns:a16="http://schemas.microsoft.com/office/drawing/2014/main" id="{F2195683-F966-4770-87A5-E81D2CE65CE8}"/>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9BDAB6"/>
                </a:solidFill>
                <a:latin typeface="Deck"/>
                <a:ea typeface="Deck"/>
                <a:cs typeface="Deck"/>
              </a:defRPr>
            </a:pPr>
            <a:r>
              <a:rPr sz="1725">
                <a:solidFill>
                  <a:srgbClr val="9BDAB6"/>
                </a:solidFill>
                <a:latin typeface="Deck"/>
                <a:ea typeface="Deck"/>
                <a:cs typeface="Deck"/>
              </a:rPr>
              <a:t>03</a:t>
            </a:r>
          </a:p>
        </p:txBody>
      </p:sp>
      <p:sp>
        <p:nvSpPr>
          <p:cNvPr id="26" name="appendix-text-102">
            <a:extLst xmlns:a="http://schemas.openxmlformats.org/drawingml/2006/main">
              <a:ext uri="{FF2B5EF4-FFF2-40B4-BE49-F238E27FC236}">
                <a16:creationId xmlns:a16="http://schemas.microsoft.com/office/drawing/2014/main" id="{6DE3D906-3B44-4E56-9C99-B07CA9D733BB}"/>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Commercial distribution</a:t>
            </a:r>
          </a:p>
        </p:txBody>
      </p:sp>
      <p:sp>
        <p:nvSpPr>
          <p:cNvPr id="27" name="appendix-text-103">
            <a:extLst xmlns:a="http://schemas.openxmlformats.org/drawingml/2006/main">
              <a:ext uri="{FF2B5EF4-FFF2-40B4-BE49-F238E27FC236}">
                <a16:creationId xmlns:a16="http://schemas.microsoft.com/office/drawing/2014/main" id="{179A47B9-4455-44A0-89D1-19236B614AC1}"/>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Explore Development Partner eligibility and</a:t>
            </a:r>
          </a:p>
        </p:txBody>
      </p:sp>
      <p:sp>
        <p:nvSpPr>
          <p:cNvPr id="28" name="appendix-text-104">
            <a:extLst xmlns:a="http://schemas.openxmlformats.org/drawingml/2006/main">
              <a:ext uri="{FF2B5EF4-FFF2-40B4-BE49-F238E27FC236}">
                <a16:creationId xmlns:a16="http://schemas.microsoft.com/office/drawing/2014/main" id="{733B5303-B3B4-439A-A99C-26A322674763}"/>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introductions to suitable channels. Publish a</a:t>
            </a:r>
          </a:p>
        </p:txBody>
      </p:sp>
      <p:sp>
        <p:nvSpPr>
          <p:cNvPr id="29" name="appendix-text-105">
            <a:extLst xmlns:a="http://schemas.openxmlformats.org/drawingml/2006/main">
              <a:ext uri="{FF2B5EF4-FFF2-40B4-BE49-F238E27FC236}">
                <a16:creationId xmlns:a16="http://schemas.microsoft.com/office/drawing/2014/main" id="{B1C48126-6CF8-4425-A8F5-8600B8C42126}"/>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reference case only with participant consent.</a:t>
            </a:r>
          </a:p>
        </p:txBody>
      </p:sp>
      <p:sp>
        <p:nvSpPr>
          <p:cNvPr id="30" name="appendix-text-106">
            <a:extLst xmlns:a="http://schemas.openxmlformats.org/drawingml/2006/main">
              <a:ext uri="{FF2B5EF4-FFF2-40B4-BE49-F238E27FC236}">
                <a16:creationId xmlns:a16="http://schemas.microsoft.com/office/drawing/2014/main" id="{3137726E-C34E-446A-9328-38EB1245E81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collaboration; participation, support and programme eligibility are subject to agreement. Sources in speaker notes.</a:t>
            </a:r>
          </a:p>
        </p:txBody>
      </p:sp>
      <p:sp>
        <p:nvSpPr>
          <p:cNvPr id="31" name="appendix-text-107">
            <a:extLst xmlns:a="http://schemas.openxmlformats.org/drawingml/2006/main">
              <a:ext uri="{FF2B5EF4-FFF2-40B4-BE49-F238E27FC236}">
                <a16:creationId xmlns:a16="http://schemas.microsoft.com/office/drawing/2014/main" id="{62CFB4D1-D92D-431C-A5A2-43BFDBD773CC}"/>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27</a:t>
            </a:r>
          </a:p>
        </p:txBody>
      </p:sp>
    </p:spTree>
    <p:extLst>
      <p:ext uri="{BB962C8B-B14F-4D97-AF65-F5344CB8AC3E}">
        <p14:creationId xmlns:p14="http://schemas.microsoft.com/office/powerpoint/2010/main" val="1843825867"/>
      </p:ext>
    </p:extLst>
  </p:cSld>
</p:sld>
</file>

<file path=ppt/slides/slide2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32" name="appendix-text-108">
            <a:extLst xmlns:a="http://schemas.openxmlformats.org/drawingml/2006/main">
              <a:ext uri="{FF2B5EF4-FFF2-40B4-BE49-F238E27FC236}">
                <a16:creationId xmlns:a16="http://schemas.microsoft.com/office/drawing/2014/main" id="{A5BD3F62-A52F-4CC2-9C7D-2156D0D6492D}"/>
              </a:ext>
            </a:extLst>
          </p:cNvPr>
          <p:cNvSpPr>
            <a:spLocks xmlns:a="http://schemas.openxmlformats.org/drawingml/2006/main" noGrp="1"/>
          </p:cNvSpPr>
          <p:nvPr/>
        </p:nvSpPr>
        <p:spPr>
          <a:xfrm xmlns:a="http://schemas.openxmlformats.org/drawingml/2006/main">
            <a:off x="990600" y="819150"/>
            <a:ext cx="61912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3A3745"/>
                </a:solidFill>
                <a:latin typeface="Deck-Medium"/>
                <a:ea typeface="Deck-Medium"/>
                <a:cs typeface="Deck-Medium"/>
              </a:defRPr>
            </a:pPr>
            <a:r>
              <a:rPr sz="1725">
                <a:solidFill>
                  <a:srgbClr val="3A3745"/>
                </a:solidFill>
                <a:latin typeface="Deck-Medium"/>
                <a:ea typeface="Deck-Medium"/>
                <a:cs typeface="Deck-Medium"/>
              </a:rPr>
              <a:t>PARTNERSHIP OPPORTUNITIES</a:t>
            </a:r>
          </a:p>
        </p:txBody>
      </p:sp>
      <p:sp>
        <p:nvSpPr>
          <p:cNvPr id="2" name="appendix-text-109">
            <a:extLst xmlns:a="http://schemas.openxmlformats.org/drawingml/2006/main">
              <a:ext uri="{FF2B5EF4-FFF2-40B4-BE49-F238E27FC236}">
                <a16:creationId xmlns:a16="http://schemas.microsoft.com/office/drawing/2014/main" id="{74CE0DAA-01B8-4F72-93EF-6D8D20218149}"/>
              </a:ext>
            </a:extLst>
          </p:cNvPr>
          <p:cNvSpPr>
            <a:spLocks xmlns:a="http://schemas.openxmlformats.org/drawingml/2006/main" noGrp="1"/>
          </p:cNvSpPr>
          <p:nvPr/>
        </p:nvSpPr>
        <p:spPr>
          <a:xfrm xmlns:a="http://schemas.openxmlformats.org/drawingml/2006/main">
            <a:off x="962025" y="16287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NTU</a:t>
            </a:r>
          </a:p>
        </p:txBody>
      </p:sp>
      <p:sp>
        <p:nvSpPr>
          <p:cNvPr id="3" name="appendix-text-110">
            <a:extLst xmlns:a="http://schemas.openxmlformats.org/drawingml/2006/main">
              <a:ext uri="{FF2B5EF4-FFF2-40B4-BE49-F238E27FC236}">
                <a16:creationId xmlns:a16="http://schemas.microsoft.com/office/drawing/2014/main" id="{A981E880-8BAE-4525-88D0-79AAB9ABF521}"/>
              </a:ext>
            </a:extLst>
          </p:cNvPr>
          <p:cNvSpPr>
            <a:spLocks xmlns:a="http://schemas.openxmlformats.org/drawingml/2006/main" noGrp="1"/>
          </p:cNvSpPr>
          <p:nvPr/>
        </p:nvSpPr>
        <p:spPr>
          <a:xfrm xmlns:a="http://schemas.openxmlformats.org/drawingml/2006/main">
            <a:off x="962025" y="252412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partnership</a:t>
            </a:r>
          </a:p>
        </p:txBody>
      </p:sp>
      <p:sp>
        <p:nvSpPr>
          <p:cNvPr id="4" name="appendix-text-111">
            <a:extLst xmlns:a="http://schemas.openxmlformats.org/drawingml/2006/main">
              <a:ext uri="{FF2B5EF4-FFF2-40B4-BE49-F238E27FC236}">
                <a16:creationId xmlns:a16="http://schemas.microsoft.com/office/drawing/2014/main" id="{AF5B7CC0-E3BE-4F4D-BC17-58864960ED78}"/>
              </a:ext>
            </a:extLst>
          </p:cNvPr>
          <p:cNvSpPr>
            <a:spLocks xmlns:a="http://schemas.openxmlformats.org/drawingml/2006/main" noGrp="1"/>
          </p:cNvSpPr>
          <p:nvPr/>
        </p:nvSpPr>
        <p:spPr>
          <a:xfrm xmlns:a="http://schemas.openxmlformats.org/drawingml/2006/main">
            <a:off x="962025" y="3419475"/>
            <a:ext cx="7000875" cy="1023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opportunities</a:t>
            </a:r>
          </a:p>
        </p:txBody>
      </p:sp>
      <p:sp>
        <p:nvSpPr>
          <p:cNvPr id="5" name="appendix-text-112">
            <a:extLst xmlns:a="http://schemas.openxmlformats.org/drawingml/2006/main">
              <a:ext uri="{FF2B5EF4-FFF2-40B4-BE49-F238E27FC236}">
                <a16:creationId xmlns:a16="http://schemas.microsoft.com/office/drawing/2014/main" id="{B3E0A769-1CB0-4086-BEBC-CD496AF38A2C}"/>
              </a:ext>
            </a:extLst>
          </p:cNvPr>
          <p:cNvSpPr>
            <a:spLocks xmlns:a="http://schemas.openxmlformats.org/drawingml/2006/main" noGrp="1"/>
          </p:cNvSpPr>
          <p:nvPr/>
        </p:nvSpPr>
        <p:spPr>
          <a:xfrm xmlns:a="http://schemas.openxmlformats.org/drawingml/2006/main">
            <a:off x="1009650" y="48672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Nanyang Technological University</a:t>
            </a:r>
          </a:p>
        </p:txBody>
      </p:sp>
      <p:sp>
        <p:nvSpPr>
          <p:cNvPr id="6" name="appendix-text-113">
            <a:extLst xmlns:a="http://schemas.openxmlformats.org/drawingml/2006/main">
              <a:ext uri="{FF2B5EF4-FFF2-40B4-BE49-F238E27FC236}">
                <a16:creationId xmlns:a16="http://schemas.microsoft.com/office/drawing/2014/main" id="{2D4DCBD5-855D-4EF5-A894-65FA8A6110AB}"/>
              </a:ext>
            </a:extLst>
          </p:cNvPr>
          <p:cNvSpPr>
            <a:spLocks xmlns:a="http://schemas.openxmlformats.org/drawingml/2006/main" noGrp="1"/>
          </p:cNvSpPr>
          <p:nvPr/>
        </p:nvSpPr>
        <p:spPr>
          <a:xfrm xmlns:a="http://schemas.openxmlformats.org/drawingml/2006/main">
            <a:off x="1009650" y="53054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Caregiver research and commercial validation.</a:t>
            </a:r>
          </a:p>
        </p:txBody>
      </p:sp>
      <p:sp>
        <p:nvSpPr>
          <p:cNvPr id="7" name="appendix-text-114">
            <a:extLst xmlns:a="http://schemas.openxmlformats.org/drawingml/2006/main">
              <a:ext uri="{FF2B5EF4-FFF2-40B4-BE49-F238E27FC236}">
                <a16:creationId xmlns:a16="http://schemas.microsoft.com/office/drawing/2014/main" id="{0DA23DCF-A22C-4862-9EFE-4A4B09251CFC}"/>
              </a:ext>
            </a:extLst>
          </p:cNvPr>
          <p:cNvSpPr>
            <a:spLocks xmlns:a="http://schemas.openxmlformats.org/drawingml/2006/main" noGrp="1"/>
          </p:cNvSpPr>
          <p:nvPr/>
        </p:nvSpPr>
        <p:spPr>
          <a:xfrm xmlns:a="http://schemas.openxmlformats.org/drawingml/2006/main">
            <a:off x="1009650" y="57435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8" name="appendix-text-115">
            <a:extLst xmlns:a="http://schemas.openxmlformats.org/drawingml/2006/main">
              <a:ext uri="{FF2B5EF4-FFF2-40B4-BE49-F238E27FC236}">
                <a16:creationId xmlns:a16="http://schemas.microsoft.com/office/drawing/2014/main" id="{9C21B455-83A4-433B-8901-9C2F6860828F}"/>
              </a:ext>
            </a:extLst>
          </p:cNvPr>
          <p:cNvSpPr>
            <a:spLocks xmlns:a="http://schemas.openxmlformats.org/drawingml/2006/main" noGrp="1"/>
          </p:cNvSpPr>
          <p:nvPr/>
        </p:nvSpPr>
        <p:spPr>
          <a:xfrm xmlns:a="http://schemas.openxmlformats.org/drawingml/2006/main">
            <a:off x="1009650" y="618172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Potential value: a platform for applied</a:t>
            </a:r>
          </a:p>
        </p:txBody>
      </p:sp>
      <p:sp>
        <p:nvSpPr>
          <p:cNvPr id="9" name="appendix-text-116">
            <a:extLst xmlns:a="http://schemas.openxmlformats.org/drawingml/2006/main">
              <a:ext uri="{FF2B5EF4-FFF2-40B4-BE49-F238E27FC236}">
                <a16:creationId xmlns:a16="http://schemas.microsoft.com/office/drawing/2014/main" id="{D2DC7F0D-C264-4852-8928-FE91F149BF0B}"/>
              </a:ext>
            </a:extLst>
          </p:cNvPr>
          <p:cNvSpPr>
            <a:spLocks xmlns:a="http://schemas.openxmlformats.org/drawingml/2006/main" noGrp="1"/>
          </p:cNvSpPr>
          <p:nvPr/>
        </p:nvSpPr>
        <p:spPr>
          <a:xfrm xmlns:a="http://schemas.openxmlformats.org/drawingml/2006/main">
            <a:off x="1009650" y="6619875"/>
            <a:ext cx="65722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77717D"/>
                </a:solidFill>
                <a:latin typeface="Deck"/>
                <a:ea typeface="Deck"/>
                <a:cs typeface="Deck"/>
              </a:defRPr>
            </a:pPr>
            <a:r>
              <a:rPr sz="2325">
                <a:solidFill>
                  <a:srgbClr val="77717D"/>
                </a:solidFill>
                <a:latin typeface="Deck"/>
                <a:ea typeface="Deck"/>
                <a:cs typeface="Deck"/>
              </a:rPr>
              <a:t>ageing and implementation research.</a:t>
            </a:r>
          </a:p>
        </p:txBody>
      </p:sp>
      <p:sp>
        <p:nvSpPr>
          <p:cNvPr id="10" name="appendix-text-117">
            <a:extLst xmlns:a="http://schemas.openxmlformats.org/drawingml/2006/main">
              <a:ext uri="{FF2B5EF4-FFF2-40B4-BE49-F238E27FC236}">
                <a16:creationId xmlns:a16="http://schemas.microsoft.com/office/drawing/2014/main" id="{F96A4632-12B2-4840-9743-80FF53C2FB10}"/>
              </a:ext>
            </a:extLst>
          </p:cNvPr>
          <p:cNvSpPr>
            <a:spLocks xmlns:a="http://schemas.openxmlformats.org/drawingml/2006/main" noGrp="1"/>
          </p:cNvSpPr>
          <p:nvPr/>
        </p:nvSpPr>
        <p:spPr>
          <a:xfrm xmlns:a="http://schemas.openxmlformats.org/drawingml/2006/main">
            <a:off x="1009650" y="72199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00">
                <a:solidFill>
                  <a:srgbClr val="4F7A66"/>
                </a:solidFill>
                <a:latin typeface="Deck-Medium"/>
                <a:ea typeface="Deck-Medium"/>
                <a:cs typeface="Deck-Medium"/>
              </a:defRPr>
            </a:pPr>
            <a:r>
              <a:rPr sz="2700">
                <a:solidFill>
                  <a:srgbClr val="4F7A66"/>
                </a:solidFill>
                <a:latin typeface="Deck-Medium"/>
                <a:ea typeface="Deck-Medium"/>
                <a:cs typeface="Deck-Medium"/>
              </a:rPr>
              <a:t>Initial ask</a:t>
            </a:r>
          </a:p>
        </p:txBody>
      </p:sp>
      <p:sp>
        <p:nvSpPr>
          <p:cNvPr id="11" name="appendix-text-118">
            <a:extLst xmlns:a="http://schemas.openxmlformats.org/drawingml/2006/main">
              <a:ext uri="{FF2B5EF4-FFF2-40B4-BE49-F238E27FC236}">
                <a16:creationId xmlns:a16="http://schemas.microsoft.com/office/drawing/2014/main" id="{F861D4B8-D2D8-4771-8C2B-B4545FE31832}"/>
              </a:ext>
            </a:extLst>
          </p:cNvPr>
          <p:cNvSpPr>
            <a:spLocks xmlns:a="http://schemas.openxmlformats.org/drawingml/2006/main" noGrp="1"/>
          </p:cNvSpPr>
          <p:nvPr/>
        </p:nvSpPr>
        <p:spPr>
          <a:xfrm xmlns:a="http://schemas.openxmlformats.org/drawingml/2006/main">
            <a:off x="1009650" y="7753350"/>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 joint scoping session with an ageing</a:t>
            </a:r>
          </a:p>
        </p:txBody>
      </p:sp>
      <p:sp>
        <p:nvSpPr>
          <p:cNvPr id="12" name="appendix-text-119">
            <a:extLst xmlns:a="http://schemas.openxmlformats.org/drawingml/2006/main">
              <a:ext uri="{FF2B5EF4-FFF2-40B4-BE49-F238E27FC236}">
                <a16:creationId xmlns:a16="http://schemas.microsoft.com/office/drawing/2014/main" id="{73FA77F2-95AD-4736-BF66-404627FA97DC}"/>
              </a:ext>
            </a:extLst>
          </p:cNvPr>
          <p:cNvSpPr>
            <a:spLocks xmlns:a="http://schemas.openxmlformats.org/drawingml/2006/main" noGrp="1"/>
          </p:cNvSpPr>
          <p:nvPr/>
        </p:nvSpPr>
        <p:spPr>
          <a:xfrm xmlns:a="http://schemas.openxmlformats.org/drawingml/2006/main">
            <a:off x="1009650" y="8162925"/>
            <a:ext cx="6572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research lead and a venture adviser.</a:t>
            </a:r>
          </a:p>
        </p:txBody>
      </p:sp>
      <p:sp>
        <p:nvSpPr>
          <p:cNvPr id="13" name="appendix-text-120">
            <a:extLst xmlns:a="http://schemas.openxmlformats.org/drawingml/2006/main">
              <a:ext uri="{FF2B5EF4-FFF2-40B4-BE49-F238E27FC236}">
                <a16:creationId xmlns:a16="http://schemas.microsoft.com/office/drawing/2014/main" id="{5295B98E-6AB5-4E09-A4C0-F731AFAA83EA}"/>
              </a:ext>
            </a:extLst>
          </p:cNvPr>
          <p:cNvSpPr>
            <a:spLocks xmlns:a="http://schemas.openxmlformats.org/drawingml/2006/main" noGrp="1"/>
          </p:cNvSpPr>
          <p:nvPr/>
        </p:nvSpPr>
        <p:spPr>
          <a:xfrm xmlns:a="http://schemas.openxmlformats.org/drawingml/2006/main">
            <a:off x="8696325" y="16192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01</a:t>
            </a:r>
          </a:p>
        </p:txBody>
      </p:sp>
      <p:sp>
        <p:nvSpPr>
          <p:cNvPr id="14" name="appendix-text-121">
            <a:extLst xmlns:a="http://schemas.openxmlformats.org/drawingml/2006/main">
              <a:ext uri="{FF2B5EF4-FFF2-40B4-BE49-F238E27FC236}">
                <a16:creationId xmlns:a16="http://schemas.microsoft.com/office/drawing/2014/main" id="{03E4E90E-E91D-48E3-8C9A-25920E124C8E}"/>
              </a:ext>
            </a:extLst>
          </p:cNvPr>
          <p:cNvSpPr>
            <a:spLocks xmlns:a="http://schemas.openxmlformats.org/drawingml/2006/main" noGrp="1"/>
          </p:cNvSpPr>
          <p:nvPr/>
        </p:nvSpPr>
        <p:spPr>
          <a:xfrm xmlns:a="http://schemas.openxmlformats.org/drawingml/2006/main">
            <a:off x="9448800" y="15621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ARISE: ageing &amp; caregiver design</a:t>
            </a:r>
          </a:p>
        </p:txBody>
      </p:sp>
      <p:sp>
        <p:nvSpPr>
          <p:cNvPr id="15" name="appendix-text-122">
            <a:extLst xmlns:a="http://schemas.openxmlformats.org/drawingml/2006/main">
              <a:ext uri="{FF2B5EF4-FFF2-40B4-BE49-F238E27FC236}">
                <a16:creationId xmlns:a16="http://schemas.microsoft.com/office/drawing/2014/main" id="{91E209D4-B39E-48AE-A0A9-4AC73EDA3EC6}"/>
              </a:ext>
            </a:extLst>
          </p:cNvPr>
          <p:cNvSpPr>
            <a:spLocks xmlns:a="http://schemas.openxmlformats.org/drawingml/2006/main" noGrp="1"/>
          </p:cNvSpPr>
          <p:nvPr/>
        </p:nvSpPr>
        <p:spPr>
          <a:xfrm xmlns:a="http://schemas.openxmlformats.org/drawingml/2006/main">
            <a:off x="9448800" y="21621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Co-design with caregivers and older adults.</a:t>
            </a:r>
          </a:p>
        </p:txBody>
      </p:sp>
      <p:sp>
        <p:nvSpPr>
          <p:cNvPr id="16" name="appendix-text-123">
            <a:extLst xmlns:a="http://schemas.openxmlformats.org/drawingml/2006/main">
              <a:ext uri="{FF2B5EF4-FFF2-40B4-BE49-F238E27FC236}">
                <a16:creationId xmlns:a16="http://schemas.microsoft.com/office/drawing/2014/main" id="{104EFA4C-2440-4722-91FB-A064F0454EC0}"/>
              </a:ext>
            </a:extLst>
          </p:cNvPr>
          <p:cNvSpPr>
            <a:spLocks xmlns:a="http://schemas.openxmlformats.org/drawingml/2006/main" noGrp="1"/>
          </p:cNvSpPr>
          <p:nvPr/>
        </p:nvSpPr>
        <p:spPr>
          <a:xfrm xmlns:a="http://schemas.openxmlformats.org/drawingml/2006/main">
            <a:off x="9448800" y="25812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Evaluate ease of use and weekly engagement;</a:t>
            </a:r>
          </a:p>
        </p:txBody>
      </p:sp>
      <p:sp>
        <p:nvSpPr>
          <p:cNvPr id="17" name="appendix-text-124">
            <a:extLst xmlns:a="http://schemas.openxmlformats.org/drawingml/2006/main">
              <a:ext uri="{FF2B5EF4-FFF2-40B4-BE49-F238E27FC236}">
                <a16:creationId xmlns:a16="http://schemas.microsoft.com/office/drawing/2014/main" id="{55B38154-D201-4563-9090-CEF6A3014A93}"/>
              </a:ext>
            </a:extLst>
          </p:cNvPr>
          <p:cNvSpPr>
            <a:spLocks xmlns:a="http://schemas.openxmlformats.org/drawingml/2006/main" noGrp="1"/>
          </p:cNvSpPr>
          <p:nvPr/>
        </p:nvSpPr>
        <p:spPr>
          <a:xfrm xmlns:a="http://schemas.openxmlformats.org/drawingml/2006/main">
            <a:off x="9448800" y="3000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a fit with health-coaching work.</a:t>
            </a:r>
          </a:p>
        </p:txBody>
      </p:sp>
      <p:sp>
        <p:nvSpPr>
          <p:cNvPr id="18" name="">
            <a:extLst xmlns:a="http://schemas.openxmlformats.org/drawingml/2006/main">
              <a:ext uri="{FF2B5EF4-FFF2-40B4-BE49-F238E27FC236}">
                <a16:creationId xmlns:a16="http://schemas.microsoft.com/office/drawing/2014/main" id="{7789590B-9211-4006-B9EB-C0790693F69C}"/>
              </a:ext>
            </a:extLst>
          </p:cNvPr>
          <p:cNvSpPr>
            <a:spLocks xmlns:a="http://schemas.openxmlformats.org/drawingml/2006/main" noGrp="1"/>
          </p:cNvSpPr>
          <p:nvPr/>
        </p:nvSpPr>
        <p:spPr>
          <a:xfrm xmlns:a="http://schemas.openxmlformats.org/drawingml/2006/main">
            <a:off x="9448800" y="35909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19" name="appendix-text-125">
            <a:extLst xmlns:a="http://schemas.openxmlformats.org/drawingml/2006/main">
              <a:ext uri="{FF2B5EF4-FFF2-40B4-BE49-F238E27FC236}">
                <a16:creationId xmlns:a16="http://schemas.microsoft.com/office/drawing/2014/main" id="{E2B843E3-116A-485E-B2BE-C2861BEDC4AE}"/>
              </a:ext>
            </a:extLst>
          </p:cNvPr>
          <p:cNvSpPr>
            <a:spLocks xmlns:a="http://schemas.openxmlformats.org/drawingml/2006/main" noGrp="1"/>
          </p:cNvSpPr>
          <p:nvPr/>
        </p:nvSpPr>
        <p:spPr>
          <a:xfrm xmlns:a="http://schemas.openxmlformats.org/drawingml/2006/main">
            <a:off x="8696325" y="39814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02</a:t>
            </a:r>
          </a:p>
        </p:txBody>
      </p:sp>
      <p:sp>
        <p:nvSpPr>
          <p:cNvPr id="20" name="appendix-text-126">
            <a:extLst xmlns:a="http://schemas.openxmlformats.org/drawingml/2006/main">
              <a:ext uri="{FF2B5EF4-FFF2-40B4-BE49-F238E27FC236}">
                <a16:creationId xmlns:a16="http://schemas.microsoft.com/office/drawing/2014/main" id="{E88BB487-BEF0-4163-BD3B-18D94BF2C5CD}"/>
              </a:ext>
            </a:extLst>
          </p:cNvPr>
          <p:cNvSpPr>
            <a:spLocks xmlns:a="http://schemas.openxmlformats.org/drawingml/2006/main" noGrp="1"/>
          </p:cNvSpPr>
          <p:nvPr/>
        </p:nvSpPr>
        <p:spPr>
          <a:xfrm xmlns:a="http://schemas.openxmlformats.org/drawingml/2006/main">
            <a:off x="9448800" y="39243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LKCMedicine: evaluation design</a:t>
            </a:r>
          </a:p>
        </p:txBody>
      </p:sp>
      <p:sp>
        <p:nvSpPr>
          <p:cNvPr id="21" name="appendix-text-127">
            <a:extLst xmlns:a="http://schemas.openxmlformats.org/drawingml/2006/main">
              <a:ext uri="{FF2B5EF4-FFF2-40B4-BE49-F238E27FC236}">
                <a16:creationId xmlns:a16="http://schemas.microsoft.com/office/drawing/2014/main" id="{BC080B47-B70C-46B9-98A0-4E2AA6CBBFC7}"/>
              </a:ext>
            </a:extLst>
          </p:cNvPr>
          <p:cNvSpPr>
            <a:spLocks xmlns:a="http://schemas.openxmlformats.org/drawingml/2006/main" noGrp="1"/>
          </p:cNvSpPr>
          <p:nvPr/>
        </p:nvSpPr>
        <p:spPr>
          <a:xfrm xmlns:a="http://schemas.openxmlformats.org/drawingml/2006/main">
            <a:off x="9448800" y="45243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Seek Primary Care &amp; Family Medicine input</a:t>
            </a:r>
          </a:p>
        </p:txBody>
      </p:sp>
      <p:sp>
        <p:nvSpPr>
          <p:cNvPr id="22" name="appendix-text-128">
            <a:extLst xmlns:a="http://schemas.openxmlformats.org/drawingml/2006/main">
              <a:ext uri="{FF2B5EF4-FFF2-40B4-BE49-F238E27FC236}">
                <a16:creationId xmlns:a16="http://schemas.microsoft.com/office/drawing/2014/main" id="{24DEB668-3FB7-4C8D-A828-B0A5F563D9FF}"/>
              </a:ext>
            </a:extLst>
          </p:cNvPr>
          <p:cNvSpPr>
            <a:spLocks xmlns:a="http://schemas.openxmlformats.org/drawingml/2006/main" noGrp="1"/>
          </p:cNvSpPr>
          <p:nvPr/>
        </p:nvSpPr>
        <p:spPr>
          <a:xfrm xmlns:a="http://schemas.openxmlformats.org/drawingml/2006/main">
            <a:off x="9448800" y="49434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on content and evaluation design. Measure</a:t>
            </a:r>
          </a:p>
        </p:txBody>
      </p:sp>
      <p:sp>
        <p:nvSpPr>
          <p:cNvPr id="23" name="appendix-text-129">
            <a:extLst xmlns:a="http://schemas.openxmlformats.org/drawingml/2006/main">
              <a:ext uri="{FF2B5EF4-FFF2-40B4-BE49-F238E27FC236}">
                <a16:creationId xmlns:a16="http://schemas.microsoft.com/office/drawing/2014/main" id="{9B64A7E8-4B35-48F2-B0A9-77D6B44C97FE}"/>
              </a:ext>
            </a:extLst>
          </p:cNvPr>
          <p:cNvSpPr>
            <a:spLocks xmlns:a="http://schemas.openxmlformats.org/drawingml/2006/main" noGrp="1"/>
          </p:cNvSpPr>
          <p:nvPr/>
        </p:nvSpPr>
        <p:spPr>
          <a:xfrm xmlns:a="http://schemas.openxmlformats.org/drawingml/2006/main">
            <a:off x="9448800" y="5362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feasibility before testing clinical outcomes.</a:t>
            </a:r>
          </a:p>
        </p:txBody>
      </p:sp>
      <p:sp>
        <p:nvSpPr>
          <p:cNvPr id="24" name="">
            <a:extLst xmlns:a="http://schemas.openxmlformats.org/drawingml/2006/main">
              <a:ext uri="{FF2B5EF4-FFF2-40B4-BE49-F238E27FC236}">
                <a16:creationId xmlns:a16="http://schemas.microsoft.com/office/drawing/2014/main" id="{446D9C47-72BF-4AA7-BFB5-ED742371C6C4}"/>
              </a:ext>
            </a:extLst>
          </p:cNvPr>
          <p:cNvSpPr>
            <a:spLocks xmlns:a="http://schemas.openxmlformats.org/drawingml/2006/main" noGrp="1"/>
          </p:cNvSpPr>
          <p:nvPr/>
        </p:nvSpPr>
        <p:spPr>
          <a:xfrm xmlns:a="http://schemas.openxmlformats.org/drawingml/2006/main">
            <a:off x="9448800" y="5953125"/>
            <a:ext cx="782955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5" name="appendix-text-130">
            <a:extLst xmlns:a="http://schemas.openxmlformats.org/drawingml/2006/main">
              <a:ext uri="{FF2B5EF4-FFF2-40B4-BE49-F238E27FC236}">
                <a16:creationId xmlns:a16="http://schemas.microsoft.com/office/drawing/2014/main" id="{14236AD2-956B-450C-AAAD-0941559E2546}"/>
              </a:ext>
            </a:extLst>
          </p:cNvPr>
          <p:cNvSpPr>
            <a:spLocks xmlns:a="http://schemas.openxmlformats.org/drawingml/2006/main" noGrp="1"/>
          </p:cNvSpPr>
          <p:nvPr/>
        </p:nvSpPr>
        <p:spPr>
          <a:xfrm xmlns:a="http://schemas.openxmlformats.org/drawingml/2006/main">
            <a:off x="8696325" y="6343650"/>
            <a:ext cx="428625"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4F7A66"/>
                </a:solidFill>
                <a:latin typeface="Deck"/>
                <a:ea typeface="Deck"/>
                <a:cs typeface="Deck"/>
              </a:defRPr>
            </a:pPr>
            <a:r>
              <a:rPr sz="1725">
                <a:solidFill>
                  <a:srgbClr val="4F7A66"/>
                </a:solidFill>
                <a:latin typeface="Deck"/>
                <a:ea typeface="Deck"/>
                <a:cs typeface="Deck"/>
              </a:rPr>
              <a:t>03</a:t>
            </a:r>
          </a:p>
        </p:txBody>
      </p:sp>
      <p:sp>
        <p:nvSpPr>
          <p:cNvPr id="26" name="appendix-text-131">
            <a:extLst xmlns:a="http://schemas.openxmlformats.org/drawingml/2006/main">
              <a:ext uri="{FF2B5EF4-FFF2-40B4-BE49-F238E27FC236}">
                <a16:creationId xmlns:a16="http://schemas.microsoft.com/office/drawing/2014/main" id="{14773040-A1C1-4DA6-8B3E-81B0681AAC66}"/>
              </a:ext>
            </a:extLst>
          </p:cNvPr>
          <p:cNvSpPr>
            <a:spLocks xmlns:a="http://schemas.openxmlformats.org/drawingml/2006/main" noGrp="1"/>
          </p:cNvSpPr>
          <p:nvPr/>
        </p:nvSpPr>
        <p:spPr>
          <a:xfrm xmlns:a="http://schemas.openxmlformats.org/drawingml/2006/main">
            <a:off x="9448800" y="6286500"/>
            <a:ext cx="78295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NTUitive: commercial validation</a:t>
            </a:r>
          </a:p>
        </p:txBody>
      </p:sp>
      <p:sp>
        <p:nvSpPr>
          <p:cNvPr id="27" name="appendix-text-132">
            <a:extLst xmlns:a="http://schemas.openxmlformats.org/drawingml/2006/main">
              <a:ext uri="{FF2B5EF4-FFF2-40B4-BE49-F238E27FC236}">
                <a16:creationId xmlns:a16="http://schemas.microsoft.com/office/drawing/2014/main" id="{5015EEE4-69A2-47BB-809A-ACFC801E2B7E}"/>
              </a:ext>
            </a:extLst>
          </p:cNvPr>
          <p:cNvSpPr>
            <a:spLocks xmlns:a="http://schemas.openxmlformats.org/drawingml/2006/main" noGrp="1"/>
          </p:cNvSpPr>
          <p:nvPr/>
        </p:nvSpPr>
        <p:spPr>
          <a:xfrm xmlns:a="http://schemas.openxmlformats.org/drawingml/2006/main">
            <a:off x="9448800" y="68865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Explore venture-building advice, pricing</a:t>
            </a:r>
          </a:p>
        </p:txBody>
      </p:sp>
      <p:sp>
        <p:nvSpPr>
          <p:cNvPr id="28" name="appendix-text-133">
            <a:extLst xmlns:a="http://schemas.openxmlformats.org/drawingml/2006/main">
              <a:ext uri="{FF2B5EF4-FFF2-40B4-BE49-F238E27FC236}">
                <a16:creationId xmlns:a16="http://schemas.microsoft.com/office/drawing/2014/main" id="{1EA04C21-E8DA-4942-9181-1B834A828BCD}"/>
              </a:ext>
            </a:extLst>
          </p:cNvPr>
          <p:cNvSpPr>
            <a:spLocks xmlns:a="http://schemas.openxmlformats.org/drawingml/2006/main" noGrp="1"/>
          </p:cNvSpPr>
          <p:nvPr/>
        </p:nvSpPr>
        <p:spPr>
          <a:xfrm xmlns:a="http://schemas.openxmlformats.org/drawingml/2006/main">
            <a:off x="9448800" y="73056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validation and partner introductions, subject</a:t>
            </a:r>
          </a:p>
        </p:txBody>
      </p:sp>
      <p:sp>
        <p:nvSpPr>
          <p:cNvPr id="29" name="appendix-text-134">
            <a:extLst xmlns:a="http://schemas.openxmlformats.org/drawingml/2006/main">
              <a:ext uri="{FF2B5EF4-FFF2-40B4-BE49-F238E27FC236}">
                <a16:creationId xmlns:a16="http://schemas.microsoft.com/office/drawing/2014/main" id="{C75A2649-7206-4F85-A468-34D8B2204221}"/>
              </a:ext>
            </a:extLst>
          </p:cNvPr>
          <p:cNvSpPr>
            <a:spLocks xmlns:a="http://schemas.openxmlformats.org/drawingml/2006/main" noGrp="1"/>
          </p:cNvSpPr>
          <p:nvPr/>
        </p:nvSpPr>
        <p:spPr>
          <a:xfrm xmlns:a="http://schemas.openxmlformats.org/drawingml/2006/main">
            <a:off x="9448800" y="7724775"/>
            <a:ext cx="78295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to programme eligibility and agreed IP terms.</a:t>
            </a:r>
          </a:p>
        </p:txBody>
      </p:sp>
      <p:sp>
        <p:nvSpPr>
          <p:cNvPr id="30" name="appendix-text-135">
            <a:extLst xmlns:a="http://schemas.openxmlformats.org/drawingml/2006/main">
              <a:ext uri="{FF2B5EF4-FFF2-40B4-BE49-F238E27FC236}">
                <a16:creationId xmlns:a16="http://schemas.microsoft.com/office/drawing/2014/main" id="{F3ED1B36-45FA-4238-BC86-8D3FBCDC899D}"/>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collaboration; participation, support and programme eligibility are subject to agreement. Sources in speaker notes.</a:t>
            </a:r>
          </a:p>
        </p:txBody>
      </p:sp>
      <p:sp>
        <p:nvSpPr>
          <p:cNvPr id="31" name="appendix-text-136">
            <a:extLst xmlns:a="http://schemas.openxmlformats.org/drawingml/2006/main">
              <a:ext uri="{FF2B5EF4-FFF2-40B4-BE49-F238E27FC236}">
                <a16:creationId xmlns:a16="http://schemas.microsoft.com/office/drawing/2014/main" id="{9D18687E-91E3-4AA3-A816-95E55855222F}"/>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28</a:t>
            </a:r>
          </a:p>
        </p:txBody>
      </p:sp>
    </p:spTree>
    <p:extLst>
      <p:ext uri="{BB962C8B-B14F-4D97-AF65-F5344CB8AC3E}">
        <p14:creationId xmlns:p14="http://schemas.microsoft.com/office/powerpoint/2010/main" val="1903594793"/>
      </p:ext>
    </p:extLst>
  </p:cSld>
</p:sld>
</file>

<file path=ppt/slides/slide29.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9" name="appendix-text-137">
            <a:extLst xmlns:a="http://schemas.openxmlformats.org/drawingml/2006/main">
              <a:ext uri="{FF2B5EF4-FFF2-40B4-BE49-F238E27FC236}">
                <a16:creationId xmlns:a16="http://schemas.microsoft.com/office/drawing/2014/main" id="{27FC14FA-D6B2-42CB-A77E-766CEA285C9B}"/>
              </a:ext>
            </a:extLst>
          </p:cNvPr>
          <p:cNvSpPr>
            <a:spLocks xmlns:a="http://schemas.openxmlformats.org/drawingml/2006/main" noGrp="1"/>
          </p:cNvSpPr>
          <p:nvPr/>
        </p:nvSpPr>
        <p:spPr>
          <a:xfrm xmlns:a="http://schemas.openxmlformats.org/drawingml/2006/main">
            <a:off x="990600" y="819150"/>
            <a:ext cx="16287750"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TENCENT + NTU + CAREBUDDY</a:t>
            </a:r>
          </a:p>
        </p:txBody>
      </p:sp>
      <p:sp>
        <p:nvSpPr>
          <p:cNvPr id="2" name="appendix-text-138">
            <a:extLst xmlns:a="http://schemas.openxmlformats.org/drawingml/2006/main">
              <a:ext uri="{FF2B5EF4-FFF2-40B4-BE49-F238E27FC236}">
                <a16:creationId xmlns:a16="http://schemas.microsoft.com/office/drawing/2014/main" id="{9AF14194-CA26-44C6-9F30-711433A8CAE3}"/>
              </a:ext>
            </a:extLst>
          </p:cNvPr>
          <p:cNvSpPr>
            <a:spLocks xmlns:a="http://schemas.openxmlformats.org/drawingml/2006/main" noGrp="1"/>
          </p:cNvSpPr>
          <p:nvPr/>
        </p:nvSpPr>
        <p:spPr>
          <a:xfrm xmlns:a="http://schemas.openxmlformats.org/drawingml/2006/main">
            <a:off x="990600" y="1362075"/>
            <a:ext cx="16287750" cy="1035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Joint pilot proposal</a:t>
            </a:r>
          </a:p>
        </p:txBody>
      </p:sp>
      <p:sp>
        <p:nvSpPr>
          <p:cNvPr id="3" name="appendix-text-139">
            <a:extLst xmlns:a="http://schemas.openxmlformats.org/drawingml/2006/main">
              <a:ext uri="{FF2B5EF4-FFF2-40B4-BE49-F238E27FC236}">
                <a16:creationId xmlns:a16="http://schemas.microsoft.com/office/drawing/2014/main" id="{B10F0DB8-335F-42FB-80E7-7A5C10992F1E}"/>
              </a:ext>
            </a:extLst>
          </p:cNvPr>
          <p:cNvSpPr>
            <a:spLocks xmlns:a="http://schemas.openxmlformats.org/drawingml/2006/main" noGrp="1"/>
          </p:cNvSpPr>
          <p:nvPr/>
        </p:nvSpPr>
        <p:spPr>
          <a:xfrm xmlns:a="http://schemas.openxmlformats.org/drawingml/2006/main">
            <a:off x="1009650" y="2543175"/>
            <a:ext cx="16192500" cy="3929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100 care circles · 12 weeks · Singapore</a:t>
            </a:r>
          </a:p>
        </p:txBody>
      </p:sp>
      <p:graphicFrame>
        <p:nvGraphicFramePr>
          <p:cNvPr id="22" name=""/>
          <p:cNvGraphicFramePr/>
          <p:nvPr/>
        </p:nvGraphicFramePr>
        <p:xfrm>
          <a:off xmlns:a="http://schemas.openxmlformats.org/drawingml/2006/main" x="1009650" y="3524250"/>
          <a:ext xmlns:a="http://schemas.openxmlformats.org/drawingml/2006/main" cx="8258175" cy="3143250"/>
        </p:xfrm>
        <a:graphic xmlns:a="http://schemas.openxmlformats.org/drawingml/2006/main">
          <a:graphicData uri="http://schemas.openxmlformats.org/drawingml/2006/table">
            <a:tbl>
              <a:tblPr firstRow="0" firstCol="0" lastCol="0" bandRow="0" bandCol="0"/>
              <a:tblGrid>
                <a:gridCol w="2095500"/>
                <a:gridCol w="6162675"/>
              </a:tblGrid>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Co-design, consent and onboarding</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3–10</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Caregiver use with weekly feedback</a:t>
                      </a:r>
                    </a:p>
                  </a:txBody>
                  <a:tcPr marL="0" marR="142875" marT="238125" marB="95250" anchor="t">
                    <a:lnL w="0">
                      <a:noFill/>
                    </a:lnL>
                    <a:lnR w="0">
                      <a:noFill/>
                    </a:lnR>
                    <a:lnT w="0">
                      <a:noFill/>
                    </a:lnT>
                    <a:lnB w="0">
                      <a:noFill/>
                    </a:lnB>
                    <a:lnTlToBr w="0">
                      <a:noFill/>
                    </a:lnTlToBr>
                    <a:lnBlToTr w="0">
                      <a:noFill/>
                    </a:lnBlToTr>
                    <a:noFill/>
                  </a:tcPr>
                </a:tc>
              </a:tr>
              <a:tr h="1047750">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Weeks 11–12</a:t>
                      </a:r>
                    </a:p>
                  </a:txBody>
                  <a:tcPr marL="0" marR="142875" marT="238125" marB="95250" anchor="t">
                    <a:lnL w="0">
                      <a:noFill/>
                    </a:lnL>
                    <a:lnR w="0">
                      <a:noFill/>
                    </a:lnR>
                    <a:lnT w="0">
                      <a:noFill/>
                    </a:lnT>
                    <a:lnB w="0">
                      <a:noFill/>
                    </a:lnB>
                    <a:lnTlToBr w="0">
                      <a:noFill/>
                    </a:lnTlToBr>
                    <a:lnBlToTr w="0">
                      <a:noFill/>
                    </a:lnBlToTr>
                    <a:noFill/>
                  </a:tcPr>
                </a:tc>
                <a:tc>
                  <a:txBody>
                    <a:bodyPr wrap="none" lIns="0" tIns="238125" rIns="142875" bIns="95250" anchor="t" anchorCtr="0">
                      <a:noAutofit/>
                    </a:bodyPr>
                    <a:lstStyle/>
                    <a:p>
                      <a:pPr algn="l">
                        <a:lnSpc>
                          <a:spcPct val="120000"/>
                        </a:lnSpc>
                      </a:pPr>
                      <a:r>
                        <a:rPr sz="2250">
                          <a:solidFill>
                            <a:srgbClr val="3A3745"/>
                          </a:solidFill>
                          <a:latin typeface="Deck"/>
                          <a:ea typeface="Deck"/>
                          <a:cs typeface="Deck"/>
                        </a:rPr>
                        <a:t>Evaluate use, cost and paid extension</a:t>
                      </a:r>
                    </a:p>
                  </a:txBody>
                  <a:tcPr marL="0" marR="142875" marT="238125"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75483770-7717-4EC2-9DC2-8A0F13CA8A17}"/>
              </a:ext>
            </a:extLst>
          </p:cNvPr>
          <p:cNvSpPr>
            <a:spLocks xmlns:a="http://schemas.openxmlformats.org/drawingml/2006/main" noGrp="1"/>
          </p:cNvSpPr>
          <p:nvPr/>
        </p:nvSpPr>
        <p:spPr>
          <a:xfrm xmlns:a="http://schemas.openxmlformats.org/drawingml/2006/main">
            <a:off x="1009650" y="33718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6" name="">
            <a:extLst xmlns:a="http://schemas.openxmlformats.org/drawingml/2006/main">
              <a:ext uri="{FF2B5EF4-FFF2-40B4-BE49-F238E27FC236}">
                <a16:creationId xmlns:a16="http://schemas.microsoft.com/office/drawing/2014/main" id="{EAC4D2CB-638E-4007-9B07-8EBBD9EDAB34}"/>
              </a:ext>
            </a:extLst>
          </p:cNvPr>
          <p:cNvSpPr>
            <a:spLocks xmlns:a="http://schemas.openxmlformats.org/drawingml/2006/main" noGrp="1"/>
          </p:cNvSpPr>
          <p:nvPr/>
        </p:nvSpPr>
        <p:spPr>
          <a:xfrm xmlns:a="http://schemas.openxmlformats.org/drawingml/2006/main">
            <a:off x="1009650" y="6762750"/>
            <a:ext cx="8258175" cy="0"/>
          </a:xfrm>
          <a:prstGeom xmlns:a="http://schemas.openxmlformats.org/drawingml/2006/main" prst="line">
            <a:avLst/>
          </a:prstGeom>
          <a:noFill xmlns:a="http://schemas.openxmlformats.org/drawingml/2006/main"/>
          <a:ln xmlns:a="http://schemas.openxmlformats.org/drawingml/2006/main" w="12383">
            <a:solidFill>
              <a:srgbClr val="B7CDBB"/>
            </a:solidFill>
          </a:ln>
        </p:spPr>
      </p:sp>
      <p:sp>
        <p:nvSpPr>
          <p:cNvPr id="7" name="appendix-text-140">
            <a:extLst xmlns:a="http://schemas.openxmlformats.org/drawingml/2006/main">
              <a:ext uri="{FF2B5EF4-FFF2-40B4-BE49-F238E27FC236}">
                <a16:creationId xmlns:a16="http://schemas.microsoft.com/office/drawing/2014/main" id="{2E94A69D-1A3B-44AD-885C-27A38532B96F}"/>
              </a:ext>
            </a:extLst>
          </p:cNvPr>
          <p:cNvSpPr>
            <a:spLocks xmlns:a="http://schemas.openxmlformats.org/drawingml/2006/main" noGrp="1"/>
          </p:cNvSpPr>
          <p:nvPr/>
        </p:nvSpPr>
        <p:spPr>
          <a:xfrm xmlns:a="http://schemas.openxmlformats.org/drawingml/2006/main">
            <a:off x="10325100" y="3381375"/>
            <a:ext cx="6953250" cy="4405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Proposed success measures</a:t>
            </a:r>
          </a:p>
        </p:txBody>
      </p:sp>
      <p:sp>
        <p:nvSpPr>
          <p:cNvPr id="8" name="appendix-text-141">
            <a:extLst xmlns:a="http://schemas.openxmlformats.org/drawingml/2006/main">
              <a:ext uri="{FF2B5EF4-FFF2-40B4-BE49-F238E27FC236}">
                <a16:creationId xmlns:a16="http://schemas.microsoft.com/office/drawing/2014/main" id="{DD9A26E6-69A2-4006-B6F2-32555735D04F}"/>
              </a:ext>
            </a:extLst>
          </p:cNvPr>
          <p:cNvSpPr>
            <a:spLocks xmlns:a="http://schemas.openxmlformats.org/drawingml/2006/main" noGrp="1"/>
          </p:cNvSpPr>
          <p:nvPr/>
        </p:nvSpPr>
        <p:spPr>
          <a:xfrm xmlns:a="http://schemas.openxmlformats.org/drawingml/2006/main">
            <a:off x="10325100" y="406717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80%</a:t>
            </a:r>
          </a:p>
        </p:txBody>
      </p:sp>
      <p:sp>
        <p:nvSpPr>
          <p:cNvPr id="9" name="appendix-text-142">
            <a:extLst xmlns:a="http://schemas.openxmlformats.org/drawingml/2006/main">
              <a:ext uri="{FF2B5EF4-FFF2-40B4-BE49-F238E27FC236}">
                <a16:creationId xmlns:a16="http://schemas.microsoft.com/office/drawing/2014/main" id="{B0658147-F417-4F39-B380-D4005A4A22C0}"/>
              </a:ext>
            </a:extLst>
          </p:cNvPr>
          <p:cNvSpPr>
            <a:spLocks xmlns:a="http://schemas.openxmlformats.org/drawingml/2006/main" noGrp="1"/>
          </p:cNvSpPr>
          <p:nvPr/>
        </p:nvSpPr>
        <p:spPr>
          <a:xfrm xmlns:a="http://schemas.openxmlformats.org/drawingml/2006/main">
            <a:off x="12763500" y="4210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Activate within 7 days</a:t>
            </a:r>
          </a:p>
        </p:txBody>
      </p:sp>
      <p:sp>
        <p:nvSpPr>
          <p:cNvPr id="10" name="appendix-text-143">
            <a:extLst xmlns:a="http://schemas.openxmlformats.org/drawingml/2006/main">
              <a:ext uri="{FF2B5EF4-FFF2-40B4-BE49-F238E27FC236}">
                <a16:creationId xmlns:a16="http://schemas.microsoft.com/office/drawing/2014/main" id="{E1F146A2-1A7B-4E8B-AD44-A26820EF7A08}"/>
              </a:ext>
            </a:extLst>
          </p:cNvPr>
          <p:cNvSpPr>
            <a:spLocks xmlns:a="http://schemas.openxmlformats.org/drawingml/2006/main" noGrp="1"/>
          </p:cNvSpPr>
          <p:nvPr/>
        </p:nvSpPr>
        <p:spPr>
          <a:xfrm xmlns:a="http://schemas.openxmlformats.org/drawingml/2006/main">
            <a:off x="12763500" y="459105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First routine + member invited</a:t>
            </a:r>
          </a:p>
        </p:txBody>
      </p:sp>
      <p:sp>
        <p:nvSpPr>
          <p:cNvPr id="11" name="appendix-text-144">
            <a:extLst xmlns:a="http://schemas.openxmlformats.org/drawingml/2006/main">
              <a:ext uri="{FF2B5EF4-FFF2-40B4-BE49-F238E27FC236}">
                <a16:creationId xmlns:a16="http://schemas.microsoft.com/office/drawing/2014/main" id="{0C27D7F9-280C-41F5-ABCF-D8CD7A31510D}"/>
              </a:ext>
            </a:extLst>
          </p:cNvPr>
          <p:cNvSpPr>
            <a:spLocks xmlns:a="http://schemas.openxmlformats.org/drawingml/2006/main" noGrp="1"/>
          </p:cNvSpPr>
          <p:nvPr/>
        </p:nvSpPr>
        <p:spPr>
          <a:xfrm xmlns:a="http://schemas.openxmlformats.org/drawingml/2006/main">
            <a:off x="10325100" y="5381625"/>
            <a:ext cx="1905000" cy="9405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925">
                <a:solidFill>
                  <a:srgbClr val="4F7A66"/>
                </a:solidFill>
                <a:latin typeface="Deck-Semi-Bold"/>
                <a:ea typeface="Deck-Semi-Bold"/>
                <a:cs typeface="Deck-Semi-Bold"/>
              </a:defRPr>
            </a:pPr>
            <a:r>
              <a:rPr sz="5925">
                <a:solidFill>
                  <a:srgbClr val="4F7A66"/>
                </a:solidFill>
                <a:latin typeface="Deck-Semi-Bold"/>
                <a:ea typeface="Deck-Semi-Bold"/>
                <a:cs typeface="Deck-Semi-Bold"/>
              </a:rPr>
              <a:t>50%</a:t>
            </a:r>
          </a:p>
        </p:txBody>
      </p:sp>
      <p:sp>
        <p:nvSpPr>
          <p:cNvPr id="12" name="appendix-text-145">
            <a:extLst xmlns:a="http://schemas.openxmlformats.org/drawingml/2006/main">
              <a:ext uri="{FF2B5EF4-FFF2-40B4-BE49-F238E27FC236}">
                <a16:creationId xmlns:a16="http://schemas.microsoft.com/office/drawing/2014/main" id="{C69B3BA0-9F49-41D8-9011-20060B6E9912}"/>
              </a:ext>
            </a:extLst>
          </p:cNvPr>
          <p:cNvSpPr>
            <a:spLocks xmlns:a="http://schemas.openxmlformats.org/drawingml/2006/main" noGrp="1"/>
          </p:cNvSpPr>
          <p:nvPr/>
        </p:nvSpPr>
        <p:spPr>
          <a:xfrm xmlns:a="http://schemas.openxmlformats.org/drawingml/2006/main">
            <a:off x="12763500" y="5524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Weekly active in usage week 8</a:t>
            </a:r>
          </a:p>
        </p:txBody>
      </p:sp>
      <p:sp>
        <p:nvSpPr>
          <p:cNvPr id="13" name="appendix-text-146">
            <a:extLst xmlns:a="http://schemas.openxmlformats.org/drawingml/2006/main">
              <a:ext uri="{FF2B5EF4-FFF2-40B4-BE49-F238E27FC236}">
                <a16:creationId xmlns:a16="http://schemas.microsoft.com/office/drawing/2014/main" id="{81643977-1D28-42D7-A81A-749F44763F7A}"/>
              </a:ext>
            </a:extLst>
          </p:cNvPr>
          <p:cNvSpPr>
            <a:spLocks xmlns:a="http://schemas.openxmlformats.org/drawingml/2006/main" noGrp="1"/>
          </p:cNvSpPr>
          <p:nvPr/>
        </p:nvSpPr>
        <p:spPr>
          <a:xfrm xmlns:a="http://schemas.openxmlformats.org/drawingml/2006/main">
            <a:off x="12763500" y="5905500"/>
            <a:ext cx="4524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00">
                <a:solidFill>
                  <a:srgbClr val="3A3745"/>
                </a:solidFill>
                <a:latin typeface="Deck"/>
                <a:ea typeface="Deck"/>
                <a:cs typeface="Deck"/>
              </a:defRPr>
            </a:pPr>
            <a:r>
              <a:rPr sz="2100">
                <a:solidFill>
                  <a:srgbClr val="3A3745"/>
                </a:solidFill>
                <a:latin typeface="Deck"/>
                <a:ea typeface="Deck"/>
                <a:cs typeface="Deck"/>
              </a:rPr>
              <a:t>At least one confirmed care action</a:t>
            </a:r>
          </a:p>
        </p:txBody>
      </p:sp>
      <p:sp>
        <p:nvSpPr>
          <p:cNvPr id="14" name="appendix-text-147">
            <a:extLst xmlns:a="http://schemas.openxmlformats.org/drawingml/2006/main">
              <a:ext uri="{FF2B5EF4-FFF2-40B4-BE49-F238E27FC236}">
                <a16:creationId xmlns:a16="http://schemas.microsoft.com/office/drawing/2014/main" id="{9872EE87-1F9D-4F51-9D4B-444041B8BC24}"/>
              </a:ext>
            </a:extLst>
          </p:cNvPr>
          <p:cNvSpPr>
            <a:spLocks xmlns:a="http://schemas.openxmlformats.org/drawingml/2006/main" noGrp="1"/>
          </p:cNvSpPr>
          <p:nvPr/>
        </p:nvSpPr>
        <p:spPr>
          <a:xfrm xmlns:a="http://schemas.openxmlformats.org/drawingml/2006/main">
            <a:off x="10325100" y="6581775"/>
            <a:ext cx="6953250" cy="261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a:solidFill>
                  <a:srgbClr val="77717D"/>
                </a:solidFill>
                <a:latin typeface="Deck"/>
                <a:ea typeface="Deck"/>
                <a:cs typeface="Deck"/>
              </a:rPr>
              <a:t>Both measures use all enrolled circles as the denominator.</a:t>
            </a:r>
          </a:p>
        </p:txBody>
      </p:sp>
      <p:graphicFrame>
        <p:nvGraphicFramePr>
          <p:cNvPr id="33" name=""/>
          <p:cNvGraphicFramePr/>
          <p:nvPr/>
        </p:nvGraphicFramePr>
        <p:xfrm>
          <a:off xmlns:a="http://schemas.openxmlformats.org/drawingml/2006/main" x="1009650" y="7505700"/>
          <a:ext xmlns:a="http://schemas.openxmlformats.org/drawingml/2006/main" cx="16268700" cy="1466850"/>
        </p:xfrm>
        <a:graphic xmlns:a="http://schemas.openxmlformats.org/drawingml/2006/main">
          <a:graphicData uri="http://schemas.openxmlformats.org/drawingml/2006/table">
            <a:tbl>
              <a:tblPr firstRow="0" firstCol="0" lastCol="0" bandRow="0" bandCol="0"/>
              <a:tblGrid>
                <a:gridCol w="5429250"/>
                <a:gridCol w="5429250"/>
                <a:gridCol w="5410200"/>
              </a:tblGrid>
              <a:tr h="504825">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Tencent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NTU</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475">
                          <a:solidFill>
                            <a:srgbClr val="4F7A66"/>
                          </a:solidFill>
                          <a:latin typeface="Deck-Medium"/>
                          <a:ea typeface="Deck-Medium"/>
                          <a:cs typeface="Deck-Medium"/>
                        </a:rPr>
                        <a:t>CareBuddy</a:t>
                      </a:r>
                    </a:p>
                  </a:txBody>
                  <a:tcPr marL="0" marR="190500" marT="0" marB="0" anchor="t">
                    <a:lnL w="0">
                      <a:noFill/>
                    </a:lnL>
                    <a:lnR w="0">
                      <a:noFill/>
                    </a:lnR>
                    <a:lnT w="0">
                      <a:noFill/>
                    </a:lnT>
                    <a:lnB w="0">
                      <a:noFill/>
                    </a:lnB>
                    <a:lnTlToBr w="0">
                      <a:noFill/>
                    </a:lnTlToBr>
                    <a:lnBlToTr w="0">
                      <a:noFill/>
                    </a:lnBlToTr>
                    <a:noFill/>
                  </a:tcPr>
                </a:tc>
              </a:tr>
              <a:tr h="962025">
                <a:tc>
                  <a:txBody>
                    <a:bodyPr wrap="none" lIns="0" tIns="0" rIns="190500" bIns="0" anchor="t" anchorCtr="0">
                      <a:noAutofit/>
                    </a:bodyPr>
                    <a:lstStyle/>
                    <a:p>
                      <a:pPr algn="l">
                        <a:lnSpc>
                          <a:spcPct val="120000"/>
                        </a:lnSpc>
                      </a:pPr>
                      <a:r>
                        <a:rPr sz="2025">
                          <a:solidFill>
                            <a:srgbClr val="3A3745"/>
                          </a:solidFill>
                          <a:latin typeface="Deck"/>
                          <a:ea typeface="Deck"/>
                          <a:cs typeface="Deck"/>
                        </a:rPr>
                        <a:t>Architecture and model review</a:t>
                      </a:r>
                    </a:p>
                    <a:p>
                      <a:pPr algn="l">
                        <a:lnSpc>
                          <a:spcPct val="120000"/>
                        </a:lnSpc>
                      </a:pPr>
                      <a:r>
                        <a:rPr sz="2025">
                          <a:solidFill>
                            <a:srgbClr val="3A3745"/>
                          </a:solidFill>
                          <a:latin typeface="Deck"/>
                          <a:ea typeface="Deck"/>
                          <a:cs typeface="Deck"/>
                        </a:rPr>
                        <a:t>Defined pilot support request</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Co-design and feasibility study</a:t>
                      </a:r>
                    </a:p>
                    <a:p>
                      <a:pPr algn="l">
                        <a:lnSpc>
                          <a:spcPct val="120000"/>
                        </a:lnSpc>
                      </a:pPr>
                      <a:r>
                        <a:rPr sz="2025">
                          <a:solidFill>
                            <a:srgbClr val="3A3745"/>
                          </a:solidFill>
                          <a:latin typeface="Deck"/>
                          <a:ea typeface="Deck"/>
                          <a:cs typeface="Deck"/>
                        </a:rPr>
                        <a:t>Ethics/research oversight as needed</a:t>
                      </a:r>
                    </a:p>
                  </a:txBody>
                  <a:tcPr marL="0" marR="190500" marT="0" marB="0" anchor="t">
                    <a:lnL w="0">
                      <a:noFill/>
                    </a:lnL>
                    <a:lnR w="0">
                      <a:noFill/>
                    </a:lnR>
                    <a:lnT w="0">
                      <a:noFill/>
                    </a:lnT>
                    <a:lnB w="0">
                      <a:noFill/>
                    </a:lnB>
                    <a:lnTlToBr w="0">
                      <a:noFill/>
                    </a:lnTlToBr>
                    <a:lnBlToTr w="0">
                      <a:noFill/>
                    </a:lnBlToTr>
                    <a:noFill/>
                  </a:tcPr>
                </a:tc>
                <a:tc>
                  <a:txBody>
                    <a:bodyPr wrap="none" lIns="0" tIns="0" rIns="190500" bIns="0" anchor="t" anchorCtr="0">
                      <a:noAutofit/>
                    </a:bodyPr>
                    <a:lstStyle/>
                    <a:p>
                      <a:pPr algn="l">
                        <a:lnSpc>
                          <a:spcPct val="120000"/>
                        </a:lnSpc>
                      </a:pPr>
                      <a:r>
                        <a:rPr sz="2025">
                          <a:solidFill>
                            <a:srgbClr val="3A3745"/>
                          </a:solidFill>
                          <a:latin typeface="Deck"/>
                          <a:ea typeface="Deck"/>
                          <a:cs typeface="Deck"/>
                        </a:rPr>
                        <a:t>Product, onboarding and support</a:t>
                      </a:r>
                    </a:p>
                    <a:p>
                      <a:pPr algn="l">
                        <a:lnSpc>
                          <a:spcPct val="120000"/>
                        </a:lnSpc>
                      </a:pPr>
                      <a:r>
                        <a:rPr sz="2025">
                          <a:solidFill>
                            <a:srgbClr val="3A3745"/>
                          </a:solidFill>
                          <a:latin typeface="Deck"/>
                          <a:ea typeface="Deck"/>
                          <a:cs typeface="Deck"/>
                        </a:rPr>
                        <a:t>Metering and incident response</a:t>
                      </a:r>
                    </a:p>
                  </a:txBody>
                  <a:tcPr marL="0" marR="190500" marT="0" marB="0" anchor="t">
                    <a:lnL w="0">
                      <a:noFill/>
                    </a:lnL>
                    <a:lnR w="0">
                      <a:noFill/>
                    </a:lnR>
                    <a:lnT w="0">
                      <a:noFill/>
                    </a:lnT>
                    <a:lnB w="0">
                      <a:noFill/>
                    </a:lnB>
                    <a:lnTlToBr w="0">
                      <a:noFill/>
                    </a:lnTlToBr>
                    <a:lnBlToTr w="0">
                      <a:noFill/>
                    </a:lnBlToTr>
                    <a:noFill/>
                  </a:tcPr>
                </a:tc>
              </a:tr>
            </a:tbl>
          </a:graphicData>
        </a:graphic>
      </p:graphicFrame>
      <p:sp>
        <p:nvSpPr>
          <p:cNvPr id="16" name="appendix-text-148">
            <a:extLst xmlns:a="http://schemas.openxmlformats.org/drawingml/2006/main">
              <a:ext uri="{FF2B5EF4-FFF2-40B4-BE49-F238E27FC236}">
                <a16:creationId xmlns:a16="http://schemas.microsoft.com/office/drawing/2014/main" id="{FF3485D9-7968-4D9A-8B3E-83324CB7DE3F}"/>
              </a:ext>
            </a:extLst>
          </p:cNvPr>
          <p:cNvSpPr>
            <a:spLocks xmlns:a="http://schemas.openxmlformats.org/drawingml/2006/main" noGrp="1"/>
          </p:cNvSpPr>
          <p:nvPr/>
        </p:nvSpPr>
        <p:spPr>
          <a:xfrm xmlns:a="http://schemas.openxmlformats.org/drawingml/2006/main">
            <a:off x="1009650" y="9220200"/>
            <a:ext cx="16268700" cy="3214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025">
                <a:solidFill>
                  <a:srgbClr val="4F7A66"/>
                </a:solidFill>
                <a:latin typeface="Deck-Medium"/>
                <a:ea typeface="Deck-Medium"/>
                <a:cs typeface="Deck-Medium"/>
              </a:defRPr>
            </a:pPr>
            <a:r>
              <a:rPr sz="2025">
                <a:solidFill>
                  <a:srgbClr val="4F7A66"/>
                </a:solidFill>
                <a:latin typeface="Deck-Medium"/>
                <a:ea typeface="Deck-Medium"/>
                <a:cs typeface="Deck-Medium"/>
              </a:rPr>
              <a:t>Continue if repeat use and delivery cost support a funded next cohort.</a:t>
            </a:r>
          </a:p>
        </p:txBody>
      </p:sp>
      <p:sp>
        <p:nvSpPr>
          <p:cNvPr id="17" name="appendix-text-149">
            <a:extLst xmlns:a="http://schemas.openxmlformats.org/drawingml/2006/main">
              <a:ext uri="{FF2B5EF4-FFF2-40B4-BE49-F238E27FC236}">
                <a16:creationId xmlns:a16="http://schemas.microsoft.com/office/drawing/2014/main" id="{24AB2B01-145D-4311-8EDC-173993C5F4D3}"/>
              </a:ext>
            </a:extLst>
          </p:cNvPr>
          <p:cNvSpPr>
            <a:spLocks xmlns:a="http://schemas.openxmlformats.org/drawingml/2006/main" noGrp="1"/>
          </p:cNvSpPr>
          <p:nvPr/>
        </p:nvSpPr>
        <p:spPr>
          <a:xfrm xmlns:a="http://schemas.openxmlformats.org/drawingml/2006/main">
            <a:off x="990600" y="9696450"/>
            <a:ext cx="1571625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pilot; starts after production identity/access controls, partner agreement, participant consent and relevant study approvals.</a:t>
            </a:r>
          </a:p>
        </p:txBody>
      </p:sp>
      <p:sp>
        <p:nvSpPr>
          <p:cNvPr id="18" name="appendix-text-150">
            <a:extLst xmlns:a="http://schemas.openxmlformats.org/drawingml/2006/main">
              <a:ext uri="{FF2B5EF4-FFF2-40B4-BE49-F238E27FC236}">
                <a16:creationId xmlns:a16="http://schemas.microsoft.com/office/drawing/2014/main" id="{D234D20F-4F42-44CE-A023-07C726D70A8D}"/>
              </a:ext>
            </a:extLst>
          </p:cNvPr>
          <p:cNvSpPr>
            <a:spLocks xmlns:a="http://schemas.openxmlformats.org/drawingml/2006/main" noGrp="1"/>
          </p:cNvSpPr>
          <p:nvPr/>
        </p:nvSpPr>
        <p:spPr>
          <a:xfrm xmlns:a="http://schemas.openxmlformats.org/drawingml/2006/main">
            <a:off x="17030700" y="9696450"/>
            <a:ext cx="33337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29</a:t>
            </a:r>
          </a:p>
        </p:txBody>
      </p:sp>
    </p:spTree>
    <p:extLst>
      <p:ext uri="{BB962C8B-B14F-4D97-AF65-F5344CB8AC3E}">
        <p14:creationId xmlns:p14="http://schemas.microsoft.com/office/powerpoint/2010/main" val="1262750639"/>
      </p:ext>
    </p:extLst>
  </p:cSld>
</p:sld>
</file>

<file path=ppt/slides/slide3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2" name="extension-text-1">
            <a:extLst xmlns:a="http://schemas.openxmlformats.org/drawingml/2006/main">
              <a:ext uri="{FF2B5EF4-FFF2-40B4-BE49-F238E27FC236}">
                <a16:creationId xmlns:a16="http://schemas.microsoft.com/office/drawing/2014/main" id="{A20D428D-1447-4C65-8350-BA7F6A041058}"/>
              </a:ext>
            </a:extLst>
          </p:cNvPr>
          <p:cNvSpPr>
            <a:spLocks xmlns:a="http://schemas.openxmlformats.org/drawingml/2006/main" noGrp="1"/>
          </p:cNvSpPr>
          <p:nvPr/>
        </p:nvSpPr>
        <p:spPr>
          <a:xfrm xmlns:a="http://schemas.openxmlformats.org/drawingml/2006/main">
            <a:off x="990600" y="819150"/>
            <a:ext cx="1619250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PILOT USER ANECDOTE</a:t>
            </a:r>
          </a:p>
        </p:txBody>
      </p:sp>
      <p:sp>
        <p:nvSpPr>
          <p:cNvPr id="2" name="extension-text-2">
            <a:extLst xmlns:a="http://schemas.openxmlformats.org/drawingml/2006/main">
              <a:ext uri="{FF2B5EF4-FFF2-40B4-BE49-F238E27FC236}">
                <a16:creationId xmlns:a16="http://schemas.microsoft.com/office/drawing/2014/main" id="{89EF8DF8-4AF7-4561-8125-3E53A5BD7EC2}"/>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Mick Chew</a:t>
            </a:r>
          </a:p>
        </p:txBody>
      </p:sp>
      <p:sp>
        <p:nvSpPr>
          <p:cNvPr id="3" name="extension-text-3">
            <a:extLst xmlns:a="http://schemas.openxmlformats.org/drawingml/2006/main">
              <a:ext uri="{FF2B5EF4-FFF2-40B4-BE49-F238E27FC236}">
                <a16:creationId xmlns:a16="http://schemas.microsoft.com/office/drawing/2014/main" id="{9C4CCCE3-9444-447A-A4B4-82D9F4205257}"/>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Daily medicines</a:t>
            </a:r>
          </a:p>
        </p:txBody>
      </p:sp>
      <p:sp>
        <p:nvSpPr>
          <p:cNvPr id="4" name="extension-text-4">
            <a:extLst xmlns:a="http://schemas.openxmlformats.org/drawingml/2006/main">
              <a:ext uri="{FF2B5EF4-FFF2-40B4-BE49-F238E27FC236}">
                <a16:creationId xmlns:a16="http://schemas.microsoft.com/office/drawing/2014/main" id="{E1380350-AF9A-4DC5-883B-82AF4915FF4F}"/>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and specialist reviews</a:t>
            </a:r>
          </a:p>
        </p:txBody>
      </p:sp>
      <p:sp>
        <p:nvSpPr>
          <p:cNvPr id="5" name="extension-text-5">
            <a:extLst xmlns:a="http://schemas.openxmlformats.org/drawingml/2006/main">
              <a:ext uri="{FF2B5EF4-FFF2-40B4-BE49-F238E27FC236}">
                <a16:creationId xmlns:a16="http://schemas.microsoft.com/office/drawing/2014/main" id="{41312C59-90F3-43B3-AF22-5C3ED17842F3}"/>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4F7A66"/>
                </a:solidFill>
                <a:latin typeface="Deck-Semi-Bold"/>
                <a:ea typeface="Deck-Semi-Bold"/>
                <a:cs typeface="Deck-Semi-Bold"/>
              </a:defRPr>
            </a:pPr>
            <a:r>
              <a:rPr sz="9375">
                <a:solidFill>
                  <a:srgbClr val="4F7A66"/>
                </a:solidFill>
                <a:latin typeface="Deck-Semi-Bold"/>
                <a:ea typeface="Deck-Semi-Bold"/>
                <a:cs typeface="Deck-Semi-Bold"/>
              </a:rPr>
              <a:t>“</a:t>
            </a:r>
          </a:p>
        </p:txBody>
      </p:sp>
      <p:sp>
        <p:nvSpPr>
          <p:cNvPr id="6" name="extension-text-6">
            <a:extLst xmlns:a="http://schemas.openxmlformats.org/drawingml/2006/main">
              <a:ext uri="{FF2B5EF4-FFF2-40B4-BE49-F238E27FC236}">
                <a16:creationId xmlns:a16="http://schemas.microsoft.com/office/drawing/2014/main" id="{58FD65A1-F24F-4C01-9C82-FF78B9A64991}"/>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As a thyroid cancer survivor, I have to take medicines</a:t>
            </a:r>
          </a:p>
        </p:txBody>
      </p:sp>
      <p:sp>
        <p:nvSpPr>
          <p:cNvPr id="7" name="extension-text-7">
            <a:extLst xmlns:a="http://schemas.openxmlformats.org/drawingml/2006/main">
              <a:ext uri="{FF2B5EF4-FFF2-40B4-BE49-F238E27FC236}">
                <a16:creationId xmlns:a16="http://schemas.microsoft.com/office/drawing/2014/main" id="{56DE43B8-E5C6-46DF-88FF-32840B401B87}"/>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everyday and have regular specialist reviews with my</a:t>
            </a:r>
          </a:p>
        </p:txBody>
      </p:sp>
      <p:sp>
        <p:nvSpPr>
          <p:cNvPr id="8" name="extension-text-8">
            <a:extLst xmlns:a="http://schemas.openxmlformats.org/drawingml/2006/main">
              <a:ext uri="{FF2B5EF4-FFF2-40B4-BE49-F238E27FC236}">
                <a16:creationId xmlns:a16="http://schemas.microsoft.com/office/drawing/2014/main" id="{D2B54FAB-4152-4B27-BEC3-F34186090942}"/>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doctor. The app helps me to keep track all these so I</a:t>
            </a:r>
          </a:p>
        </p:txBody>
      </p:sp>
      <p:sp>
        <p:nvSpPr>
          <p:cNvPr id="9" name="extension-text-9">
            <a:extLst xmlns:a="http://schemas.openxmlformats.org/drawingml/2006/main">
              <a:ext uri="{FF2B5EF4-FFF2-40B4-BE49-F238E27FC236}">
                <a16:creationId xmlns:a16="http://schemas.microsoft.com/office/drawing/2014/main" id="{A141BF13-2955-43E1-9269-C6DB54894119}"/>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don't have to. It works great!</a:t>
            </a:r>
          </a:p>
        </p:txBody>
      </p:sp>
      <p:sp>
        <p:nvSpPr>
          <p:cNvPr id="10" name="extension-text-10">
            <a:extLst xmlns:a="http://schemas.openxmlformats.org/drawingml/2006/main">
              <a:ext uri="{FF2B5EF4-FFF2-40B4-BE49-F238E27FC236}">
                <a16:creationId xmlns:a16="http://schemas.microsoft.com/office/drawing/2014/main" id="{CEC691FF-2980-4992-8F63-357AF3DAA925}"/>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 supplied by the team</a:t>
            </a:r>
          </a:p>
        </p:txBody>
      </p:sp>
      <p:sp>
        <p:nvSpPr>
          <p:cNvPr id="11" name="extension-text-11">
            <a:extLst xmlns:a="http://schemas.openxmlformats.org/drawingml/2006/main">
              <a:ext uri="{FF2B5EF4-FFF2-40B4-BE49-F238E27FC236}">
                <a16:creationId xmlns:a16="http://schemas.microsoft.com/office/drawing/2014/main" id="{7C92CE59-49F5-4248-996B-6FB5226439D5}"/>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30</a:t>
            </a:r>
          </a:p>
        </p:txBody>
      </p:sp>
    </p:spTree>
    <p:extLst>
      <p:ext uri="{BB962C8B-B14F-4D97-AF65-F5344CB8AC3E}">
        <p14:creationId xmlns:p14="http://schemas.microsoft.com/office/powerpoint/2010/main" val="1345438459"/>
      </p:ext>
    </p:extLst>
  </p:cSld>
</p:sld>
</file>

<file path=ppt/slides/slide31.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4" name="extension-text-12">
            <a:extLst xmlns:a="http://schemas.openxmlformats.org/drawingml/2006/main">
              <a:ext uri="{FF2B5EF4-FFF2-40B4-BE49-F238E27FC236}">
                <a16:creationId xmlns:a16="http://schemas.microsoft.com/office/drawing/2014/main" id="{F6BB28A3-6F21-46CE-BF7B-5F09A4B710C4}"/>
              </a:ext>
            </a:extLst>
          </p:cNvPr>
          <p:cNvSpPr>
            <a:spLocks xmlns:a="http://schemas.openxmlformats.org/drawingml/2006/main" noGrp="1"/>
          </p:cNvSpPr>
          <p:nvPr/>
        </p:nvSpPr>
        <p:spPr>
          <a:xfrm xmlns:a="http://schemas.openxmlformats.org/drawingml/2006/main">
            <a:off x="990600" y="819150"/>
            <a:ext cx="1619250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PILOT USER ANECDOTE</a:t>
            </a:r>
          </a:p>
        </p:txBody>
      </p:sp>
      <p:sp>
        <p:nvSpPr>
          <p:cNvPr id="2" name="extension-text-13">
            <a:extLst xmlns:a="http://schemas.openxmlformats.org/drawingml/2006/main">
              <a:ext uri="{FF2B5EF4-FFF2-40B4-BE49-F238E27FC236}">
                <a16:creationId xmlns:a16="http://schemas.microsoft.com/office/drawing/2014/main" id="{4B3674FA-CCBB-42A6-9C76-E02EC37670B9}"/>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FAF6F0"/>
                </a:solidFill>
                <a:latin typeface="Deck-Semi-Bold"/>
                <a:ea typeface="Deck-Semi-Bold"/>
                <a:cs typeface="Deck-Semi-Bold"/>
              </a:defRPr>
            </a:pPr>
            <a:r>
              <a:rPr sz="6450">
                <a:solidFill>
                  <a:srgbClr val="FAF6F0"/>
                </a:solidFill>
                <a:latin typeface="Deck-Semi-Bold"/>
                <a:ea typeface="Deck-Semi-Bold"/>
                <a:cs typeface="Deck-Semi-Bold"/>
              </a:rPr>
              <a:t>Ken Sim</a:t>
            </a:r>
          </a:p>
        </p:txBody>
      </p:sp>
      <p:sp>
        <p:nvSpPr>
          <p:cNvPr id="3" name="extension-text-14">
            <a:extLst xmlns:a="http://schemas.openxmlformats.org/drawingml/2006/main">
              <a:ext uri="{FF2B5EF4-FFF2-40B4-BE49-F238E27FC236}">
                <a16:creationId xmlns:a16="http://schemas.microsoft.com/office/drawing/2014/main" id="{A8D24ECF-3650-4C22-98B6-1030EA32BFC0}"/>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Exercise routines</a:t>
            </a:r>
          </a:p>
        </p:txBody>
      </p:sp>
      <p:sp>
        <p:nvSpPr>
          <p:cNvPr id="4" name="extension-text-15">
            <a:extLst xmlns:a="http://schemas.openxmlformats.org/drawingml/2006/main">
              <a:ext uri="{FF2B5EF4-FFF2-40B4-BE49-F238E27FC236}">
                <a16:creationId xmlns:a16="http://schemas.microsoft.com/office/drawing/2014/main" id="{DCAEC7C4-D631-4400-829D-249F503E5C3C}"/>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9BDAB6"/>
                </a:solidFill>
                <a:latin typeface="Deck-Medium"/>
                <a:ea typeface="Deck-Medium"/>
                <a:cs typeface="Deck-Medium"/>
              </a:defRPr>
            </a:pPr>
            <a:r>
              <a:rPr sz="2775">
                <a:solidFill>
                  <a:srgbClr val="9BDAB6"/>
                </a:solidFill>
                <a:latin typeface="Deck-Medium"/>
                <a:ea typeface="Deck-Medium"/>
                <a:cs typeface="Deck-Medium"/>
              </a:rPr>
              <a:t>where I already work</a:t>
            </a:r>
          </a:p>
        </p:txBody>
      </p:sp>
      <p:sp>
        <p:nvSpPr>
          <p:cNvPr id="5" name="extension-text-16">
            <a:extLst xmlns:a="http://schemas.openxmlformats.org/drawingml/2006/main">
              <a:ext uri="{FF2B5EF4-FFF2-40B4-BE49-F238E27FC236}">
                <a16:creationId xmlns:a16="http://schemas.microsoft.com/office/drawing/2014/main" id="{FC9FE2B0-92F4-4FC0-ADA4-4F35B8C92D01}"/>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9BDAB6"/>
                </a:solidFill>
                <a:latin typeface="Deck-Semi-Bold"/>
                <a:ea typeface="Deck-Semi-Bold"/>
                <a:cs typeface="Deck-Semi-Bold"/>
              </a:defRPr>
            </a:pPr>
            <a:r>
              <a:rPr sz="9375">
                <a:solidFill>
                  <a:srgbClr val="9BDAB6"/>
                </a:solidFill>
                <a:latin typeface="Deck-Semi-Bold"/>
                <a:ea typeface="Deck-Semi-Bold"/>
                <a:cs typeface="Deck-Semi-Bold"/>
              </a:rPr>
              <a:t>“</a:t>
            </a:r>
          </a:p>
        </p:txBody>
      </p:sp>
      <p:sp>
        <p:nvSpPr>
          <p:cNvPr id="6" name="extension-text-17">
            <a:extLst xmlns:a="http://schemas.openxmlformats.org/drawingml/2006/main">
              <a:ext uri="{FF2B5EF4-FFF2-40B4-BE49-F238E27FC236}">
                <a16:creationId xmlns:a16="http://schemas.microsoft.com/office/drawing/2014/main" id="{A509F7D6-050E-45D8-B806-678CBF1A9A3B}"/>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I suffered from a leg muscle injury a couple of years</a:t>
            </a:r>
          </a:p>
        </p:txBody>
      </p:sp>
      <p:sp>
        <p:nvSpPr>
          <p:cNvPr id="7" name="extension-text-18">
            <a:extLst xmlns:a="http://schemas.openxmlformats.org/drawingml/2006/main">
              <a:ext uri="{FF2B5EF4-FFF2-40B4-BE49-F238E27FC236}">
                <a16:creationId xmlns:a16="http://schemas.microsoft.com/office/drawing/2014/main" id="{5F65CDB4-1E55-4610-95B5-06EBB7E75975}"/>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back and I have to do regular exercises. The app is</a:t>
            </a:r>
          </a:p>
        </p:txBody>
      </p:sp>
      <p:sp>
        <p:nvSpPr>
          <p:cNvPr id="8" name="extension-text-19">
            <a:extLst xmlns:a="http://schemas.openxmlformats.org/drawingml/2006/main">
              <a:ext uri="{FF2B5EF4-FFF2-40B4-BE49-F238E27FC236}">
                <a16:creationId xmlns:a16="http://schemas.microsoft.com/office/drawing/2014/main" id="{6EBB6C1C-4CEF-4F7E-8861-9F1BD3B1D1E6}"/>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easy to use and lets me customise the right cycles</a:t>
            </a:r>
          </a:p>
        </p:txBody>
      </p:sp>
      <p:sp>
        <p:nvSpPr>
          <p:cNvPr id="9" name="extension-text-20">
            <a:extLst xmlns:a="http://schemas.openxmlformats.org/drawingml/2006/main">
              <a:ext uri="{FF2B5EF4-FFF2-40B4-BE49-F238E27FC236}">
                <a16:creationId xmlns:a16="http://schemas.microsoft.com/office/drawing/2014/main" id="{E4FB6913-08CC-4405-B7B5-BDD3FD765D3F}"/>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and reminders. The integration into Claude is great, it</a:t>
            </a:r>
          </a:p>
        </p:txBody>
      </p:sp>
      <p:sp>
        <p:nvSpPr>
          <p:cNvPr id="10" name="extension-text-21">
            <a:extLst xmlns:a="http://schemas.openxmlformats.org/drawingml/2006/main">
              <a:ext uri="{FF2B5EF4-FFF2-40B4-BE49-F238E27FC236}">
                <a16:creationId xmlns:a16="http://schemas.microsoft.com/office/drawing/2014/main" id="{8DA87472-89DF-4C9A-A9EF-0B5D256AD9B1}"/>
              </a:ext>
            </a:extLst>
          </p:cNvPr>
          <p:cNvSpPr>
            <a:spLocks xmlns:a="http://schemas.openxmlformats.org/drawingml/2006/main" noGrp="1"/>
          </p:cNvSpPr>
          <p:nvPr/>
        </p:nvSpPr>
        <p:spPr>
          <a:xfrm xmlns:a="http://schemas.openxmlformats.org/drawingml/2006/main">
            <a:off x="8096250" y="56864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prompts me directly in Claude to remind me to do my</a:t>
            </a:r>
          </a:p>
        </p:txBody>
      </p:sp>
      <p:sp>
        <p:nvSpPr>
          <p:cNvPr id="11" name="extension-text-22">
            <a:extLst xmlns:a="http://schemas.openxmlformats.org/drawingml/2006/main">
              <a:ext uri="{FF2B5EF4-FFF2-40B4-BE49-F238E27FC236}">
                <a16:creationId xmlns:a16="http://schemas.microsoft.com/office/drawing/2014/main" id="{F2FF63A1-A304-4C1E-9542-8E47EA4FC448}"/>
              </a:ext>
            </a:extLst>
          </p:cNvPr>
          <p:cNvSpPr>
            <a:spLocks xmlns:a="http://schemas.openxmlformats.org/drawingml/2006/main" noGrp="1"/>
          </p:cNvSpPr>
          <p:nvPr/>
        </p:nvSpPr>
        <p:spPr>
          <a:xfrm xmlns:a="http://schemas.openxmlformats.org/drawingml/2006/main">
            <a:off x="8096250" y="62293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FAF6F0"/>
                </a:solidFill>
                <a:latin typeface="Deck"/>
                <a:ea typeface="Deck"/>
                <a:cs typeface="Deck"/>
              </a:defRPr>
            </a:pPr>
            <a:r>
              <a:rPr sz="2925">
                <a:solidFill>
                  <a:srgbClr val="FAF6F0"/>
                </a:solidFill>
                <a:latin typeface="Deck"/>
                <a:ea typeface="Deck"/>
                <a:cs typeface="Deck"/>
              </a:rPr>
              <a:t>exercises</a:t>
            </a:r>
          </a:p>
        </p:txBody>
      </p:sp>
      <p:sp>
        <p:nvSpPr>
          <p:cNvPr id="12" name="extension-text-23">
            <a:extLst xmlns:a="http://schemas.openxmlformats.org/drawingml/2006/main">
              <a:ext uri="{FF2B5EF4-FFF2-40B4-BE49-F238E27FC236}">
                <a16:creationId xmlns:a16="http://schemas.microsoft.com/office/drawing/2014/main" id="{78FCEDF4-7036-4541-BC42-96197B81DFC4}"/>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Personal account supplied by the team</a:t>
            </a:r>
          </a:p>
        </p:txBody>
      </p:sp>
      <p:sp>
        <p:nvSpPr>
          <p:cNvPr id="13" name="extension-text-24">
            <a:extLst xmlns:a="http://schemas.openxmlformats.org/drawingml/2006/main">
              <a:ext uri="{FF2B5EF4-FFF2-40B4-BE49-F238E27FC236}">
                <a16:creationId xmlns:a16="http://schemas.microsoft.com/office/drawing/2014/main" id="{52469BA4-C9B7-4B73-B08B-EC29EA9D3431}"/>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31</a:t>
            </a:r>
          </a:p>
        </p:txBody>
      </p:sp>
    </p:spTree>
    <p:extLst>
      <p:ext uri="{BB962C8B-B14F-4D97-AF65-F5344CB8AC3E}">
        <p14:creationId xmlns:p14="http://schemas.microsoft.com/office/powerpoint/2010/main" val="552013215"/>
      </p:ext>
    </p:extLst>
  </p:cSld>
</p:sld>
</file>

<file path=ppt/slides/slide32.xml><?xml version="1.0" encoding="utf-8"?>
<p:sld xmlns:p="http://schemas.openxmlformats.org/presentationml/2006/main">
  <p:cSld>
    <p:bg>
      <p:bgPr>
        <a:solidFill xmlns:a="http://schemas.openxmlformats.org/drawingml/2006/main">
          <a:srgbClr val="DFECDF"/>
        </a:solidFill>
      </p:bgPr>
    </p:bg>
    <p:spTree>
      <p:nvGrpSpPr>
        <p:cNvPr id="1" name=""/>
        <p:cNvGrpSpPr/>
        <p:nvPr/>
      </p:nvGrpSpPr>
      <p:grpSpPr>
        <a:xfrm xmlns:a="http://schemas.openxmlformats.org/drawingml/2006/main"/>
      </p:grpSpPr>
      <p:sp>
        <p:nvSpPr>
          <p:cNvPr id="15" name="extension-text-25">
            <a:extLst xmlns:a="http://schemas.openxmlformats.org/drawingml/2006/main">
              <a:ext uri="{FF2B5EF4-FFF2-40B4-BE49-F238E27FC236}">
                <a16:creationId xmlns:a16="http://schemas.microsoft.com/office/drawing/2014/main" id="{0A72CEE8-A704-413F-B2EA-287EF4D53275}"/>
              </a:ext>
            </a:extLst>
          </p:cNvPr>
          <p:cNvSpPr>
            <a:spLocks xmlns:a="http://schemas.openxmlformats.org/drawingml/2006/main" noGrp="1"/>
          </p:cNvSpPr>
          <p:nvPr/>
        </p:nvSpPr>
        <p:spPr>
          <a:xfrm xmlns:a="http://schemas.openxmlformats.org/drawingml/2006/main">
            <a:off x="990600" y="819150"/>
            <a:ext cx="1619250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PILOT USER ANECDOTE</a:t>
            </a:r>
          </a:p>
        </p:txBody>
      </p:sp>
      <p:sp>
        <p:nvSpPr>
          <p:cNvPr id="2" name="extension-text-26">
            <a:extLst xmlns:a="http://schemas.openxmlformats.org/drawingml/2006/main">
              <a:ext uri="{FF2B5EF4-FFF2-40B4-BE49-F238E27FC236}">
                <a16:creationId xmlns:a16="http://schemas.microsoft.com/office/drawing/2014/main" id="{2CF7ECA7-6A2D-4791-B4EB-413120C63B0B}"/>
              </a:ext>
            </a:extLst>
          </p:cNvPr>
          <p:cNvSpPr>
            <a:spLocks xmlns:a="http://schemas.openxmlformats.org/drawingml/2006/main" noGrp="1"/>
          </p:cNvSpPr>
          <p:nvPr/>
        </p:nvSpPr>
        <p:spPr>
          <a:xfrm xmlns:a="http://schemas.openxmlformats.org/drawingml/2006/main">
            <a:off x="990600" y="1647825"/>
            <a:ext cx="6334125" cy="1048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450">
                <a:solidFill>
                  <a:srgbClr val="3A3745"/>
                </a:solidFill>
                <a:latin typeface="Deck-Semi-Bold"/>
                <a:ea typeface="Deck-Semi-Bold"/>
                <a:cs typeface="Deck-Semi-Bold"/>
              </a:defRPr>
            </a:pPr>
            <a:r>
              <a:rPr sz="6450">
                <a:solidFill>
                  <a:srgbClr val="3A3745"/>
                </a:solidFill>
                <a:latin typeface="Deck-Semi-Bold"/>
                <a:ea typeface="Deck-Semi-Bold"/>
                <a:cs typeface="Deck-Semi-Bold"/>
              </a:rPr>
              <a:t>Seb Tan</a:t>
            </a:r>
          </a:p>
        </p:txBody>
      </p:sp>
      <p:sp>
        <p:nvSpPr>
          <p:cNvPr id="3" name="extension-text-27">
            <a:extLst xmlns:a="http://schemas.openxmlformats.org/drawingml/2006/main">
              <a:ext uri="{FF2B5EF4-FFF2-40B4-BE49-F238E27FC236}">
                <a16:creationId xmlns:a16="http://schemas.microsoft.com/office/drawing/2014/main" id="{42C888C0-2130-45C9-846F-12D0D5D11B93}"/>
              </a:ext>
            </a:extLst>
          </p:cNvPr>
          <p:cNvSpPr>
            <a:spLocks xmlns:a="http://schemas.openxmlformats.org/drawingml/2006/main" noGrp="1"/>
          </p:cNvSpPr>
          <p:nvPr/>
        </p:nvSpPr>
        <p:spPr>
          <a:xfrm xmlns:a="http://schemas.openxmlformats.org/drawingml/2006/main">
            <a:off x="1009650" y="3295650"/>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A little peace of mind</a:t>
            </a:r>
          </a:p>
        </p:txBody>
      </p:sp>
      <p:sp>
        <p:nvSpPr>
          <p:cNvPr id="4" name="extension-text-28">
            <a:extLst xmlns:a="http://schemas.openxmlformats.org/drawingml/2006/main">
              <a:ext uri="{FF2B5EF4-FFF2-40B4-BE49-F238E27FC236}">
                <a16:creationId xmlns:a16="http://schemas.microsoft.com/office/drawing/2014/main" id="{F8258A2B-9167-4D1F-8C83-84BA5AA63E25}"/>
              </a:ext>
            </a:extLst>
          </p:cNvPr>
          <p:cNvSpPr>
            <a:spLocks xmlns:a="http://schemas.openxmlformats.org/drawingml/2006/main" noGrp="1"/>
          </p:cNvSpPr>
          <p:nvPr/>
        </p:nvSpPr>
        <p:spPr>
          <a:xfrm xmlns:a="http://schemas.openxmlformats.org/drawingml/2006/main">
            <a:off x="1009650" y="3781425"/>
            <a:ext cx="6381750" cy="4511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a:solidFill>
                  <a:srgbClr val="4F7A66"/>
                </a:solidFill>
                <a:latin typeface="Deck-Medium"/>
                <a:ea typeface="Deck-Medium"/>
                <a:cs typeface="Deck-Medium"/>
              </a:defRPr>
            </a:pPr>
            <a:r>
              <a:rPr sz="2775">
                <a:solidFill>
                  <a:srgbClr val="4F7A66"/>
                </a:solidFill>
                <a:latin typeface="Deck-Medium"/>
                <a:ea typeface="Deck-Medium"/>
                <a:cs typeface="Deck-Medium"/>
              </a:rPr>
              <a:t>while caring for Dad</a:t>
            </a:r>
          </a:p>
        </p:txBody>
      </p:sp>
      <p:sp>
        <p:nvSpPr>
          <p:cNvPr id="5" name="extension-text-29">
            <a:extLst xmlns:a="http://schemas.openxmlformats.org/drawingml/2006/main">
              <a:ext uri="{FF2B5EF4-FFF2-40B4-BE49-F238E27FC236}">
                <a16:creationId xmlns:a16="http://schemas.microsoft.com/office/drawing/2014/main" id="{63347D88-66DA-46E9-B815-9440B3D13E1F}"/>
              </a:ext>
            </a:extLst>
          </p:cNvPr>
          <p:cNvSpPr>
            <a:spLocks xmlns:a="http://schemas.openxmlformats.org/drawingml/2006/main" noGrp="1"/>
          </p:cNvSpPr>
          <p:nvPr/>
        </p:nvSpPr>
        <p:spPr>
          <a:xfrm xmlns:a="http://schemas.openxmlformats.org/drawingml/2006/main">
            <a:off x="8096250" y="2095500"/>
            <a:ext cx="952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375">
                <a:solidFill>
                  <a:srgbClr val="4F7A66"/>
                </a:solidFill>
                <a:latin typeface="Deck-Semi-Bold"/>
                <a:ea typeface="Deck-Semi-Bold"/>
                <a:cs typeface="Deck-Semi-Bold"/>
              </a:defRPr>
            </a:pPr>
            <a:r>
              <a:rPr sz="9375">
                <a:solidFill>
                  <a:srgbClr val="4F7A66"/>
                </a:solidFill>
                <a:latin typeface="Deck-Semi-Bold"/>
                <a:ea typeface="Deck-Semi-Bold"/>
                <a:cs typeface="Deck-Semi-Bold"/>
              </a:rPr>
              <a:t>“</a:t>
            </a:r>
          </a:p>
        </p:txBody>
      </p:sp>
      <p:sp>
        <p:nvSpPr>
          <p:cNvPr id="6" name="extension-text-30">
            <a:extLst xmlns:a="http://schemas.openxmlformats.org/drawingml/2006/main">
              <a:ext uri="{FF2B5EF4-FFF2-40B4-BE49-F238E27FC236}">
                <a16:creationId xmlns:a16="http://schemas.microsoft.com/office/drawing/2014/main" id="{41260A94-1E37-4062-936F-CDE506173492}"/>
              </a:ext>
            </a:extLst>
          </p:cNvPr>
          <p:cNvSpPr>
            <a:spLocks xmlns:a="http://schemas.openxmlformats.org/drawingml/2006/main" noGrp="1"/>
          </p:cNvSpPr>
          <p:nvPr/>
        </p:nvSpPr>
        <p:spPr>
          <a:xfrm xmlns:a="http://schemas.openxmlformats.org/drawingml/2006/main">
            <a:off x="8096250" y="35147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My dad has a heart condition. I paired my CareBuddy</a:t>
            </a:r>
          </a:p>
        </p:txBody>
      </p:sp>
      <p:sp>
        <p:nvSpPr>
          <p:cNvPr id="7" name="extension-text-31">
            <a:extLst xmlns:a="http://schemas.openxmlformats.org/drawingml/2006/main">
              <a:ext uri="{FF2B5EF4-FFF2-40B4-BE49-F238E27FC236}">
                <a16:creationId xmlns:a16="http://schemas.microsoft.com/office/drawing/2014/main" id="{98DBF7AC-770B-443B-ABB0-9F0B03524D40}"/>
              </a:ext>
            </a:extLst>
          </p:cNvPr>
          <p:cNvSpPr>
            <a:spLocks xmlns:a="http://schemas.openxmlformats.org/drawingml/2006/main" noGrp="1"/>
          </p:cNvSpPr>
          <p:nvPr/>
        </p:nvSpPr>
        <p:spPr>
          <a:xfrm xmlns:a="http://schemas.openxmlformats.org/drawingml/2006/main">
            <a:off x="8096250" y="40576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with his Fitbit to keep track of his health metrics. It</a:t>
            </a:r>
          </a:p>
        </p:txBody>
      </p:sp>
      <p:sp>
        <p:nvSpPr>
          <p:cNvPr id="8" name="extension-text-32">
            <a:extLst xmlns:a="http://schemas.openxmlformats.org/drawingml/2006/main">
              <a:ext uri="{FF2B5EF4-FFF2-40B4-BE49-F238E27FC236}">
                <a16:creationId xmlns:a16="http://schemas.microsoft.com/office/drawing/2014/main" id="{F7A0882C-EC6D-4D53-8799-639E18FBD602}"/>
              </a:ext>
            </a:extLst>
          </p:cNvPr>
          <p:cNvSpPr>
            <a:spLocks xmlns:a="http://schemas.openxmlformats.org/drawingml/2006/main" noGrp="1"/>
          </p:cNvSpPr>
          <p:nvPr/>
        </p:nvSpPr>
        <p:spPr>
          <a:xfrm xmlns:a="http://schemas.openxmlformats.org/drawingml/2006/main">
            <a:off x="8096250" y="46005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works great and it pings me every time there is an</a:t>
            </a:r>
          </a:p>
        </p:txBody>
      </p:sp>
      <p:sp>
        <p:nvSpPr>
          <p:cNvPr id="9" name="extension-text-33">
            <a:extLst xmlns:a="http://schemas.openxmlformats.org/drawingml/2006/main">
              <a:ext uri="{FF2B5EF4-FFF2-40B4-BE49-F238E27FC236}">
                <a16:creationId xmlns:a16="http://schemas.microsoft.com/office/drawing/2014/main" id="{F83F755E-F70F-4BB6-A4E6-3EB63A90BA97}"/>
              </a:ext>
            </a:extLst>
          </p:cNvPr>
          <p:cNvSpPr>
            <a:spLocks xmlns:a="http://schemas.openxmlformats.org/drawingml/2006/main" noGrp="1"/>
          </p:cNvSpPr>
          <p:nvPr/>
        </p:nvSpPr>
        <p:spPr>
          <a:xfrm xmlns:a="http://schemas.openxmlformats.org/drawingml/2006/main">
            <a:off x="8096250" y="514350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anomaly in his metrics. My dad is amazed and was</a:t>
            </a:r>
          </a:p>
        </p:txBody>
      </p:sp>
      <p:sp>
        <p:nvSpPr>
          <p:cNvPr id="10" name="extension-text-34">
            <a:extLst xmlns:a="http://schemas.openxmlformats.org/drawingml/2006/main">
              <a:ext uri="{FF2B5EF4-FFF2-40B4-BE49-F238E27FC236}">
                <a16:creationId xmlns:a16="http://schemas.microsoft.com/office/drawing/2014/main" id="{BA449DAF-0F02-4DD4-8F37-0BD46C092EBE}"/>
              </a:ext>
            </a:extLst>
          </p:cNvPr>
          <p:cNvSpPr>
            <a:spLocks xmlns:a="http://schemas.openxmlformats.org/drawingml/2006/main" noGrp="1"/>
          </p:cNvSpPr>
          <p:nvPr/>
        </p:nvSpPr>
        <p:spPr>
          <a:xfrm xmlns:a="http://schemas.openxmlformats.org/drawingml/2006/main">
            <a:off x="8096250" y="568642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wondering how I can know in real time his status</a:t>
            </a:r>
          </a:p>
        </p:txBody>
      </p:sp>
      <p:sp>
        <p:nvSpPr>
          <p:cNvPr id="11" name="extension-text-35">
            <a:extLst xmlns:a="http://schemas.openxmlformats.org/drawingml/2006/main">
              <a:ext uri="{FF2B5EF4-FFF2-40B4-BE49-F238E27FC236}">
                <a16:creationId xmlns:a16="http://schemas.microsoft.com/office/drawing/2014/main" id="{A5E351C2-47BA-435C-9422-D05203C7534E}"/>
              </a:ext>
            </a:extLst>
          </p:cNvPr>
          <p:cNvSpPr>
            <a:spLocks xmlns:a="http://schemas.openxmlformats.org/drawingml/2006/main" noGrp="1"/>
          </p:cNvSpPr>
          <p:nvPr/>
        </p:nvSpPr>
        <p:spPr>
          <a:xfrm xmlns:a="http://schemas.openxmlformats.org/drawingml/2006/main">
            <a:off x="8096250" y="6229350"/>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without being next to him. It feels great to know that I</a:t>
            </a:r>
          </a:p>
        </p:txBody>
      </p:sp>
      <p:sp>
        <p:nvSpPr>
          <p:cNvPr id="12" name="extension-text-36">
            <a:extLst xmlns:a="http://schemas.openxmlformats.org/drawingml/2006/main">
              <a:ext uri="{FF2B5EF4-FFF2-40B4-BE49-F238E27FC236}">
                <a16:creationId xmlns:a16="http://schemas.microsoft.com/office/drawing/2014/main" id="{02E54BA5-0D26-4353-87D3-007E647648B3}"/>
              </a:ext>
            </a:extLst>
          </p:cNvPr>
          <p:cNvSpPr>
            <a:spLocks xmlns:a="http://schemas.openxmlformats.org/drawingml/2006/main" noGrp="1"/>
          </p:cNvSpPr>
          <p:nvPr/>
        </p:nvSpPr>
        <p:spPr>
          <a:xfrm xmlns:a="http://schemas.openxmlformats.org/drawingml/2006/main">
            <a:off x="8096250" y="6772275"/>
            <a:ext cx="91821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3A3745"/>
                </a:solidFill>
                <a:latin typeface="Deck"/>
                <a:ea typeface="Deck"/>
                <a:cs typeface="Deck"/>
              </a:defRPr>
            </a:pPr>
            <a:r>
              <a:rPr sz="2925">
                <a:solidFill>
                  <a:srgbClr val="3A3745"/>
                </a:solidFill>
                <a:latin typeface="Deck"/>
                <a:ea typeface="Deck"/>
                <a:cs typeface="Deck"/>
              </a:rPr>
              <a:t>got my dad covered despite my busy work schedule</a:t>
            </a:r>
          </a:p>
        </p:txBody>
      </p:sp>
      <p:sp>
        <p:nvSpPr>
          <p:cNvPr id="13" name="extension-text-37">
            <a:extLst xmlns:a="http://schemas.openxmlformats.org/drawingml/2006/main">
              <a:ext uri="{FF2B5EF4-FFF2-40B4-BE49-F238E27FC236}">
                <a16:creationId xmlns:a16="http://schemas.microsoft.com/office/drawing/2014/main" id="{33F82CA9-6EC1-4921-86EA-93D8024E4286}"/>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Personal account supplied by the team</a:t>
            </a:r>
          </a:p>
        </p:txBody>
      </p:sp>
      <p:sp>
        <p:nvSpPr>
          <p:cNvPr id="14" name="extension-text-38">
            <a:extLst xmlns:a="http://schemas.openxmlformats.org/drawingml/2006/main">
              <a:ext uri="{FF2B5EF4-FFF2-40B4-BE49-F238E27FC236}">
                <a16:creationId xmlns:a16="http://schemas.microsoft.com/office/drawing/2014/main" id="{2C06CBD3-99F9-4E07-9DE1-0198CE4889AD}"/>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32</a:t>
            </a:r>
          </a:p>
        </p:txBody>
      </p:sp>
    </p:spTree>
    <p:extLst>
      <p:ext uri="{BB962C8B-B14F-4D97-AF65-F5344CB8AC3E}">
        <p14:creationId xmlns:p14="http://schemas.microsoft.com/office/powerpoint/2010/main" val="1549021016"/>
      </p:ext>
    </p:extLst>
  </p:cSld>
</p:sld>
</file>

<file path=ppt/slides/slide3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7" name=""/>
          <p:cNvCxnSpPr>
            <a:stCxn xmlns:a="http://schemas.openxmlformats.org/drawingml/2006/main" id="12" idx="2"/>
            <a:endCxn xmlns:a="http://schemas.openxmlformats.org/drawingml/2006/main" id="22" idx="0"/>
          </p:cNvCxnSpPr>
          <p:nvPr/>
        </p:nvCxnSpPr>
        <p:spPr>
          <a:xfrm xmlns:a="http://schemas.openxmlformats.org/drawingml/2006/main">
            <a:off x="15787688" y="5572125"/>
            <a:ext cx="0" cy="1214438"/>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8" name=""/>
          <p:cNvCxnSpPr>
            <a:stCxn xmlns:a="http://schemas.openxmlformats.org/drawingml/2006/main" id="9" idx="3"/>
            <a:endCxn xmlns:a="http://schemas.openxmlformats.org/drawingml/2006/main" id="12" idx="1"/>
          </p:cNvCxnSpPr>
          <p:nvPr/>
        </p:nvCxnSpPr>
        <p:spPr>
          <a:xfrm xmlns:a="http://schemas.openxmlformats.org/drawingml/2006/main">
            <a:off x="13144500"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9" name=""/>
          <p:cNvCxnSpPr>
            <a:stCxn xmlns:a="http://schemas.openxmlformats.org/drawingml/2006/main" id="6" idx="3"/>
            <a:endCxn xmlns:a="http://schemas.openxmlformats.org/drawingml/2006/main" id="9" idx="1"/>
          </p:cNvCxnSpPr>
          <p:nvPr/>
        </p:nvCxnSpPr>
        <p:spPr>
          <a:xfrm xmlns:a="http://schemas.openxmlformats.org/drawingml/2006/main">
            <a:off x="8715375"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30" name=""/>
          <p:cNvCxnSpPr>
            <a:stCxn xmlns:a="http://schemas.openxmlformats.org/drawingml/2006/main" id="3" idx="3"/>
            <a:endCxn xmlns:a="http://schemas.openxmlformats.org/drawingml/2006/main" id="6" idx="1"/>
          </p:cNvCxnSpPr>
          <p:nvPr/>
        </p:nvCxnSpPr>
        <p:spPr>
          <a:xfrm xmlns:a="http://schemas.openxmlformats.org/drawingml/2006/main">
            <a:off x="4286250" y="4393407"/>
            <a:ext cx="857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sp>
        <p:nvSpPr>
          <p:cNvPr id="31" name="Care Buddy architecture">
            <a:extLst xmlns:a="http://schemas.openxmlformats.org/drawingml/2006/main">
              <a:ext uri="{FF2B5EF4-FFF2-40B4-BE49-F238E27FC236}">
                <a16:creationId xmlns:a16="http://schemas.microsoft.com/office/drawing/2014/main" id="{321F5784-12F7-43E8-9E31-D80CFA3CCF43}"/>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Care Buddy architecture</a:t>
            </a:r>
          </a:p>
        </p:txBody>
      </p:sp>
      <p:sp>
        <p:nvSpPr>
          <p:cNvPr id="2" name="Healthcare Track · Case Study 2: AI">
            <a:extLst xmlns:a="http://schemas.openxmlformats.org/drawingml/2006/main">
              <a:ext uri="{FF2B5EF4-FFF2-40B4-BE49-F238E27FC236}">
                <a16:creationId xmlns:a16="http://schemas.microsoft.com/office/drawing/2014/main" id="{3F08CFDD-BC4F-4457-A38E-562CFF881501}"/>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Healthcare Track · Case Study 2: AI Healthier Every Day</a:t>
            </a:r>
          </a:p>
        </p:txBody>
      </p:sp>
      <p:sp>
        <p:nvSpPr>
          <p:cNvPr id="3" name="People">
            <a:extLst xmlns:a="http://schemas.openxmlformats.org/drawingml/2006/main">
              <a:ext uri="{FF2B5EF4-FFF2-40B4-BE49-F238E27FC236}">
                <a16:creationId xmlns:a16="http://schemas.microsoft.com/office/drawing/2014/main" id="{E499A3FB-B721-49E9-85A8-E8FD9FA3ACE7}"/>
              </a:ext>
            </a:extLst>
          </p:cNvPr>
          <p:cNvSpPr>
            <a:spLocks xmlns:a="http://schemas.openxmlformats.org/drawingml/2006/main" noGrp="1"/>
          </p:cNvSpPr>
          <p:nvPr/>
        </p:nvSpPr>
        <p:spPr>
          <a:xfrm xmlns:a="http://schemas.openxmlformats.org/drawingml/2006/main">
            <a:off x="714375" y="3214688"/>
            <a:ext cx="3571875" cy="2357438"/>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4" name="People">
            <a:extLst xmlns:a="http://schemas.openxmlformats.org/drawingml/2006/main">
              <a:ext uri="{FF2B5EF4-FFF2-40B4-BE49-F238E27FC236}">
                <a16:creationId xmlns:a16="http://schemas.microsoft.com/office/drawing/2014/main" id="{5732D55C-7C2B-4C7C-B93F-CEFE5EAB4285}"/>
              </a:ext>
            </a:extLst>
          </p:cNvPr>
          <p:cNvSpPr>
            <a:spLocks xmlns:a="http://schemas.openxmlformats.org/drawingml/2006/main" noGrp="1"/>
          </p:cNvSpPr>
          <p:nvPr/>
        </p:nvSpPr>
        <p:spPr>
          <a:xfrm xmlns:a="http://schemas.openxmlformats.org/drawingml/2006/main">
            <a:off x="957262"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People</a:t>
            </a:r>
          </a:p>
        </p:txBody>
      </p:sp>
      <p:sp>
        <p:nvSpPr>
          <p:cNvPr id="5" name="Adults and family&#10;caregivers">
            <a:extLst xmlns:a="http://schemas.openxmlformats.org/drawingml/2006/main">
              <a:ext uri="{FF2B5EF4-FFF2-40B4-BE49-F238E27FC236}">
                <a16:creationId xmlns:a16="http://schemas.microsoft.com/office/drawing/2014/main" id="{BC32AF5B-9827-454D-8B0A-7A4E5EA2277C}"/>
              </a:ext>
            </a:extLst>
          </p:cNvPr>
          <p:cNvSpPr>
            <a:spLocks xmlns:a="http://schemas.openxmlformats.org/drawingml/2006/main" noGrp="1"/>
          </p:cNvSpPr>
          <p:nvPr/>
        </p:nvSpPr>
        <p:spPr>
          <a:xfrm xmlns:a="http://schemas.openxmlformats.org/drawingml/2006/main">
            <a:off x="957262"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Adults and family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caregivers</a:t>
            </a:r>
          </a:p>
        </p:txBody>
      </p:sp>
      <p:sp>
        <p:nvSpPr>
          <p:cNvPr id="6" name="Daily care view">
            <a:extLst xmlns:a="http://schemas.openxmlformats.org/drawingml/2006/main">
              <a:ext uri="{FF2B5EF4-FFF2-40B4-BE49-F238E27FC236}">
                <a16:creationId xmlns:a16="http://schemas.microsoft.com/office/drawing/2014/main" id="{2E3C180E-DFCF-417B-A59A-6D0EE366EC65}"/>
              </a:ext>
            </a:extLst>
          </p:cNvPr>
          <p:cNvSpPr>
            <a:spLocks xmlns:a="http://schemas.openxmlformats.org/drawingml/2006/main" noGrp="1"/>
          </p:cNvSpPr>
          <p:nvPr/>
        </p:nvSpPr>
        <p:spPr>
          <a:xfrm xmlns:a="http://schemas.openxmlformats.org/drawingml/2006/main">
            <a:off x="5143500" y="3214688"/>
            <a:ext cx="3571875" cy="2357438"/>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7" name="Daily care view">
            <a:extLst xmlns:a="http://schemas.openxmlformats.org/drawingml/2006/main">
              <a:ext uri="{FF2B5EF4-FFF2-40B4-BE49-F238E27FC236}">
                <a16:creationId xmlns:a16="http://schemas.microsoft.com/office/drawing/2014/main" id="{4ADCC157-0CF0-4A6C-80D4-475BFA1E7A66}"/>
              </a:ext>
            </a:extLst>
          </p:cNvPr>
          <p:cNvSpPr>
            <a:spLocks xmlns:a="http://schemas.openxmlformats.org/drawingml/2006/main" noGrp="1"/>
          </p:cNvSpPr>
          <p:nvPr/>
        </p:nvSpPr>
        <p:spPr>
          <a:xfrm xmlns:a="http://schemas.openxmlformats.org/drawingml/2006/main">
            <a:off x="5386388"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Daily care view</a:t>
            </a:r>
          </a:p>
        </p:txBody>
      </p:sp>
      <p:sp>
        <p:nvSpPr>
          <p:cNvPr id="8" name="Routines, readings&#10;and appointments">
            <a:extLst xmlns:a="http://schemas.openxmlformats.org/drawingml/2006/main">
              <a:ext uri="{FF2B5EF4-FFF2-40B4-BE49-F238E27FC236}">
                <a16:creationId xmlns:a16="http://schemas.microsoft.com/office/drawing/2014/main" id="{E90C12A7-B305-4714-8E96-3FB8DE922EE2}"/>
              </a:ext>
            </a:extLst>
          </p:cNvPr>
          <p:cNvSpPr>
            <a:spLocks xmlns:a="http://schemas.openxmlformats.org/drawingml/2006/main" noGrp="1"/>
          </p:cNvSpPr>
          <p:nvPr/>
        </p:nvSpPr>
        <p:spPr>
          <a:xfrm xmlns:a="http://schemas.openxmlformats.org/drawingml/2006/main">
            <a:off x="5386388"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Routines, readings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appointments</a:t>
            </a:r>
          </a:p>
        </p:txBody>
      </p:sp>
      <p:sp>
        <p:nvSpPr>
          <p:cNvPr id="9" name="Buddy">
            <a:extLst xmlns:a="http://schemas.openxmlformats.org/drawingml/2006/main">
              <a:ext uri="{FF2B5EF4-FFF2-40B4-BE49-F238E27FC236}">
                <a16:creationId xmlns:a16="http://schemas.microsoft.com/office/drawing/2014/main" id="{75547140-3AFE-4F17-8192-D9805FAAEC8C}"/>
              </a:ext>
            </a:extLst>
          </p:cNvPr>
          <p:cNvSpPr>
            <a:spLocks xmlns:a="http://schemas.openxmlformats.org/drawingml/2006/main" noGrp="1"/>
          </p:cNvSpPr>
          <p:nvPr/>
        </p:nvSpPr>
        <p:spPr>
          <a:xfrm xmlns:a="http://schemas.openxmlformats.org/drawingml/2006/main">
            <a:off x="9572625" y="3214688"/>
            <a:ext cx="3571875" cy="2357438"/>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10" name="Buddy">
            <a:extLst xmlns:a="http://schemas.openxmlformats.org/drawingml/2006/main">
              <a:ext uri="{FF2B5EF4-FFF2-40B4-BE49-F238E27FC236}">
                <a16:creationId xmlns:a16="http://schemas.microsoft.com/office/drawing/2014/main" id="{69D9179B-6A42-4102-BD2B-C7560ACE1737}"/>
              </a:ext>
            </a:extLst>
          </p:cNvPr>
          <p:cNvSpPr>
            <a:spLocks xmlns:a="http://schemas.openxmlformats.org/drawingml/2006/main" noGrp="1"/>
          </p:cNvSpPr>
          <p:nvPr/>
        </p:nvSpPr>
        <p:spPr>
          <a:xfrm xmlns:a="http://schemas.openxmlformats.org/drawingml/2006/main">
            <a:off x="9815512"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Buddy</a:t>
            </a:r>
          </a:p>
        </p:txBody>
      </p:sp>
      <p:sp>
        <p:nvSpPr>
          <p:cNvPr id="11" name="Grounded answers&#10;and care changes">
            <a:extLst xmlns:a="http://schemas.openxmlformats.org/drawingml/2006/main">
              <a:ext uri="{FF2B5EF4-FFF2-40B4-BE49-F238E27FC236}">
                <a16:creationId xmlns:a16="http://schemas.microsoft.com/office/drawing/2014/main" id="{A2906B07-D706-430D-BA79-DFE44CF2919F}"/>
              </a:ext>
            </a:extLst>
          </p:cNvPr>
          <p:cNvSpPr>
            <a:spLocks xmlns:a="http://schemas.openxmlformats.org/drawingml/2006/main" noGrp="1"/>
          </p:cNvSpPr>
          <p:nvPr/>
        </p:nvSpPr>
        <p:spPr>
          <a:xfrm xmlns:a="http://schemas.openxmlformats.org/drawingml/2006/main">
            <a:off x="9815512"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Grounded answers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care changes</a:t>
            </a:r>
          </a:p>
        </p:txBody>
      </p:sp>
      <p:sp>
        <p:nvSpPr>
          <p:cNvPr id="12" name="Next step">
            <a:extLst xmlns:a="http://schemas.openxmlformats.org/drawingml/2006/main">
              <a:ext uri="{FF2B5EF4-FFF2-40B4-BE49-F238E27FC236}">
                <a16:creationId xmlns:a16="http://schemas.microsoft.com/office/drawing/2014/main" id="{79DC5C0C-5DC0-45CF-B923-2C2BEFB6BF6B}"/>
              </a:ext>
            </a:extLst>
          </p:cNvPr>
          <p:cNvSpPr>
            <a:spLocks xmlns:a="http://schemas.openxmlformats.org/drawingml/2006/main" noGrp="1"/>
          </p:cNvSpPr>
          <p:nvPr/>
        </p:nvSpPr>
        <p:spPr>
          <a:xfrm xmlns:a="http://schemas.openxmlformats.org/drawingml/2006/main">
            <a:off x="14001750" y="3214688"/>
            <a:ext cx="3571875" cy="2357438"/>
          </a:xfrm>
          <a:prstGeom xmlns:a="http://schemas.openxmlformats.org/drawingml/2006/main" prst="rect">
            <a:avLst/>
          </a:prstGeom>
          <a:solidFill xmlns:a="http://schemas.openxmlformats.org/drawingml/2006/main">
            <a:srgbClr val="F3C9B8"/>
          </a:solidFill>
          <a:ln xmlns:a="http://schemas.openxmlformats.org/drawingml/2006/main" w="17859">
            <a:solidFill>
              <a:srgbClr val="4F7A66"/>
            </a:solidFill>
          </a:ln>
        </p:spPr>
      </p:sp>
      <p:sp>
        <p:nvSpPr>
          <p:cNvPr id="13" name="Next step">
            <a:extLst xmlns:a="http://schemas.openxmlformats.org/drawingml/2006/main">
              <a:ext uri="{FF2B5EF4-FFF2-40B4-BE49-F238E27FC236}">
                <a16:creationId xmlns:a16="http://schemas.microsoft.com/office/drawing/2014/main" id="{2C6689D9-C8E7-4FE8-A521-4BAE9A125C5A}"/>
              </a:ext>
            </a:extLst>
          </p:cNvPr>
          <p:cNvSpPr>
            <a:spLocks xmlns:a="http://schemas.openxmlformats.org/drawingml/2006/main" noGrp="1"/>
          </p:cNvSpPr>
          <p:nvPr/>
        </p:nvSpPr>
        <p:spPr>
          <a:xfrm xmlns:a="http://schemas.openxmlformats.org/drawingml/2006/main">
            <a:off x="14244638" y="3443288"/>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Next step</a:t>
            </a:r>
          </a:p>
        </p:txBody>
      </p:sp>
      <p:sp>
        <p:nvSpPr>
          <p:cNvPr id="14" name="A saved action or&#10;professional care">
            <a:extLst xmlns:a="http://schemas.openxmlformats.org/drawingml/2006/main">
              <a:ext uri="{FF2B5EF4-FFF2-40B4-BE49-F238E27FC236}">
                <a16:creationId xmlns:a16="http://schemas.microsoft.com/office/drawing/2014/main" id="{8055E1B2-9126-4FC2-A26E-096CA9B6F55A}"/>
              </a:ext>
            </a:extLst>
          </p:cNvPr>
          <p:cNvSpPr>
            <a:spLocks xmlns:a="http://schemas.openxmlformats.org/drawingml/2006/main" noGrp="1"/>
          </p:cNvSpPr>
          <p:nvPr/>
        </p:nvSpPr>
        <p:spPr>
          <a:xfrm xmlns:a="http://schemas.openxmlformats.org/drawingml/2006/main">
            <a:off x="14244638" y="4214812"/>
            <a:ext cx="3086100" cy="12430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 saved action or</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professional care</a:t>
            </a:r>
          </a:p>
        </p:txBody>
      </p:sp>
      <p:sp>
        <p:nvSpPr>
          <p:cNvPr id="18" name="Me, Mom and Dad">
            <a:extLst xmlns:a="http://schemas.openxmlformats.org/drawingml/2006/main">
              <a:ext uri="{FF2B5EF4-FFF2-40B4-BE49-F238E27FC236}">
                <a16:creationId xmlns:a16="http://schemas.microsoft.com/office/drawing/2014/main" id="{B37A5DF0-5FD9-42EF-A8A8-8AC8FD2DEEDD}"/>
              </a:ext>
            </a:extLst>
          </p:cNvPr>
          <p:cNvSpPr>
            <a:spLocks xmlns:a="http://schemas.openxmlformats.org/drawingml/2006/main" noGrp="1"/>
          </p:cNvSpPr>
          <p:nvPr/>
        </p:nvSpPr>
        <p:spPr>
          <a:xfrm xmlns:a="http://schemas.openxmlformats.org/drawingml/2006/main">
            <a:off x="714375" y="6472238"/>
            <a:ext cx="3857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Me, Mom and Dad</a:t>
            </a:r>
          </a:p>
        </p:txBody>
      </p:sp>
      <p:sp>
        <p:nvSpPr>
          <p:cNvPr id="19" name="The selected person and&#10;view/manage">
            <a:extLst xmlns:a="http://schemas.openxmlformats.org/drawingml/2006/main">
              <a:ext uri="{FF2B5EF4-FFF2-40B4-BE49-F238E27FC236}">
                <a16:creationId xmlns:a16="http://schemas.microsoft.com/office/drawing/2014/main" id="{EAC5D588-B2BA-434D-B9F5-46AEF333CED5}"/>
              </a:ext>
            </a:extLst>
          </p:cNvPr>
          <p:cNvSpPr>
            <a:spLocks xmlns:a="http://schemas.openxmlformats.org/drawingml/2006/main" noGrp="1"/>
          </p:cNvSpPr>
          <p:nvPr/>
        </p:nvSpPr>
        <p:spPr>
          <a:xfrm xmlns:a="http://schemas.openxmlformats.org/drawingml/2006/main">
            <a:off x="714375" y="7200900"/>
            <a:ext cx="3857625" cy="1614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The selected person and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view/manage permission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shape each care action.</a:t>
            </a:r>
          </a:p>
        </p:txBody>
      </p:sp>
      <p:sp>
        <p:nvSpPr>
          <p:cNvPr id="20" name="Care records with context">
            <a:extLst xmlns:a="http://schemas.openxmlformats.org/drawingml/2006/main">
              <a:ext uri="{FF2B5EF4-FFF2-40B4-BE49-F238E27FC236}">
                <a16:creationId xmlns:a16="http://schemas.microsoft.com/office/drawing/2014/main" id="{96F56582-72E3-47A0-9276-D1857E68FB71}"/>
              </a:ext>
            </a:extLst>
          </p:cNvPr>
          <p:cNvSpPr>
            <a:spLocks xmlns:a="http://schemas.openxmlformats.org/drawingml/2006/main" noGrp="1"/>
          </p:cNvSpPr>
          <p:nvPr/>
        </p:nvSpPr>
        <p:spPr>
          <a:xfrm xmlns:a="http://schemas.openxmlformats.org/drawingml/2006/main">
            <a:off x="5143500" y="6472238"/>
            <a:ext cx="7715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Care records with context</a:t>
            </a:r>
          </a:p>
        </p:txBody>
      </p:sp>
      <p:sp>
        <p:nvSpPr>
          <p:cNvPr id="21" name="Saved receipts, appointment confirm">
            <a:extLst xmlns:a="http://schemas.openxmlformats.org/drawingml/2006/main">
              <a:ext uri="{FF2B5EF4-FFF2-40B4-BE49-F238E27FC236}">
                <a16:creationId xmlns:a16="http://schemas.microsoft.com/office/drawing/2014/main" id="{DF91C043-A319-4192-9198-788C97B6000A}"/>
              </a:ext>
            </a:extLst>
          </p:cNvPr>
          <p:cNvSpPr>
            <a:spLocks xmlns:a="http://schemas.openxmlformats.org/drawingml/2006/main" noGrp="1"/>
          </p:cNvSpPr>
          <p:nvPr/>
        </p:nvSpPr>
        <p:spPr>
          <a:xfrm xmlns:a="http://schemas.openxmlformats.org/drawingml/2006/main">
            <a:off x="5143500" y="7200900"/>
            <a:ext cx="7715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receipts, appointment confirmation status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and benefit sources make the next step clear.</a:t>
            </a:r>
          </a:p>
        </p:txBody>
      </p:sp>
      <p:sp>
        <p:nvSpPr>
          <p:cNvPr id="22" name="WhiteCoat">
            <a:extLst xmlns:a="http://schemas.openxmlformats.org/drawingml/2006/main">
              <a:ext uri="{FF2B5EF4-FFF2-40B4-BE49-F238E27FC236}">
                <a16:creationId xmlns:a16="http://schemas.microsoft.com/office/drawing/2014/main" id="{35F77DD5-AF8B-4563-B185-900898646D17}"/>
              </a:ext>
            </a:extLst>
          </p:cNvPr>
          <p:cNvSpPr>
            <a:spLocks xmlns:a="http://schemas.openxmlformats.org/drawingml/2006/main" noGrp="1"/>
          </p:cNvSpPr>
          <p:nvPr/>
        </p:nvSpPr>
        <p:spPr>
          <a:xfrm xmlns:a="http://schemas.openxmlformats.org/drawingml/2006/main">
            <a:off x="14001750" y="6786562"/>
            <a:ext cx="3571875" cy="200025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23" name="WhiteCoat">
            <a:extLst xmlns:a="http://schemas.openxmlformats.org/drawingml/2006/main">
              <a:ext uri="{FF2B5EF4-FFF2-40B4-BE49-F238E27FC236}">
                <a16:creationId xmlns:a16="http://schemas.microsoft.com/office/drawing/2014/main" id="{0D39D815-4B4F-48EA-87EB-22FFFCE8569D}"/>
              </a:ext>
            </a:extLst>
          </p:cNvPr>
          <p:cNvSpPr>
            <a:spLocks xmlns:a="http://schemas.openxmlformats.org/drawingml/2006/main" noGrp="1"/>
          </p:cNvSpPr>
          <p:nvPr/>
        </p:nvSpPr>
        <p:spPr>
          <a:xfrm xmlns:a="http://schemas.openxmlformats.org/drawingml/2006/main">
            <a:off x="14244638" y="7015162"/>
            <a:ext cx="30861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WhiteCoat</a:t>
            </a:r>
          </a:p>
        </p:txBody>
      </p:sp>
      <p:sp>
        <p:nvSpPr>
          <p:cNvPr id="24" name="Opens GP link&#10;No booking">
            <a:extLst xmlns:a="http://schemas.openxmlformats.org/drawingml/2006/main">
              <a:ext uri="{FF2B5EF4-FFF2-40B4-BE49-F238E27FC236}">
                <a16:creationId xmlns:a16="http://schemas.microsoft.com/office/drawing/2014/main" id="{4C690CB7-A97F-41BB-88C4-D3460394A632}"/>
              </a:ext>
            </a:extLst>
          </p:cNvPr>
          <p:cNvSpPr>
            <a:spLocks xmlns:a="http://schemas.openxmlformats.org/drawingml/2006/main" noGrp="1"/>
          </p:cNvSpPr>
          <p:nvPr/>
        </p:nvSpPr>
        <p:spPr>
          <a:xfrm xmlns:a="http://schemas.openxmlformats.org/drawingml/2006/main">
            <a:off x="14244638" y="7786688"/>
            <a:ext cx="30861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Opens GP link</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booking</a:t>
            </a:r>
          </a:p>
        </p:txBody>
      </p:sp>
      <p:sp>
        <p:nvSpPr>
          <p:cNvPr id="26" name="Fictional care records. Live weathe">
            <a:extLst xmlns:a="http://schemas.openxmlformats.org/drawingml/2006/main">
              <a:ext uri="{FF2B5EF4-FFF2-40B4-BE49-F238E27FC236}">
                <a16:creationId xmlns:a16="http://schemas.microsoft.com/office/drawing/2014/main" id="{3D004CD8-676E-438C-A2D5-D46C83FA8A21}"/>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Fictional care records. Live weather and validated AI actions in the prototype.</a:t>
            </a:r>
          </a:p>
        </p:txBody>
      </p:sp>
      <p:sp>
        <p:nvSpPr>
          <p:cNvPr id="32"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33</ns7:t>
            </ns7:r>
          </ns7:p>
        </p:txBody>
      </p:sp>
    </p:spTree>
    <p:extLst>
      <p:ext uri="{BB962C8B-B14F-4D97-AF65-F5344CB8AC3E}">
        <p14:creationId xmlns:p14="http://schemas.microsoft.com/office/powerpoint/2010/main" val="250637097"/>
      </p:ext>
    </p:extLst>
  </p:cSld>
</p:sld>
</file>

<file path=ppt/slides/slide3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31" name=""/>
          <p:cNvCxnSpPr>
            <a:stCxn xmlns:a="http://schemas.openxmlformats.org/drawingml/2006/main" id="8" idx="2"/>
            <a:endCxn xmlns:a="http://schemas.openxmlformats.org/drawingml/2006/main" id="24" idx="0"/>
          </p:cNvCxnSpPr>
          <p:nvPr/>
        </p:nvCxnSpPr>
        <p:spPr>
          <a:xfrm xmlns:a="http://schemas.openxmlformats.org/drawingml/2006/main" flipH="1">
            <a:off x="2286000" y="5429250"/>
            <a:ext cx="4572000" cy="1528762"/>
          </a:xfrm>
          <a:prstGeom xmlns:a="http://schemas.openxmlformats.org/drawingml/2006/main" prst="bentConnector4">
            <a:avLst>
              <a:gd name="adj1" fmla="val 0"/>
              <a:gd name="adj2" fmla="val 50000"/>
            </a:avLst>
          </a:prstGeom>
          <a:ln xmlns:a="http://schemas.openxmlformats.org/drawingml/2006/main" w="34290">
            <a:solidFill>
              <a:srgbClr val="4F7A66"/>
            </a:solidFill>
            <a:prstDash val="solid"/>
            <a:headEnd type="triangle" w="med" len="med"/>
            <a:tailEnd type="triangle" w="med" len="med"/>
          </a:ln>
        </p:spPr>
      </p:cxnSp>
      <p:cxnSp>
        <p:nvCxnSpPr>
          <p:cNvPr id="32" name=""/>
          <p:cNvCxnSpPr>
            <a:stCxn xmlns:a="http://schemas.openxmlformats.org/drawingml/2006/main" id="8" idx="2"/>
            <a:endCxn xmlns:a="http://schemas.openxmlformats.org/drawingml/2006/main" id="20" idx="0"/>
          </p:cNvCxnSpPr>
          <p:nvPr/>
        </p:nvCxnSpPr>
        <p:spPr>
          <a:xfrm xmlns:a="http://schemas.openxmlformats.org/drawingml/2006/main">
            <a:off x="6858000" y="5429250"/>
            <a:ext cx="0" cy="1528762"/>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3" name=""/>
          <p:cNvCxnSpPr>
            <a:stCxn xmlns:a="http://schemas.openxmlformats.org/drawingml/2006/main" id="11" idx="3"/>
            <a:endCxn xmlns:a="http://schemas.openxmlformats.org/drawingml/2006/main" id="14" idx="1"/>
          </p:cNvCxnSpPr>
          <p:nvPr/>
        </p:nvCxnSpPr>
        <p:spPr>
          <a:xfrm xmlns:a="http://schemas.openxmlformats.org/drawingml/2006/main">
            <a:off x="13144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8572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35" name=""/>
          <p:cNvCxnSpPr>
            <a:stCxn xmlns:a="http://schemas.openxmlformats.org/drawingml/2006/main" id="5" idx="3"/>
            <a:endCxn xmlns:a="http://schemas.openxmlformats.org/drawingml/2006/main" id="8" idx="1"/>
          </p:cNvCxnSpPr>
          <p:nvPr/>
        </p:nvCxnSpPr>
        <p:spPr>
          <a:xfrm xmlns:a="http://schemas.openxmlformats.org/drawingml/2006/main">
            <a:off x="4000500" y="4321970"/>
            <a:ext cx="1143000"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sp>
        <p:nvSpPr>
          <p:cNvPr id="36" name="System architecture">
            <a:extLst xmlns:a="http://schemas.openxmlformats.org/drawingml/2006/main">
              <a:ext uri="{FF2B5EF4-FFF2-40B4-BE49-F238E27FC236}">
                <a16:creationId xmlns:a16="http://schemas.microsoft.com/office/drawing/2014/main" id="{2DFD1BC7-111E-4002-92F7-850184B8AC1B}"/>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System architecture</a:t>
            </a:r>
          </a:p>
        </p:txBody>
      </p:sp>
      <p:sp>
        <p:nvSpPr>
          <p:cNvPr id="2" name="The server owns care state and keep">
            <a:extLst xmlns:a="http://schemas.openxmlformats.org/drawingml/2006/main">
              <a:ext uri="{FF2B5EF4-FFF2-40B4-BE49-F238E27FC236}">
                <a16:creationId xmlns:a16="http://schemas.microsoft.com/office/drawing/2014/main" id="{131D8357-CA3C-423A-A69F-047FB0B824BB}"/>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The server owns care state and keeps AI credentials out of the browser</a:t>
            </a:r>
          </a:p>
        </p:txBody>
      </p:sp>
      <p:sp>
        <p:nvSpPr>
          <p:cNvPr id="3" name="Server application trust boundary">
            <a:extLst xmlns:a="http://schemas.openxmlformats.org/drawingml/2006/main">
              <a:ext uri="{FF2B5EF4-FFF2-40B4-BE49-F238E27FC236}">
                <a16:creationId xmlns:a16="http://schemas.microsoft.com/office/drawing/2014/main" id="{93C14384-FAA5-45AD-AF8C-F55CF9C04F34}"/>
              </a:ext>
            </a:extLst>
          </p:cNvPr>
          <p:cNvSpPr>
            <a:spLocks xmlns:a="http://schemas.openxmlformats.org/drawingml/2006/main" noGrp="1"/>
          </p:cNvSpPr>
          <p:nvPr/>
        </p:nvSpPr>
        <p:spPr>
          <a:xfrm xmlns:a="http://schemas.openxmlformats.org/drawingml/2006/main">
            <a:off x="4786312" y="2986088"/>
            <a:ext cx="8715375" cy="6429375"/>
          </a:xfrm>
          <a:prstGeom xmlns:a="http://schemas.openxmlformats.org/drawingml/2006/main" prst="rect">
            <a:avLst/>
          </a:prstGeom>
          <a:noFill xmlns:a="http://schemas.openxmlformats.org/drawingml/2006/main"/>
          <a:ln xmlns:a="http://schemas.openxmlformats.org/drawingml/2006/main" w="21432">
            <a:solidFill>
              <a:srgbClr val="4F7A66"/>
            </a:solidFill>
            <a:prstDash val="dash"/>
          </a:ln>
        </p:spPr>
      </p:sp>
      <p:sp>
        <p:nvSpPr>
          <p:cNvPr id="4" name="Server application boundary">
            <a:extLst xmlns:a="http://schemas.openxmlformats.org/drawingml/2006/main">
              <a:ext uri="{FF2B5EF4-FFF2-40B4-BE49-F238E27FC236}">
                <a16:creationId xmlns:a16="http://schemas.microsoft.com/office/drawing/2014/main" id="{C4937974-90DD-4497-A5C9-11DD5433476B}"/>
              </a:ext>
            </a:extLst>
          </p:cNvPr>
          <p:cNvSpPr>
            <a:spLocks xmlns:a="http://schemas.openxmlformats.org/drawingml/2006/main" noGrp="1"/>
          </p:cNvSpPr>
          <p:nvPr/>
        </p:nvSpPr>
        <p:spPr>
          <a:xfrm xmlns:a="http://schemas.openxmlformats.org/drawingml/2006/main">
            <a:off x="5000625" y="2486025"/>
            <a:ext cx="8358188"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4F7A66"/>
                </a:solidFill>
                <a:latin typeface="Deck"/>
                <a:ea typeface="Deck"/>
                <a:cs typeface="Deck"/>
              </a:defRPr>
            </a:pPr>
            <a:r>
              <a:rPr sz="2588" b="0">
                <a:solidFill>
                  <a:srgbClr val="4F7A66"/>
                </a:solidFill>
                <a:latin typeface="Deck"/>
                <a:ea typeface="Deck"/>
                <a:cs typeface="Deck"/>
              </a:rPr>
              <a:t>Server application boundary</a:t>
            </a:r>
          </a:p>
        </p:txBody>
      </p:sp>
      <p:sp>
        <p:nvSpPr>
          <p:cNvPr id="5" name="React PWA">
            <a:extLst xmlns:a="http://schemas.openxmlformats.org/drawingml/2006/main">
              <a:ext uri="{FF2B5EF4-FFF2-40B4-BE49-F238E27FC236}">
                <a16:creationId xmlns:a16="http://schemas.microsoft.com/office/drawing/2014/main" id="{5B68D347-7177-4953-A5D9-0CED55F9DD5C}"/>
              </a:ext>
            </a:extLst>
          </p:cNvPr>
          <p:cNvSpPr>
            <a:spLocks xmlns:a="http://schemas.openxmlformats.org/drawingml/2006/main" noGrp="1"/>
          </p:cNvSpPr>
          <p:nvPr/>
        </p:nvSpPr>
        <p:spPr>
          <a:xfrm xmlns:a="http://schemas.openxmlformats.org/drawingml/2006/main">
            <a:off x="571500" y="3214688"/>
            <a:ext cx="3429000" cy="2214562"/>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6" name="React PWA">
            <a:extLst xmlns:a="http://schemas.openxmlformats.org/drawingml/2006/main">
              <a:ext uri="{FF2B5EF4-FFF2-40B4-BE49-F238E27FC236}">
                <a16:creationId xmlns:a16="http://schemas.microsoft.com/office/drawing/2014/main" id="{2327F486-B71D-45A1-81C1-1FE40B5FE56E}"/>
              </a:ext>
            </a:extLst>
          </p:cNvPr>
          <p:cNvSpPr>
            <a:spLocks xmlns:a="http://schemas.openxmlformats.org/drawingml/2006/main" noGrp="1"/>
          </p:cNvSpPr>
          <p:nvPr/>
        </p:nvSpPr>
        <p:spPr>
          <a:xfrm xmlns:a="http://schemas.openxmlformats.org/drawingml/2006/main">
            <a:off x="814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React PWA</a:t>
            </a:r>
          </a:p>
        </p:txBody>
      </p:sp>
      <p:sp>
        <p:nvSpPr>
          <p:cNvPr id="7" name="Care screens&#10;Browser API">
            <a:extLst xmlns:a="http://schemas.openxmlformats.org/drawingml/2006/main">
              <a:ext uri="{FF2B5EF4-FFF2-40B4-BE49-F238E27FC236}">
                <a16:creationId xmlns:a16="http://schemas.microsoft.com/office/drawing/2014/main" id="{E65A3F4F-4B76-48A3-A70D-449BA0B57F40}"/>
              </a:ext>
            </a:extLst>
          </p:cNvPr>
          <p:cNvSpPr>
            <a:spLocks xmlns:a="http://schemas.openxmlformats.org/drawingml/2006/main" noGrp="1"/>
          </p:cNvSpPr>
          <p:nvPr/>
        </p:nvSpPr>
        <p:spPr>
          <a:xfrm xmlns:a="http://schemas.openxmlformats.org/drawingml/2006/main">
            <a:off x="814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screens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Browser API</a:t>
            </a:r>
          </a:p>
        </p:txBody>
      </p:sp>
      <p:sp>
        <p:nvSpPr>
          <p:cNvPr id="8" name="Express API">
            <a:extLst xmlns:a="http://schemas.openxmlformats.org/drawingml/2006/main">
              <a:ext uri="{FF2B5EF4-FFF2-40B4-BE49-F238E27FC236}">
                <a16:creationId xmlns:a16="http://schemas.microsoft.com/office/drawing/2014/main" id="{9984F184-F7D8-4CEC-AEFE-5A072DE00923}"/>
              </a:ext>
            </a:extLst>
          </p:cNvPr>
          <p:cNvSpPr>
            <a:spLocks xmlns:a="http://schemas.openxmlformats.org/drawingml/2006/main" noGrp="1"/>
          </p:cNvSpPr>
          <p:nvPr/>
        </p:nvSpPr>
        <p:spPr>
          <a:xfrm xmlns:a="http://schemas.openxmlformats.org/drawingml/2006/main">
            <a:off x="5143500" y="3214688"/>
            <a:ext cx="3429000" cy="2214562"/>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9" name="Express API">
            <a:extLst xmlns:a="http://schemas.openxmlformats.org/drawingml/2006/main">
              <a:ext uri="{FF2B5EF4-FFF2-40B4-BE49-F238E27FC236}">
                <a16:creationId xmlns:a16="http://schemas.microsoft.com/office/drawing/2014/main" id="{23B20CAF-0ED7-4E5C-BAFD-D17852F14B12}"/>
              </a:ext>
            </a:extLst>
          </p:cNvPr>
          <p:cNvSpPr>
            <a:spLocks xmlns:a="http://schemas.openxmlformats.org/drawingml/2006/main" noGrp="1"/>
          </p:cNvSpPr>
          <p:nvPr/>
        </p:nvSpPr>
        <p:spPr>
          <a:xfrm xmlns:a="http://schemas.openxmlformats.org/drawingml/2006/main">
            <a:off x="5386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Express API</a:t>
            </a:r>
          </a:p>
        </p:txBody>
      </p:sp>
      <p:sp>
        <p:nvSpPr>
          <p:cNvPr id="10" name="HTTPS / Nginx&#10;Owned care state">
            <a:extLst xmlns:a="http://schemas.openxmlformats.org/drawingml/2006/main">
              <a:ext uri="{FF2B5EF4-FFF2-40B4-BE49-F238E27FC236}">
                <a16:creationId xmlns:a16="http://schemas.microsoft.com/office/drawing/2014/main" id="{C098CE98-14E7-40B6-849D-42CE4F2F314D}"/>
              </a:ext>
            </a:extLst>
          </p:cNvPr>
          <p:cNvSpPr>
            <a:spLocks xmlns:a="http://schemas.openxmlformats.org/drawingml/2006/main" noGrp="1"/>
          </p:cNvSpPr>
          <p:nvPr/>
        </p:nvSpPr>
        <p:spPr>
          <a:xfrm xmlns:a="http://schemas.openxmlformats.org/drawingml/2006/main">
            <a:off x="5386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HTTPS / Nginx</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Owned care state</a:t>
            </a:r>
          </a:p>
        </p:txBody>
      </p:sp>
      <p:sp>
        <p:nvSpPr>
          <p:cNvPr id="11" name="Private MCP">
            <a:extLst xmlns:a="http://schemas.openxmlformats.org/drawingml/2006/main">
              <a:ext uri="{FF2B5EF4-FFF2-40B4-BE49-F238E27FC236}">
                <a16:creationId xmlns:a16="http://schemas.microsoft.com/office/drawing/2014/main" id="{A0740353-8701-4DDE-8B5F-419A89E98F21}"/>
              </a:ext>
            </a:extLst>
          </p:cNvPr>
          <p:cNvSpPr>
            <a:spLocks xmlns:a="http://schemas.openxmlformats.org/drawingml/2006/main" noGrp="1"/>
          </p:cNvSpPr>
          <p:nvPr/>
        </p:nvSpPr>
        <p:spPr>
          <a:xfrm xmlns:a="http://schemas.openxmlformats.org/drawingml/2006/main">
            <a:off x="9715500" y="3214688"/>
            <a:ext cx="3429000" cy="2214562"/>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12" name="Private MCP">
            <a:extLst xmlns:a="http://schemas.openxmlformats.org/drawingml/2006/main">
              <a:ext uri="{FF2B5EF4-FFF2-40B4-BE49-F238E27FC236}">
                <a16:creationId xmlns:a16="http://schemas.microsoft.com/office/drawing/2014/main" id="{A1C70549-6DB2-4358-913F-667363774941}"/>
              </a:ext>
            </a:extLst>
          </p:cNvPr>
          <p:cNvSpPr>
            <a:spLocks xmlns:a="http://schemas.openxmlformats.org/drawingml/2006/main" noGrp="1"/>
          </p:cNvSpPr>
          <p:nvPr/>
        </p:nvSpPr>
        <p:spPr>
          <a:xfrm xmlns:a="http://schemas.openxmlformats.org/drawingml/2006/main">
            <a:off x="9958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Private MCP</a:t>
            </a:r>
          </a:p>
        </p:txBody>
      </p:sp>
      <p:sp>
        <p:nvSpPr>
          <p:cNvPr id="13" name="Selected records&#10;Allowed tools">
            <a:extLst xmlns:a="http://schemas.openxmlformats.org/drawingml/2006/main">
              <a:ext uri="{FF2B5EF4-FFF2-40B4-BE49-F238E27FC236}">
                <a16:creationId xmlns:a16="http://schemas.microsoft.com/office/drawing/2014/main" id="{266286BD-49B1-41F9-8502-B5313CAC7F76}"/>
              </a:ext>
            </a:extLst>
          </p:cNvPr>
          <p:cNvSpPr>
            <a:spLocks xmlns:a="http://schemas.openxmlformats.org/drawingml/2006/main" noGrp="1"/>
          </p:cNvSpPr>
          <p:nvPr/>
        </p:nvSpPr>
        <p:spPr>
          <a:xfrm xmlns:a="http://schemas.openxmlformats.org/drawingml/2006/main">
            <a:off x="9958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records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tools</a:t>
            </a:r>
          </a:p>
        </p:txBody>
      </p:sp>
      <p:sp>
        <p:nvSpPr>
          <p:cNvPr id="14" name="TokenHub">
            <a:extLst xmlns:a="http://schemas.openxmlformats.org/drawingml/2006/main">
              <a:ext uri="{FF2B5EF4-FFF2-40B4-BE49-F238E27FC236}">
                <a16:creationId xmlns:a16="http://schemas.microsoft.com/office/drawing/2014/main" id="{0D24AE64-674E-4ADB-9859-B1A151443063}"/>
              </a:ext>
            </a:extLst>
          </p:cNvPr>
          <p:cNvSpPr>
            <a:spLocks xmlns:a="http://schemas.openxmlformats.org/drawingml/2006/main" noGrp="1"/>
          </p:cNvSpPr>
          <p:nvPr/>
        </p:nvSpPr>
        <p:spPr>
          <a:xfrm xmlns:a="http://schemas.openxmlformats.org/drawingml/2006/main">
            <a:off x="14287500" y="3214688"/>
            <a:ext cx="3429000" cy="2214562"/>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5" name="TokenHub">
            <a:extLst xmlns:a="http://schemas.openxmlformats.org/drawingml/2006/main">
              <a:ext uri="{FF2B5EF4-FFF2-40B4-BE49-F238E27FC236}">
                <a16:creationId xmlns:a16="http://schemas.microsoft.com/office/drawing/2014/main" id="{177B886C-5597-4D7C-96F0-CF2A14EEEB28}"/>
              </a:ext>
            </a:extLst>
          </p:cNvPr>
          <p:cNvSpPr>
            <a:spLocks xmlns:a="http://schemas.openxmlformats.org/drawingml/2006/main" noGrp="1"/>
          </p:cNvSpPr>
          <p:nvPr/>
        </p:nvSpPr>
        <p:spPr>
          <a:xfrm xmlns:a="http://schemas.openxmlformats.org/drawingml/2006/main">
            <a:off x="14530388" y="3443288"/>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TokenHub</a:t>
            </a:r>
          </a:p>
        </p:txBody>
      </p:sp>
      <p:sp>
        <p:nvSpPr>
          <p:cNvPr id="16" name="Tencent Cloud AI&#10;Reply + tools">
            <a:extLst xmlns:a="http://schemas.openxmlformats.org/drawingml/2006/main">
              <a:ext uri="{FF2B5EF4-FFF2-40B4-BE49-F238E27FC236}">
                <a16:creationId xmlns:a16="http://schemas.microsoft.com/office/drawing/2014/main" id="{D07CC364-5124-4E10-BD6F-F2307701BC71}"/>
              </a:ext>
            </a:extLst>
          </p:cNvPr>
          <p:cNvSpPr>
            <a:spLocks xmlns:a="http://schemas.openxmlformats.org/drawingml/2006/main" noGrp="1"/>
          </p:cNvSpPr>
          <p:nvPr/>
        </p:nvSpPr>
        <p:spPr>
          <a:xfrm xmlns:a="http://schemas.openxmlformats.org/drawingml/2006/main">
            <a:off x="14530388" y="4214812"/>
            <a:ext cx="2943225" cy="11001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Tencent Cloud AI</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Reply + tools</a:t>
            </a:r>
          </a:p>
        </p:txBody>
      </p:sp>
      <p:sp>
        <p:nvSpPr>
          <p:cNvPr id="20" name="SQLite">
            <a:extLst xmlns:a="http://schemas.openxmlformats.org/drawingml/2006/main">
              <a:ext uri="{FF2B5EF4-FFF2-40B4-BE49-F238E27FC236}">
                <a16:creationId xmlns:a16="http://schemas.microsoft.com/office/drawing/2014/main" id="{706CBEBD-2EFC-471B-8400-3AC1F46BCB38}"/>
              </a:ext>
            </a:extLst>
          </p:cNvPr>
          <p:cNvSpPr>
            <a:spLocks xmlns:a="http://schemas.openxmlformats.org/drawingml/2006/main" noGrp="1"/>
          </p:cNvSpPr>
          <p:nvPr/>
        </p:nvSpPr>
        <p:spPr>
          <a:xfrm xmlns:a="http://schemas.openxmlformats.org/drawingml/2006/main">
            <a:off x="5143500" y="6958012"/>
            <a:ext cx="3429000" cy="21431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21" name="SQLite">
            <a:extLst xmlns:a="http://schemas.openxmlformats.org/drawingml/2006/main">
              <a:ext uri="{FF2B5EF4-FFF2-40B4-BE49-F238E27FC236}">
                <a16:creationId xmlns:a16="http://schemas.microsoft.com/office/drawing/2014/main" id="{F2B50AB4-ADA8-477E-8F86-0FBC8DD3D0DC}"/>
              </a:ext>
            </a:extLst>
          </p:cNvPr>
          <p:cNvSpPr>
            <a:spLocks xmlns:a="http://schemas.openxmlformats.org/drawingml/2006/main" noGrp="1"/>
          </p:cNvSpPr>
          <p:nvPr/>
        </p:nvSpPr>
        <p:spPr>
          <a:xfrm xmlns:a="http://schemas.openxmlformats.org/drawingml/2006/main">
            <a:off x="5386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a:t>
            </a:r>
          </a:p>
        </p:txBody>
      </p:sp>
      <p:sp>
        <p:nvSpPr>
          <p:cNvPr id="22" name="Care + receipts&#10;Vitals + deliveries">
            <a:extLst xmlns:a="http://schemas.openxmlformats.org/drawingml/2006/main">
              <a:ext uri="{FF2B5EF4-FFF2-40B4-BE49-F238E27FC236}">
                <a16:creationId xmlns:a16="http://schemas.microsoft.com/office/drawing/2014/main" id="{CDE4F4CE-B878-4C8A-A8EB-ED50C1858AA1}"/>
              </a:ext>
            </a:extLst>
          </p:cNvPr>
          <p:cNvSpPr>
            <a:spLocks xmlns:a="http://schemas.openxmlformats.org/drawingml/2006/main" noGrp="1"/>
          </p:cNvSpPr>
          <p:nvPr/>
        </p:nvSpPr>
        <p:spPr>
          <a:xfrm xmlns:a="http://schemas.openxmlformats.org/drawingml/2006/main">
            <a:off x="5386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 receipts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Vitals + deliveries</a:t>
            </a:r>
          </a:p>
        </p:txBody>
      </p:sp>
      <p:sp>
        <p:nvSpPr>
          <p:cNvPr id="24" name="data.gov.sg">
            <a:extLst xmlns:a="http://schemas.openxmlformats.org/drawingml/2006/main">
              <a:ext uri="{FF2B5EF4-FFF2-40B4-BE49-F238E27FC236}">
                <a16:creationId xmlns:a16="http://schemas.microsoft.com/office/drawing/2014/main" id="{972C4041-9991-4358-A600-C92FB97BFE39}"/>
              </a:ext>
            </a:extLst>
          </p:cNvPr>
          <p:cNvSpPr>
            <a:spLocks xmlns:a="http://schemas.openxmlformats.org/drawingml/2006/main" noGrp="1"/>
          </p:cNvSpPr>
          <p:nvPr/>
        </p:nvSpPr>
        <p:spPr>
          <a:xfrm xmlns:a="http://schemas.openxmlformats.org/drawingml/2006/main">
            <a:off x="571500" y="6958012"/>
            <a:ext cx="3429000" cy="2143125"/>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25" name="data.gov.sg">
            <a:extLst xmlns:a="http://schemas.openxmlformats.org/drawingml/2006/main">
              <a:ext uri="{FF2B5EF4-FFF2-40B4-BE49-F238E27FC236}">
                <a16:creationId xmlns:a16="http://schemas.microsoft.com/office/drawing/2014/main" id="{1A9EF90B-F3A7-4556-ACB3-F4298C1A4341}"/>
              </a:ext>
            </a:extLst>
          </p:cNvPr>
          <p:cNvSpPr>
            <a:spLocks xmlns:a="http://schemas.openxmlformats.org/drawingml/2006/main" noGrp="1"/>
          </p:cNvSpPr>
          <p:nvPr/>
        </p:nvSpPr>
        <p:spPr>
          <a:xfrm xmlns:a="http://schemas.openxmlformats.org/drawingml/2006/main">
            <a:off x="814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data.gov.sg</a:t>
            </a:r>
          </a:p>
        </p:txBody>
      </p:sp>
      <p:sp>
        <p:nvSpPr>
          <p:cNvPr id="26" name="NEA / MSS feeds&#10;Cached weather">
            <a:extLst xmlns:a="http://schemas.openxmlformats.org/drawingml/2006/main">
              <a:ext uri="{FF2B5EF4-FFF2-40B4-BE49-F238E27FC236}">
                <a16:creationId xmlns:a16="http://schemas.microsoft.com/office/drawing/2014/main" id="{A53E05F9-299A-4A3D-A2D8-762BBB5E09DC}"/>
              </a:ext>
            </a:extLst>
          </p:cNvPr>
          <p:cNvSpPr>
            <a:spLocks xmlns:a="http://schemas.openxmlformats.org/drawingml/2006/main" noGrp="1"/>
          </p:cNvSpPr>
          <p:nvPr/>
        </p:nvSpPr>
        <p:spPr>
          <a:xfrm xmlns:a="http://schemas.openxmlformats.org/drawingml/2006/main">
            <a:off x="814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NEA / MSS feeds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Cached weather</a:t>
            </a:r>
          </a:p>
        </p:txBody>
      </p:sp>
      <p:sp>
        <p:nvSpPr>
          <p:cNvPr id="28" name="Shared domain">
            <a:extLst xmlns:a="http://schemas.openxmlformats.org/drawingml/2006/main">
              <a:ext uri="{FF2B5EF4-FFF2-40B4-BE49-F238E27FC236}">
                <a16:creationId xmlns:a16="http://schemas.microsoft.com/office/drawing/2014/main" id="{CB04A8F4-F300-43FB-9D1E-05214CA63B42}"/>
              </a:ext>
            </a:extLst>
          </p:cNvPr>
          <p:cNvSpPr>
            <a:spLocks xmlns:a="http://schemas.openxmlformats.org/drawingml/2006/main" noGrp="1"/>
          </p:cNvSpPr>
          <p:nvPr/>
        </p:nvSpPr>
        <p:spPr>
          <a:xfrm xmlns:a="http://schemas.openxmlformats.org/drawingml/2006/main">
            <a:off x="9715500" y="6958012"/>
            <a:ext cx="3429000" cy="21431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29" name="Shared domain">
            <a:extLst xmlns:a="http://schemas.openxmlformats.org/drawingml/2006/main">
              <a:ext uri="{FF2B5EF4-FFF2-40B4-BE49-F238E27FC236}">
                <a16:creationId xmlns:a16="http://schemas.microsoft.com/office/drawing/2014/main" id="{EDD91B8A-DEF9-426A-A7BC-86A3BCD4E7D6}"/>
              </a:ext>
            </a:extLst>
          </p:cNvPr>
          <p:cNvSpPr>
            <a:spLocks xmlns:a="http://schemas.openxmlformats.org/drawingml/2006/main" noGrp="1"/>
          </p:cNvSpPr>
          <p:nvPr/>
        </p:nvSpPr>
        <p:spPr>
          <a:xfrm xmlns:a="http://schemas.openxmlformats.org/drawingml/2006/main">
            <a:off x="9958388" y="7186612"/>
            <a:ext cx="2943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Shared domain</a:t>
            </a:r>
          </a:p>
        </p:txBody>
      </p:sp>
      <p:sp>
        <p:nvSpPr>
          <p:cNvPr id="30" name="Typed commands&#10;Validation rules">
            <a:extLst xmlns:a="http://schemas.openxmlformats.org/drawingml/2006/main">
              <a:ext uri="{FF2B5EF4-FFF2-40B4-BE49-F238E27FC236}">
                <a16:creationId xmlns:a16="http://schemas.microsoft.com/office/drawing/2014/main" id="{4E97EBFF-E606-42B8-8756-A9226AC86875}"/>
              </a:ext>
            </a:extLst>
          </p:cNvPr>
          <p:cNvSpPr>
            <a:spLocks xmlns:a="http://schemas.openxmlformats.org/drawingml/2006/main" noGrp="1"/>
          </p:cNvSpPr>
          <p:nvPr/>
        </p:nvSpPr>
        <p:spPr>
          <a:xfrm xmlns:a="http://schemas.openxmlformats.org/drawingml/2006/main">
            <a:off x="9958388" y="7958138"/>
            <a:ext cx="29432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Typed commands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Validation rules</a:t>
            </a:r>
          </a:p>
        </p:txBody>
      </p:sp>
      <p:sp>
        <p:nvSpPr>
          <p:cNvPr id="37"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34</ns7:t>
            </ns7:r>
          </ns7:p>
        </p:txBody>
      </p:sp>
      <p:sp>
        <p:nvSpPr>
          <p:cNvPr id="38" name="extension-footer"/>
          <p:cNvSpPr txBox="1"/>
          <p:nvPr/>
        </p:nvSpPr>
        <p:spPr>
          <ns1:xfrm xmlns:ns1="http://schemas.openxmlformats.org/drawingml/2006/main">
            <ns1:off x="990600" y="9696450"/>
            <ns1:ext cx="1571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Submission demo architecture, 9 October 2026</ns7:t>
            </ns7:r>
          </ns7:p>
        </p:txBody>
      </p:sp>
    </p:spTree>
    <p:extLst>
      <p:ext uri="{BB962C8B-B14F-4D97-AF65-F5344CB8AC3E}">
        <p14:creationId xmlns:p14="http://schemas.microsoft.com/office/powerpoint/2010/main" val="557325197"/>
      </p:ext>
    </p:extLst>
  </p:cSld>
</p:sld>
</file>

<file path=ppt/slides/slide35.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5" name=""/>
          <p:cNvCxnSpPr>
            <a:stCxn xmlns:a="http://schemas.openxmlformats.org/drawingml/2006/main" id="14" idx="1"/>
            <a:endCxn xmlns:a="http://schemas.openxmlformats.org/drawingml/2006/main" id="17" idx="3"/>
          </p:cNvCxnSpPr>
          <p:nvPr/>
        </p:nvCxnSpPr>
        <p:spPr>
          <a:xfrm xmlns:a="http://schemas.openxmlformats.org/drawingml/2006/main" flipH="1">
            <a:off x="11287125" y="7879557"/>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6" name=""/>
          <p:cNvCxnSpPr>
            <a:stCxn xmlns:a="http://schemas.openxmlformats.org/drawingml/2006/main" id="9" idx="2"/>
            <a:endCxn xmlns:a="http://schemas.openxmlformats.org/drawingml/2006/main" id="14" idx="0"/>
          </p:cNvCxnSpPr>
          <p:nvPr/>
        </p:nvCxnSpPr>
        <p:spPr>
          <a:xfrm xmlns:a="http://schemas.openxmlformats.org/drawingml/2006/main">
            <a:off x="15430500" y="5686425"/>
            <a:ext cx="0" cy="1214438"/>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7" name=""/>
          <p:cNvCxnSpPr>
            <a:stCxn xmlns:a="http://schemas.openxmlformats.org/drawingml/2006/main" id="6" idx="3"/>
            <a:endCxn xmlns:a="http://schemas.openxmlformats.org/drawingml/2006/main" id="9" idx="1"/>
          </p:cNvCxnSpPr>
          <p:nvPr/>
        </p:nvCxnSpPr>
        <p:spPr>
          <a:xfrm xmlns:a="http://schemas.openxmlformats.org/drawingml/2006/main">
            <a:off x="11287125" y="4371975"/>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5000625" y="4371975"/>
            <a:ext cx="2000250" cy="0"/>
          </a:xfrm>
          <a:prstGeom xmlns:a="http://schemas.openxmlformats.org/drawingml/2006/main" prst="straightConnector1">
            <a:avLst/>
          </a:prstGeom>
          <a:ln xmlns:a="http://schemas.openxmlformats.org/drawingml/2006/main" w="34290">
            <a:solidFill>
              <a:srgbClr val="4F7A66"/>
            </a:solidFill>
            <a:prstDash val="solid"/>
            <a:headEnd type="none" w="med" len="med"/>
            <a:tailEnd type="triangle" w="med" len="med"/>
          </a:ln>
        </p:spPr>
      </p:cxnSp>
      <p:sp>
        <p:nvSpPr>
          <p:cNvPr id="29" name="Prompt design and saved actions">
            <a:extLst xmlns:a="http://schemas.openxmlformats.org/drawingml/2006/main">
              <a:ext uri="{FF2B5EF4-FFF2-40B4-BE49-F238E27FC236}">
                <a16:creationId xmlns:a16="http://schemas.microsoft.com/office/drawing/2014/main" id="{C9A13C23-09B3-4CAA-B84D-0A7E324ED065}"/>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Prompt design and saved actions</a:t>
            </a:r>
          </a:p>
        </p:txBody>
      </p:sp>
      <p:sp>
        <p:nvSpPr>
          <p:cNvPr id="2" name="Example: “Change my wind-down remin">
            <a:extLst xmlns:a="http://schemas.openxmlformats.org/drawingml/2006/main">
              <a:ext uri="{FF2B5EF4-FFF2-40B4-BE49-F238E27FC236}">
                <a16:creationId xmlns:a16="http://schemas.microsoft.com/office/drawing/2014/main" id="{0DDE97C1-8F53-40A0-B889-2304CD0CB26C}"/>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Example: “Change my wind-down reminder to 9pm daily”</a:t>
            </a:r>
          </a:p>
        </p:txBody>
      </p:sp>
      <p:sp>
        <p:nvSpPr>
          <p:cNvPr id="3" name="Prompt inputs">
            <a:extLst xmlns:a="http://schemas.openxmlformats.org/drawingml/2006/main">
              <a:ext uri="{FF2B5EF4-FFF2-40B4-BE49-F238E27FC236}">
                <a16:creationId xmlns:a16="http://schemas.microsoft.com/office/drawing/2014/main" id="{F0DE7E21-110B-4F78-AC7A-1F54B2278F59}"/>
              </a:ext>
            </a:extLst>
          </p:cNvPr>
          <p:cNvSpPr>
            <a:spLocks xmlns:a="http://schemas.openxmlformats.org/drawingml/2006/main" noGrp="1"/>
          </p:cNvSpPr>
          <p:nvPr/>
        </p:nvSpPr>
        <p:spPr>
          <a:xfrm xmlns:a="http://schemas.openxmlformats.org/drawingml/2006/main">
            <a:off x="714375" y="3057525"/>
            <a:ext cx="4286250" cy="262890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4" name="Prompt inputs">
            <a:extLst xmlns:a="http://schemas.openxmlformats.org/drawingml/2006/main">
              <a:ext uri="{FF2B5EF4-FFF2-40B4-BE49-F238E27FC236}">
                <a16:creationId xmlns:a16="http://schemas.microsoft.com/office/drawing/2014/main" id="{0DE20E74-5F73-46A9-A680-E56D43F4C292}"/>
              </a:ext>
            </a:extLst>
          </p:cNvPr>
          <p:cNvSpPr>
            <a:spLocks xmlns:a="http://schemas.openxmlformats.org/drawingml/2006/main" noGrp="1"/>
          </p:cNvSpPr>
          <p:nvPr/>
        </p:nvSpPr>
        <p:spPr>
          <a:xfrm xmlns:a="http://schemas.openxmlformats.org/drawingml/2006/main">
            <a:off x="9572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Prompt inputs</a:t>
            </a:r>
          </a:p>
        </p:txBody>
      </p:sp>
      <p:sp>
        <p:nvSpPr>
          <p:cNvPr id="5" name="System rules + request&#10;Selected car">
            <a:extLst xmlns:a="http://schemas.openxmlformats.org/drawingml/2006/main">
              <a:ext uri="{FF2B5EF4-FFF2-40B4-BE49-F238E27FC236}">
                <a16:creationId xmlns:a16="http://schemas.microsoft.com/office/drawing/2014/main" id="{D767B56E-9F77-4D8A-92E4-18168D95C7D6}"/>
              </a:ext>
            </a:extLst>
          </p:cNvPr>
          <p:cNvSpPr>
            <a:spLocks xmlns:a="http://schemas.openxmlformats.org/drawingml/2006/main" noGrp="1"/>
          </p:cNvSpPr>
          <p:nvPr/>
        </p:nvSpPr>
        <p:spPr>
          <a:xfrm xmlns:a="http://schemas.openxmlformats.org/drawingml/2006/main">
            <a:off x="9572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System rules + request</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care + history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tool schemas</a:t>
            </a:r>
          </a:p>
        </p:txBody>
      </p:sp>
      <p:sp>
        <p:nvSpPr>
          <p:cNvPr id="6" name="TokenHub inference">
            <a:extLst xmlns:a="http://schemas.openxmlformats.org/drawingml/2006/main">
              <a:ext uri="{FF2B5EF4-FFF2-40B4-BE49-F238E27FC236}">
                <a16:creationId xmlns:a16="http://schemas.microsoft.com/office/drawing/2014/main" id="{44101D3D-C862-425F-819E-641CE6075D4D}"/>
              </a:ext>
            </a:extLst>
          </p:cNvPr>
          <p:cNvSpPr>
            <a:spLocks xmlns:a="http://schemas.openxmlformats.org/drawingml/2006/main" noGrp="1"/>
          </p:cNvSpPr>
          <p:nvPr/>
        </p:nvSpPr>
        <p:spPr>
          <a:xfrm xmlns:a="http://schemas.openxmlformats.org/drawingml/2006/main">
            <a:off x="7000875" y="3057525"/>
            <a:ext cx="4286250" cy="262890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7" name="TokenHub inference">
            <a:extLst xmlns:a="http://schemas.openxmlformats.org/drawingml/2006/main">
              <a:ext uri="{FF2B5EF4-FFF2-40B4-BE49-F238E27FC236}">
                <a16:creationId xmlns:a16="http://schemas.microsoft.com/office/drawing/2014/main" id="{C4AF12EC-8EE9-4600-9025-4B1A72313097}"/>
              </a:ext>
            </a:extLst>
          </p:cNvPr>
          <p:cNvSpPr>
            <a:spLocks xmlns:a="http://schemas.openxmlformats.org/drawingml/2006/main" noGrp="1"/>
          </p:cNvSpPr>
          <p:nvPr/>
        </p:nvSpPr>
        <p:spPr>
          <a:xfrm xmlns:a="http://schemas.openxmlformats.org/drawingml/2006/main">
            <a:off x="72437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TokenHub inference</a:t>
            </a:r>
          </a:p>
        </p:txBody>
      </p:sp>
      <p:sp>
        <p:nvSpPr>
          <p:cNvPr id="8" name="Grounded reply or&#10;a typed tool call">
            <a:extLst xmlns:a="http://schemas.openxmlformats.org/drawingml/2006/main">
              <a:ext uri="{FF2B5EF4-FFF2-40B4-BE49-F238E27FC236}">
                <a16:creationId xmlns:a16="http://schemas.microsoft.com/office/drawing/2014/main" id="{0BBDC75E-0900-4972-A222-B780765B6840}"/>
              </a:ext>
            </a:extLst>
          </p:cNvPr>
          <p:cNvSpPr>
            <a:spLocks xmlns:a="http://schemas.openxmlformats.org/drawingml/2006/main" noGrp="1"/>
          </p:cNvSpPr>
          <p:nvPr/>
        </p:nvSpPr>
        <p:spPr>
          <a:xfrm xmlns:a="http://schemas.openxmlformats.org/drawingml/2006/main">
            <a:off x="72437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Grounded reply or</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 typed tool call</a:t>
            </a:r>
          </a:p>
        </p:txBody>
      </p:sp>
      <p:sp>
        <p:nvSpPr>
          <p:cNvPr id="9" name="Server validation">
            <a:extLst xmlns:a="http://schemas.openxmlformats.org/drawingml/2006/main">
              <a:ext uri="{FF2B5EF4-FFF2-40B4-BE49-F238E27FC236}">
                <a16:creationId xmlns:a16="http://schemas.microsoft.com/office/drawing/2014/main" id="{B1AF4765-8808-4DF6-B340-78813356511B}"/>
              </a:ext>
            </a:extLst>
          </p:cNvPr>
          <p:cNvSpPr>
            <a:spLocks xmlns:a="http://schemas.openxmlformats.org/drawingml/2006/main" noGrp="1"/>
          </p:cNvSpPr>
          <p:nvPr/>
        </p:nvSpPr>
        <p:spPr>
          <a:xfrm xmlns:a="http://schemas.openxmlformats.org/drawingml/2006/main">
            <a:off x="13287375" y="3057525"/>
            <a:ext cx="4286250" cy="2628900"/>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10" name="Server validation">
            <a:extLst xmlns:a="http://schemas.openxmlformats.org/drawingml/2006/main">
              <a:ext uri="{FF2B5EF4-FFF2-40B4-BE49-F238E27FC236}">
                <a16:creationId xmlns:a16="http://schemas.microsoft.com/office/drawing/2014/main" id="{1A1D091C-7FEB-4E67-BA6C-7D8880FD4ED6}"/>
              </a:ext>
            </a:extLst>
          </p:cNvPr>
          <p:cNvSpPr>
            <a:spLocks xmlns:a="http://schemas.openxmlformats.org/drawingml/2006/main" noGrp="1"/>
          </p:cNvSpPr>
          <p:nvPr/>
        </p:nvSpPr>
        <p:spPr>
          <a:xfrm xmlns:a="http://schemas.openxmlformats.org/drawingml/2006/main">
            <a:off x="13530262" y="3286125"/>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Server validation</a:t>
            </a:r>
          </a:p>
        </p:txBody>
      </p:sp>
      <p:sp>
        <p:nvSpPr>
          <p:cNvPr id="11" name="Profile access&#10;Schedule + revision&#10;">
            <a:extLst xmlns:a="http://schemas.openxmlformats.org/drawingml/2006/main">
              <a:ext uri="{FF2B5EF4-FFF2-40B4-BE49-F238E27FC236}">
                <a16:creationId xmlns:a16="http://schemas.microsoft.com/office/drawing/2014/main" id="{5E8504D9-9C7F-4B60-9F8A-D33B7770E1C1}"/>
              </a:ext>
            </a:extLst>
          </p:cNvPr>
          <p:cNvSpPr>
            <a:spLocks xmlns:a="http://schemas.openxmlformats.org/drawingml/2006/main" noGrp="1"/>
          </p:cNvSpPr>
          <p:nvPr/>
        </p:nvSpPr>
        <p:spPr>
          <a:xfrm xmlns:a="http://schemas.openxmlformats.org/drawingml/2006/main">
            <a:off x="13530262" y="4057650"/>
            <a:ext cx="3800475"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Profile access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Schedule + revision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Allowed command</a:t>
            </a:r>
          </a:p>
        </p:txBody>
      </p:sp>
      <p:sp>
        <p:nvSpPr>
          <p:cNvPr id="14" name="SQLite transaction">
            <a:extLst xmlns:a="http://schemas.openxmlformats.org/drawingml/2006/main">
              <a:ext uri="{FF2B5EF4-FFF2-40B4-BE49-F238E27FC236}">
                <a16:creationId xmlns:a16="http://schemas.microsoft.com/office/drawing/2014/main" id="{29EB16FE-164D-43E4-A32D-3A398521B38C}"/>
              </a:ext>
            </a:extLst>
          </p:cNvPr>
          <p:cNvSpPr>
            <a:spLocks xmlns:a="http://schemas.openxmlformats.org/drawingml/2006/main" noGrp="1"/>
          </p:cNvSpPr>
          <p:nvPr/>
        </p:nvSpPr>
        <p:spPr>
          <a:xfrm xmlns:a="http://schemas.openxmlformats.org/drawingml/2006/main">
            <a:off x="13287375" y="6900862"/>
            <a:ext cx="4286250" cy="1957388"/>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15" name="SQLite transaction">
            <a:extLst xmlns:a="http://schemas.openxmlformats.org/drawingml/2006/main">
              <a:ext uri="{FF2B5EF4-FFF2-40B4-BE49-F238E27FC236}">
                <a16:creationId xmlns:a16="http://schemas.microsoft.com/office/drawing/2014/main" id="{A4C937D8-4ED0-458C-B9F2-0C83F019FF82}"/>
              </a:ext>
            </a:extLst>
          </p:cNvPr>
          <p:cNvSpPr>
            <a:spLocks xmlns:a="http://schemas.openxmlformats.org/drawingml/2006/main" noGrp="1"/>
          </p:cNvSpPr>
          <p:nvPr/>
        </p:nvSpPr>
        <p:spPr>
          <a:xfrm xmlns:a="http://schemas.openxmlformats.org/drawingml/2006/main">
            <a:off x="13530262" y="7129462"/>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 transaction</a:t>
            </a:r>
          </a:p>
        </p:txBody>
      </p:sp>
      <p:sp>
        <p:nvSpPr>
          <p:cNvPr id="16" name="Care change + chat&#10;Receipt + replay">
            <a:extLst xmlns:a="http://schemas.openxmlformats.org/drawingml/2006/main">
              <a:ext uri="{FF2B5EF4-FFF2-40B4-BE49-F238E27FC236}">
                <a16:creationId xmlns:a16="http://schemas.microsoft.com/office/drawing/2014/main" id="{E00C6476-55A8-4DF8-9CF9-EC1F04C4127A}"/>
              </a:ext>
            </a:extLst>
          </p:cNvPr>
          <p:cNvSpPr>
            <a:spLocks xmlns:a="http://schemas.openxmlformats.org/drawingml/2006/main" noGrp="1"/>
          </p:cNvSpPr>
          <p:nvPr/>
        </p:nvSpPr>
        <p:spPr>
          <a:xfrm xmlns:a="http://schemas.openxmlformats.org/drawingml/2006/main">
            <a:off x="13530262" y="7900988"/>
            <a:ext cx="3800475" cy="84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change + chat</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Receipt + replay record</a:t>
            </a:r>
          </a:p>
        </p:txBody>
      </p:sp>
      <p:sp>
        <p:nvSpPr>
          <p:cNvPr id="17" name="Authoritative result">
            <a:extLst xmlns:a="http://schemas.openxmlformats.org/drawingml/2006/main">
              <a:ext uri="{FF2B5EF4-FFF2-40B4-BE49-F238E27FC236}">
                <a16:creationId xmlns:a16="http://schemas.microsoft.com/office/drawing/2014/main" id="{837AEC6E-3EE8-4458-8989-8962BC20D472}"/>
              </a:ext>
            </a:extLst>
          </p:cNvPr>
          <p:cNvSpPr>
            <a:spLocks xmlns:a="http://schemas.openxmlformats.org/drawingml/2006/main" noGrp="1"/>
          </p:cNvSpPr>
          <p:nvPr/>
        </p:nvSpPr>
        <p:spPr>
          <a:xfrm xmlns:a="http://schemas.openxmlformats.org/drawingml/2006/main">
            <a:off x="7000875" y="6900862"/>
            <a:ext cx="4286250" cy="1957388"/>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18" name="Authoritative result">
            <a:extLst xmlns:a="http://schemas.openxmlformats.org/drawingml/2006/main">
              <a:ext uri="{FF2B5EF4-FFF2-40B4-BE49-F238E27FC236}">
                <a16:creationId xmlns:a16="http://schemas.microsoft.com/office/drawing/2014/main" id="{5E983E78-30FF-40A6-9526-BFA5149AB212}"/>
              </a:ext>
            </a:extLst>
          </p:cNvPr>
          <p:cNvSpPr>
            <a:spLocks xmlns:a="http://schemas.openxmlformats.org/drawingml/2006/main" noGrp="1"/>
          </p:cNvSpPr>
          <p:nvPr/>
        </p:nvSpPr>
        <p:spPr>
          <a:xfrm xmlns:a="http://schemas.openxmlformats.org/drawingml/2006/main">
            <a:off x="7243762" y="7129462"/>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Authoritative result</a:t>
            </a:r>
          </a:p>
        </p:txBody>
      </p:sp>
      <p:sp>
        <p:nvSpPr>
          <p:cNvPr id="19" name="Saved receipt in Buddy&#10;Updated Toda">
            <a:extLst xmlns:a="http://schemas.openxmlformats.org/drawingml/2006/main">
              <a:ext uri="{FF2B5EF4-FFF2-40B4-BE49-F238E27FC236}">
                <a16:creationId xmlns:a16="http://schemas.microsoft.com/office/drawing/2014/main" id="{60B1B776-497B-41F6-A547-F947A7D10EB4}"/>
              </a:ext>
            </a:extLst>
          </p:cNvPr>
          <p:cNvSpPr>
            <a:spLocks xmlns:a="http://schemas.openxmlformats.org/drawingml/2006/main" noGrp="1"/>
          </p:cNvSpPr>
          <p:nvPr/>
        </p:nvSpPr>
        <p:spPr>
          <a:xfrm xmlns:a="http://schemas.openxmlformats.org/drawingml/2006/main">
            <a:off x="7243762" y="7900988"/>
            <a:ext cx="3800475" cy="8429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receipt in Buddy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Updated Today record</a:t>
            </a:r>
          </a:p>
        </p:txBody>
      </p:sp>
      <p:sp>
        <p:nvSpPr>
          <p:cNvPr id="22" name="The model proposes">
            <a:extLst xmlns:a="http://schemas.openxmlformats.org/drawingml/2006/main">
              <a:ext uri="{FF2B5EF4-FFF2-40B4-BE49-F238E27FC236}">
                <a16:creationId xmlns:a16="http://schemas.microsoft.com/office/drawing/2014/main" id="{2FA48264-8B97-443F-993B-85016B45A4BF}"/>
              </a:ext>
            </a:extLst>
          </p:cNvPr>
          <p:cNvSpPr>
            <a:spLocks xmlns:a="http://schemas.openxmlformats.org/drawingml/2006/main" noGrp="1"/>
          </p:cNvSpPr>
          <p:nvPr/>
        </p:nvSpPr>
        <p:spPr>
          <a:xfrm xmlns:a="http://schemas.openxmlformats.org/drawingml/2006/main">
            <a:off x="714375" y="6757988"/>
            <a:ext cx="5072062" cy="6143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The model proposes</a:t>
            </a:r>
          </a:p>
        </p:txBody>
      </p:sp>
      <p:sp>
        <p:nvSpPr>
          <p:cNvPr id="23" name="Records are untrusted data.&#10;Missing">
            <a:extLst xmlns:a="http://schemas.openxmlformats.org/drawingml/2006/main">
              <a:ext uri="{FF2B5EF4-FFF2-40B4-BE49-F238E27FC236}">
                <a16:creationId xmlns:a16="http://schemas.microsoft.com/office/drawing/2014/main" id="{5405AB18-EFBA-49EA-80A8-758D8549C0E5}"/>
              </a:ext>
            </a:extLst>
          </p:cNvPr>
          <p:cNvSpPr>
            <a:spLocks xmlns:a="http://schemas.openxmlformats.org/drawingml/2006/main" noGrp="1"/>
          </p:cNvSpPr>
          <p:nvPr/>
        </p:nvSpPr>
        <p:spPr>
          <a:xfrm xmlns:a="http://schemas.openxmlformats.org/drawingml/2006/main">
            <a:off x="714375" y="7529512"/>
            <a:ext cx="5214938"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Records are untrusted data.</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Missing fields need clarification.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Medication instructions stay fixed.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arbitrary database write tool.</a:t>
            </a:r>
          </a:p>
        </p:txBody>
      </p:sp>
      <p:sp>
        <p:nvSpPr>
          <p:cNvPr id="24" name="An informational reply cannot prove">
            <a:extLst xmlns:a="http://schemas.openxmlformats.org/drawingml/2006/main">
              <a:ext uri="{FF2B5EF4-FFF2-40B4-BE49-F238E27FC236}">
                <a16:creationId xmlns:a16="http://schemas.microsoft.com/office/drawing/2014/main" id="{E56CC2EC-2FBA-4730-9431-04801102B293}"/>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An informational reply cannot prove a save. The receipt comes from a committed transaction.</a:t>
            </a:r>
          </a:p>
        </p:txBody>
      </p:sp>
      <p:sp>
        <p:nvSpPr>
          <p:cNvPr id="30"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35</ns7:t>
            </ns7:r>
          </ns7:p>
        </p:txBody>
      </p:sp>
    </p:spTree>
    <p:extLst>
      <p:ext uri="{BB962C8B-B14F-4D97-AF65-F5344CB8AC3E}">
        <p14:creationId xmlns:p14="http://schemas.microsoft.com/office/powerpoint/2010/main" val="1068125216"/>
      </p:ext>
    </p:extLst>
  </p:cSld>
</p:sld>
</file>

<file path=ppt/slides/slide36.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cxnSp>
        <p:nvCxnSpPr>
          <p:cNvPr id="21" name=""/>
          <p:cNvCxnSpPr>
            <a:stCxn xmlns:a="http://schemas.openxmlformats.org/drawingml/2006/main" id="9" idx="2"/>
            <a:endCxn xmlns:a="http://schemas.openxmlformats.org/drawingml/2006/main" id="14" idx="0"/>
          </p:cNvCxnSpPr>
          <p:nvPr/>
        </p:nvCxnSpPr>
        <p:spPr>
          <a:xfrm xmlns:a="http://schemas.openxmlformats.org/drawingml/2006/main">
            <a:off x="15430500" y="5429250"/>
            <a:ext cx="0" cy="154305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22" name=""/>
          <p:cNvCxnSpPr>
            <a:stCxn xmlns:a="http://schemas.openxmlformats.org/drawingml/2006/main" id="6" idx="3"/>
            <a:endCxn xmlns:a="http://schemas.openxmlformats.org/drawingml/2006/main" id="9" idx="1"/>
          </p:cNvCxnSpPr>
          <p:nvPr/>
        </p:nvCxnSpPr>
        <p:spPr>
          <a:xfrm xmlns:a="http://schemas.openxmlformats.org/drawingml/2006/main">
            <a:off x="11430000" y="4286250"/>
            <a:ext cx="1857375"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5143500" y="4286250"/>
            <a:ext cx="1857375" cy="0"/>
          </a:xfrm>
          <a:prstGeom xmlns:a="http://schemas.openxmlformats.org/drawingml/2006/main" prst="straightConnector1">
            <a:avLst/>
          </a:prstGeom>
          <a:ln xmlns:a="http://schemas.openxmlformats.org/drawingml/2006/main" w="34290">
            <a:solidFill>
              <a:srgbClr val="4F7A66"/>
            </a:solidFill>
            <a:prstDash val="solid"/>
            <a:headEnd type="triangle" w="med" len="med"/>
            <a:tailEnd type="triangle" w="med" len="med"/>
          </a:ln>
        </p:spPr>
      </p:cxnSp>
      <p:sp>
        <p:nvSpPr>
          <p:cNvPr id="24" name="Assistant notification architecture">
            <a:extLst xmlns:a="http://schemas.openxmlformats.org/drawingml/2006/main">
              <a:ext uri="{FF2B5EF4-FFF2-40B4-BE49-F238E27FC236}">
                <a16:creationId xmlns:a16="http://schemas.microsoft.com/office/drawing/2014/main" id="{8D701F89-EB4F-4B1D-BAB2-553CA2340D09}"/>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Assistant notification architecture</a:t>
            </a:r>
          </a:p>
        </p:txBody>
      </p:sp>
      <p:sp>
        <p:nvSpPr>
          <p:cNvPr id="2" name="A personal plugin reads chosen prof">
            <a:extLst xmlns:a="http://schemas.openxmlformats.org/drawingml/2006/main">
              <a:ext uri="{FF2B5EF4-FFF2-40B4-BE49-F238E27FC236}">
                <a16:creationId xmlns:a16="http://schemas.microsoft.com/office/drawing/2014/main" id="{BC26BCF4-FE84-458F-81B7-DF6B719050DA}"/>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A personal plugin reads chosen profiles after the user enables host scheduling</a:t>
            </a:r>
          </a:p>
        </p:txBody>
      </p:sp>
      <p:sp>
        <p:nvSpPr>
          <p:cNvPr id="3" name="Codex or Claude">
            <a:extLst xmlns:a="http://schemas.openxmlformats.org/drawingml/2006/main">
              <a:ext uri="{FF2B5EF4-FFF2-40B4-BE49-F238E27FC236}">
                <a16:creationId xmlns:a16="http://schemas.microsoft.com/office/drawing/2014/main" id="{DE9B6DC7-2E13-404F-8C20-CAC9C94A078E}"/>
              </a:ext>
            </a:extLst>
          </p:cNvPr>
          <p:cNvSpPr>
            <a:spLocks xmlns:a="http://schemas.openxmlformats.org/drawingml/2006/main" noGrp="1"/>
          </p:cNvSpPr>
          <p:nvPr/>
        </p:nvSpPr>
        <p:spPr>
          <a:xfrm xmlns:a="http://schemas.openxmlformats.org/drawingml/2006/main">
            <a:off x="714375" y="3143250"/>
            <a:ext cx="4429125" cy="228600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4" name="Codex or Claude">
            <a:extLst xmlns:a="http://schemas.openxmlformats.org/drawingml/2006/main">
              <a:ext uri="{FF2B5EF4-FFF2-40B4-BE49-F238E27FC236}">
                <a16:creationId xmlns:a16="http://schemas.microsoft.com/office/drawing/2014/main" id="{672A7F93-1C79-479F-9D0A-000765BBC9AC}"/>
              </a:ext>
            </a:extLst>
          </p:cNvPr>
          <p:cNvSpPr>
            <a:spLocks xmlns:a="http://schemas.openxmlformats.org/drawingml/2006/main" noGrp="1"/>
          </p:cNvSpPr>
          <p:nvPr/>
        </p:nvSpPr>
        <p:spPr>
          <a:xfrm xmlns:a="http://schemas.openxmlformats.org/drawingml/2006/main">
            <a:off x="957262" y="33718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Codex or Claude</a:t>
            </a:r>
          </a:p>
        </p:txBody>
      </p:sp>
      <p:sp>
        <p:nvSpPr>
          <p:cNvPr id="5" name="Care-monitor skill&#10;Host scheduler">
            <a:extLst xmlns:a="http://schemas.openxmlformats.org/drawingml/2006/main">
              <a:ext uri="{FF2B5EF4-FFF2-40B4-BE49-F238E27FC236}">
                <a16:creationId xmlns:a16="http://schemas.microsoft.com/office/drawing/2014/main" id="{011112BB-29A9-48C3-8D90-CF6991097F5E}"/>
              </a:ext>
            </a:extLst>
          </p:cNvPr>
          <p:cNvSpPr>
            <a:spLocks xmlns:a="http://schemas.openxmlformats.org/drawingml/2006/main" noGrp="1"/>
          </p:cNvSpPr>
          <p:nvPr/>
        </p:nvSpPr>
        <p:spPr>
          <a:xfrm xmlns:a="http://schemas.openxmlformats.org/drawingml/2006/main">
            <a:off x="957262" y="4143375"/>
            <a:ext cx="3943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Care-monitor skill</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Host scheduler</a:t>
            </a:r>
          </a:p>
        </p:txBody>
      </p:sp>
      <p:sp>
        <p:nvSpPr>
          <p:cNvPr id="6" name="Scoped public MCP">
            <a:extLst xmlns:a="http://schemas.openxmlformats.org/drawingml/2006/main">
              <a:ext uri="{FF2B5EF4-FFF2-40B4-BE49-F238E27FC236}">
                <a16:creationId xmlns:a16="http://schemas.microsoft.com/office/drawing/2014/main" id="{8BA8CFAD-16E8-4E03-A046-B89A60DF54CF}"/>
              </a:ext>
            </a:extLst>
          </p:cNvPr>
          <p:cNvSpPr>
            <a:spLocks xmlns:a="http://schemas.openxmlformats.org/drawingml/2006/main" noGrp="1"/>
          </p:cNvSpPr>
          <p:nvPr/>
        </p:nvSpPr>
        <p:spPr>
          <a:xfrm xmlns:a="http://schemas.openxmlformats.org/drawingml/2006/main">
            <a:off x="7000875" y="3143250"/>
            <a:ext cx="4429125" cy="2286000"/>
          </a:xfrm>
          <a:prstGeom xmlns:a="http://schemas.openxmlformats.org/drawingml/2006/main" prst="rect">
            <a:avLst/>
          </a:prstGeom>
          <a:solidFill xmlns:a="http://schemas.openxmlformats.org/drawingml/2006/main">
            <a:srgbClr val="8FB39F"/>
          </a:solidFill>
          <a:ln xmlns:a="http://schemas.openxmlformats.org/drawingml/2006/main" w="17859">
            <a:solidFill>
              <a:srgbClr val="4F7A66"/>
            </a:solidFill>
          </a:ln>
        </p:spPr>
      </p:sp>
      <p:sp>
        <p:nvSpPr>
          <p:cNvPr id="7" name="Scoped public MCP">
            <a:extLst xmlns:a="http://schemas.openxmlformats.org/drawingml/2006/main">
              <a:ext uri="{FF2B5EF4-FFF2-40B4-BE49-F238E27FC236}">
                <a16:creationId xmlns:a16="http://schemas.microsoft.com/office/drawing/2014/main" id="{E45962CA-301B-4A9A-96ED-905004A7669A}"/>
              </a:ext>
            </a:extLst>
          </p:cNvPr>
          <p:cNvSpPr>
            <a:spLocks xmlns:a="http://schemas.openxmlformats.org/drawingml/2006/main" noGrp="1"/>
          </p:cNvSpPr>
          <p:nvPr/>
        </p:nvSpPr>
        <p:spPr>
          <a:xfrm xmlns:a="http://schemas.openxmlformats.org/drawingml/2006/main">
            <a:off x="7243762" y="3371850"/>
            <a:ext cx="39433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Scoped public MCP</a:t>
            </a:r>
          </a:p>
        </p:txBody>
      </p:sp>
      <p:sp>
        <p:nvSpPr>
          <p:cNvPr id="8" name="Read notifications&#10;Expiry + revocat">
            <a:extLst xmlns:a="http://schemas.openxmlformats.org/drawingml/2006/main">
              <a:ext uri="{FF2B5EF4-FFF2-40B4-BE49-F238E27FC236}">
                <a16:creationId xmlns:a16="http://schemas.microsoft.com/office/drawing/2014/main" id="{8399F031-BF7E-4B88-B0DA-38EDFDD2D012}"/>
              </a:ext>
            </a:extLst>
          </p:cNvPr>
          <p:cNvSpPr>
            <a:spLocks xmlns:a="http://schemas.openxmlformats.org/drawingml/2006/main" noGrp="1"/>
          </p:cNvSpPr>
          <p:nvPr/>
        </p:nvSpPr>
        <p:spPr>
          <a:xfrm xmlns:a="http://schemas.openxmlformats.org/drawingml/2006/main">
            <a:off x="7243762" y="4143375"/>
            <a:ext cx="39433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Read notifications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Expiry + revocation</a:t>
            </a:r>
          </a:p>
        </p:txBody>
      </p:sp>
      <p:sp>
        <p:nvSpPr>
          <p:cNvPr id="9" name="Alert evaluator">
            <a:extLst xmlns:a="http://schemas.openxmlformats.org/drawingml/2006/main">
              <a:ext uri="{FF2B5EF4-FFF2-40B4-BE49-F238E27FC236}">
                <a16:creationId xmlns:a16="http://schemas.microsoft.com/office/drawing/2014/main" id="{80791F75-84F6-465A-8C37-ABFB23B594A6}"/>
              </a:ext>
            </a:extLst>
          </p:cNvPr>
          <p:cNvSpPr>
            <a:spLocks xmlns:a="http://schemas.openxmlformats.org/drawingml/2006/main" noGrp="1"/>
          </p:cNvSpPr>
          <p:nvPr/>
        </p:nvSpPr>
        <p:spPr>
          <a:xfrm xmlns:a="http://schemas.openxmlformats.org/drawingml/2006/main">
            <a:off x="13287375" y="3143250"/>
            <a:ext cx="4286250" cy="228600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0" name="Alert evaluator">
            <a:extLst xmlns:a="http://schemas.openxmlformats.org/drawingml/2006/main">
              <a:ext uri="{FF2B5EF4-FFF2-40B4-BE49-F238E27FC236}">
                <a16:creationId xmlns:a16="http://schemas.microsoft.com/office/drawing/2014/main" id="{E03C1E0C-715E-4866-BCC0-C13B6B67A8A5}"/>
              </a:ext>
            </a:extLst>
          </p:cNvPr>
          <p:cNvSpPr>
            <a:spLocks xmlns:a="http://schemas.openxmlformats.org/drawingml/2006/main" noGrp="1"/>
          </p:cNvSpPr>
          <p:nvPr/>
        </p:nvSpPr>
        <p:spPr>
          <a:xfrm xmlns:a="http://schemas.openxmlformats.org/drawingml/2006/main">
            <a:off x="13530262" y="3371850"/>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Alert evaluator</a:t>
            </a:r>
          </a:p>
        </p:txBody>
      </p:sp>
      <p:sp>
        <p:nvSpPr>
          <p:cNvPr id="11" name="Due care + visits&#10;Opted-in readings">
            <a:extLst xmlns:a="http://schemas.openxmlformats.org/drawingml/2006/main">
              <a:ext uri="{FF2B5EF4-FFF2-40B4-BE49-F238E27FC236}">
                <a16:creationId xmlns:a16="http://schemas.microsoft.com/office/drawing/2014/main" id="{D0A1DE5B-9EB9-4063-87AC-08C514AA81C6}"/>
              </a:ext>
            </a:extLst>
          </p:cNvPr>
          <p:cNvSpPr>
            <a:spLocks xmlns:a="http://schemas.openxmlformats.org/drawingml/2006/main" noGrp="1"/>
          </p:cNvSpPr>
          <p:nvPr/>
        </p:nvSpPr>
        <p:spPr>
          <a:xfrm xmlns:a="http://schemas.openxmlformats.org/drawingml/2006/main">
            <a:off x="13530262" y="4143375"/>
            <a:ext cx="38004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Due care + visits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Opted-in readings</a:t>
            </a:r>
          </a:p>
        </p:txBody>
      </p:sp>
      <p:sp>
        <p:nvSpPr>
          <p:cNvPr id="14" name="SQLite">
            <a:extLst xmlns:a="http://schemas.openxmlformats.org/drawingml/2006/main">
              <a:ext uri="{FF2B5EF4-FFF2-40B4-BE49-F238E27FC236}">
                <a16:creationId xmlns:a16="http://schemas.microsoft.com/office/drawing/2014/main" id="{D4D05FCE-E462-4E59-B6CB-4855825526CD}"/>
              </a:ext>
            </a:extLst>
          </p:cNvPr>
          <p:cNvSpPr>
            <a:spLocks xmlns:a="http://schemas.openxmlformats.org/drawingml/2006/main" noGrp="1"/>
          </p:cNvSpPr>
          <p:nvPr/>
        </p:nvSpPr>
        <p:spPr>
          <a:xfrm xmlns:a="http://schemas.openxmlformats.org/drawingml/2006/main">
            <a:off x="13287375" y="6972300"/>
            <a:ext cx="4286250" cy="2028825"/>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15" name="SQLite">
            <a:extLst xmlns:a="http://schemas.openxmlformats.org/drawingml/2006/main">
              <a:ext uri="{FF2B5EF4-FFF2-40B4-BE49-F238E27FC236}">
                <a16:creationId xmlns:a16="http://schemas.microsoft.com/office/drawing/2014/main" id="{13B06141-3AAB-49A5-8C6E-7B4AB60A092F}"/>
              </a:ext>
            </a:extLst>
          </p:cNvPr>
          <p:cNvSpPr>
            <a:spLocks xmlns:a="http://schemas.openxmlformats.org/drawingml/2006/main" noGrp="1"/>
          </p:cNvSpPr>
          <p:nvPr/>
        </p:nvSpPr>
        <p:spPr>
          <a:xfrm xmlns:a="http://schemas.openxmlformats.org/drawingml/2006/main">
            <a:off x="13530262" y="7200900"/>
            <a:ext cx="38004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SQLite</a:t>
            </a:r>
          </a:p>
        </p:txBody>
      </p:sp>
      <p:sp>
        <p:nvSpPr>
          <p:cNvPr id="16" name="Saved care and vitals&#10;Connection de">
            <a:extLst xmlns:a="http://schemas.openxmlformats.org/drawingml/2006/main">
              <a:ext uri="{FF2B5EF4-FFF2-40B4-BE49-F238E27FC236}">
                <a16:creationId xmlns:a16="http://schemas.microsoft.com/office/drawing/2014/main" id="{E8265CC7-21B4-4F15-A9A0-D50F3A241CE4}"/>
              </a:ext>
            </a:extLst>
          </p:cNvPr>
          <p:cNvSpPr>
            <a:spLocks xmlns:a="http://schemas.openxmlformats.org/drawingml/2006/main" noGrp="1"/>
          </p:cNvSpPr>
          <p:nvPr/>
        </p:nvSpPr>
        <p:spPr>
          <a:xfrm xmlns:a="http://schemas.openxmlformats.org/drawingml/2006/main">
            <a:off x="13530262" y="7972425"/>
            <a:ext cx="38004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Saved care and vitals</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Connection delivery IDs</a:t>
            </a:r>
          </a:p>
        </p:txBody>
      </p:sp>
      <p:sp>
        <p:nvSpPr>
          <p:cNvPr id="18" name="Read care, acknowledge delivery">
            <a:extLst xmlns:a="http://schemas.openxmlformats.org/drawingml/2006/main">
              <a:ext uri="{FF2B5EF4-FFF2-40B4-BE49-F238E27FC236}">
                <a16:creationId xmlns:a16="http://schemas.microsoft.com/office/drawing/2014/main" id="{F0B02FF3-6FAF-40F6-A47D-EE7D4E8EE122}"/>
              </a:ext>
            </a:extLst>
          </p:cNvPr>
          <p:cNvSpPr>
            <a:spLocks xmlns:a="http://schemas.openxmlformats.org/drawingml/2006/main" noGrp="1"/>
          </p:cNvSpPr>
          <p:nvPr/>
        </p:nvSpPr>
        <p:spPr>
          <a:xfrm xmlns:a="http://schemas.openxmlformats.org/drawingml/2006/main">
            <a:off x="714375" y="6643688"/>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150" b="0">
                <a:solidFill>
                  <a:srgbClr val="3A3745"/>
                </a:solidFill>
                <a:latin typeface="Deck-Semi-Bold"/>
                <a:ea typeface="Deck-Semi-Bold"/>
                <a:cs typeface="Deck-Semi-Bold"/>
              </a:defRPr>
            </a:pPr>
            <a:r>
              <a:rPr sz="3150" b="0">
                <a:solidFill>
                  <a:srgbClr val="3A3745"/>
                </a:solidFill>
                <a:latin typeface="Deck-Semi-Bold"/>
                <a:ea typeface="Deck-Semi-Bold"/>
                <a:cs typeface="Deck-Semi-Bold"/>
              </a:rPr>
              <a:t>Read care, acknowledge delivery</a:t>
            </a:r>
          </a:p>
        </p:txBody>
      </p:sp>
      <p:sp>
        <p:nvSpPr>
          <p:cNvPr id="19" name="Selected profiles only. The exporte">
            <a:extLst xmlns:a="http://schemas.openxmlformats.org/drawingml/2006/main">
              <a:ext uri="{FF2B5EF4-FFF2-40B4-BE49-F238E27FC236}">
                <a16:creationId xmlns:a16="http://schemas.microsoft.com/office/drawing/2014/main" id="{4991751C-56DD-4907-9645-6DA952EC4F36}"/>
              </a:ext>
            </a:extLst>
          </p:cNvPr>
          <p:cNvSpPr>
            <a:spLocks xmlns:a="http://schemas.openxmlformats.org/drawingml/2006/main" noGrp="1"/>
          </p:cNvSpPr>
          <p:nvPr/>
        </p:nvSpPr>
        <p:spPr>
          <a:xfrm xmlns:a="http://schemas.openxmlformats.org/drawingml/2006/main">
            <a:off x="714375" y="7458075"/>
            <a:ext cx="11215688" cy="17287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Selected profiles only. The exported token can be revoked.</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Acknowledgement records delivery without changing care.</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No repeated unchanged alert after successful delivery.</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Installation alone does not start background checks.</a:t>
            </a:r>
          </a:p>
        </p:txBody>
      </p:sp>
      <p:sp>
        <p:nvSpPr>
          <p:cNvPr id="20" name="Alerts use stored readings, includi">
            <a:extLst xmlns:a="http://schemas.openxmlformats.org/drawingml/2006/main">
              <a:ext uri="{FF2B5EF4-FFF2-40B4-BE49-F238E27FC236}">
                <a16:creationId xmlns:a16="http://schemas.microsoft.com/office/drawing/2014/main" id="{0182B633-B1A5-46CE-930D-D85314F212AA}"/>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Alerts use stored readings, including labelled demo data. Polling is not emergency monitoring.</a:t>
            </a:r>
          </a:p>
        </p:txBody>
      </p:sp>
      <p:sp>
        <p:nvSpPr>
          <p:cNvPr id="25"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36</ns7:t>
            </ns7:r>
          </ns7:p>
        </p:txBody>
      </p:sp>
    </p:spTree>
    <p:extLst>
      <p:ext uri="{BB962C8B-B14F-4D97-AF65-F5344CB8AC3E}">
        <p14:creationId xmlns:p14="http://schemas.microsoft.com/office/powerpoint/2010/main" val="7966269"/>
      </p:ext>
    </p:extLst>
  </p:cSld>
</p:sld>
</file>

<file path=ppt/slides/slide37.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19" name="Trust boundaries and trade-offs">
            <a:extLst xmlns:a="http://schemas.openxmlformats.org/drawingml/2006/main">
              <a:ext uri="{FF2B5EF4-FFF2-40B4-BE49-F238E27FC236}">
                <a16:creationId xmlns:a16="http://schemas.microsoft.com/office/drawing/2014/main" id="{DE43B878-86AC-4C67-AFEA-6FC30CC420CC}"/>
              </a:ext>
            </a:extLst>
          </p:cNvPr>
          <p:cNvSpPr>
            <a:spLocks xmlns:a="http://schemas.openxmlformats.org/drawingml/2006/main" noGrp="1"/>
          </p:cNvSpPr>
          <p:nvPr/>
        </p:nvSpPr>
        <p:spPr>
          <a:xfrm xmlns:a="http://schemas.openxmlformats.org/drawingml/2006/main">
            <a:off x="714375" y="514350"/>
            <a:ext cx="16859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5400" b="0">
                <a:solidFill>
                  <a:srgbClr val="3A3745"/>
                </a:solidFill>
                <a:latin typeface="Deck-Semi-Bold"/>
                <a:ea typeface="Deck-Semi-Bold"/>
                <a:cs typeface="Deck-Semi-Bold"/>
              </a:defRPr>
            </a:pPr>
            <a:r>
              <a:rPr sz="5400" b="0">
                <a:solidFill>
                  <a:srgbClr val="3A3745"/>
                </a:solidFill>
                <a:latin typeface="Deck-Semi-Bold"/>
                <a:ea typeface="Deck-Semi-Bold"/>
                <a:cs typeface="Deck-Semi-Bold"/>
              </a:rPr>
              <a:t>Trust boundaries and trade-offs</a:t>
            </a:r>
          </a:p>
        </p:txBody>
      </p:sp>
      <p:sp>
        <p:nvSpPr>
          <p:cNvPr id="2" name="The prototype separates generated l">
            <a:extLst xmlns:a="http://schemas.openxmlformats.org/drawingml/2006/main">
              <a:ext uri="{FF2B5EF4-FFF2-40B4-BE49-F238E27FC236}">
                <a16:creationId xmlns:a16="http://schemas.microsoft.com/office/drawing/2014/main" id="{2FDC5AFA-1404-4171-B12F-44CBFA367E91}"/>
              </a:ext>
            </a:extLst>
          </p:cNvPr>
          <p:cNvSpPr>
            <a:spLocks xmlns:a="http://schemas.openxmlformats.org/drawingml/2006/main" noGrp="1"/>
          </p:cNvSpPr>
          <p:nvPr/>
        </p:nvSpPr>
        <p:spPr>
          <a:xfrm xmlns:a="http://schemas.openxmlformats.org/drawingml/2006/main">
            <a:off x="714375" y="1614488"/>
            <a:ext cx="1685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The prototype separates generated language from authority to change care</a:t>
            </a:r>
          </a:p>
        </p:txBody>
      </p:sp>
      <p:sp>
        <p:nvSpPr>
          <p:cNvPr id="3" name="Browser boundary">
            <a:extLst xmlns:a="http://schemas.openxmlformats.org/drawingml/2006/main">
              <a:ext uri="{FF2B5EF4-FFF2-40B4-BE49-F238E27FC236}">
                <a16:creationId xmlns:a16="http://schemas.microsoft.com/office/drawing/2014/main" id="{2E2C5179-39A7-47D8-9271-FE9FDF0B4ACF}"/>
              </a:ext>
            </a:extLst>
          </p:cNvPr>
          <p:cNvSpPr>
            <a:spLocks xmlns:a="http://schemas.openxmlformats.org/drawingml/2006/main" noGrp="1"/>
          </p:cNvSpPr>
          <p:nvPr/>
        </p:nvSpPr>
        <p:spPr>
          <a:xfrm xmlns:a="http://schemas.openxmlformats.org/drawingml/2006/main">
            <a:off x="714375" y="3100388"/>
            <a:ext cx="5000625" cy="2114550"/>
          </a:xfrm>
          <a:prstGeom xmlns:a="http://schemas.openxmlformats.org/drawingml/2006/main" prst="rect">
            <a:avLst/>
          </a:prstGeom>
          <a:solidFill xmlns:a="http://schemas.openxmlformats.org/drawingml/2006/main">
            <a:srgbClr val="EADFCF"/>
          </a:solidFill>
          <a:ln xmlns:a="http://schemas.openxmlformats.org/drawingml/2006/main" w="17859">
            <a:solidFill>
              <a:srgbClr val="4F7A66"/>
            </a:solidFill>
          </a:ln>
        </p:spPr>
      </p:sp>
      <p:sp>
        <p:nvSpPr>
          <p:cNvPr id="4" name="Browser boundary">
            <a:extLst xmlns:a="http://schemas.openxmlformats.org/drawingml/2006/main">
              <a:ext uri="{FF2B5EF4-FFF2-40B4-BE49-F238E27FC236}">
                <a16:creationId xmlns:a16="http://schemas.microsoft.com/office/drawing/2014/main" id="{26A611F2-0115-4DD8-AA43-A912A8920AED}"/>
              </a:ext>
            </a:extLst>
          </p:cNvPr>
          <p:cNvSpPr>
            <a:spLocks xmlns:a="http://schemas.openxmlformats.org/drawingml/2006/main" noGrp="1"/>
          </p:cNvSpPr>
          <p:nvPr/>
        </p:nvSpPr>
        <p:spPr>
          <a:xfrm xmlns:a="http://schemas.openxmlformats.org/drawingml/2006/main">
            <a:off x="957262"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Browser boundary</a:t>
            </a:r>
          </a:p>
        </p:txBody>
      </p:sp>
      <p:sp>
        <p:nvSpPr>
          <p:cNvPr id="5" name="Browser namespace&#10;View/manage check">
            <a:extLst xmlns:a="http://schemas.openxmlformats.org/drawingml/2006/main">
              <a:ext uri="{FF2B5EF4-FFF2-40B4-BE49-F238E27FC236}">
                <a16:creationId xmlns:a16="http://schemas.microsoft.com/office/drawing/2014/main" id="{2E5DBD17-6494-41D5-AAC2-2CB4C77B44C6}"/>
              </a:ext>
            </a:extLst>
          </p:cNvPr>
          <p:cNvSpPr>
            <a:spLocks xmlns:a="http://schemas.openxmlformats.org/drawingml/2006/main" noGrp="1"/>
          </p:cNvSpPr>
          <p:nvPr/>
        </p:nvSpPr>
        <p:spPr>
          <a:xfrm xmlns:a="http://schemas.openxmlformats.org/drawingml/2006/main">
            <a:off x="957262"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Browser namespace</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View/manage checks</a:t>
            </a:r>
          </a:p>
        </p:txBody>
      </p:sp>
      <p:sp>
        <p:nvSpPr>
          <p:cNvPr id="6" name="AI boundary">
            <a:extLst xmlns:a="http://schemas.openxmlformats.org/drawingml/2006/main">
              <a:ext uri="{FF2B5EF4-FFF2-40B4-BE49-F238E27FC236}">
                <a16:creationId xmlns:a16="http://schemas.microsoft.com/office/drawing/2014/main" id="{F60265A0-4012-42F7-A4A3-CF643F2E040C}"/>
              </a:ext>
            </a:extLst>
          </p:cNvPr>
          <p:cNvSpPr>
            <a:spLocks xmlns:a="http://schemas.openxmlformats.org/drawingml/2006/main" noGrp="1"/>
          </p:cNvSpPr>
          <p:nvPr/>
        </p:nvSpPr>
        <p:spPr>
          <a:xfrm xmlns:a="http://schemas.openxmlformats.org/drawingml/2006/main">
            <a:off x="6643688" y="3100388"/>
            <a:ext cx="5000625" cy="2114550"/>
          </a:xfrm>
          <a:prstGeom xmlns:a="http://schemas.openxmlformats.org/drawingml/2006/main" prst="rect">
            <a:avLst/>
          </a:prstGeom>
          <a:solidFill xmlns:a="http://schemas.openxmlformats.org/drawingml/2006/main">
            <a:srgbClr val="B9AEDC"/>
          </a:solidFill>
          <a:ln xmlns:a="http://schemas.openxmlformats.org/drawingml/2006/main" w="17859">
            <a:solidFill>
              <a:srgbClr val="4F7A66"/>
            </a:solidFill>
          </a:ln>
        </p:spPr>
      </p:sp>
      <p:sp>
        <p:nvSpPr>
          <p:cNvPr id="7" name="AI boundary">
            <a:extLst xmlns:a="http://schemas.openxmlformats.org/drawingml/2006/main">
              <a:ext uri="{FF2B5EF4-FFF2-40B4-BE49-F238E27FC236}">
                <a16:creationId xmlns:a16="http://schemas.microsoft.com/office/drawing/2014/main" id="{CF06B959-01C6-4E87-A2BC-5D81F0061383}"/>
              </a:ext>
            </a:extLst>
          </p:cNvPr>
          <p:cNvSpPr>
            <a:spLocks xmlns:a="http://schemas.openxmlformats.org/drawingml/2006/main" noGrp="1"/>
          </p:cNvSpPr>
          <p:nvPr/>
        </p:nvSpPr>
        <p:spPr>
          <a:xfrm xmlns:a="http://schemas.openxmlformats.org/drawingml/2006/main">
            <a:off x="6886575"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AI boundary</a:t>
            </a:r>
          </a:p>
        </p:txBody>
      </p:sp>
      <p:sp>
        <p:nvSpPr>
          <p:cNvPr id="8" name="Untrusted record data&#10;Validated too">
            <a:extLst xmlns:a="http://schemas.openxmlformats.org/drawingml/2006/main">
              <a:ext uri="{FF2B5EF4-FFF2-40B4-BE49-F238E27FC236}">
                <a16:creationId xmlns:a16="http://schemas.microsoft.com/office/drawing/2014/main" id="{597837FE-D322-46C9-B46C-71D8B5EA47C1}"/>
              </a:ext>
            </a:extLst>
          </p:cNvPr>
          <p:cNvSpPr>
            <a:spLocks xmlns:a="http://schemas.openxmlformats.org/drawingml/2006/main" noGrp="1"/>
          </p:cNvSpPr>
          <p:nvPr/>
        </p:nvSpPr>
        <p:spPr>
          <a:xfrm xmlns:a="http://schemas.openxmlformats.org/drawingml/2006/main">
            <a:off x="6886575"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Untrusted record data</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Validated tool calls</a:t>
            </a:r>
          </a:p>
        </p:txBody>
      </p:sp>
      <p:sp>
        <p:nvSpPr>
          <p:cNvPr id="9" name="External boundary">
            <a:extLst xmlns:a="http://schemas.openxmlformats.org/drawingml/2006/main">
              <a:ext uri="{FF2B5EF4-FFF2-40B4-BE49-F238E27FC236}">
                <a16:creationId xmlns:a16="http://schemas.microsoft.com/office/drawing/2014/main" id="{37B252D3-E98D-4AEF-A3AC-43AACE01B2E6}"/>
              </a:ext>
            </a:extLst>
          </p:cNvPr>
          <p:cNvSpPr>
            <a:spLocks xmlns:a="http://schemas.openxmlformats.org/drawingml/2006/main" noGrp="1"/>
          </p:cNvSpPr>
          <p:nvPr/>
        </p:nvSpPr>
        <p:spPr>
          <a:xfrm xmlns:a="http://schemas.openxmlformats.org/drawingml/2006/main">
            <a:off x="12573000" y="3100388"/>
            <a:ext cx="5000625" cy="2114550"/>
          </a:xfrm>
          <a:prstGeom xmlns:a="http://schemas.openxmlformats.org/drawingml/2006/main" prst="rect">
            <a:avLst/>
          </a:prstGeom>
          <a:solidFill xmlns:a="http://schemas.openxmlformats.org/drawingml/2006/main">
            <a:srgbClr val="A8CBDB"/>
          </a:solidFill>
          <a:ln xmlns:a="http://schemas.openxmlformats.org/drawingml/2006/main" w="17859">
            <a:solidFill>
              <a:srgbClr val="4F7A66"/>
            </a:solidFill>
          </a:ln>
        </p:spPr>
      </p:sp>
      <p:sp>
        <p:nvSpPr>
          <p:cNvPr id="10" name="External boundary">
            <a:extLst xmlns:a="http://schemas.openxmlformats.org/drawingml/2006/main">
              <a:ext uri="{FF2B5EF4-FFF2-40B4-BE49-F238E27FC236}">
                <a16:creationId xmlns:a16="http://schemas.microsoft.com/office/drawing/2014/main" id="{4EA8477F-A2DC-4FFF-B522-F7CB9763614A}"/>
              </a:ext>
            </a:extLst>
          </p:cNvPr>
          <p:cNvSpPr>
            <a:spLocks xmlns:a="http://schemas.openxmlformats.org/drawingml/2006/main" noGrp="1"/>
          </p:cNvSpPr>
          <p:nvPr/>
        </p:nvSpPr>
        <p:spPr>
          <a:xfrm xmlns:a="http://schemas.openxmlformats.org/drawingml/2006/main">
            <a:off x="12815888" y="3328988"/>
            <a:ext cx="45148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0">
                <a:solidFill>
                  <a:srgbClr val="3A3745"/>
                </a:solidFill>
                <a:latin typeface="Deck-Medium"/>
                <a:ea typeface="Deck-Medium"/>
                <a:cs typeface="Deck-Medium"/>
              </a:defRPr>
            </a:pPr>
            <a:r>
              <a:rPr sz="2925" b="0">
                <a:solidFill>
                  <a:srgbClr val="3A3745"/>
                </a:solidFill>
                <a:latin typeface="Deck-Medium"/>
                <a:ea typeface="Deck-Medium"/>
                <a:cs typeface="Deck-Medium"/>
              </a:rPr>
              <a:t>External boundary</a:t>
            </a:r>
          </a:p>
        </p:txBody>
      </p:sp>
      <p:sp>
        <p:nvSpPr>
          <p:cNvPr id="11" name="Scoped export token&#10;GP link handoff">
            <a:extLst xmlns:a="http://schemas.openxmlformats.org/drawingml/2006/main">
              <a:ext uri="{FF2B5EF4-FFF2-40B4-BE49-F238E27FC236}">
                <a16:creationId xmlns:a16="http://schemas.microsoft.com/office/drawing/2014/main" id="{D1A6C6A8-5FCC-4761-9FB3-9BC130F0C31B}"/>
              </a:ext>
            </a:extLst>
          </p:cNvPr>
          <p:cNvSpPr>
            <a:spLocks xmlns:a="http://schemas.openxmlformats.org/drawingml/2006/main" noGrp="1"/>
          </p:cNvSpPr>
          <p:nvPr/>
        </p:nvSpPr>
        <p:spPr>
          <a:xfrm xmlns:a="http://schemas.openxmlformats.org/drawingml/2006/main">
            <a:off x="12815888" y="4100512"/>
            <a:ext cx="45148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Scoped export token</a:t>
            </a:r>
          </a:p>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GP link handoff</a:t>
            </a:r>
          </a:p>
        </p:txBody>
      </p:sp>
      <p:sp>
        <p:nvSpPr>
          <p:cNvPr id="12" name="Current prototype">
            <a:extLst xmlns:a="http://schemas.openxmlformats.org/drawingml/2006/main">
              <a:ext uri="{FF2B5EF4-FFF2-40B4-BE49-F238E27FC236}">
                <a16:creationId xmlns:a16="http://schemas.microsoft.com/office/drawing/2014/main" id="{C70360AA-BB62-4F54-A9F3-6A9C9D212224}"/>
              </a:ext>
            </a:extLst>
          </p:cNvPr>
          <p:cNvSpPr>
            <a:spLocks xmlns:a="http://schemas.openxmlformats.org/drawingml/2006/main" noGrp="1"/>
          </p:cNvSpPr>
          <p:nvPr/>
        </p:nvSpPr>
        <p:spPr>
          <a:xfrm xmlns:a="http://schemas.openxmlformats.org/drawingml/2006/main">
            <a:off x="714375"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Current prototype</a:t>
            </a:r>
          </a:p>
        </p:txBody>
      </p:sp>
      <p:sp>
        <p:nvSpPr>
          <p:cNvPr id="13" name="No-login demo care spaces&#10;SQLite on">
            <a:extLst xmlns:a="http://schemas.openxmlformats.org/drawingml/2006/main">
              <a:ext uri="{FF2B5EF4-FFF2-40B4-BE49-F238E27FC236}">
                <a16:creationId xmlns:a16="http://schemas.microsoft.com/office/drawing/2014/main" id="{36AC74B8-8963-48FF-993E-97FB8EB8EA6D}"/>
              </a:ext>
            </a:extLst>
          </p:cNvPr>
          <p:cNvSpPr>
            <a:spLocks xmlns:a="http://schemas.openxmlformats.org/drawingml/2006/main" noGrp="1"/>
          </p:cNvSpPr>
          <p:nvPr/>
        </p:nvSpPr>
        <p:spPr>
          <a:xfrm xmlns:a="http://schemas.openxmlformats.org/drawingml/2006/main">
            <a:off x="714375"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No-login demo care spaces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SQLite on one server</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Fixed sleep content</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Seeded health readings</a:t>
            </a:r>
          </a:p>
        </p:txBody>
      </p:sp>
      <p:sp>
        <p:nvSpPr>
          <p:cNvPr id="14" name="Design trade-off">
            <a:extLst xmlns:a="http://schemas.openxmlformats.org/drawingml/2006/main">
              <a:ext uri="{FF2B5EF4-FFF2-40B4-BE49-F238E27FC236}">
                <a16:creationId xmlns:a16="http://schemas.microsoft.com/office/drawing/2014/main" id="{35C5F837-7892-46DC-845C-2263DD5233A8}"/>
              </a:ext>
            </a:extLst>
          </p:cNvPr>
          <p:cNvSpPr>
            <a:spLocks xmlns:a="http://schemas.openxmlformats.org/drawingml/2006/main" noGrp="1"/>
          </p:cNvSpPr>
          <p:nvPr/>
        </p:nvSpPr>
        <p:spPr>
          <a:xfrm xmlns:a="http://schemas.openxmlformats.org/drawingml/2006/main">
            <a:off x="6643688"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Design trade-off</a:t>
            </a:r>
          </a:p>
        </p:txBody>
      </p:sp>
      <p:sp>
        <p:nvSpPr>
          <p:cNvPr id="15" name="Fast setup and review&#10;Auditable sav">
            <a:extLst xmlns:a="http://schemas.openxmlformats.org/drawingml/2006/main">
              <a:ext uri="{FF2B5EF4-FFF2-40B4-BE49-F238E27FC236}">
                <a16:creationId xmlns:a16="http://schemas.microsoft.com/office/drawing/2014/main" id="{358FA4BE-CC71-4898-B1FE-CADFB12F7280}"/>
              </a:ext>
            </a:extLst>
          </p:cNvPr>
          <p:cNvSpPr>
            <a:spLocks xmlns:a="http://schemas.openxmlformats.org/drawingml/2006/main" noGrp="1"/>
          </p:cNvSpPr>
          <p:nvPr/>
        </p:nvSpPr>
        <p:spPr>
          <a:xfrm xmlns:a="http://schemas.openxmlformats.org/drawingml/2006/main">
            <a:off x="6643688"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Fast setup and review</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Auditable saved actions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Separate deterministic alerts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No clinical outcome claim</a:t>
            </a:r>
          </a:p>
        </p:txBody>
      </p:sp>
      <p:sp>
        <p:nvSpPr>
          <p:cNvPr id="16" name="Before patient use">
            <a:extLst xmlns:a="http://schemas.openxmlformats.org/drawingml/2006/main">
              <a:ext uri="{FF2B5EF4-FFF2-40B4-BE49-F238E27FC236}">
                <a16:creationId xmlns:a16="http://schemas.microsoft.com/office/drawing/2014/main" id="{52FCED4D-A022-4332-BE3D-B2F3E890F334}"/>
              </a:ext>
            </a:extLst>
          </p:cNvPr>
          <p:cNvSpPr>
            <a:spLocks xmlns:a="http://schemas.openxmlformats.org/drawingml/2006/main" noGrp="1"/>
          </p:cNvSpPr>
          <p:nvPr/>
        </p:nvSpPr>
        <p:spPr>
          <a:xfrm xmlns:a="http://schemas.openxmlformats.org/drawingml/2006/main">
            <a:off x="12573000" y="6229350"/>
            <a:ext cx="5000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75" b="0">
                <a:solidFill>
                  <a:srgbClr val="3A3745"/>
                </a:solidFill>
                <a:latin typeface="Deck-Semi-Bold"/>
                <a:ea typeface="Deck-Semi-Bold"/>
                <a:cs typeface="Deck-Semi-Bold"/>
              </a:defRPr>
            </a:pPr>
            <a:r>
              <a:rPr sz="3375" b="0">
                <a:solidFill>
                  <a:srgbClr val="3A3745"/>
                </a:solidFill>
                <a:latin typeface="Deck-Semi-Bold"/>
                <a:ea typeface="Deck-Semi-Bold"/>
                <a:cs typeface="Deck-Semi-Bold"/>
              </a:rPr>
              <a:t>Before patient use</a:t>
            </a:r>
          </a:p>
        </p:txBody>
      </p:sp>
      <p:sp>
        <p:nvSpPr>
          <p:cNvPr id="17" name="Verified identity and consent&#10;Real ">
            <a:extLst xmlns:a="http://schemas.openxmlformats.org/drawingml/2006/main">
              <a:ext uri="{FF2B5EF4-FFF2-40B4-BE49-F238E27FC236}">
                <a16:creationId xmlns:a16="http://schemas.microsoft.com/office/drawing/2014/main" id="{9A03D0D2-BA48-4BF3-8650-AB7DF73D92C7}"/>
              </a:ext>
            </a:extLst>
          </p:cNvPr>
          <p:cNvSpPr>
            <a:spLocks xmlns:a="http://schemas.openxmlformats.org/drawingml/2006/main" noGrp="1"/>
          </p:cNvSpPr>
          <p:nvPr/>
        </p:nvSpPr>
        <p:spPr>
          <a:xfrm xmlns:a="http://schemas.openxmlformats.org/drawingml/2006/main">
            <a:off x="12573000" y="7129462"/>
            <a:ext cx="5000625" cy="18430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Verified identity and consent</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Real device integrations</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Durable hosted scheduling</a:t>
            </a:r>
          </a:p>
          <a:p xmlns:a="http://schemas.openxmlformats.org/drawingml/2006/main">
            <a:pPr algn="l">
              <a:lnSpc>
                <a:spcPct val="112000"/>
              </a:lnSpc>
              <a:buNone/>
              <a:defRPr sz="2700" b="0">
                <a:solidFill>
                  <a:srgbClr val="3A3745"/>
                </a:solidFill>
                <a:latin typeface="Deck"/>
                <a:ea typeface="Deck"/>
                <a:cs typeface="Deck"/>
              </a:defRPr>
            </a:pPr>
            <a:r>
              <a:rPr sz="2700" b="0">
                <a:solidFill>
                  <a:srgbClr val="3A3745"/>
                </a:solidFill>
                <a:latin typeface="Deck"/>
                <a:ea typeface="Deck"/>
                <a:cs typeface="Deck"/>
              </a:rPr>
              <a:t>Clinical and user evaluation</a:t>
            </a:r>
          </a:p>
        </p:txBody>
      </p:sp>
      <p:sp>
        <p:nvSpPr>
          <p:cNvPr id="18" name="Care Buddy supports everyday care o">
            <a:extLst xmlns:a="http://schemas.openxmlformats.org/drawingml/2006/main">
              <a:ext uri="{FF2B5EF4-FFF2-40B4-BE49-F238E27FC236}">
                <a16:creationId xmlns:a16="http://schemas.microsoft.com/office/drawing/2014/main" id="{BEC752EF-C8D3-4CD0-B88A-95F2E502BE94}"/>
              </a:ext>
            </a:extLst>
          </p:cNvPr>
          <p:cNvSpPr>
            <a:spLocks xmlns:a="http://schemas.openxmlformats.org/drawingml/2006/main" noGrp="1"/>
          </p:cNvSpPr>
          <p:nvPr/>
        </p:nvSpPr>
        <p:spPr>
          <a:xfrm xmlns:a="http://schemas.openxmlformats.org/drawingml/2006/main">
            <a:off x="714375" y="9315450"/>
            <a:ext cx="1685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88" b="0">
                <a:solidFill>
                  <a:srgbClr val="3A3745"/>
                </a:solidFill>
                <a:latin typeface="Deck"/>
                <a:ea typeface="Deck"/>
                <a:cs typeface="Deck"/>
              </a:defRPr>
            </a:pPr>
            <a:r>
              <a:rPr sz="2588" b="0">
                <a:solidFill>
                  <a:srgbClr val="3A3745"/>
                </a:solidFill>
                <a:latin typeface="Deck"/>
                <a:ea typeface="Deck"/>
                <a:cs typeface="Deck"/>
              </a:rPr>
              <a:t>Care Buddy supports everyday care organisation. Clinicians retain clinical decisions.</a:t>
            </a:r>
          </a:p>
        </p:txBody>
      </p:sp>
      <p:sp>
        <p:nvSpPr>
          <p:cNvPr id="20" name="extension-footer"/>
          <p:cNvSpPr txBox="1"/>
          <p:nvPr/>
        </p:nvSpPr>
        <p:spPr>
          <ns1:xfrm xmlns:ns1="http://schemas.openxmlformats.org/drawingml/2006/main">
            <ns1:off x="17030700" y="9696450"/>
            <ns1:ext cx="476250" cy="285750"/>
          </ns1:xfrm>
          <ns2:prstGeom xmlns:ns2="http://schemas.openxmlformats.org/drawingml/2006/main" prst="rect">
            <ns2:avLst/>
          </ns2:prstGeom>
          <ns3:noFill xmlns:ns3="http://schemas.openxmlformats.org/drawingml/2006/main"/>
          <ns4:ln xmlns:ns4="http://schemas.openxmlformats.org/drawingml/2006/main" w="0">
            <ns4:noFill/>
          </ns4:ln>
        </p:spPr>
        <p:txBody>
          <ns5:bodyPr xmlns:ns5="http://schemas.openxmlformats.org/drawingml/2006/main" wrap="none" lIns="0" tIns="0" rIns="0" bIns="0" anchor="t"/>
          <ns6:lstStyle xmlns:ns6="http://schemas.openxmlformats.org/drawingml/2006/main"/>
          <ns7:p xmlns:ns7="http://schemas.openxmlformats.org/drawingml/2006/main">
            <ns7:r>
              <ns7:rPr sz="1350">
                <ns7:solidFill>
                  <ns7:srgbClr val="77717D"/>
                </ns7:solidFill>
                <ns7:latin typeface="Deck"/>
                <ns7:ea typeface="Deck"/>
                <ns7:cs typeface="Deck"/>
              </ns7:rPr>
              <ns7:t>37</ns7:t>
            </ns7:r>
          </ns7:p>
        </p:txBody>
      </p:sp>
    </p:spTree>
    <p:extLst>
      <p:ext uri="{BB962C8B-B14F-4D97-AF65-F5344CB8AC3E}">
        <p14:creationId xmlns:p14="http://schemas.microsoft.com/office/powerpoint/2010/main" val="1702775988"/>
      </p:ext>
    </p:extLst>
  </p:cSld>
</p:sld>
</file>

<file path=ppt/slides/slide38.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39">
            <a:extLst xmlns:a="http://schemas.openxmlformats.org/drawingml/2006/main">
              <a:ext uri="{FF2B5EF4-FFF2-40B4-BE49-F238E27FC236}">
                <a16:creationId xmlns:a16="http://schemas.microsoft.com/office/drawing/2014/main" id="{3E6DA6A1-1D0F-460C-B5CD-A6884D641B58}"/>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frontend redesign</a:t>
            </a:r>
          </a:p>
        </p:txBody>
      </p:sp>
      <p:sp>
        <p:nvSpPr>
          <p:cNvPr id="2" name="extension-text-40">
            <a:extLst xmlns:a="http://schemas.openxmlformats.org/drawingml/2006/main">
              <a:ext uri="{FF2B5EF4-FFF2-40B4-BE49-F238E27FC236}">
                <a16:creationId xmlns:a16="http://schemas.microsoft.com/office/drawing/2014/main" id="{3DA709AB-75F8-4D17-A98A-5341AD5CF343}"/>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Detailed interface requirements and CodeBuddy’s implementation task list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635cfb961194ac7"/>
          <a:stretch xmlns:a="http://schemas.openxmlformats.org/drawingml/2006/main"/>
        </p:blipFill>
        <p:spPr>
          <a:xfrm xmlns:a="http://schemas.openxmlformats.org/drawingml/2006/main">
            <a:off x="2387757" y="2447925"/>
            <a:ext cx="13512485" cy="6934200"/>
          </a:xfrm>
          <a:prstGeom xmlns:a="http://schemas.openxmlformats.org/drawingml/2006/main" prst="rect">
            <a:avLst/>
          </a:prstGeom>
        </p:spPr>
      </p:pic>
      <p:sp>
        <p:nvSpPr>
          <p:cNvPr id="4" name="extension-text-41">
            <a:extLst xmlns:a="http://schemas.openxmlformats.org/drawingml/2006/main">
              <a:ext uri="{FF2B5EF4-FFF2-40B4-BE49-F238E27FC236}">
                <a16:creationId xmlns:a16="http://schemas.microsoft.com/office/drawing/2014/main" id="{12C42A8C-BE65-483A-B586-7CE89AA3CF62}"/>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Historical UI iteration and development-tool usage</a:t>
            </a:r>
          </a:p>
        </p:txBody>
      </p:sp>
      <p:sp>
        <p:nvSpPr>
          <p:cNvPr id="5" name="extension-text-42">
            <a:extLst xmlns:a="http://schemas.openxmlformats.org/drawingml/2006/main">
              <a:ext uri="{FF2B5EF4-FFF2-40B4-BE49-F238E27FC236}">
                <a16:creationId xmlns:a16="http://schemas.microsoft.com/office/drawing/2014/main" id="{8E488628-B37F-4062-B07F-8DC30764A853}"/>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38</a:t>
            </a:r>
          </a:p>
        </p:txBody>
      </p:sp>
    </p:spTree>
    <p:extLst>
      <p:ext uri="{BB962C8B-B14F-4D97-AF65-F5344CB8AC3E}">
        <p14:creationId xmlns:p14="http://schemas.microsoft.com/office/powerpoint/2010/main" val="712337325"/>
      </p:ext>
    </p:extLst>
  </p:cSld>
</p:sld>
</file>

<file path=ppt/slides/slide39.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43">
            <a:extLst xmlns:a="http://schemas.openxmlformats.org/drawingml/2006/main">
              <a:ext uri="{FF2B5EF4-FFF2-40B4-BE49-F238E27FC236}">
                <a16:creationId xmlns:a16="http://schemas.microsoft.com/office/drawing/2014/main" id="{6D5094D1-D2FF-472C-B470-C6E27B460420}"/>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backend onboarding</a:t>
            </a:r>
          </a:p>
        </p:txBody>
      </p:sp>
      <p:sp>
        <p:nvSpPr>
          <p:cNvPr id="2" name="extension-text-44">
            <a:extLst xmlns:a="http://schemas.openxmlformats.org/drawingml/2006/main">
              <a:ext uri="{FF2B5EF4-FFF2-40B4-BE49-F238E27FC236}">
                <a16:creationId xmlns:a16="http://schemas.microsoft.com/office/drawing/2014/main" id="{263C9C68-00ED-4E7A-BD4E-C6B55E256068}"/>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Source-file reading and a plan for onboarding and family state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ace96c7499742fd"/>
          <a:stretch xmlns:a="http://schemas.openxmlformats.org/drawingml/2006/main"/>
        </p:blipFill>
        <p:spPr>
          <a:xfrm xmlns:a="http://schemas.openxmlformats.org/drawingml/2006/main">
            <a:off x="4328583" y="2447925"/>
            <a:ext cx="9630833" cy="6934200"/>
          </a:xfrm>
          <a:prstGeom xmlns:a="http://schemas.openxmlformats.org/drawingml/2006/main" prst="rect">
            <a:avLst/>
          </a:prstGeom>
        </p:spPr>
      </p:pic>
      <p:sp>
        <p:nvSpPr>
          <p:cNvPr id="4" name="extension-text-45">
            <a:extLst xmlns:a="http://schemas.openxmlformats.org/drawingml/2006/main">
              <a:ext uri="{FF2B5EF4-FFF2-40B4-BE49-F238E27FC236}">
                <a16:creationId xmlns:a16="http://schemas.microsoft.com/office/drawing/2014/main" id="{BD15FCD6-346D-4AC6-B66B-E9B1014840C8}"/>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Development request and investigation, with work in progress</a:t>
            </a:r>
          </a:p>
        </p:txBody>
      </p:sp>
      <p:sp>
        <p:nvSpPr>
          <p:cNvPr id="5" name="extension-text-46">
            <a:extLst xmlns:a="http://schemas.openxmlformats.org/drawingml/2006/main">
              <a:ext uri="{FF2B5EF4-FFF2-40B4-BE49-F238E27FC236}">
                <a16:creationId xmlns:a16="http://schemas.microsoft.com/office/drawing/2014/main" id="{C4F0CA17-A013-4D0C-89AF-A986016857A5}"/>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39</a:t>
            </a:r>
          </a:p>
        </p:txBody>
      </p:sp>
    </p:spTree>
    <p:extLst>
      <p:ext uri="{BB962C8B-B14F-4D97-AF65-F5344CB8AC3E}">
        <p14:creationId xmlns:p14="http://schemas.microsoft.com/office/powerpoint/2010/main" val="269871052"/>
      </p:ext>
    </p:extLst>
  </p:cSld>
</p:sld>
</file>

<file path=ppt/slides/slide40.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6" name="extension-text-47">
            <a:extLst xmlns:a="http://schemas.openxmlformats.org/drawingml/2006/main">
              <a:ext uri="{FF2B5EF4-FFF2-40B4-BE49-F238E27FC236}">
                <a16:creationId xmlns:a16="http://schemas.microsoft.com/office/drawing/2014/main" id="{7EA21603-4D79-449B-8C84-24D723755FCC}"/>
              </a:ext>
            </a:extLst>
          </p:cNvPr>
          <p:cNvSpPr>
            <a:spLocks xmlns:a="http://schemas.openxmlformats.org/drawingml/2006/main" noGrp="1"/>
          </p:cNvSpPr>
          <p:nvPr/>
        </p:nvSpPr>
        <p:spPr>
          <a:xfrm xmlns:a="http://schemas.openxmlformats.org/drawingml/2006/main">
            <a:off x="990600" y="714375"/>
            <a:ext cx="16287750" cy="8290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100">
                <a:solidFill>
                  <a:srgbClr val="3A3745"/>
                </a:solidFill>
                <a:latin typeface="Deck-Semi-Bold"/>
                <a:ea typeface="Deck-Semi-Bold"/>
                <a:cs typeface="Deck-Semi-Bold"/>
              </a:defRPr>
            </a:pPr>
            <a:r>
              <a:rPr sz="5100">
                <a:solidFill>
                  <a:srgbClr val="3A3745"/>
                </a:solidFill>
                <a:latin typeface="Deck-Semi-Bold"/>
                <a:ea typeface="Deck-Semi-Bold"/>
                <a:cs typeface="Deck-Semi-Bold"/>
              </a:rPr>
              <a:t>CodeBuddy: brand and typography</a:t>
            </a:r>
          </a:p>
        </p:txBody>
      </p:sp>
      <p:sp>
        <p:nvSpPr>
          <p:cNvPr id="2" name="extension-text-48">
            <a:extLst xmlns:a="http://schemas.openxmlformats.org/drawingml/2006/main">
              <a:ext uri="{FF2B5EF4-FFF2-40B4-BE49-F238E27FC236}">
                <a16:creationId xmlns:a16="http://schemas.microsoft.com/office/drawing/2014/main" id="{EB8B8E37-6A99-4583-BFB7-D152EE08EE6C}"/>
              </a:ext>
            </a:extLst>
          </p:cNvPr>
          <p:cNvSpPr>
            <a:spLocks xmlns:a="http://schemas.openxmlformats.org/drawingml/2006/main" noGrp="1"/>
          </p:cNvSpPr>
          <p:nvPr/>
        </p:nvSpPr>
        <p:spPr>
          <a:xfrm xmlns:a="http://schemas.openxmlformats.org/drawingml/2006/main">
            <a:off x="1009650" y="1752600"/>
            <a:ext cx="162877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a:solidFill>
                  <a:srgbClr val="4F7A66"/>
                </a:solidFill>
                <a:latin typeface="Deck"/>
                <a:ea typeface="Deck"/>
                <a:cs typeface="Deck"/>
              </a:defRPr>
            </a:pPr>
            <a:r>
              <a:rPr sz="2175">
                <a:solidFill>
                  <a:srgbClr val="4F7A66"/>
                </a:solidFill>
                <a:latin typeface="Deck"/>
                <a:ea typeface="Deck"/>
                <a:cs typeface="Deck"/>
              </a:rPr>
              <a:t>The supplied palette and CodeBuddy’s completed font and colour task list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db2200bce5b46d0"/>
          <a:stretch xmlns:a="http://schemas.openxmlformats.org/drawingml/2006/main"/>
        </p:blipFill>
        <p:spPr>
          <a:xfrm xmlns:a="http://schemas.openxmlformats.org/drawingml/2006/main">
            <a:off x="2674526" y="2447925"/>
            <a:ext cx="12938948" cy="6934200"/>
          </a:xfrm>
          <a:prstGeom xmlns:a="http://schemas.openxmlformats.org/drawingml/2006/main" prst="rect">
            <a:avLst/>
          </a:prstGeom>
        </p:spPr>
      </p:pic>
      <p:sp>
        <p:nvSpPr>
          <p:cNvPr id="4" name="extension-text-49">
            <a:extLst xmlns:a="http://schemas.openxmlformats.org/drawingml/2006/main">
              <a:ext uri="{FF2B5EF4-FFF2-40B4-BE49-F238E27FC236}">
                <a16:creationId xmlns:a16="http://schemas.microsoft.com/office/drawing/2014/main" id="{EBE76B52-AC42-49D3-BDD6-B9A6016E1945}"/>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Brand implementation evidence from the development workflow</a:t>
            </a:r>
          </a:p>
        </p:txBody>
      </p:sp>
      <p:sp>
        <p:nvSpPr>
          <p:cNvPr id="5" name="extension-text-50">
            <a:extLst xmlns:a="http://schemas.openxmlformats.org/drawingml/2006/main">
              <a:ext uri="{FF2B5EF4-FFF2-40B4-BE49-F238E27FC236}">
                <a16:creationId xmlns:a16="http://schemas.microsoft.com/office/drawing/2014/main" id="{DD54914E-BAF1-4D70-AF32-3A4817D2B32E}"/>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40</a:t>
            </a:r>
          </a:p>
        </p:txBody>
      </p:sp>
    </p:spTree>
    <p:extLst>
      <p:ext uri="{BB962C8B-B14F-4D97-AF65-F5344CB8AC3E}">
        <p14:creationId xmlns:p14="http://schemas.microsoft.com/office/powerpoint/2010/main" val="1510906816"/>
      </p:ext>
    </p:extLst>
  </p:cSld>
</p:sld>
</file>

<file path=ppt/slides/slide41.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7" name="extension-text-51">
            <a:extLst xmlns:a="http://schemas.openxmlformats.org/drawingml/2006/main">
              <a:ext uri="{FF2B5EF4-FFF2-40B4-BE49-F238E27FC236}">
                <a16:creationId xmlns:a16="http://schemas.microsoft.com/office/drawing/2014/main" id="{15116129-2EE2-4054-94A8-28573B81EA71}"/>
              </a:ext>
            </a:extLst>
          </p:cNvPr>
          <p:cNvSpPr>
            <a:spLocks xmlns:a="http://schemas.openxmlformats.org/drawingml/2006/main" noGrp="1"/>
          </p:cNvSpPr>
          <p:nvPr/>
        </p:nvSpPr>
        <p:spPr>
          <a:xfrm xmlns:a="http://schemas.openxmlformats.org/drawingml/2006/main">
            <a:off x="990600" y="571500"/>
            <a:ext cx="16287750" cy="9265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a:solidFill>
                  <a:srgbClr val="3A3745"/>
                </a:solidFill>
                <a:latin typeface="Deck-Semi-Bold"/>
                <a:ea typeface="Deck-Semi-Bold"/>
                <a:cs typeface="Deck-Semi-Bold"/>
              </a:defRPr>
            </a:pPr>
            <a:r>
              <a:rPr sz="5700">
                <a:solidFill>
                  <a:srgbClr val="3A3745"/>
                </a:solidFill>
                <a:latin typeface="Deck-Semi-Bold"/>
                <a:ea typeface="Deck-Semi-Bold"/>
                <a:cs typeface="Deck-Semi-Bold"/>
              </a:rPr>
              <a:t>CareBuddy demo video</a:t>
            </a:r>
          </a:p>
        </p:txBody>
      </p:sp>
      <p:sp>
        <p:nvSpPr>
          <p:cNvPr id="2" name="extension-text-52">
            <a:extLst xmlns:a="http://schemas.openxmlformats.org/drawingml/2006/main">
              <a:ext uri="{FF2B5EF4-FFF2-40B4-BE49-F238E27FC236}">
                <a16:creationId xmlns:a16="http://schemas.microsoft.com/office/drawing/2014/main" id="{16E3657F-382D-42A0-B991-6E320F76BCAB}"/>
              </a:ext>
            </a:extLst>
          </p:cNvPr>
          <p:cNvSpPr>
            <a:spLocks xmlns:a="http://schemas.openxmlformats.org/drawingml/2006/main" noGrp="1"/>
          </p:cNvSpPr>
          <p:nvPr/>
        </p:nvSpPr>
        <p:spPr>
          <a:xfrm xmlns:a="http://schemas.openxmlformats.org/drawingml/2006/main">
            <a:off x="1009650" y="1609725"/>
            <a:ext cx="162687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a:solidFill>
                  <a:srgbClr val="4F7A66"/>
                </a:solidFill>
                <a:latin typeface="Deck"/>
                <a:ea typeface="Deck"/>
                <a:cs typeface="Deck"/>
              </a:defRPr>
            </a:pPr>
            <a:r>
              <a:rPr sz="2325">
                <a:solidFill>
                  <a:srgbClr val="4F7A66"/>
                </a:solidFill>
                <a:latin typeface="Deck"/>
                <a:ea typeface="Deck"/>
                <a:cs typeface="Deck"/>
              </a:rPr>
              <a:t>Mobile walkthrough, 5 min 58 sec</a:t>
            </a:r>
          </a:p>
        </p:txBody>
      </p:sp>
      <p:pic>
        <p:nvPicPr>
          <p:cNvPr id="9" name="CareBuddy embedded demo 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ffa2d9266333443d"/>
          <a:stretch xmlns:a="http://schemas.openxmlformats.org/drawingml/2006/main"/>
        </p:blipFill>
        <p:spPr>
          <a:xfrm xmlns:a="http://schemas.openxmlformats.org/drawingml/2006/main">
            <a:off x="2743200" y="2257425"/>
            <a:ext cx="12801600" cy="7200900"/>
          </a:xfrm>
          <a:prstGeom xmlns:a="http://schemas.openxmlformats.org/drawingml/2006/main" prst="rect">
            <a:avLst/>
          </a:prstGeom>
        </p:spPr>
      </p:pic>
      <p:sp>
        <p:nvSpPr>
          <p:cNvPr id="4" name="extension-text-53">
            <a:extLst xmlns:a="http://schemas.openxmlformats.org/drawingml/2006/main">
              <a:ext uri="{FF2B5EF4-FFF2-40B4-BE49-F238E27FC236}">
                <a16:creationId xmlns:a16="http://schemas.microsoft.com/office/drawing/2014/main" id="{55628289-AB31-4E0F-B720-96461DF51FC7}"/>
              </a:ext>
            </a:extLst>
          </p:cNvPr>
          <p:cNvSpPr>
            <a:spLocks xmlns:a="http://schemas.openxmlformats.org/drawingml/2006/main" noGrp="1"/>
          </p:cNvSpPr>
          <p:nvPr/>
        </p:nvSpPr>
        <p:spPr>
          <a:xfrm xmlns:a="http://schemas.openxmlformats.org/drawingml/2006/main">
            <a:off x="990600" y="9715500"/>
            <a:ext cx="8572500" cy="268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77717D"/>
                </a:solidFill>
                <a:latin typeface="Deck"/>
                <a:ea typeface="Deck"/>
                <a:cs typeface="Deck"/>
              </a:defRPr>
            </a:pPr>
            <a:r>
              <a:rPr sz="1650">
                <a:solidFill>
                  <a:srgbClr val="77717D"/>
                </a:solidFill>
                <a:latin typeface="Deck"/>
                <a:ea typeface="Deck"/>
                <a:cs typeface="Deck"/>
              </a:rPr>
              <a:t>Click the video in Slide Show to play</a:t>
            </a:r>
          </a:p>
        </p:txBody>
      </p:sp>
      <p:sp>
        <p:nvSpPr>
          <p:cNvPr id="5" name="hosted-video-link">
            <a:extLst xmlns:a="http://schemas.openxmlformats.org/drawingml/2006/main">
              <a:ext uri="{FF2B5EF4-FFF2-40B4-BE49-F238E27FC236}">
                <a16:creationId xmlns:a16="http://schemas.microsoft.com/office/drawing/2014/main" id="{869D3223-297B-49C8-9D3C-CCE86BD2D16D}"/>
              </a:ext>
            </a:extLst>
            <ns4:hlinkClick xmlns:ns4="http://schemas.openxmlformats.org/drawingml/2006/main" xmlns:ns5="http://schemas.openxmlformats.org/officeDocument/2006/relationships" ns5:id="rIdHostedDemo"/>
          </p:cNvPr>
          <p:cNvSpPr>
            <a:spLocks xmlns:a="http://schemas.openxmlformats.org/drawingml/2006/main" noGrp="1"/>
          </p:cNvSpPr>
          <p:nvPr/>
        </p:nvSpPr>
        <p:spPr>
          <a:xfrm xmlns:a="http://schemas.openxmlformats.org/drawingml/2006/main">
            <a:off x="13144500" y="9715500"/>
            <a:ext cx="3333750" cy="2682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a:solidFill>
                  <a:srgbClr val="4F7A66"/>
                </a:solidFill>
                <a:latin typeface="Deck-Medium"/>
                <a:ea typeface="Deck-Medium"/>
                <a:cs typeface="Deck-Medium"/>
              </a:defRPr>
            </a:pPr>
            <a:r>
              <a:rPr sz="1650">
                <a:solidFill>
                  <a:srgbClr val="4F7A66"/>
                </a:solidFill>
                <a:latin typeface="Deck-Medium"/>
                <a:ea typeface="Deck-Medium"/>
                <a:cs typeface="Deck-Medium"/>
              </a:rPr>
              <a:t>Open hosted video</a:t>
            </a:r>
          </a:p>
        </p:txBody>
      </p:sp>
      <p:sp>
        <p:nvSpPr>
          <p:cNvPr id="6" name="extension-text-54">
            <a:extLst xmlns:a="http://schemas.openxmlformats.org/drawingml/2006/main">
              <a:ext uri="{FF2B5EF4-FFF2-40B4-BE49-F238E27FC236}">
                <a16:creationId xmlns:a16="http://schemas.microsoft.com/office/drawing/2014/main" id="{A4039C72-260C-4649-8737-54C407EF1D7C}"/>
              </a:ext>
            </a:extLst>
          </p:cNvPr>
          <p:cNvSpPr>
            <a:spLocks xmlns:a="http://schemas.openxmlformats.org/drawingml/2006/main" noGrp="1"/>
          </p:cNvSpPr>
          <p:nvPr/>
        </p:nvSpPr>
        <p:spPr>
          <a:xfrm xmlns:a="http://schemas.openxmlformats.org/drawingml/2006/main">
            <a:off x="17030700" y="971550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41</a:t>
            </a:r>
          </a:p>
        </p:txBody>
      </p:sp>
    </p:spTree>
    <p:extLst>
      <p:ext uri="{BB962C8B-B14F-4D97-AF65-F5344CB8AC3E}">
        <p14:creationId xmlns:p14="http://schemas.microsoft.com/office/powerpoint/2010/main" val="1430388030"/>
      </p:ext>
    </p:extLst>
  </p:cSld>
  <p:timing>
    <p:tnLst>
      <p:par>
        <p:cTn id="1" dur="indefinite" restart="never" nodeType="tmRoot">
          <p:childTnLst>
            <p:video fullScrn="0">
              <p:cMediaNode vol="80000">
                <p:cTn id="2" fill="hold" display="0">
                  <p:stCondLst>
                    <p:cond delay="indefinite"/>
                  </p:stCondLst>
                </p:cTn>
                <p:tgtEl>
                  <p:spTgt spid="9"/>
                </p:tgtEl>
              </p:cMediaNode>
            </p:video>
          </p:childTnLst>
        </p:cTn>
      </p:par>
    </p:tnLst>
  </p:timing>
</p:sld>
</file>

<file path=ppt/slides/slide42.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4" name="extension-text-55">
            <a:extLst xmlns:a="http://schemas.openxmlformats.org/drawingml/2006/main">
              <a:ext uri="{FF2B5EF4-FFF2-40B4-BE49-F238E27FC236}">
                <a16:creationId xmlns:a16="http://schemas.microsoft.com/office/drawing/2014/main" id="{B83B6C5E-33FE-4EC3-85E2-12ADD265C3B5}"/>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SECURITY &amp; PRIVACY</a:t>
            </a:r>
          </a:p>
        </p:txBody>
      </p:sp>
      <p:sp>
        <p:nvSpPr>
          <p:cNvPr id="2" name="extension-text-56">
            <a:extLst xmlns:a="http://schemas.openxmlformats.org/drawingml/2006/main">
              <a:ext uri="{FF2B5EF4-FFF2-40B4-BE49-F238E27FC236}">
                <a16:creationId xmlns:a16="http://schemas.microsoft.com/office/drawing/2014/main" id="{B952B983-E419-4CDD-8F7D-926A99FC2BB0}"/>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Security for production</a:t>
            </a:r>
          </a:p>
        </p:txBody>
      </p:sp>
      <p:sp>
        <p:nvSpPr>
          <p:cNvPr id="3" name="extension-text-57">
            <a:extLst xmlns:a="http://schemas.openxmlformats.org/drawingml/2006/main">
              <a:ext uri="{FF2B5EF4-FFF2-40B4-BE49-F238E27FC236}">
                <a16:creationId xmlns:a16="http://schemas.microsoft.com/office/drawing/2014/main" id="{DCB8328F-D5DB-4E51-8329-924F8BACC6A3}"/>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Proposed controls for a dependable service handling personal care data</a:t>
            </a:r>
          </a:p>
        </p:txBody>
      </p:sp>
      <p:sp>
        <p:nvSpPr>
          <p:cNvPr id="4" name="extension-text-58">
            <a:extLst xmlns:a="http://schemas.openxmlformats.org/drawingml/2006/main">
              <a:ext uri="{FF2B5EF4-FFF2-40B4-BE49-F238E27FC236}">
                <a16:creationId xmlns:a16="http://schemas.microsoft.com/office/drawing/2014/main" id="{4553E7FE-E068-46DF-9608-6E858D66E1A3}"/>
              </a:ext>
            </a:extLst>
          </p:cNvPr>
          <p:cNvSpPr>
            <a:spLocks xmlns:a="http://schemas.openxmlformats.org/drawingml/2006/main" noGrp="1"/>
          </p:cNvSpPr>
          <p:nvPr/>
        </p:nvSpPr>
        <p:spPr>
          <a:xfrm xmlns:a="http://schemas.openxmlformats.org/drawingml/2006/main">
            <a:off x="10096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Encryption</a:t>
            </a:r>
          </a:p>
        </p:txBody>
      </p:sp>
      <p:sp>
        <p:nvSpPr>
          <p:cNvPr id="5" name="extension-text-59">
            <a:extLst xmlns:a="http://schemas.openxmlformats.org/drawingml/2006/main">
              <a:ext uri="{FF2B5EF4-FFF2-40B4-BE49-F238E27FC236}">
                <a16:creationId xmlns:a16="http://schemas.microsoft.com/office/drawing/2014/main" id="{C077E0CE-6518-4067-9FE3-5AC05914FD39}"/>
              </a:ext>
            </a:extLst>
          </p:cNvPr>
          <p:cNvSpPr>
            <a:spLocks xmlns:a="http://schemas.openxmlformats.org/drawingml/2006/main" noGrp="1"/>
          </p:cNvSpPr>
          <p:nvPr/>
        </p:nvSpPr>
        <p:spPr>
          <a:xfrm xmlns:a="http://schemas.openxmlformats.org/drawingml/2006/main">
            <a:off x="10096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TLS 1.2+ for data in transit.</a:t>
            </a:r>
          </a:p>
        </p:txBody>
      </p:sp>
      <p:sp>
        <p:nvSpPr>
          <p:cNvPr id="6" name="extension-text-60">
            <a:extLst xmlns:a="http://schemas.openxmlformats.org/drawingml/2006/main">
              <a:ext uri="{FF2B5EF4-FFF2-40B4-BE49-F238E27FC236}">
                <a16:creationId xmlns:a16="http://schemas.microsoft.com/office/drawing/2014/main" id="{D29DDCDD-638D-4BDA-B9E7-188FE058077D}"/>
              </a:ext>
            </a:extLst>
          </p:cNvPr>
          <p:cNvSpPr>
            <a:spLocks xmlns:a="http://schemas.openxmlformats.org/drawingml/2006/main" noGrp="1"/>
          </p:cNvSpPr>
          <p:nvPr/>
        </p:nvSpPr>
        <p:spPr>
          <a:xfrm xmlns:a="http://schemas.openxmlformats.org/drawingml/2006/main">
            <a:off x="10096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AES-256 for databases, files and backups.</a:t>
            </a:r>
          </a:p>
        </p:txBody>
      </p:sp>
      <p:sp>
        <p:nvSpPr>
          <p:cNvPr id="7" name="extension-text-61">
            <a:extLst xmlns:a="http://schemas.openxmlformats.org/drawingml/2006/main">
              <a:ext uri="{FF2B5EF4-FFF2-40B4-BE49-F238E27FC236}">
                <a16:creationId xmlns:a16="http://schemas.microsoft.com/office/drawing/2014/main" id="{B05D7314-15D8-4E39-AC3D-7FF78050D88D}"/>
              </a:ext>
            </a:extLst>
          </p:cNvPr>
          <p:cNvSpPr>
            <a:spLocks xmlns:a="http://schemas.openxmlformats.org/drawingml/2006/main" noGrp="1"/>
          </p:cNvSpPr>
          <p:nvPr/>
        </p:nvSpPr>
        <p:spPr>
          <a:xfrm xmlns:a="http://schemas.openxmlformats.org/drawingml/2006/main">
            <a:off x="10096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Manage and rotate keys through KMS.</a:t>
            </a:r>
          </a:p>
        </p:txBody>
      </p:sp>
      <p:sp>
        <p:nvSpPr>
          <p:cNvPr id="8" name="extension-text-62">
            <a:extLst xmlns:a="http://schemas.openxmlformats.org/drawingml/2006/main">
              <a:ext uri="{FF2B5EF4-FFF2-40B4-BE49-F238E27FC236}">
                <a16:creationId xmlns:a16="http://schemas.microsoft.com/office/drawing/2014/main" id="{C3C6EFD7-FA0E-45CF-AA9F-03AF8E0CADD2}"/>
              </a:ext>
            </a:extLst>
          </p:cNvPr>
          <p:cNvSpPr>
            <a:spLocks xmlns:a="http://schemas.openxmlformats.org/drawingml/2006/main" noGrp="1"/>
          </p:cNvSpPr>
          <p:nvPr/>
        </p:nvSpPr>
        <p:spPr>
          <a:xfrm xmlns:a="http://schemas.openxmlformats.org/drawingml/2006/main">
            <a:off x="93154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Data segregation</a:t>
            </a:r>
          </a:p>
        </p:txBody>
      </p:sp>
      <p:sp>
        <p:nvSpPr>
          <p:cNvPr id="9" name="extension-text-63">
            <a:extLst xmlns:a="http://schemas.openxmlformats.org/drawingml/2006/main">
              <a:ext uri="{FF2B5EF4-FFF2-40B4-BE49-F238E27FC236}">
                <a16:creationId xmlns:a16="http://schemas.microsoft.com/office/drawing/2014/main" id="{0E13A566-198B-46CD-AB74-8BF0640FBCBA}"/>
              </a:ext>
            </a:extLst>
          </p:cNvPr>
          <p:cNvSpPr>
            <a:spLocks xmlns:a="http://schemas.openxmlformats.org/drawingml/2006/main" noGrp="1"/>
          </p:cNvSpPr>
          <p:nvPr/>
        </p:nvSpPr>
        <p:spPr>
          <a:xfrm xmlns:a="http://schemas.openxmlformats.org/drawingml/2006/main">
            <a:off x="93154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Verify tenant and care-circle scope for</a:t>
            </a:r>
          </a:p>
        </p:txBody>
      </p:sp>
      <p:sp>
        <p:nvSpPr>
          <p:cNvPr id="10" name="extension-text-64">
            <a:extLst xmlns:a="http://schemas.openxmlformats.org/drawingml/2006/main">
              <a:ext uri="{FF2B5EF4-FFF2-40B4-BE49-F238E27FC236}">
                <a16:creationId xmlns:a16="http://schemas.microsoft.com/office/drawing/2014/main" id="{B68DC3D7-2C82-497D-AAE3-E8A6D16B495A}"/>
              </a:ext>
            </a:extLst>
          </p:cNvPr>
          <p:cNvSpPr>
            <a:spLocks xmlns:a="http://schemas.openxmlformats.org/drawingml/2006/main" noGrp="1"/>
          </p:cNvSpPr>
          <p:nvPr/>
        </p:nvSpPr>
        <p:spPr>
          <a:xfrm xmlns:a="http://schemas.openxmlformats.org/drawingml/2006/main">
            <a:off x="93154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records, files, jobs and AI context.</a:t>
            </a:r>
          </a:p>
        </p:txBody>
      </p:sp>
      <p:sp>
        <p:nvSpPr>
          <p:cNvPr id="11" name="extension-text-65">
            <a:extLst xmlns:a="http://schemas.openxmlformats.org/drawingml/2006/main">
              <a:ext uri="{FF2B5EF4-FFF2-40B4-BE49-F238E27FC236}">
                <a16:creationId xmlns:a16="http://schemas.microsoft.com/office/drawing/2014/main" id="{96DE7024-1D75-44DD-95AD-E422EFFE73B3}"/>
              </a:ext>
            </a:extLst>
          </p:cNvPr>
          <p:cNvSpPr>
            <a:spLocks xmlns:a="http://schemas.openxmlformats.org/drawingml/2006/main" noGrp="1"/>
          </p:cNvSpPr>
          <p:nvPr/>
        </p:nvSpPr>
        <p:spPr>
          <a:xfrm xmlns:a="http://schemas.openxmlformats.org/drawingml/2006/main">
            <a:off x="93154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Separate production from demo and test data.</a:t>
            </a:r>
          </a:p>
        </p:txBody>
      </p:sp>
      <p:sp>
        <p:nvSpPr>
          <p:cNvPr id="12" name="extension-text-66">
            <a:extLst xmlns:a="http://schemas.openxmlformats.org/drawingml/2006/main">
              <a:ext uri="{FF2B5EF4-FFF2-40B4-BE49-F238E27FC236}">
                <a16:creationId xmlns:a16="http://schemas.microsoft.com/office/drawing/2014/main" id="{623F5208-6548-4CCC-8DA6-A91B07801CB4}"/>
              </a:ext>
            </a:extLst>
          </p:cNvPr>
          <p:cNvSpPr>
            <a:spLocks xmlns:a="http://schemas.openxmlformats.org/drawingml/2006/main" noGrp="1"/>
          </p:cNvSpPr>
          <p:nvPr/>
        </p:nvSpPr>
        <p:spPr>
          <a:xfrm xmlns:a="http://schemas.openxmlformats.org/drawingml/2006/main">
            <a:off x="10096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Access and secrets</a:t>
            </a:r>
          </a:p>
        </p:txBody>
      </p:sp>
      <p:sp>
        <p:nvSpPr>
          <p:cNvPr id="13" name="extension-text-67">
            <a:extLst xmlns:a="http://schemas.openxmlformats.org/drawingml/2006/main">
              <a:ext uri="{FF2B5EF4-FFF2-40B4-BE49-F238E27FC236}">
                <a16:creationId xmlns:a16="http://schemas.microsoft.com/office/drawing/2014/main" id="{03F7FBEE-9310-4F1A-9053-C013A8D24D6B}"/>
              </a:ext>
            </a:extLst>
          </p:cNvPr>
          <p:cNvSpPr>
            <a:spLocks xmlns:a="http://schemas.openxmlformats.org/drawingml/2006/main" noGrp="1"/>
          </p:cNvSpPr>
          <p:nvPr/>
        </p:nvSpPr>
        <p:spPr>
          <a:xfrm xmlns:a="http://schemas.openxmlformats.org/drawingml/2006/main">
            <a:off x="10096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Verified sign-in and minimum necessary access.</a:t>
            </a:r>
          </a:p>
        </p:txBody>
      </p:sp>
      <p:sp>
        <p:nvSpPr>
          <p:cNvPr id="14" name="extension-text-68">
            <a:extLst xmlns:a="http://schemas.openxmlformats.org/drawingml/2006/main">
              <a:ext uri="{FF2B5EF4-FFF2-40B4-BE49-F238E27FC236}">
                <a16:creationId xmlns:a16="http://schemas.microsoft.com/office/drawing/2014/main" id="{103DFC45-94E0-4F12-B338-6B92BD82F894}"/>
              </a:ext>
            </a:extLst>
          </p:cNvPr>
          <p:cNvSpPr>
            <a:spLocks xmlns:a="http://schemas.openxmlformats.org/drawingml/2006/main" noGrp="1"/>
          </p:cNvSpPr>
          <p:nvPr/>
        </p:nvSpPr>
        <p:spPr>
          <a:xfrm xmlns:a="http://schemas.openxmlformats.org/drawingml/2006/main">
            <a:off x="10096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MFA for privileged operators.</a:t>
            </a:r>
          </a:p>
        </p:txBody>
      </p:sp>
      <p:sp>
        <p:nvSpPr>
          <p:cNvPr id="15" name="extension-text-69">
            <a:extLst xmlns:a="http://schemas.openxmlformats.org/drawingml/2006/main">
              <a:ext uri="{FF2B5EF4-FFF2-40B4-BE49-F238E27FC236}">
                <a16:creationId xmlns:a16="http://schemas.microsoft.com/office/drawing/2014/main" id="{BCC91C9A-F343-4E97-ADF1-07D862974D77}"/>
              </a:ext>
            </a:extLst>
          </p:cNvPr>
          <p:cNvSpPr>
            <a:spLocks xmlns:a="http://schemas.openxmlformats.org/drawingml/2006/main" noGrp="1"/>
          </p:cNvSpPr>
          <p:nvPr/>
        </p:nvSpPr>
        <p:spPr>
          <a:xfrm xmlns:a="http://schemas.openxmlformats.org/drawingml/2006/main">
            <a:off x="10096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Keep AI keys and credentials on the server.</a:t>
            </a:r>
          </a:p>
        </p:txBody>
      </p:sp>
      <p:sp>
        <p:nvSpPr>
          <p:cNvPr id="16" name="extension-text-70">
            <a:extLst xmlns:a="http://schemas.openxmlformats.org/drawingml/2006/main">
              <a:ext uri="{FF2B5EF4-FFF2-40B4-BE49-F238E27FC236}">
                <a16:creationId xmlns:a16="http://schemas.microsoft.com/office/drawing/2014/main" id="{F0551721-22BF-4088-8D18-A51B644D53AA}"/>
              </a:ext>
            </a:extLst>
          </p:cNvPr>
          <p:cNvSpPr>
            <a:spLocks xmlns:a="http://schemas.openxmlformats.org/drawingml/2006/main" noGrp="1"/>
          </p:cNvSpPr>
          <p:nvPr/>
        </p:nvSpPr>
        <p:spPr>
          <a:xfrm xmlns:a="http://schemas.openxmlformats.org/drawingml/2006/main">
            <a:off x="93154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Monitoring and recovery</a:t>
            </a:r>
          </a:p>
        </p:txBody>
      </p:sp>
      <p:sp>
        <p:nvSpPr>
          <p:cNvPr id="17" name="extension-text-71">
            <a:extLst xmlns:a="http://schemas.openxmlformats.org/drawingml/2006/main">
              <a:ext uri="{FF2B5EF4-FFF2-40B4-BE49-F238E27FC236}">
                <a16:creationId xmlns:a16="http://schemas.microsoft.com/office/drawing/2014/main" id="{C3F78AC0-E8BF-4501-B59B-B5834FCE7EE3}"/>
              </a:ext>
            </a:extLst>
          </p:cNvPr>
          <p:cNvSpPr>
            <a:spLocks xmlns:a="http://schemas.openxmlformats.org/drawingml/2006/main" noGrp="1"/>
          </p:cNvSpPr>
          <p:nvPr/>
        </p:nvSpPr>
        <p:spPr>
          <a:xfrm xmlns:a="http://schemas.openxmlformats.org/drawingml/2006/main">
            <a:off x="93154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Log access and changes without care content.</a:t>
            </a:r>
          </a:p>
        </p:txBody>
      </p:sp>
      <p:sp>
        <p:nvSpPr>
          <p:cNvPr id="18" name="extension-text-72">
            <a:extLst xmlns:a="http://schemas.openxmlformats.org/drawingml/2006/main">
              <a:ext uri="{FF2B5EF4-FFF2-40B4-BE49-F238E27FC236}">
                <a16:creationId xmlns:a16="http://schemas.microsoft.com/office/drawing/2014/main" id="{EDE961D4-4197-40DC-BBAF-6CA61C640858}"/>
              </a:ext>
            </a:extLst>
          </p:cNvPr>
          <p:cNvSpPr>
            <a:spLocks xmlns:a="http://schemas.openxmlformats.org/drawingml/2006/main" noGrp="1"/>
          </p:cNvSpPr>
          <p:nvPr/>
        </p:nvSpPr>
        <p:spPr>
          <a:xfrm xmlns:a="http://schemas.openxmlformats.org/drawingml/2006/main">
            <a:off x="93154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Rate-limit APIs and detect unusual activity.</a:t>
            </a:r>
          </a:p>
        </p:txBody>
      </p:sp>
      <p:sp>
        <p:nvSpPr>
          <p:cNvPr id="19" name="extension-text-73">
            <a:extLst xmlns:a="http://schemas.openxmlformats.org/drawingml/2006/main">
              <a:ext uri="{FF2B5EF4-FFF2-40B4-BE49-F238E27FC236}">
                <a16:creationId xmlns:a16="http://schemas.microsoft.com/office/drawing/2014/main" id="{84185AD6-513D-4819-8307-AAE8B7E08BA9}"/>
              </a:ext>
            </a:extLst>
          </p:cNvPr>
          <p:cNvSpPr>
            <a:spLocks xmlns:a="http://schemas.openxmlformats.org/drawingml/2006/main" noGrp="1"/>
          </p:cNvSpPr>
          <p:nvPr/>
        </p:nvSpPr>
        <p:spPr>
          <a:xfrm xmlns:a="http://schemas.openxmlformats.org/drawingml/2006/main">
            <a:off x="93154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Test encrypted restores and incident response.</a:t>
            </a:r>
          </a:p>
        </p:txBody>
      </p:sp>
      <p:sp>
        <p:nvSpPr>
          <p:cNvPr id="20" name="">
            <a:extLst xmlns:a="http://schemas.openxmlformats.org/drawingml/2006/main">
              <a:ext uri="{FF2B5EF4-FFF2-40B4-BE49-F238E27FC236}">
                <a16:creationId xmlns:a16="http://schemas.microsoft.com/office/drawing/2014/main" id="{5A6C6ACD-200F-405E-AC22-0A761F80664A}"/>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1" name="">
            <a:extLst xmlns:a="http://schemas.openxmlformats.org/drawingml/2006/main">
              <a:ext uri="{FF2B5EF4-FFF2-40B4-BE49-F238E27FC236}">
                <a16:creationId xmlns:a16="http://schemas.microsoft.com/office/drawing/2014/main" id="{B73831F3-955E-4A88-9141-754936EFDD23}"/>
              </a:ext>
            </a:extLst>
          </p:cNvPr>
          <p:cNvSpPr>
            <a:spLocks xmlns:a="http://schemas.openxmlformats.org/drawingml/2006/main" noGrp="1"/>
          </p:cNvSpPr>
          <p:nvPr/>
        </p:nvSpPr>
        <p:spPr>
          <a:xfrm xmlns:a="http://schemas.openxmlformats.org/drawingml/2006/main">
            <a:off x="1009650" y="60388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2" name="extension-text-74">
            <a:extLst xmlns:a="http://schemas.openxmlformats.org/drawingml/2006/main">
              <a:ext uri="{FF2B5EF4-FFF2-40B4-BE49-F238E27FC236}">
                <a16:creationId xmlns:a16="http://schemas.microsoft.com/office/drawing/2014/main" id="{F7624FC9-0895-4F3C-9AA5-763B5EBD7111}"/>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production design. Implementation and verification are required before deployment with real patient data.</a:t>
            </a:r>
          </a:p>
        </p:txBody>
      </p:sp>
      <p:sp>
        <p:nvSpPr>
          <p:cNvPr id="23" name="extension-text-75">
            <a:extLst xmlns:a="http://schemas.openxmlformats.org/drawingml/2006/main">
              <a:ext uri="{FF2B5EF4-FFF2-40B4-BE49-F238E27FC236}">
                <a16:creationId xmlns:a16="http://schemas.microsoft.com/office/drawing/2014/main" id="{5138B852-8C66-4D03-9061-E3226A3E2DB2}"/>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42</a:t>
            </a:r>
          </a:p>
        </p:txBody>
      </p:sp>
    </p:spTree>
    <p:extLst>
      <p:ext uri="{BB962C8B-B14F-4D97-AF65-F5344CB8AC3E}">
        <p14:creationId xmlns:p14="http://schemas.microsoft.com/office/powerpoint/2010/main" val="905826164"/>
      </p:ext>
    </p:extLst>
  </p:cSld>
</p:sld>
</file>

<file path=ppt/slides/slide43.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24" name="extension-text-76">
            <a:extLst xmlns:a="http://schemas.openxmlformats.org/drawingml/2006/main">
              <a:ext uri="{FF2B5EF4-FFF2-40B4-BE49-F238E27FC236}">
                <a16:creationId xmlns:a16="http://schemas.microsoft.com/office/drawing/2014/main" id="{6FBD9326-1633-4ED8-BE8D-3CBF5A626666}"/>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SECURITY &amp; PRIVACY</a:t>
            </a:r>
          </a:p>
        </p:txBody>
      </p:sp>
      <p:sp>
        <p:nvSpPr>
          <p:cNvPr id="2" name="extension-text-77">
            <a:extLst xmlns:a="http://schemas.openxmlformats.org/drawingml/2006/main">
              <a:ext uri="{FF2B5EF4-FFF2-40B4-BE49-F238E27FC236}">
                <a16:creationId xmlns:a16="http://schemas.microsoft.com/office/drawing/2014/main" id="{C22F288D-597E-406F-85BC-68C65B8AE03A}"/>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Privacy and consent</a:t>
            </a:r>
          </a:p>
        </p:txBody>
      </p:sp>
      <p:sp>
        <p:nvSpPr>
          <p:cNvPr id="3" name="extension-text-78">
            <a:extLst xmlns:a="http://schemas.openxmlformats.org/drawingml/2006/main">
              <a:ext uri="{FF2B5EF4-FFF2-40B4-BE49-F238E27FC236}">
                <a16:creationId xmlns:a16="http://schemas.microsoft.com/office/drawing/2014/main" id="{DB45A4FE-C49A-4ACA-AB89-E7C023E4ECCC}"/>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Proposed controls give people a clear choice over their care information</a:t>
            </a:r>
          </a:p>
        </p:txBody>
      </p:sp>
      <p:sp>
        <p:nvSpPr>
          <p:cNvPr id="4" name="extension-text-79">
            <a:extLst xmlns:a="http://schemas.openxmlformats.org/drawingml/2006/main">
              <a:ext uri="{FF2B5EF4-FFF2-40B4-BE49-F238E27FC236}">
                <a16:creationId xmlns:a16="http://schemas.microsoft.com/office/drawing/2014/main" id="{7430AB56-0061-4813-8A7D-F3F264CF4EE4}"/>
              </a:ext>
            </a:extLst>
          </p:cNvPr>
          <p:cNvSpPr>
            <a:spLocks xmlns:a="http://schemas.openxmlformats.org/drawingml/2006/main" noGrp="1"/>
          </p:cNvSpPr>
          <p:nvPr/>
        </p:nvSpPr>
        <p:spPr>
          <a:xfrm xmlns:a="http://schemas.openxmlformats.org/drawingml/2006/main">
            <a:off x="10096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Sharing by choice</a:t>
            </a:r>
          </a:p>
        </p:txBody>
      </p:sp>
      <p:sp>
        <p:nvSpPr>
          <p:cNvPr id="5" name="extension-text-80">
            <a:extLst xmlns:a="http://schemas.openxmlformats.org/drawingml/2006/main">
              <a:ext uri="{FF2B5EF4-FFF2-40B4-BE49-F238E27FC236}">
                <a16:creationId xmlns:a16="http://schemas.microsoft.com/office/drawing/2014/main" id="{8BA86B7D-2812-407A-94E7-80A46D648EF2}"/>
              </a:ext>
            </a:extLst>
          </p:cNvPr>
          <p:cNvSpPr>
            <a:spLocks xmlns:a="http://schemas.openxmlformats.org/drawingml/2006/main" noGrp="1"/>
          </p:cNvSpPr>
          <p:nvPr/>
        </p:nvSpPr>
        <p:spPr>
          <a:xfrm xmlns:a="http://schemas.openxmlformats.org/drawingml/2006/main">
            <a:off x="10096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Choose who can view or manage each circle.</a:t>
            </a:r>
          </a:p>
        </p:txBody>
      </p:sp>
      <p:sp>
        <p:nvSpPr>
          <p:cNvPr id="6" name="extension-text-81">
            <a:extLst xmlns:a="http://schemas.openxmlformats.org/drawingml/2006/main">
              <a:ext uri="{FF2B5EF4-FFF2-40B4-BE49-F238E27FC236}">
                <a16:creationId xmlns:a16="http://schemas.microsoft.com/office/drawing/2014/main" id="{D2B9A71D-0116-4547-A90F-A7713E87D965}"/>
              </a:ext>
            </a:extLst>
          </p:cNvPr>
          <p:cNvSpPr>
            <a:spLocks xmlns:a="http://schemas.openxmlformats.org/drawingml/2006/main" noGrp="1"/>
          </p:cNvSpPr>
          <p:nvPr/>
        </p:nvSpPr>
        <p:spPr>
          <a:xfrm xmlns:a="http://schemas.openxmlformats.org/drawingml/2006/main">
            <a:off x="10096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Revoke sharing and assistant connections.</a:t>
            </a:r>
          </a:p>
        </p:txBody>
      </p:sp>
      <p:sp>
        <p:nvSpPr>
          <p:cNvPr id="7" name="extension-text-82">
            <a:extLst xmlns:a="http://schemas.openxmlformats.org/drawingml/2006/main">
              <a:ext uri="{FF2B5EF4-FFF2-40B4-BE49-F238E27FC236}">
                <a16:creationId xmlns:a16="http://schemas.microsoft.com/office/drawing/2014/main" id="{0F4E006F-D2DA-4AC5-BF87-D713385DFE74}"/>
              </a:ext>
            </a:extLst>
          </p:cNvPr>
          <p:cNvSpPr>
            <a:spLocks xmlns:a="http://schemas.openxmlformats.org/drawingml/2006/main" noGrp="1"/>
          </p:cNvSpPr>
          <p:nvPr/>
        </p:nvSpPr>
        <p:spPr>
          <a:xfrm xmlns:a="http://schemas.openxmlformats.org/drawingml/2006/main">
            <a:off x="10096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Keep sponsor reporting separate from records.</a:t>
            </a:r>
          </a:p>
        </p:txBody>
      </p:sp>
      <p:sp>
        <p:nvSpPr>
          <p:cNvPr id="8" name="extension-text-83">
            <a:extLst xmlns:a="http://schemas.openxmlformats.org/drawingml/2006/main">
              <a:ext uri="{FF2B5EF4-FFF2-40B4-BE49-F238E27FC236}">
                <a16:creationId xmlns:a16="http://schemas.microsoft.com/office/drawing/2014/main" id="{47A475E4-5131-4AC3-B1BD-A00581C698DF}"/>
              </a:ext>
            </a:extLst>
          </p:cNvPr>
          <p:cNvSpPr>
            <a:spLocks xmlns:a="http://schemas.openxmlformats.org/drawingml/2006/main" noGrp="1"/>
          </p:cNvSpPr>
          <p:nvPr/>
        </p:nvSpPr>
        <p:spPr>
          <a:xfrm xmlns:a="http://schemas.openxmlformats.org/drawingml/2006/main">
            <a:off x="9315450" y="360045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Minimal AI context</a:t>
            </a:r>
          </a:p>
        </p:txBody>
      </p:sp>
      <p:sp>
        <p:nvSpPr>
          <p:cNvPr id="9" name="extension-text-84">
            <a:extLst xmlns:a="http://schemas.openxmlformats.org/drawingml/2006/main">
              <a:ext uri="{FF2B5EF4-FFF2-40B4-BE49-F238E27FC236}">
                <a16:creationId xmlns:a16="http://schemas.microsoft.com/office/drawing/2014/main" id="{B1780F97-83C3-443D-ACE6-889E12A739EF}"/>
              </a:ext>
            </a:extLst>
          </p:cNvPr>
          <p:cNvSpPr>
            <a:spLocks xmlns:a="http://schemas.openxmlformats.org/drawingml/2006/main" noGrp="1"/>
          </p:cNvSpPr>
          <p:nvPr/>
        </p:nvSpPr>
        <p:spPr>
          <a:xfrm xmlns:a="http://schemas.openxmlformats.org/drawingml/2006/main">
            <a:off x="9315450" y="42862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Send only authorised information needed</a:t>
            </a:r>
          </a:p>
        </p:txBody>
      </p:sp>
      <p:sp>
        <p:nvSpPr>
          <p:cNvPr id="10" name="extension-text-85">
            <a:extLst xmlns:a="http://schemas.openxmlformats.org/drawingml/2006/main">
              <a:ext uri="{FF2B5EF4-FFF2-40B4-BE49-F238E27FC236}">
                <a16:creationId xmlns:a16="http://schemas.microsoft.com/office/drawing/2014/main" id="{9233A5A7-1BD9-4136-BFC9-4896020E5543}"/>
              </a:ext>
            </a:extLst>
          </p:cNvPr>
          <p:cNvSpPr>
            <a:spLocks xmlns:a="http://schemas.openxmlformats.org/drawingml/2006/main" noGrp="1"/>
          </p:cNvSpPr>
          <p:nvPr/>
        </p:nvSpPr>
        <p:spPr>
          <a:xfrm xmlns:a="http://schemas.openxmlformats.org/drawingml/2006/main">
            <a:off x="9315450" y="47053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for the task. Remove unnecessary identifiers.</a:t>
            </a:r>
          </a:p>
        </p:txBody>
      </p:sp>
      <p:sp>
        <p:nvSpPr>
          <p:cNvPr id="11" name="extension-text-86">
            <a:extLst xmlns:a="http://schemas.openxmlformats.org/drawingml/2006/main">
              <a:ext uri="{FF2B5EF4-FFF2-40B4-BE49-F238E27FC236}">
                <a16:creationId xmlns:a16="http://schemas.microsoft.com/office/drawing/2014/main" id="{A8A8E7D3-2CE9-4DFA-9A33-F48381A9734E}"/>
              </a:ext>
            </a:extLst>
          </p:cNvPr>
          <p:cNvSpPr>
            <a:spLocks xmlns:a="http://schemas.openxmlformats.org/drawingml/2006/main" noGrp="1"/>
          </p:cNvSpPr>
          <p:nvPr/>
        </p:nvSpPr>
        <p:spPr>
          <a:xfrm xmlns:a="http://schemas.openxmlformats.org/drawingml/2006/main">
            <a:off x="9315450" y="512445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Review provider retention and data-use terms.</a:t>
            </a:r>
          </a:p>
        </p:txBody>
      </p:sp>
      <p:sp>
        <p:nvSpPr>
          <p:cNvPr id="12" name="extension-text-87">
            <a:extLst xmlns:a="http://schemas.openxmlformats.org/drawingml/2006/main">
              <a:ext uri="{FF2B5EF4-FFF2-40B4-BE49-F238E27FC236}">
                <a16:creationId xmlns:a16="http://schemas.microsoft.com/office/drawing/2014/main" id="{48546BAB-0618-457D-9DFB-8C3AB8DFD9A3}"/>
              </a:ext>
            </a:extLst>
          </p:cNvPr>
          <p:cNvSpPr>
            <a:spLocks xmlns:a="http://schemas.openxmlformats.org/drawingml/2006/main" noGrp="1"/>
          </p:cNvSpPr>
          <p:nvPr/>
        </p:nvSpPr>
        <p:spPr>
          <a:xfrm xmlns:a="http://schemas.openxmlformats.org/drawingml/2006/main">
            <a:off x="10096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Purpose and retention</a:t>
            </a:r>
          </a:p>
        </p:txBody>
      </p:sp>
      <p:sp>
        <p:nvSpPr>
          <p:cNvPr id="13" name="extension-text-88">
            <a:extLst xmlns:a="http://schemas.openxmlformats.org/drawingml/2006/main">
              <a:ext uri="{FF2B5EF4-FFF2-40B4-BE49-F238E27FC236}">
                <a16:creationId xmlns:a16="http://schemas.microsoft.com/office/drawing/2014/main" id="{9B6D6045-9A16-473F-A600-F5FB8592519C}"/>
              </a:ext>
            </a:extLst>
          </p:cNvPr>
          <p:cNvSpPr>
            <a:spLocks xmlns:a="http://schemas.openxmlformats.org/drawingml/2006/main" noGrp="1"/>
          </p:cNvSpPr>
          <p:nvPr/>
        </p:nvSpPr>
        <p:spPr>
          <a:xfrm xmlns:a="http://schemas.openxmlformats.org/drawingml/2006/main">
            <a:off x="10096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Explain how care data supports the service.</a:t>
            </a:r>
          </a:p>
        </p:txBody>
      </p:sp>
      <p:sp>
        <p:nvSpPr>
          <p:cNvPr id="14" name="extension-text-89">
            <a:extLst xmlns:a="http://schemas.openxmlformats.org/drawingml/2006/main">
              <a:ext uri="{FF2B5EF4-FFF2-40B4-BE49-F238E27FC236}">
                <a16:creationId xmlns:a16="http://schemas.microsoft.com/office/drawing/2014/main" id="{54ACB607-F90C-4976-80C6-93E8832CE260}"/>
              </a:ext>
            </a:extLst>
          </p:cNvPr>
          <p:cNvSpPr>
            <a:spLocks xmlns:a="http://schemas.openxmlformats.org/drawingml/2006/main" noGrp="1"/>
          </p:cNvSpPr>
          <p:nvPr/>
        </p:nvSpPr>
        <p:spPr>
          <a:xfrm xmlns:a="http://schemas.openxmlformats.org/drawingml/2006/main">
            <a:off x="10096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Define retention and deletion rules.</a:t>
            </a:r>
          </a:p>
        </p:txBody>
      </p:sp>
      <p:sp>
        <p:nvSpPr>
          <p:cNvPr id="15" name="extension-text-90">
            <a:extLst xmlns:a="http://schemas.openxmlformats.org/drawingml/2006/main">
              <a:ext uri="{FF2B5EF4-FFF2-40B4-BE49-F238E27FC236}">
                <a16:creationId xmlns:a16="http://schemas.microsoft.com/office/drawing/2014/main" id="{DC9BB210-BE5D-4E07-9F38-1423F949CA8F}"/>
              </a:ext>
            </a:extLst>
          </p:cNvPr>
          <p:cNvSpPr>
            <a:spLocks xmlns:a="http://schemas.openxmlformats.org/drawingml/2006/main" noGrp="1"/>
          </p:cNvSpPr>
          <p:nvPr/>
        </p:nvSpPr>
        <p:spPr>
          <a:xfrm xmlns:a="http://schemas.openxmlformats.org/drawingml/2006/main">
            <a:off x="10096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Provide a process for access and correction.</a:t>
            </a:r>
          </a:p>
        </p:txBody>
      </p:sp>
      <p:sp>
        <p:nvSpPr>
          <p:cNvPr id="16" name="extension-text-91">
            <a:extLst xmlns:a="http://schemas.openxmlformats.org/drawingml/2006/main">
              <a:ext uri="{FF2B5EF4-FFF2-40B4-BE49-F238E27FC236}">
                <a16:creationId xmlns:a16="http://schemas.microsoft.com/office/drawing/2014/main" id="{7D78E9AA-B6DB-4DCD-8915-0376E7A2EB5E}"/>
              </a:ext>
            </a:extLst>
          </p:cNvPr>
          <p:cNvSpPr>
            <a:spLocks xmlns:a="http://schemas.openxmlformats.org/drawingml/2006/main" noGrp="1"/>
          </p:cNvSpPr>
          <p:nvPr/>
        </p:nvSpPr>
        <p:spPr>
          <a:xfrm xmlns:a="http://schemas.openxmlformats.org/drawingml/2006/main">
            <a:off x="9315450" y="6477000"/>
            <a:ext cx="77152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a:solidFill>
                  <a:srgbClr val="4F7A66"/>
                </a:solidFill>
                <a:latin typeface="Deck-Medium"/>
                <a:ea typeface="Deck-Medium"/>
                <a:cs typeface="Deck-Medium"/>
              </a:defRPr>
            </a:pPr>
            <a:r>
              <a:rPr sz="2925">
                <a:solidFill>
                  <a:srgbClr val="4F7A66"/>
                </a:solidFill>
                <a:latin typeface="Deck-Medium"/>
                <a:ea typeface="Deck-Medium"/>
                <a:cs typeface="Deck-Medium"/>
              </a:rPr>
              <a:t>External handoffs</a:t>
            </a:r>
          </a:p>
        </p:txBody>
      </p:sp>
      <p:sp>
        <p:nvSpPr>
          <p:cNvPr id="17" name="extension-text-92">
            <a:extLst xmlns:a="http://schemas.openxmlformats.org/drawingml/2006/main">
              <a:ext uri="{FF2B5EF4-FFF2-40B4-BE49-F238E27FC236}">
                <a16:creationId xmlns:a16="http://schemas.microsoft.com/office/drawing/2014/main" id="{B8D2A691-2246-498E-B964-AE090D9A31FF}"/>
              </a:ext>
            </a:extLst>
          </p:cNvPr>
          <p:cNvSpPr>
            <a:spLocks xmlns:a="http://schemas.openxmlformats.org/drawingml/2006/main" noGrp="1"/>
          </p:cNvSpPr>
          <p:nvPr/>
        </p:nvSpPr>
        <p:spPr>
          <a:xfrm xmlns:a="http://schemas.openxmlformats.org/drawingml/2006/main">
            <a:off x="9315450" y="71628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Ask before sending data to teleconsult partners.</a:t>
            </a:r>
          </a:p>
        </p:txBody>
      </p:sp>
      <p:sp>
        <p:nvSpPr>
          <p:cNvPr id="18" name="extension-text-93">
            <a:extLst xmlns:a="http://schemas.openxmlformats.org/drawingml/2006/main">
              <a:ext uri="{FF2B5EF4-FFF2-40B4-BE49-F238E27FC236}">
                <a16:creationId xmlns:a16="http://schemas.microsoft.com/office/drawing/2014/main" id="{7753FD4D-7373-4307-BED9-B8E9BF0D677C}"/>
              </a:ext>
            </a:extLst>
          </p:cNvPr>
          <p:cNvSpPr>
            <a:spLocks xmlns:a="http://schemas.openxmlformats.org/drawingml/2006/main" noGrp="1"/>
          </p:cNvSpPr>
          <p:nvPr/>
        </p:nvSpPr>
        <p:spPr>
          <a:xfrm xmlns:a="http://schemas.openxmlformats.org/drawingml/2006/main">
            <a:off x="9315450" y="75819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Assess storage and processing locations.</a:t>
            </a:r>
          </a:p>
        </p:txBody>
      </p:sp>
      <p:sp>
        <p:nvSpPr>
          <p:cNvPr id="19" name="extension-text-94">
            <a:extLst xmlns:a="http://schemas.openxmlformats.org/drawingml/2006/main">
              <a:ext uri="{FF2B5EF4-FFF2-40B4-BE49-F238E27FC236}">
                <a16:creationId xmlns:a16="http://schemas.microsoft.com/office/drawing/2014/main" id="{CDEAD7DC-9F08-4B4C-9897-2BD8AAF3079A}"/>
              </a:ext>
            </a:extLst>
          </p:cNvPr>
          <p:cNvSpPr>
            <a:spLocks xmlns:a="http://schemas.openxmlformats.org/drawingml/2006/main" noGrp="1"/>
          </p:cNvSpPr>
          <p:nvPr/>
        </p:nvSpPr>
        <p:spPr>
          <a:xfrm xmlns:a="http://schemas.openxmlformats.org/drawingml/2006/main">
            <a:off x="9315450" y="8001000"/>
            <a:ext cx="77152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a:solidFill>
                  <a:srgbClr val="3A3745"/>
                </a:solidFill>
                <a:latin typeface="Deck"/>
                <a:ea typeface="Deck"/>
                <a:cs typeface="Deck"/>
              </a:defRPr>
            </a:pPr>
            <a:r>
              <a:rPr sz="2250">
                <a:solidFill>
                  <a:srgbClr val="3A3745"/>
                </a:solidFill>
                <a:latin typeface="Deck"/>
                <a:ea typeface="Deck"/>
                <a:cs typeface="Deck"/>
              </a:rPr>
              <a:t>Agree breach handling and provider contracts.</a:t>
            </a:r>
          </a:p>
        </p:txBody>
      </p:sp>
      <p:sp>
        <p:nvSpPr>
          <p:cNvPr id="20" name="">
            <a:extLst xmlns:a="http://schemas.openxmlformats.org/drawingml/2006/main">
              <a:ext uri="{FF2B5EF4-FFF2-40B4-BE49-F238E27FC236}">
                <a16:creationId xmlns:a16="http://schemas.microsoft.com/office/drawing/2014/main" id="{EFBC1DA0-0BB7-4A5B-8D55-9E1BA795C766}"/>
              </a:ext>
            </a:extLst>
          </p:cNvPr>
          <p:cNvSpPr>
            <a:spLocks xmlns:a="http://schemas.openxmlformats.org/drawingml/2006/main" noGrp="1"/>
          </p:cNvSpPr>
          <p:nvPr/>
        </p:nvSpPr>
        <p:spPr>
          <a:xfrm xmlns:a="http://schemas.openxmlformats.org/drawingml/2006/main">
            <a:off x="1009650" y="335280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1" name="">
            <a:extLst xmlns:a="http://schemas.openxmlformats.org/drawingml/2006/main">
              <a:ext uri="{FF2B5EF4-FFF2-40B4-BE49-F238E27FC236}">
                <a16:creationId xmlns:a16="http://schemas.microsoft.com/office/drawing/2014/main" id="{ED0EA119-BA8D-4A53-9ECC-9787F3A74336}"/>
              </a:ext>
            </a:extLst>
          </p:cNvPr>
          <p:cNvSpPr>
            <a:spLocks xmlns:a="http://schemas.openxmlformats.org/drawingml/2006/main" noGrp="1"/>
          </p:cNvSpPr>
          <p:nvPr/>
        </p:nvSpPr>
        <p:spPr>
          <a:xfrm xmlns:a="http://schemas.openxmlformats.org/drawingml/2006/main">
            <a:off x="1009650" y="6038850"/>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22" name="extension-text-95">
            <a:extLst xmlns:a="http://schemas.openxmlformats.org/drawingml/2006/main">
              <a:ext uri="{FF2B5EF4-FFF2-40B4-BE49-F238E27FC236}">
                <a16:creationId xmlns:a16="http://schemas.microsoft.com/office/drawing/2014/main" id="{569FA9B5-8341-409C-8411-9A2C62F3A788}"/>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Proposed production privacy design. Consent, retention policies and provider terms require implementation and review.</a:t>
            </a:r>
          </a:p>
        </p:txBody>
      </p:sp>
      <p:sp>
        <p:nvSpPr>
          <p:cNvPr id="23" name="extension-text-96">
            <a:extLst xmlns:a="http://schemas.openxmlformats.org/drawingml/2006/main">
              <a:ext uri="{FF2B5EF4-FFF2-40B4-BE49-F238E27FC236}">
                <a16:creationId xmlns:a16="http://schemas.microsoft.com/office/drawing/2014/main" id="{C058E1FE-541F-421F-B9AC-71C94EC73AB8}"/>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43</a:t>
            </a:r>
          </a:p>
        </p:txBody>
      </p:sp>
    </p:spTree>
    <p:extLst>
      <p:ext uri="{BB962C8B-B14F-4D97-AF65-F5344CB8AC3E}">
        <p14:creationId xmlns:p14="http://schemas.microsoft.com/office/powerpoint/2010/main" val="101832653"/>
      </p:ext>
    </p:extLst>
  </p:cSld>
</p:sld>
</file>

<file path=ppt/slides/slide44.xml><?xml version="1.0" encoding="utf-8"?>
<p:sld xmlns:p="http://schemas.openxmlformats.org/presentationml/2006/main">
  <p:cSld>
    <p:bg>
      <p:bgPr>
        <a:solidFill xmlns:a="http://schemas.openxmlformats.org/drawingml/2006/main">
          <a:srgbClr val="FAF6F0"/>
        </a:solidFill>
      </p:bgPr>
    </p:bg>
    <p:spTree>
      <p:nvGrpSpPr>
        <p:cNvPr id="1" name=""/>
        <p:cNvGrpSpPr/>
        <p:nvPr/>
      </p:nvGrpSpPr>
      <p:grpSpPr>
        <a:xfrm xmlns:a="http://schemas.openxmlformats.org/drawingml/2006/main"/>
      </p:grpSpPr>
      <p:sp>
        <p:nvSpPr>
          <p:cNvPr id="47" name="extension-text-97">
            <a:extLst xmlns:a="http://schemas.openxmlformats.org/drawingml/2006/main">
              <a:ext uri="{FF2B5EF4-FFF2-40B4-BE49-F238E27FC236}">
                <a16:creationId xmlns:a16="http://schemas.microsoft.com/office/drawing/2014/main" id="{B40A7260-3EB9-4944-921A-D25557C0690E}"/>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77717D"/>
                </a:solidFill>
                <a:latin typeface="Deck-Medium"/>
                <a:ea typeface="Deck-Medium"/>
                <a:cs typeface="Deck-Medium"/>
              </a:defRPr>
            </a:pPr>
            <a:r>
              <a:rPr sz="1725">
                <a:solidFill>
                  <a:srgbClr val="77717D"/>
                </a:solidFill>
                <a:latin typeface="Deck-Medium"/>
                <a:ea typeface="Deck-Medium"/>
                <a:cs typeface="Deck-Medium"/>
              </a:rPr>
              <a:t>THE FOUNDING TEAM</a:t>
            </a:r>
          </a:p>
        </p:txBody>
      </p:sp>
      <p:sp>
        <p:nvSpPr>
          <p:cNvPr id="2" name="extension-text-98">
            <a:extLst xmlns:a="http://schemas.openxmlformats.org/drawingml/2006/main">
              <a:ext uri="{FF2B5EF4-FFF2-40B4-BE49-F238E27FC236}">
                <a16:creationId xmlns:a16="http://schemas.microsoft.com/office/drawing/2014/main" id="{F531B44F-B290-4EC6-8BAD-4988963F3D12}"/>
              </a:ext>
            </a:extLst>
          </p:cNvPr>
          <p:cNvSpPr>
            <a:spLocks xmlns:a="http://schemas.openxmlformats.org/drawingml/2006/main" noGrp="1"/>
          </p:cNvSpPr>
          <p:nvPr/>
        </p:nvSpPr>
        <p:spPr>
          <a:xfrm xmlns:a="http://schemas.openxmlformats.org/drawingml/2006/main">
            <a:off x="990600" y="1362075"/>
            <a:ext cx="16287750" cy="10607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6525">
                <a:solidFill>
                  <a:srgbClr val="3A3745"/>
                </a:solidFill>
                <a:latin typeface="Deck-Semi-Bold"/>
                <a:ea typeface="Deck-Semi-Bold"/>
                <a:cs typeface="Deck-Semi-Bold"/>
              </a:defRPr>
            </a:pPr>
            <a:r>
              <a:rPr sz="6525">
                <a:solidFill>
                  <a:srgbClr val="3A3745"/>
                </a:solidFill>
                <a:latin typeface="Deck-Semi-Bold"/>
                <a:ea typeface="Deck-Semi-Bold"/>
                <a:cs typeface="Deck-Semi-Bold"/>
              </a:rPr>
              <a:t>Meet the founders</a:t>
            </a:r>
          </a:p>
        </p:txBody>
      </p:sp>
      <p:sp>
        <p:nvSpPr>
          <p:cNvPr id="3" name="extension-text-99">
            <a:extLst xmlns:a="http://schemas.openxmlformats.org/drawingml/2006/main">
              <a:ext uri="{FF2B5EF4-FFF2-40B4-BE49-F238E27FC236}">
                <a16:creationId xmlns:a16="http://schemas.microsoft.com/office/drawing/2014/main" id="{E304DD8B-A377-401D-9A4D-FC7C67E9D68A}"/>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4F7A66"/>
                </a:solidFill>
                <a:latin typeface="Deck"/>
                <a:ea typeface="Deck"/>
                <a:cs typeface="Deck"/>
              </a:defRPr>
            </a:pPr>
            <a:r>
              <a:rPr sz="2475">
                <a:solidFill>
                  <a:srgbClr val="4F7A66"/>
                </a:solidFill>
                <a:latin typeface="Deck"/>
                <a:ea typeface="Deck"/>
                <a:cs typeface="Deck"/>
              </a:rPr>
              <a:t>The hands-on team behind CareBuddy</a:t>
            </a:r>
          </a:p>
        </p:txBody>
      </p:sp>
      <p:sp>
        <p:nvSpPr>
          <p:cNvPr id="4" name="extension-text-100">
            <a:extLst xmlns:a="http://schemas.openxmlformats.org/drawingml/2006/main">
              <a:ext uri="{FF2B5EF4-FFF2-40B4-BE49-F238E27FC236}">
                <a16:creationId xmlns:a16="http://schemas.microsoft.com/office/drawing/2014/main" id="{DCA7FC8F-C888-486F-9E44-FA0DDD9C4108}"/>
              </a:ext>
            </a:extLst>
          </p:cNvPr>
          <p:cNvSpPr>
            <a:spLocks xmlns:a="http://schemas.openxmlformats.org/drawingml/2006/main" noGrp="1"/>
          </p:cNvSpPr>
          <p:nvPr/>
        </p:nvSpPr>
        <p:spPr>
          <a:xfrm xmlns:a="http://schemas.openxmlformats.org/drawingml/2006/main">
            <a:off x="100965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Alex Lew</a:t>
            </a:r>
          </a:p>
        </p:txBody>
      </p:sp>
      <p:sp>
        <p:nvSpPr>
          <p:cNvPr id="5" name="extension-text-101">
            <a:extLst xmlns:a="http://schemas.openxmlformats.org/drawingml/2006/main">
              <a:ext uri="{FF2B5EF4-FFF2-40B4-BE49-F238E27FC236}">
                <a16:creationId xmlns:a16="http://schemas.microsoft.com/office/drawing/2014/main" id="{C0FEC207-B6D9-4D1B-B37A-FD14C0E8CAEA}"/>
              </a:ext>
            </a:extLst>
          </p:cNvPr>
          <p:cNvSpPr>
            <a:spLocks xmlns:a="http://schemas.openxmlformats.org/drawingml/2006/main" noGrp="1"/>
          </p:cNvSpPr>
          <p:nvPr/>
        </p:nvSpPr>
        <p:spPr>
          <a:xfrm xmlns:a="http://schemas.openxmlformats.org/drawingml/2006/main">
            <a:off x="100965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Product and AI</a:t>
            </a:r>
          </a:p>
        </p:txBody>
      </p:sp>
      <p:sp>
        <p:nvSpPr>
          <p:cNvPr id="6" name="extension-text-102">
            <a:extLst xmlns:a="http://schemas.openxmlformats.org/drawingml/2006/main">
              <a:ext uri="{FF2B5EF4-FFF2-40B4-BE49-F238E27FC236}">
                <a16:creationId xmlns:a16="http://schemas.microsoft.com/office/drawing/2014/main" id="{FB221241-D169-4224-92A2-F96FF02E25F9}"/>
              </a:ext>
            </a:extLst>
          </p:cNvPr>
          <p:cNvSpPr>
            <a:spLocks xmlns:a="http://schemas.openxmlformats.org/drawingml/2006/main" noGrp="1"/>
          </p:cNvSpPr>
          <p:nvPr/>
        </p:nvSpPr>
        <p:spPr>
          <a:xfrm xmlns:a="http://schemas.openxmlformats.org/drawingml/2006/main">
            <a:off x="100965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AI in everyday use</a:t>
            </a:r>
          </a:p>
        </p:txBody>
      </p:sp>
      <p:sp>
        <p:nvSpPr>
          <p:cNvPr id="7" name="extension-text-103">
            <a:extLst xmlns:a="http://schemas.openxmlformats.org/drawingml/2006/main">
              <a:ext uri="{FF2B5EF4-FFF2-40B4-BE49-F238E27FC236}">
                <a16:creationId xmlns:a16="http://schemas.microsoft.com/office/drawing/2014/main" id="{CCACD222-F267-480A-B283-0911DFDEBA7F}"/>
              </a:ext>
            </a:extLst>
          </p:cNvPr>
          <p:cNvSpPr>
            <a:spLocks xmlns:a="http://schemas.openxmlformats.org/drawingml/2006/main" noGrp="1"/>
          </p:cNvSpPr>
          <p:nvPr/>
        </p:nvSpPr>
        <p:spPr>
          <a:xfrm xmlns:a="http://schemas.openxmlformats.org/drawingml/2006/main">
            <a:off x="100965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Explores AI deeply and turns</a:t>
            </a:r>
          </a:p>
        </p:txBody>
      </p:sp>
      <p:sp>
        <p:nvSpPr>
          <p:cNvPr id="8" name="extension-text-104">
            <a:extLst xmlns:a="http://schemas.openxmlformats.org/drawingml/2006/main">
              <a:ext uri="{FF2B5EF4-FFF2-40B4-BE49-F238E27FC236}">
                <a16:creationId xmlns:a16="http://schemas.microsoft.com/office/drawing/2014/main" id="{F75A2544-F08E-4E1C-ABC6-D403B31307DB}"/>
              </a:ext>
            </a:extLst>
          </p:cNvPr>
          <p:cNvSpPr>
            <a:spLocks xmlns:a="http://schemas.openxmlformats.org/drawingml/2006/main" noGrp="1"/>
          </p:cNvSpPr>
          <p:nvPr/>
        </p:nvSpPr>
        <p:spPr>
          <a:xfrm xmlns:a="http://schemas.openxmlformats.org/drawingml/2006/main">
            <a:off x="100965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emerging models into tools</a:t>
            </a:r>
          </a:p>
        </p:txBody>
      </p:sp>
      <p:sp>
        <p:nvSpPr>
          <p:cNvPr id="9" name="extension-text-105">
            <a:extLst xmlns:a="http://schemas.openxmlformats.org/drawingml/2006/main">
              <a:ext uri="{FF2B5EF4-FFF2-40B4-BE49-F238E27FC236}">
                <a16:creationId xmlns:a16="http://schemas.microsoft.com/office/drawing/2014/main" id="{132570FE-CFB3-41E1-8A8F-A14252E4953E}"/>
              </a:ext>
            </a:extLst>
          </p:cNvPr>
          <p:cNvSpPr>
            <a:spLocks xmlns:a="http://schemas.openxmlformats.org/drawingml/2006/main" noGrp="1"/>
          </p:cNvSpPr>
          <p:nvPr/>
        </p:nvSpPr>
        <p:spPr>
          <a:xfrm xmlns:a="http://schemas.openxmlformats.org/drawingml/2006/main">
            <a:off x="100965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he uses every day.</a:t>
            </a:r>
          </a:p>
        </p:txBody>
      </p:sp>
      <p:sp>
        <p:nvSpPr>
          <p:cNvPr id="10" name="extension-text-106">
            <a:extLst xmlns:a="http://schemas.openxmlformats.org/drawingml/2006/main">
              <a:ext uri="{FF2B5EF4-FFF2-40B4-BE49-F238E27FC236}">
                <a16:creationId xmlns:a16="http://schemas.microsoft.com/office/drawing/2014/main" id="{99C855FC-BBB7-4B25-A7DD-E9452524B38D}"/>
              </a:ext>
            </a:extLst>
          </p:cNvPr>
          <p:cNvSpPr>
            <a:spLocks xmlns:a="http://schemas.openxmlformats.org/drawingml/2006/main" noGrp="1"/>
          </p:cNvSpPr>
          <p:nvPr/>
        </p:nvSpPr>
        <p:spPr>
          <a:xfrm xmlns:a="http://schemas.openxmlformats.org/drawingml/2006/main">
            <a:off x="100965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11" name="extension-text-107">
            <a:extLst xmlns:a="http://schemas.openxmlformats.org/drawingml/2006/main">
              <a:ext uri="{FF2B5EF4-FFF2-40B4-BE49-F238E27FC236}">
                <a16:creationId xmlns:a16="http://schemas.microsoft.com/office/drawing/2014/main" id="{7A9E4B63-3494-4502-8FDC-2F5F79788C46}"/>
              </a:ext>
            </a:extLst>
          </p:cNvPr>
          <p:cNvSpPr>
            <a:spLocks xmlns:a="http://schemas.openxmlformats.org/drawingml/2006/main" noGrp="1"/>
          </p:cNvSpPr>
          <p:nvPr/>
        </p:nvSpPr>
        <p:spPr>
          <a:xfrm xmlns:a="http://schemas.openxmlformats.org/drawingml/2006/main">
            <a:off x="100965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Built multilayer agents on</a:t>
            </a:r>
          </a:p>
        </p:txBody>
      </p:sp>
      <p:sp>
        <p:nvSpPr>
          <p:cNvPr id="12" name="extension-text-108">
            <a:extLst xmlns:a="http://schemas.openxmlformats.org/drawingml/2006/main">
              <a:ext uri="{FF2B5EF4-FFF2-40B4-BE49-F238E27FC236}">
                <a16:creationId xmlns:a16="http://schemas.microsoft.com/office/drawing/2014/main" id="{6DE3C2C0-2DC0-4403-9C06-7D26F06B1A15}"/>
              </a:ext>
            </a:extLst>
          </p:cNvPr>
          <p:cNvSpPr>
            <a:spLocks xmlns:a="http://schemas.openxmlformats.org/drawingml/2006/main" noGrp="1"/>
          </p:cNvSpPr>
          <p:nvPr/>
        </p:nvSpPr>
        <p:spPr>
          <a:xfrm xmlns:a="http://schemas.openxmlformats.org/drawingml/2006/main">
            <a:off x="100965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VPS infrastructure, controlled</a:t>
            </a:r>
          </a:p>
        </p:txBody>
      </p:sp>
      <p:sp>
        <p:nvSpPr>
          <p:cNvPr id="13" name="extension-text-109">
            <a:extLst xmlns:a="http://schemas.openxmlformats.org/drawingml/2006/main">
              <a:ext uri="{FF2B5EF4-FFF2-40B4-BE49-F238E27FC236}">
                <a16:creationId xmlns:a16="http://schemas.microsoft.com/office/drawing/2014/main" id="{0CA53B6F-9F21-4592-A47A-F16AF37EE535}"/>
              </a:ext>
            </a:extLst>
          </p:cNvPr>
          <p:cNvSpPr>
            <a:spLocks xmlns:a="http://schemas.openxmlformats.org/drawingml/2006/main" noGrp="1"/>
          </p:cNvSpPr>
          <p:nvPr/>
        </p:nvSpPr>
        <p:spPr>
          <a:xfrm xmlns:a="http://schemas.openxmlformats.org/drawingml/2006/main">
            <a:off x="100965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through Telegram and SMS.</a:t>
            </a:r>
          </a:p>
        </p:txBody>
      </p:sp>
      <p:sp>
        <p:nvSpPr>
          <p:cNvPr id="14" name="extension-text-110">
            <a:extLst xmlns:a="http://schemas.openxmlformats.org/drawingml/2006/main">
              <a:ext uri="{FF2B5EF4-FFF2-40B4-BE49-F238E27FC236}">
                <a16:creationId xmlns:a16="http://schemas.microsoft.com/office/drawing/2014/main" id="{1D834490-CC59-4B08-8CD0-631D6B98D2D8}"/>
              </a:ext>
            </a:extLst>
          </p:cNvPr>
          <p:cNvSpPr>
            <a:spLocks xmlns:a="http://schemas.openxmlformats.org/drawingml/2006/main" noGrp="1"/>
          </p:cNvSpPr>
          <p:nvPr/>
        </p:nvSpPr>
        <p:spPr>
          <a:xfrm xmlns:a="http://schemas.openxmlformats.org/drawingml/2006/main">
            <a:off x="100965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15" name="extension-text-111">
            <a:extLst xmlns:a="http://schemas.openxmlformats.org/drawingml/2006/main">
              <a:ext uri="{FF2B5EF4-FFF2-40B4-BE49-F238E27FC236}">
                <a16:creationId xmlns:a16="http://schemas.microsoft.com/office/drawing/2014/main" id="{5E7C7495-9EF5-4630-834C-BE4308CA4BFA}"/>
              </a:ext>
            </a:extLst>
          </p:cNvPr>
          <p:cNvSpPr>
            <a:spLocks xmlns:a="http://schemas.openxmlformats.org/drawingml/2006/main" noGrp="1"/>
          </p:cNvSpPr>
          <p:nvPr/>
        </p:nvSpPr>
        <p:spPr>
          <a:xfrm xmlns:a="http://schemas.openxmlformats.org/drawingml/2006/main">
            <a:off x="100965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Brings product judgement</a:t>
            </a:r>
          </a:p>
        </p:txBody>
      </p:sp>
      <p:sp>
        <p:nvSpPr>
          <p:cNvPr id="16" name="extension-text-112">
            <a:extLst xmlns:a="http://schemas.openxmlformats.org/drawingml/2006/main">
              <a:ext uri="{FF2B5EF4-FFF2-40B4-BE49-F238E27FC236}">
                <a16:creationId xmlns:a16="http://schemas.microsoft.com/office/drawing/2014/main" id="{46406A97-51F9-487A-BFEB-C29A8A74DF0A}"/>
              </a:ext>
            </a:extLst>
          </p:cNvPr>
          <p:cNvSpPr>
            <a:spLocks xmlns:a="http://schemas.openxmlformats.org/drawingml/2006/main" noGrp="1"/>
          </p:cNvSpPr>
          <p:nvPr/>
        </p:nvSpPr>
        <p:spPr>
          <a:xfrm xmlns:a="http://schemas.openxmlformats.org/drawingml/2006/main">
            <a:off x="100965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to model choice and</a:t>
            </a:r>
          </a:p>
        </p:txBody>
      </p:sp>
      <p:sp>
        <p:nvSpPr>
          <p:cNvPr id="17" name="extension-text-113">
            <a:extLst xmlns:a="http://schemas.openxmlformats.org/drawingml/2006/main">
              <a:ext uri="{FF2B5EF4-FFF2-40B4-BE49-F238E27FC236}">
                <a16:creationId xmlns:a16="http://schemas.microsoft.com/office/drawing/2014/main" id="{33927C7B-7948-43D4-B162-906B6F01EE94}"/>
              </a:ext>
            </a:extLst>
          </p:cNvPr>
          <p:cNvSpPr>
            <a:spLocks xmlns:a="http://schemas.openxmlformats.org/drawingml/2006/main" noGrp="1"/>
          </p:cNvSpPr>
          <p:nvPr/>
        </p:nvSpPr>
        <p:spPr>
          <a:xfrm xmlns:a="http://schemas.openxmlformats.org/drawingml/2006/main">
            <a:off x="1009650" y="91154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agent orchestration.</a:t>
            </a:r>
          </a:p>
        </p:txBody>
      </p:sp>
      <p:sp>
        <p:nvSpPr>
          <p:cNvPr id="18" name="extension-text-114">
            <a:extLst xmlns:a="http://schemas.openxmlformats.org/drawingml/2006/main">
              <a:ext uri="{FF2B5EF4-FFF2-40B4-BE49-F238E27FC236}">
                <a16:creationId xmlns:a16="http://schemas.microsoft.com/office/drawing/2014/main" id="{F0FD8A38-35DE-42A3-A47C-1F5AE6371261}"/>
              </a:ext>
            </a:extLst>
          </p:cNvPr>
          <p:cNvSpPr>
            <a:spLocks xmlns:a="http://schemas.openxmlformats.org/drawingml/2006/main" noGrp="1"/>
          </p:cNvSpPr>
          <p:nvPr/>
        </p:nvSpPr>
        <p:spPr>
          <a:xfrm xmlns:a="http://schemas.openxmlformats.org/drawingml/2006/main">
            <a:off x="643890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Shao Quan Chew</a:t>
            </a:r>
          </a:p>
        </p:txBody>
      </p:sp>
      <p:sp>
        <p:nvSpPr>
          <p:cNvPr id="19" name="extension-text-115">
            <a:extLst xmlns:a="http://schemas.openxmlformats.org/drawingml/2006/main">
              <a:ext uri="{FF2B5EF4-FFF2-40B4-BE49-F238E27FC236}">
                <a16:creationId xmlns:a16="http://schemas.microsoft.com/office/drawing/2014/main" id="{5856CAB8-D7DE-4735-A838-0F31338DF4EC}"/>
              </a:ext>
            </a:extLst>
          </p:cNvPr>
          <p:cNvSpPr>
            <a:spLocks xmlns:a="http://schemas.openxmlformats.org/drawingml/2006/main" noGrp="1"/>
          </p:cNvSpPr>
          <p:nvPr/>
        </p:nvSpPr>
        <p:spPr>
          <a:xfrm xmlns:a="http://schemas.openxmlformats.org/drawingml/2006/main">
            <a:off x="643890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Architecture and security</a:t>
            </a:r>
          </a:p>
        </p:txBody>
      </p:sp>
      <p:sp>
        <p:nvSpPr>
          <p:cNvPr id="20" name="extension-text-116">
            <a:extLst xmlns:a="http://schemas.openxmlformats.org/drawingml/2006/main">
              <a:ext uri="{FF2B5EF4-FFF2-40B4-BE49-F238E27FC236}">
                <a16:creationId xmlns:a16="http://schemas.microsoft.com/office/drawing/2014/main" id="{7BA2D6B1-623C-40FB-8C3D-97E92E2E8DE1}"/>
              </a:ext>
            </a:extLst>
          </p:cNvPr>
          <p:cNvSpPr>
            <a:spLocks xmlns:a="http://schemas.openxmlformats.org/drawingml/2006/main" noGrp="1"/>
          </p:cNvSpPr>
          <p:nvPr/>
        </p:nvSpPr>
        <p:spPr>
          <a:xfrm xmlns:a="http://schemas.openxmlformats.org/drawingml/2006/main">
            <a:off x="643890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A personal reason to build</a:t>
            </a:r>
          </a:p>
        </p:txBody>
      </p:sp>
      <p:sp>
        <p:nvSpPr>
          <p:cNvPr id="21" name="extension-text-117">
            <a:extLst xmlns:a="http://schemas.openxmlformats.org/drawingml/2006/main">
              <a:ext uri="{FF2B5EF4-FFF2-40B4-BE49-F238E27FC236}">
                <a16:creationId xmlns:a16="http://schemas.microsoft.com/office/drawing/2014/main" id="{4E118A9E-DE77-4CDE-8507-557827FF7CD0}"/>
              </a:ext>
            </a:extLst>
          </p:cNvPr>
          <p:cNvSpPr>
            <a:spLocks xmlns:a="http://schemas.openxmlformats.org/drawingml/2006/main" noGrp="1"/>
          </p:cNvSpPr>
          <p:nvPr/>
        </p:nvSpPr>
        <p:spPr>
          <a:xfrm xmlns:a="http://schemas.openxmlformats.org/drawingml/2006/main">
            <a:off x="643890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Builds and manages the</a:t>
            </a:r>
          </a:p>
        </p:txBody>
      </p:sp>
      <p:sp>
        <p:nvSpPr>
          <p:cNvPr id="22" name="extension-text-118">
            <a:extLst xmlns:a="http://schemas.openxmlformats.org/drawingml/2006/main">
              <a:ext uri="{FF2B5EF4-FFF2-40B4-BE49-F238E27FC236}">
                <a16:creationId xmlns:a16="http://schemas.microsoft.com/office/drawing/2014/main" id="{1C334963-7DEC-4D8C-BAF2-B79B3C5A1099}"/>
              </a:ext>
            </a:extLst>
          </p:cNvPr>
          <p:cNvSpPr>
            <a:spLocks xmlns:a="http://schemas.openxmlformats.org/drawingml/2006/main" noGrp="1"/>
          </p:cNvSpPr>
          <p:nvPr/>
        </p:nvSpPr>
        <p:spPr>
          <a:xfrm xmlns:a="http://schemas.openxmlformats.org/drawingml/2006/main">
            <a:off x="643890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infrastructure behind CareBuddy.</a:t>
            </a:r>
          </a:p>
        </p:txBody>
      </p:sp>
      <p:sp>
        <p:nvSpPr>
          <p:cNvPr id="23" name="extension-text-119">
            <a:extLst xmlns:a="http://schemas.openxmlformats.org/drawingml/2006/main">
              <a:ext uri="{FF2B5EF4-FFF2-40B4-BE49-F238E27FC236}">
                <a16:creationId xmlns:a16="http://schemas.microsoft.com/office/drawing/2014/main" id="{B991B334-FF2F-4773-B394-5E9439D4D07C}"/>
              </a:ext>
            </a:extLst>
          </p:cNvPr>
          <p:cNvSpPr>
            <a:spLocks xmlns:a="http://schemas.openxmlformats.org/drawingml/2006/main" noGrp="1"/>
          </p:cNvSpPr>
          <p:nvPr/>
        </p:nvSpPr>
        <p:spPr>
          <a:xfrm xmlns:a="http://schemas.openxmlformats.org/drawingml/2006/main">
            <a:off x="643890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24" name="extension-text-120">
            <a:extLst xmlns:a="http://schemas.openxmlformats.org/drawingml/2006/main">
              <a:ext uri="{FF2B5EF4-FFF2-40B4-BE49-F238E27FC236}">
                <a16:creationId xmlns:a16="http://schemas.microsoft.com/office/drawing/2014/main" id="{ED38BD91-CBBC-4BFB-933D-11FFD8D53FB1}"/>
              </a:ext>
            </a:extLst>
          </p:cNvPr>
          <p:cNvSpPr>
            <a:spLocks xmlns:a="http://schemas.openxmlformats.org/drawingml/2006/main" noGrp="1"/>
          </p:cNvSpPr>
          <p:nvPr/>
        </p:nvSpPr>
        <p:spPr>
          <a:xfrm xmlns:a="http://schemas.openxmlformats.org/drawingml/2006/main">
            <a:off x="643890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Owns architecture and security,</a:t>
            </a:r>
          </a:p>
        </p:txBody>
      </p:sp>
      <p:sp>
        <p:nvSpPr>
          <p:cNvPr id="25" name="extension-text-121">
            <a:extLst xmlns:a="http://schemas.openxmlformats.org/drawingml/2006/main">
              <a:ext uri="{FF2B5EF4-FFF2-40B4-BE49-F238E27FC236}">
                <a16:creationId xmlns:a16="http://schemas.microsoft.com/office/drawing/2014/main" id="{73AE695A-9030-48D4-A8B4-019C78B07C2F}"/>
              </a:ext>
            </a:extLst>
          </p:cNvPr>
          <p:cNvSpPr>
            <a:spLocks xmlns:a="http://schemas.openxmlformats.org/drawingml/2006/main" noGrp="1"/>
          </p:cNvSpPr>
          <p:nvPr/>
        </p:nvSpPr>
        <p:spPr>
          <a:xfrm xmlns:a="http://schemas.openxmlformats.org/drawingml/2006/main">
            <a:off x="643890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with a focus on dependable</a:t>
            </a:r>
          </a:p>
        </p:txBody>
      </p:sp>
      <p:sp>
        <p:nvSpPr>
          <p:cNvPr id="26" name="extension-text-122">
            <a:extLst xmlns:a="http://schemas.openxmlformats.org/drawingml/2006/main">
              <a:ext uri="{FF2B5EF4-FFF2-40B4-BE49-F238E27FC236}">
                <a16:creationId xmlns:a16="http://schemas.microsoft.com/office/drawing/2014/main" id="{54D0F980-960B-4305-9F0E-3C8A79782512}"/>
              </a:ext>
            </a:extLst>
          </p:cNvPr>
          <p:cNvSpPr>
            <a:spLocks xmlns:a="http://schemas.openxmlformats.org/drawingml/2006/main" noGrp="1"/>
          </p:cNvSpPr>
          <p:nvPr/>
        </p:nvSpPr>
        <p:spPr>
          <a:xfrm xmlns:a="http://schemas.openxmlformats.org/drawingml/2006/main">
            <a:off x="643890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operations.</a:t>
            </a:r>
          </a:p>
        </p:txBody>
      </p:sp>
      <p:sp>
        <p:nvSpPr>
          <p:cNvPr id="27" name="extension-text-123">
            <a:extLst xmlns:a="http://schemas.openxmlformats.org/drawingml/2006/main">
              <a:ext uri="{FF2B5EF4-FFF2-40B4-BE49-F238E27FC236}">
                <a16:creationId xmlns:a16="http://schemas.microsoft.com/office/drawing/2014/main" id="{ABE40344-9DA4-4F2D-B887-71F3431F0FF5}"/>
              </a:ext>
            </a:extLst>
          </p:cNvPr>
          <p:cNvSpPr>
            <a:spLocks xmlns:a="http://schemas.openxmlformats.org/drawingml/2006/main" noGrp="1"/>
          </p:cNvSpPr>
          <p:nvPr/>
        </p:nvSpPr>
        <p:spPr>
          <a:xfrm xmlns:a="http://schemas.openxmlformats.org/drawingml/2006/main">
            <a:off x="643890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28" name="extension-text-124">
            <a:extLst xmlns:a="http://schemas.openxmlformats.org/drawingml/2006/main">
              <a:ext uri="{FF2B5EF4-FFF2-40B4-BE49-F238E27FC236}">
                <a16:creationId xmlns:a16="http://schemas.microsoft.com/office/drawing/2014/main" id="{4DAE6736-E644-4746-8E56-23D84294C957}"/>
              </a:ext>
            </a:extLst>
          </p:cNvPr>
          <p:cNvSpPr>
            <a:spLocks xmlns:a="http://schemas.openxmlformats.org/drawingml/2006/main" noGrp="1"/>
          </p:cNvSpPr>
          <p:nvPr/>
        </p:nvSpPr>
        <p:spPr>
          <a:xfrm xmlns:a="http://schemas.openxmlformats.org/drawingml/2006/main">
            <a:off x="643890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 cancer survivor who knows</a:t>
            </a:r>
          </a:p>
        </p:txBody>
      </p:sp>
      <p:sp>
        <p:nvSpPr>
          <p:cNvPr id="29" name="extension-text-125">
            <a:extLst xmlns:a="http://schemas.openxmlformats.org/drawingml/2006/main">
              <a:ext uri="{FF2B5EF4-FFF2-40B4-BE49-F238E27FC236}">
                <a16:creationId xmlns:a16="http://schemas.microsoft.com/office/drawing/2014/main" id="{FDCF1D72-1F3F-4116-9390-8CFCB2DD5DB6}"/>
              </a:ext>
            </a:extLst>
          </p:cNvPr>
          <p:cNvSpPr>
            <a:spLocks xmlns:a="http://schemas.openxmlformats.org/drawingml/2006/main" noGrp="1"/>
          </p:cNvSpPr>
          <p:nvPr/>
        </p:nvSpPr>
        <p:spPr>
          <a:xfrm xmlns:a="http://schemas.openxmlformats.org/drawingml/2006/main">
            <a:off x="643890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the burden of daily care and</a:t>
            </a:r>
          </a:p>
        </p:txBody>
      </p:sp>
      <p:sp>
        <p:nvSpPr>
          <p:cNvPr id="30" name="extension-text-126">
            <a:extLst xmlns:a="http://schemas.openxmlformats.org/drawingml/2006/main">
              <a:ext uri="{FF2B5EF4-FFF2-40B4-BE49-F238E27FC236}">
                <a16:creationId xmlns:a16="http://schemas.microsoft.com/office/drawing/2014/main" id="{FEFEDCD4-6EB8-4C80-9559-C793CEB999CB}"/>
              </a:ext>
            </a:extLst>
          </p:cNvPr>
          <p:cNvSpPr>
            <a:spLocks xmlns:a="http://schemas.openxmlformats.org/drawingml/2006/main" noGrp="1"/>
          </p:cNvSpPr>
          <p:nvPr/>
        </p:nvSpPr>
        <p:spPr>
          <a:xfrm xmlns:a="http://schemas.openxmlformats.org/drawingml/2006/main">
            <a:off x="643890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believes deeply in the product.</a:t>
            </a:r>
          </a:p>
        </p:txBody>
      </p:sp>
      <p:sp>
        <p:nvSpPr>
          <p:cNvPr id="31" name="extension-text-127">
            <a:extLst xmlns:a="http://schemas.openxmlformats.org/drawingml/2006/main">
              <a:ext uri="{FF2B5EF4-FFF2-40B4-BE49-F238E27FC236}">
                <a16:creationId xmlns:a16="http://schemas.microsoft.com/office/drawing/2014/main" id="{EAEF9A3C-586E-450D-ACC5-718330A46E04}"/>
              </a:ext>
            </a:extLst>
          </p:cNvPr>
          <p:cNvSpPr>
            <a:spLocks xmlns:a="http://schemas.openxmlformats.org/drawingml/2006/main" noGrp="1"/>
          </p:cNvSpPr>
          <p:nvPr/>
        </p:nvSpPr>
        <p:spPr>
          <a:xfrm xmlns:a="http://schemas.openxmlformats.org/drawingml/2006/main">
            <a:off x="11868150" y="3581400"/>
            <a:ext cx="520065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3000">
                <a:solidFill>
                  <a:srgbClr val="3A3745"/>
                </a:solidFill>
                <a:latin typeface="Deck-Semi-Bold"/>
                <a:ea typeface="Deck-Semi-Bold"/>
                <a:cs typeface="Deck-Semi-Bold"/>
              </a:defRPr>
            </a:pPr>
            <a:r>
              <a:rPr sz="3000">
                <a:solidFill>
                  <a:srgbClr val="3A3745"/>
                </a:solidFill>
                <a:latin typeface="Deck-Semi-Bold"/>
                <a:ea typeface="Deck-Semi-Bold"/>
                <a:cs typeface="Deck-Semi-Bold"/>
              </a:rPr>
              <a:t>Yau Boon Tan</a:t>
            </a:r>
          </a:p>
        </p:txBody>
      </p:sp>
      <p:sp>
        <p:nvSpPr>
          <p:cNvPr id="32" name="extension-text-128">
            <a:extLst xmlns:a="http://schemas.openxmlformats.org/drawingml/2006/main">
              <a:ext uri="{FF2B5EF4-FFF2-40B4-BE49-F238E27FC236}">
                <a16:creationId xmlns:a16="http://schemas.microsoft.com/office/drawing/2014/main" id="{EA629814-B2C5-4119-B2EC-BCA154B8FB5A}"/>
              </a:ext>
            </a:extLst>
          </p:cNvPr>
          <p:cNvSpPr>
            <a:spLocks xmlns:a="http://schemas.openxmlformats.org/drawingml/2006/main" noGrp="1"/>
          </p:cNvSpPr>
          <p:nvPr/>
        </p:nvSpPr>
        <p:spPr>
          <a:xfrm xmlns:a="http://schemas.openxmlformats.org/drawingml/2006/main">
            <a:off x="11868150" y="4171950"/>
            <a:ext cx="520065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4F7A66"/>
                </a:solidFill>
                <a:latin typeface="Deck-Medium"/>
                <a:ea typeface="Deck-Medium"/>
                <a:cs typeface="Deck-Medium"/>
              </a:defRPr>
            </a:pPr>
            <a:r>
              <a:rPr sz="2250">
                <a:solidFill>
                  <a:srgbClr val="4F7A66"/>
                </a:solidFill>
                <a:latin typeface="Deck-Medium"/>
                <a:ea typeface="Deck-Medium"/>
                <a:cs typeface="Deck-Medium"/>
              </a:rPr>
              <a:t>Technology and delivery</a:t>
            </a:r>
          </a:p>
        </p:txBody>
      </p:sp>
      <p:sp>
        <p:nvSpPr>
          <p:cNvPr id="33" name="extension-text-129">
            <a:extLst xmlns:a="http://schemas.openxmlformats.org/drawingml/2006/main">
              <a:ext uri="{FF2B5EF4-FFF2-40B4-BE49-F238E27FC236}">
                <a16:creationId xmlns:a16="http://schemas.microsoft.com/office/drawing/2014/main" id="{DE312D3C-1419-44F6-9723-31E43D731F0C}"/>
              </a:ext>
            </a:extLst>
          </p:cNvPr>
          <p:cNvSpPr>
            <a:spLocks xmlns:a="http://schemas.openxmlformats.org/drawingml/2006/main" noGrp="1"/>
          </p:cNvSpPr>
          <p:nvPr/>
        </p:nvSpPr>
        <p:spPr>
          <a:xfrm xmlns:a="http://schemas.openxmlformats.org/drawingml/2006/main">
            <a:off x="11868150" y="4829175"/>
            <a:ext cx="5200650" cy="3901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00">
                <a:solidFill>
                  <a:srgbClr val="4F7A66"/>
                </a:solidFill>
                <a:latin typeface="Deck-Medium"/>
                <a:ea typeface="Deck-Medium"/>
                <a:cs typeface="Deck-Medium"/>
              </a:defRPr>
            </a:pPr>
            <a:r>
              <a:rPr sz="2400">
                <a:solidFill>
                  <a:srgbClr val="4F7A66"/>
                </a:solidFill>
                <a:latin typeface="Deck-Medium"/>
                <a:ea typeface="Deck-Medium"/>
                <a:cs typeface="Deck-Medium"/>
              </a:rPr>
              <a:t>Full demo in under a day</a:t>
            </a:r>
          </a:p>
        </p:txBody>
      </p:sp>
      <p:sp>
        <p:nvSpPr>
          <p:cNvPr id="34" name="extension-text-130">
            <a:extLst xmlns:a="http://schemas.openxmlformats.org/drawingml/2006/main">
              <a:ext uri="{FF2B5EF4-FFF2-40B4-BE49-F238E27FC236}">
                <a16:creationId xmlns:a16="http://schemas.microsoft.com/office/drawing/2014/main" id="{76620332-B73F-4E1A-85A8-448815F7DD4D}"/>
              </a:ext>
            </a:extLst>
          </p:cNvPr>
          <p:cNvSpPr>
            <a:spLocks xmlns:a="http://schemas.openxmlformats.org/drawingml/2006/main" noGrp="1"/>
          </p:cNvSpPr>
          <p:nvPr/>
        </p:nvSpPr>
        <p:spPr>
          <a:xfrm xmlns:a="http://schemas.openxmlformats.org/drawingml/2006/main">
            <a:off x="11868150" y="55911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Built the whole CareBuddy</a:t>
            </a:r>
          </a:p>
        </p:txBody>
      </p:sp>
      <p:sp>
        <p:nvSpPr>
          <p:cNvPr id="35" name="extension-text-131">
            <a:extLst xmlns:a="http://schemas.openxmlformats.org/drawingml/2006/main">
              <a:ext uri="{FF2B5EF4-FFF2-40B4-BE49-F238E27FC236}">
                <a16:creationId xmlns:a16="http://schemas.microsoft.com/office/drawing/2014/main" id="{1AEC3B16-6BA1-41B9-AB74-F5E57C67AA0A}"/>
              </a:ext>
            </a:extLst>
          </p:cNvPr>
          <p:cNvSpPr>
            <a:spLocks xmlns:a="http://schemas.openxmlformats.org/drawingml/2006/main" noGrp="1"/>
          </p:cNvSpPr>
          <p:nvPr/>
        </p:nvSpPr>
        <p:spPr>
          <a:xfrm xmlns:a="http://schemas.openxmlformats.org/drawingml/2006/main">
            <a:off x="11868150" y="59436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demo in less than a day.</a:t>
            </a:r>
          </a:p>
        </p:txBody>
      </p:sp>
      <p:sp>
        <p:nvSpPr>
          <p:cNvPr id="36" name="extension-text-132">
            <a:extLst xmlns:a="http://schemas.openxmlformats.org/drawingml/2006/main">
              <a:ext uri="{FF2B5EF4-FFF2-40B4-BE49-F238E27FC236}">
                <a16:creationId xmlns:a16="http://schemas.microsoft.com/office/drawing/2014/main" id="{62FD38B9-C554-4AA4-BC4E-3B13CA1C3A89}"/>
              </a:ext>
            </a:extLst>
          </p:cNvPr>
          <p:cNvSpPr>
            <a:spLocks xmlns:a="http://schemas.openxmlformats.org/drawingml/2006/main" noGrp="1"/>
          </p:cNvSpPr>
          <p:nvPr/>
        </p:nvSpPr>
        <p:spPr>
          <a:xfrm xmlns:a="http://schemas.openxmlformats.org/drawingml/2006/main">
            <a:off x="11868150" y="62960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37" name="extension-text-133">
            <a:extLst xmlns:a="http://schemas.openxmlformats.org/drawingml/2006/main">
              <a:ext uri="{FF2B5EF4-FFF2-40B4-BE49-F238E27FC236}">
                <a16:creationId xmlns:a16="http://schemas.microsoft.com/office/drawing/2014/main" id="{809FD553-3A3A-4F4C-B416-8B9CB628AED3}"/>
              </a:ext>
            </a:extLst>
          </p:cNvPr>
          <p:cNvSpPr>
            <a:spLocks xmlns:a="http://schemas.openxmlformats.org/drawingml/2006/main" noGrp="1"/>
          </p:cNvSpPr>
          <p:nvPr/>
        </p:nvSpPr>
        <p:spPr>
          <a:xfrm xmlns:a="http://schemas.openxmlformats.org/drawingml/2006/main">
            <a:off x="11868150" y="66484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Leads a technology team</a:t>
            </a:r>
          </a:p>
        </p:txBody>
      </p:sp>
      <p:sp>
        <p:nvSpPr>
          <p:cNvPr id="38" name="extension-text-134">
            <a:extLst xmlns:a="http://schemas.openxmlformats.org/drawingml/2006/main">
              <a:ext uri="{FF2B5EF4-FFF2-40B4-BE49-F238E27FC236}">
                <a16:creationId xmlns:a16="http://schemas.microsoft.com/office/drawing/2014/main" id="{5718A4CA-291C-45DA-9C0F-A3CD4942F388}"/>
              </a:ext>
            </a:extLst>
          </p:cNvPr>
          <p:cNvSpPr>
            <a:spLocks xmlns:a="http://schemas.openxmlformats.org/drawingml/2006/main" noGrp="1"/>
          </p:cNvSpPr>
          <p:nvPr/>
        </p:nvSpPr>
        <p:spPr>
          <a:xfrm xmlns:a="http://schemas.openxmlformats.org/drawingml/2006/main">
            <a:off x="11868150" y="70008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 more than 20 people</a:t>
            </a:r>
          </a:p>
        </p:txBody>
      </p:sp>
      <p:sp>
        <p:nvSpPr>
          <p:cNvPr id="39" name="extension-text-135">
            <a:extLst xmlns:a="http://schemas.openxmlformats.org/drawingml/2006/main">
              <a:ext uri="{FF2B5EF4-FFF2-40B4-BE49-F238E27FC236}">
                <a16:creationId xmlns:a16="http://schemas.microsoft.com/office/drawing/2014/main" id="{EAC2BC91-8202-4A50-A86E-1659E7E3E980}"/>
              </a:ext>
            </a:extLst>
          </p:cNvPr>
          <p:cNvSpPr>
            <a:spLocks xmlns:a="http://schemas.openxmlformats.org/drawingml/2006/main" noGrp="1"/>
          </p:cNvSpPr>
          <p:nvPr/>
        </p:nvSpPr>
        <p:spPr>
          <a:xfrm xmlns:a="http://schemas.openxmlformats.org/drawingml/2006/main">
            <a:off x="11868150" y="73533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in his day job.</a:t>
            </a:r>
          </a:p>
        </p:txBody>
      </p:sp>
      <p:sp>
        <p:nvSpPr>
          <p:cNvPr id="40" name="extension-text-136">
            <a:extLst xmlns:a="http://schemas.openxmlformats.org/drawingml/2006/main">
              <a:ext uri="{FF2B5EF4-FFF2-40B4-BE49-F238E27FC236}">
                <a16:creationId xmlns:a16="http://schemas.microsoft.com/office/drawing/2014/main" id="{A7CB67CB-510E-42E6-8BAD-5C1EEC319491}"/>
              </a:ext>
            </a:extLst>
          </p:cNvPr>
          <p:cNvSpPr>
            <a:spLocks xmlns:a="http://schemas.openxmlformats.org/drawingml/2006/main" noGrp="1"/>
          </p:cNvSpPr>
          <p:nvPr/>
        </p:nvSpPr>
        <p:spPr>
          <a:xfrm xmlns:a="http://schemas.openxmlformats.org/drawingml/2006/main">
            <a:off x="11868150" y="770572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r>
              <a:t/>
            </a:r>
          </a:p>
        </p:txBody>
      </p:sp>
      <p:sp>
        <p:nvSpPr>
          <p:cNvPr id="41" name="extension-text-137">
            <a:extLst xmlns:a="http://schemas.openxmlformats.org/drawingml/2006/main">
              <a:ext uri="{FF2B5EF4-FFF2-40B4-BE49-F238E27FC236}">
                <a16:creationId xmlns:a16="http://schemas.microsoft.com/office/drawing/2014/main" id="{1F8F78FD-02CF-44B5-A745-DBF45B92A4F9}"/>
              </a:ext>
            </a:extLst>
          </p:cNvPr>
          <p:cNvSpPr>
            <a:spLocks xmlns:a="http://schemas.openxmlformats.org/drawingml/2006/main" noGrp="1"/>
          </p:cNvSpPr>
          <p:nvPr/>
        </p:nvSpPr>
        <p:spPr>
          <a:xfrm xmlns:a="http://schemas.openxmlformats.org/drawingml/2006/main">
            <a:off x="11868150" y="805815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Brings broad coding fluency</a:t>
            </a:r>
          </a:p>
        </p:txBody>
      </p:sp>
      <p:sp>
        <p:nvSpPr>
          <p:cNvPr id="42" name="extension-text-138">
            <a:extLst xmlns:a="http://schemas.openxmlformats.org/drawingml/2006/main">
              <a:ext uri="{FF2B5EF4-FFF2-40B4-BE49-F238E27FC236}">
                <a16:creationId xmlns:a16="http://schemas.microsoft.com/office/drawing/2014/main" id="{0C55558D-D834-440E-BE6C-1D78D47C833F}"/>
              </a:ext>
            </a:extLst>
          </p:cNvPr>
          <p:cNvSpPr>
            <a:spLocks xmlns:a="http://schemas.openxmlformats.org/drawingml/2006/main" noGrp="1"/>
          </p:cNvSpPr>
          <p:nvPr/>
        </p:nvSpPr>
        <p:spPr>
          <a:xfrm xmlns:a="http://schemas.openxmlformats.org/drawingml/2006/main">
            <a:off x="11868150" y="8410575"/>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and a deep understanding</a:t>
            </a:r>
          </a:p>
        </p:txBody>
      </p:sp>
      <p:sp>
        <p:nvSpPr>
          <p:cNvPr id="43" name="extension-text-139">
            <a:extLst xmlns:a="http://schemas.openxmlformats.org/drawingml/2006/main">
              <a:ext uri="{FF2B5EF4-FFF2-40B4-BE49-F238E27FC236}">
                <a16:creationId xmlns:a16="http://schemas.microsoft.com/office/drawing/2014/main" id="{D792FE2B-0C67-4CB8-AEE3-2A0E45F2D3A0}"/>
              </a:ext>
            </a:extLst>
          </p:cNvPr>
          <p:cNvSpPr>
            <a:spLocks xmlns:a="http://schemas.openxmlformats.org/drawingml/2006/main" noGrp="1"/>
          </p:cNvSpPr>
          <p:nvPr/>
        </p:nvSpPr>
        <p:spPr>
          <a:xfrm xmlns:a="http://schemas.openxmlformats.org/drawingml/2006/main">
            <a:off x="11868150" y="8763000"/>
            <a:ext cx="5200650" cy="3535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175">
                <a:solidFill>
                  <a:srgbClr val="3A3745"/>
                </a:solidFill>
                <a:latin typeface="Deck"/>
                <a:ea typeface="Deck"/>
                <a:cs typeface="Deck"/>
              </a:defRPr>
            </a:pPr>
            <a:r>
              <a:rPr sz="2175">
                <a:solidFill>
                  <a:srgbClr val="3A3745"/>
                </a:solidFill>
                <a:latin typeface="Deck"/>
                <a:ea typeface="Deck"/>
                <a:cs typeface="Deck"/>
              </a:rPr>
              <a:t>of the systems he builds.</a:t>
            </a:r>
          </a:p>
        </p:txBody>
      </p:sp>
      <p:sp>
        <p:nvSpPr>
          <p:cNvPr id="44" name="">
            <a:extLst xmlns:a="http://schemas.openxmlformats.org/drawingml/2006/main">
              <a:ext uri="{FF2B5EF4-FFF2-40B4-BE49-F238E27FC236}">
                <a16:creationId xmlns:a16="http://schemas.microsoft.com/office/drawing/2014/main" id="{4048D9C9-E141-480B-8ED8-4AF42C07255D}"/>
              </a:ext>
            </a:extLst>
          </p:cNvPr>
          <p:cNvSpPr>
            <a:spLocks xmlns:a="http://schemas.openxmlformats.org/drawingml/2006/main" noGrp="1"/>
          </p:cNvSpPr>
          <p:nvPr/>
        </p:nvSpPr>
        <p:spPr>
          <a:xfrm xmlns:a="http://schemas.openxmlformats.org/drawingml/2006/main">
            <a:off x="1009650" y="3305175"/>
            <a:ext cx="16268700" cy="0"/>
          </a:xfrm>
          <a:prstGeom xmlns:a="http://schemas.openxmlformats.org/drawingml/2006/main" prst="line">
            <a:avLst/>
          </a:prstGeom>
          <a:noFill xmlns:a="http://schemas.openxmlformats.org/drawingml/2006/main"/>
          <a:ln xmlns:a="http://schemas.openxmlformats.org/drawingml/2006/main" w="12383">
            <a:solidFill>
              <a:srgbClr val="D9D6D0"/>
            </a:solidFill>
          </a:ln>
        </p:spPr>
      </p:sp>
      <p:sp>
        <p:nvSpPr>
          <p:cNvPr id="45" name="extension-text-140">
            <a:extLst xmlns:a="http://schemas.openxmlformats.org/drawingml/2006/main">
              <a:ext uri="{FF2B5EF4-FFF2-40B4-BE49-F238E27FC236}">
                <a16:creationId xmlns:a16="http://schemas.microsoft.com/office/drawing/2014/main" id="{490505FA-711C-47CB-A5BD-23DAE3B752DF}"/>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Founder backgrounds supplied by the team</a:t>
            </a:r>
          </a:p>
        </p:txBody>
      </p:sp>
      <p:sp>
        <p:nvSpPr>
          <p:cNvPr id="46" name="extension-text-141">
            <a:extLst xmlns:a="http://schemas.openxmlformats.org/drawingml/2006/main">
              <a:ext uri="{FF2B5EF4-FFF2-40B4-BE49-F238E27FC236}">
                <a16:creationId xmlns:a16="http://schemas.microsoft.com/office/drawing/2014/main" id="{75CECEE5-A27A-4D74-A25E-4A47EB8A35DE}"/>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77717D"/>
                </a:solidFill>
                <a:latin typeface="Deck"/>
                <a:ea typeface="Deck"/>
                <a:cs typeface="Deck"/>
              </a:defRPr>
            </a:pPr>
            <a:r>
              <a:rPr sz="1350">
                <a:solidFill>
                  <a:srgbClr val="77717D"/>
                </a:solidFill>
                <a:latin typeface="Deck"/>
                <a:ea typeface="Deck"/>
                <a:cs typeface="Deck"/>
              </a:rPr>
              <a:t>44</a:t>
            </a:r>
          </a:p>
        </p:txBody>
      </p:sp>
    </p:spTree>
    <p:extLst>
      <p:ext uri="{BB962C8B-B14F-4D97-AF65-F5344CB8AC3E}">
        <p14:creationId xmlns:p14="http://schemas.microsoft.com/office/powerpoint/2010/main" val="1772917683"/>
      </p:ext>
    </p:extLst>
  </p:cSld>
</p:sld>
</file>

<file path=ppt/slides/slide45.xml><?xml version="1.0" encoding="utf-8"?>
<p:sld xmlns:p="http://schemas.openxmlformats.org/presentationml/2006/main">
  <p:cSld>
    <p:bg>
      <p:bgPr>
        <a:solidFill xmlns:a="http://schemas.openxmlformats.org/drawingml/2006/main">
          <a:srgbClr val="08110F"/>
        </a:solidFill>
      </p:bgPr>
    </p:bg>
    <p:spTree>
      <p:nvGrpSpPr>
        <p:cNvPr id="1" name=""/>
        <p:cNvGrpSpPr/>
        <p:nvPr/>
      </p:nvGrpSpPr>
      <p:grpSpPr>
        <a:xfrm xmlns:a="http://schemas.openxmlformats.org/drawingml/2006/main"/>
      </p:grpSpPr>
      <p:sp>
        <p:nvSpPr>
          <p:cNvPr id="14" name="extension-text-142">
            <a:extLst xmlns:a="http://schemas.openxmlformats.org/drawingml/2006/main">
              <a:ext uri="{FF2B5EF4-FFF2-40B4-BE49-F238E27FC236}">
                <a16:creationId xmlns:a16="http://schemas.microsoft.com/office/drawing/2014/main" id="{3C032438-280E-436F-8137-78A8C93A05C1}"/>
              </a:ext>
            </a:extLst>
          </p:cNvPr>
          <p:cNvSpPr>
            <a:spLocks xmlns:a="http://schemas.openxmlformats.org/drawingml/2006/main" noGrp="1"/>
          </p:cNvSpPr>
          <p:nvPr/>
        </p:nvSpPr>
        <p:spPr>
          <a:xfrm xmlns:a="http://schemas.openxmlformats.org/drawingml/2006/main">
            <a:off x="990600" y="819150"/>
            <a:ext cx="16287750" cy="280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725">
                <a:solidFill>
                  <a:srgbClr val="FAF6F0"/>
                </a:solidFill>
                <a:latin typeface="Deck-Medium"/>
                <a:ea typeface="Deck-Medium"/>
                <a:cs typeface="Deck-Medium"/>
              </a:defRPr>
            </a:pPr>
            <a:r>
              <a:rPr sz="1725">
                <a:solidFill>
                  <a:srgbClr val="FAF6F0"/>
                </a:solidFill>
                <a:latin typeface="Deck-Medium"/>
                <a:ea typeface="Deck-Medium"/>
                <a:cs typeface="Deck-Medium"/>
              </a:rPr>
              <a:t>PARTNERSHIP OPPORTUNITIES</a:t>
            </a:r>
          </a:p>
        </p:txBody>
      </p:sp>
      <p:sp>
        <p:nvSpPr>
          <p:cNvPr id="2" name="extension-text-143">
            <a:extLst xmlns:a="http://schemas.openxmlformats.org/drawingml/2006/main">
              <a:ext uri="{FF2B5EF4-FFF2-40B4-BE49-F238E27FC236}">
                <a16:creationId xmlns:a16="http://schemas.microsoft.com/office/drawing/2014/main" id="{43909CE6-2FC8-424B-9D05-D118AF24C3D3}"/>
              </a:ext>
            </a:extLst>
          </p:cNvPr>
          <p:cNvSpPr>
            <a:spLocks xmlns:a="http://schemas.openxmlformats.org/drawingml/2006/main" noGrp="1"/>
          </p:cNvSpPr>
          <p:nvPr/>
        </p:nvSpPr>
        <p:spPr>
          <a:xfrm xmlns:a="http://schemas.openxmlformats.org/drawingml/2006/main">
            <a:off x="990600" y="1362075"/>
            <a:ext cx="16287750" cy="950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5850">
                <a:solidFill>
                  <a:srgbClr val="FAF6F0"/>
                </a:solidFill>
                <a:latin typeface="Deck-Semi-Bold"/>
                <a:ea typeface="Deck-Semi-Bold"/>
                <a:cs typeface="Deck-Semi-Bold"/>
              </a:defRPr>
            </a:pPr>
            <a:r>
              <a:rPr sz="5850">
                <a:solidFill>
                  <a:srgbClr val="FAF6F0"/>
                </a:solidFill>
                <a:latin typeface="Deck-Semi-Bold"/>
                <a:ea typeface="Deck-Semi-Bold"/>
                <a:cs typeface="Deck-Semi-Bold"/>
              </a:rPr>
              <a:t>WhiteCoat teleconsultation partnership</a:t>
            </a:r>
          </a:p>
        </p:txBody>
      </p:sp>
      <p:sp>
        <p:nvSpPr>
          <p:cNvPr id="3" name="extension-text-144">
            <a:extLst xmlns:a="http://schemas.openxmlformats.org/drawingml/2006/main">
              <a:ext uri="{FF2B5EF4-FFF2-40B4-BE49-F238E27FC236}">
                <a16:creationId xmlns:a16="http://schemas.microsoft.com/office/drawing/2014/main" id="{76A35850-DC1A-4987-BF74-8379806AD994}"/>
              </a:ext>
            </a:extLst>
          </p:cNvPr>
          <p:cNvSpPr>
            <a:spLocks xmlns:a="http://schemas.openxmlformats.org/drawingml/2006/main" noGrp="1"/>
          </p:cNvSpPr>
          <p:nvPr/>
        </p:nvSpPr>
        <p:spPr>
          <a:xfrm xmlns:a="http://schemas.openxmlformats.org/drawingml/2006/main">
            <a:off x="1009650" y="2543175"/>
            <a:ext cx="16192500" cy="40233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475">
                <a:solidFill>
                  <a:srgbClr val="A8BCB0"/>
                </a:solidFill>
                <a:latin typeface="Deck"/>
                <a:ea typeface="Deck"/>
                <a:cs typeface="Deck"/>
              </a:defRPr>
            </a:pPr>
            <a:r>
              <a:rPr sz="2475">
                <a:solidFill>
                  <a:srgbClr val="A8BCB0"/>
                </a:solidFill>
                <a:latin typeface="Deck"/>
                <a:ea typeface="Deck"/>
                <a:cs typeface="Deck"/>
              </a:rPr>
              <a:t>A proposed route from everyday care to professional medical advice</a:t>
            </a:r>
          </a:p>
        </p:txBody>
      </p:sp>
      <p:graphicFrame>
        <p:nvGraphicFramePr>
          <p:cNvPr id="17" name=""/>
          <p:cNvGraphicFramePr/>
          <p:nvPr/>
        </p:nvGraphicFramePr>
        <p:xfrm>
          <a:off xmlns:a="http://schemas.openxmlformats.org/drawingml/2006/main" x="1009650" y="3648075"/>
          <a:ext xmlns:a="http://schemas.openxmlformats.org/drawingml/2006/main" cx="16268700" cy="2857500"/>
        </p:xfrm>
        <a:graphic xmlns:a="http://schemas.openxmlformats.org/drawingml/2006/main">
          <a:graphicData uri="http://schemas.openxmlformats.org/drawingml/2006/table">
            <a:tbl>
              <a:tblPr firstRow="0" firstCol="0" lastCol="0" bandRow="0" bandCol="0"/>
              <a:tblGrid>
                <a:gridCol w="5429250"/>
                <a:gridCol w="5429250"/>
                <a:gridCol w="5410200"/>
              </a:tblGrid>
              <a:tr h="685800">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CareBuddy</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WhiteCoat</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3150">
                          <a:solidFill>
                            <a:srgbClr val="9BDAB6"/>
                          </a:solidFill>
                          <a:latin typeface="Deck-Medium"/>
                          <a:ea typeface="Deck-Medium"/>
                          <a:cs typeface="Deck-Medium"/>
                        </a:rPr>
                        <a:t>CareBuddy follow-through</a:t>
                      </a:r>
                    </a:p>
                  </a:txBody>
                  <a:tcPr marL="0" marR="228600" marT="95250" marB="95250" anchor="t">
                    <a:lnL w="0">
                      <a:noFill/>
                    </a:lnL>
                    <a:lnR w="0">
                      <a:noFill/>
                    </a:lnR>
                    <a:lnT w="0">
                      <a:noFill/>
                    </a:lnT>
                    <a:lnB w="0">
                      <a:noFill/>
                    </a:lnB>
                    <a:lnTlToBr w="0">
                      <a:noFill/>
                    </a:lnTlToBr>
                    <a:lnBlToTr w="0">
                      <a:noFill/>
                    </a:lnBlToTr>
                    <a:noFill/>
                  </a:tcPr>
                </a:tc>
              </a:tr>
              <a:tr h="2171700">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Offers a teleconsultation route</a:t>
                      </a:r>
                    </a:p>
                    <a:p>
                      <a:pPr algn="l">
                        <a:lnSpc>
                          <a:spcPct val="120000"/>
                        </a:lnSpc>
                      </a:pPr>
                      <a:r>
                        <a:rPr sz="2250">
                          <a:solidFill>
                            <a:srgbClr val="FAF6F0"/>
                          </a:solidFill>
                          <a:latin typeface="Deck"/>
                          <a:ea typeface="Deck"/>
                          <a:cs typeface="Deck"/>
                        </a:rPr>
                        <a:t>when a user seeks medical advice.</a:t>
                      </a:r>
                    </a:p>
                    <a:p>
                      <a:pPr algn="l">
                        <a:lnSpc>
                          <a:spcPct val="120000"/>
                        </a:lnSpc>
                      </a:pPr>
                      <a:r>
                        <a:rPr sz="2250">
                          <a:solidFill>
                            <a:srgbClr val="FAF6F0"/>
                          </a:solidFill>
                          <a:latin typeface="Deck"/>
                          <a:ea typeface="Deck"/>
                          <a:cs typeface="Deck"/>
                        </a:rPr>
                        <a:t>Helps the user prepare for</a:t>
                      </a:r>
                    </a:p>
                    <a:p>
                      <a:pPr algn="l">
                        <a:lnSpc>
                          <a:spcPct val="120000"/>
                        </a:lnSpc>
                      </a:pPr>
                      <a:r>
                        <a:rPr sz="2250">
                          <a:solidFill>
                            <a:srgbClr val="FAF6F0"/>
                          </a:solidFill>
                          <a:latin typeface="Deck"/>
                          <a:ea typeface="Deck"/>
                          <a:cs typeface="Deck"/>
                        </a:rPr>
                        <a:t>a conversation with a doctor.</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Provides the consultation</a:t>
                      </a:r>
                    </a:p>
                    <a:p>
                      <a:pPr algn="l">
                        <a:lnSpc>
                          <a:spcPct val="120000"/>
                        </a:lnSpc>
                      </a:pPr>
                      <a:r>
                        <a:rPr sz="2250">
                          <a:solidFill>
                            <a:srgbClr val="FAF6F0"/>
                          </a:solidFill>
                          <a:latin typeface="Deck"/>
                          <a:ea typeface="Deck"/>
                          <a:cs typeface="Deck"/>
                        </a:rPr>
                        <a:t>through its own clinical service.</a:t>
                      </a:r>
                    </a:p>
                    <a:p>
                      <a:pPr algn="l">
                        <a:lnSpc>
                          <a:spcPct val="120000"/>
                        </a:lnSpc>
                      </a:pPr>
                      <a:r>
                        <a:rPr sz="2250">
                          <a:solidFill>
                            <a:srgbClr val="FAF6F0"/>
                          </a:solidFill>
                          <a:latin typeface="Deck"/>
                          <a:ea typeface="Deck"/>
                          <a:cs typeface="Deck"/>
                        </a:rPr>
                        <a:t>The doctor assesses suitability</a:t>
                      </a:r>
                    </a:p>
                    <a:p>
                      <a:pPr algn="l">
                        <a:lnSpc>
                          <a:spcPct val="120000"/>
                        </a:lnSpc>
                      </a:pPr>
                      <a:r>
                        <a:rPr sz="2250">
                          <a:solidFill>
                            <a:srgbClr val="FAF6F0"/>
                          </a:solidFill>
                          <a:latin typeface="Deck"/>
                          <a:ea typeface="Deck"/>
                          <a:cs typeface="Deck"/>
                        </a:rPr>
                        <a:t>and determines clinical care.</a:t>
                      </a:r>
                    </a:p>
                  </a:txBody>
                  <a:tcPr marL="0" marR="228600" marT="95250" marB="95250" anchor="t">
                    <a:lnL w="0">
                      <a:noFill/>
                    </a:lnL>
                    <a:lnR w="0">
                      <a:noFill/>
                    </a:lnR>
                    <a:lnT w="0">
                      <a:noFill/>
                    </a:lnT>
                    <a:lnB w="0">
                      <a:noFill/>
                    </a:lnB>
                    <a:lnTlToBr w="0">
                      <a:noFill/>
                    </a:lnTlToBr>
                    <a:lnBlToTr w="0">
                      <a:noFill/>
                    </a:lnBlToTr>
                    <a:noFill/>
                  </a:tcPr>
                </a:tc>
                <a:tc>
                  <a:txBody>
                    <a:bodyPr wrap="none" lIns="0" tIns="95250" rIns="228600" bIns="95250" anchor="t" anchorCtr="0">
                      <a:noAutofit/>
                    </a:bodyPr>
                    <a:lstStyle/>
                    <a:p>
                      <a:pPr algn="l">
                        <a:lnSpc>
                          <a:spcPct val="120000"/>
                        </a:lnSpc>
                      </a:pPr>
                      <a:r>
                        <a:rPr sz="2250">
                          <a:solidFill>
                            <a:srgbClr val="FAF6F0"/>
                          </a:solidFill>
                          <a:latin typeface="Deck"/>
                          <a:ea typeface="Deck"/>
                          <a:cs typeface="Deck"/>
                        </a:rPr>
                        <a:t>Helps organise the next routine</a:t>
                      </a:r>
                    </a:p>
                    <a:p>
                      <a:pPr algn="l">
                        <a:lnSpc>
                          <a:spcPct val="120000"/>
                        </a:lnSpc>
                      </a:pPr>
                      <a:r>
                        <a:rPr sz="2250">
                          <a:solidFill>
                            <a:srgbClr val="FAF6F0"/>
                          </a:solidFill>
                          <a:latin typeface="Deck"/>
                          <a:ea typeface="Deck"/>
                          <a:cs typeface="Deck"/>
                        </a:rPr>
                        <a:t>using the doctor’s instructions.</a:t>
                      </a:r>
                    </a:p>
                    <a:p>
                      <a:pPr algn="l">
                        <a:lnSpc>
                          <a:spcPct val="120000"/>
                        </a:lnSpc>
                      </a:pPr>
                      <a:r>
                        <a:rPr sz="2250">
                          <a:solidFill>
                            <a:srgbClr val="FAF6F0"/>
                          </a:solidFill>
                          <a:latin typeface="Deck"/>
                          <a:ea typeface="Deck"/>
                          <a:cs typeface="Deck"/>
                        </a:rPr>
                        <a:t>Any future data handoff needs</a:t>
                      </a:r>
                    </a:p>
                    <a:p>
                      <a:pPr algn="l">
                        <a:lnSpc>
                          <a:spcPct val="120000"/>
                        </a:lnSpc>
                      </a:pPr>
                      <a:r>
                        <a:rPr sz="2250">
                          <a:solidFill>
                            <a:srgbClr val="FAF6F0"/>
                          </a:solidFill>
                          <a:latin typeface="Deck"/>
                          <a:ea typeface="Deck"/>
                          <a:cs typeface="Deck"/>
                        </a:rPr>
                        <a:t>explicit consent and agreement.</a:t>
                      </a:r>
                    </a:p>
                  </a:txBody>
                  <a:tcPr marL="0" marR="228600" marT="95250" marB="95250" anchor="t">
                    <a:lnL w="0">
                      <a:noFill/>
                    </a:lnL>
                    <a:lnR w="0">
                      <a:noFill/>
                    </a:lnR>
                    <a:lnT w="0">
                      <a:noFill/>
                    </a:lnT>
                    <a:lnB w="0">
                      <a:noFill/>
                    </a:lnB>
                    <a:lnTlToBr w="0">
                      <a:noFill/>
                    </a:lnTlToBr>
                    <a:lnBlToTr w="0">
                      <a:noFill/>
                    </a:lnBlToTr>
                    <a:noFill/>
                  </a:tcPr>
                </a:tc>
              </a:tr>
            </a:tbl>
          </a:graphicData>
        </a:graphic>
      </p:graphicFrame>
      <p:sp>
        <p:nvSpPr>
          <p:cNvPr id="5" name="">
            <a:extLst xmlns:a="http://schemas.openxmlformats.org/drawingml/2006/main">
              <a:ext uri="{FF2B5EF4-FFF2-40B4-BE49-F238E27FC236}">
                <a16:creationId xmlns:a16="http://schemas.microsoft.com/office/drawing/2014/main" id="{C7FA695E-91F3-445D-B18A-105084617925}"/>
              </a:ext>
            </a:extLst>
          </p:cNvPr>
          <p:cNvSpPr>
            <a:spLocks xmlns:a="http://schemas.openxmlformats.org/drawingml/2006/main" noGrp="1"/>
          </p:cNvSpPr>
          <p:nvPr/>
        </p:nvSpPr>
        <p:spPr>
          <a:xfrm xmlns:a="http://schemas.openxmlformats.org/drawingml/2006/main">
            <a:off x="1009650" y="3362325"/>
            <a:ext cx="1626870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6" name="">
            <a:extLst xmlns:a="http://schemas.openxmlformats.org/drawingml/2006/main">
              <a:ext uri="{FF2B5EF4-FFF2-40B4-BE49-F238E27FC236}">
                <a16:creationId xmlns:a16="http://schemas.microsoft.com/office/drawing/2014/main" id="{09AA749C-0329-4541-8CEE-5D089AF1A9DA}"/>
              </a:ext>
            </a:extLst>
          </p:cNvPr>
          <p:cNvSpPr>
            <a:spLocks xmlns:a="http://schemas.openxmlformats.org/drawingml/2006/main" noGrp="1"/>
          </p:cNvSpPr>
          <p:nvPr/>
        </p:nvSpPr>
        <p:spPr>
          <a:xfrm xmlns:a="http://schemas.openxmlformats.org/drawingml/2006/main">
            <a:off x="1009650" y="6677025"/>
            <a:ext cx="16268700" cy="0"/>
          </a:xfrm>
          <a:prstGeom xmlns:a="http://schemas.openxmlformats.org/drawingml/2006/main" prst="line">
            <a:avLst/>
          </a:prstGeom>
          <a:noFill xmlns:a="http://schemas.openxmlformats.org/drawingml/2006/main"/>
          <a:ln xmlns:a="http://schemas.openxmlformats.org/drawingml/2006/main" w="12383">
            <a:solidFill>
              <a:srgbClr val="344E3E"/>
            </a:solidFill>
          </a:ln>
        </p:spPr>
      </p:sp>
      <p:sp>
        <p:nvSpPr>
          <p:cNvPr id="7" name="extension-text-145">
            <a:extLst xmlns:a="http://schemas.openxmlformats.org/drawingml/2006/main">
              <a:ext uri="{FF2B5EF4-FFF2-40B4-BE49-F238E27FC236}">
                <a16:creationId xmlns:a16="http://schemas.microsoft.com/office/drawing/2014/main" id="{E6703BE1-BD33-4D73-83C6-5468EFB3BD22}"/>
              </a:ext>
            </a:extLst>
          </p:cNvPr>
          <p:cNvSpPr>
            <a:spLocks xmlns:a="http://schemas.openxmlformats.org/drawingml/2006/main" noGrp="1"/>
          </p:cNvSpPr>
          <p:nvPr/>
        </p:nvSpPr>
        <p:spPr>
          <a:xfrm xmlns:a="http://schemas.openxmlformats.org/drawingml/2006/main">
            <a:off x="1009650" y="7162800"/>
            <a:ext cx="466725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625">
                <a:solidFill>
                  <a:srgbClr val="9BDAB6"/>
                </a:solidFill>
                <a:latin typeface="Deck-Medium"/>
                <a:ea typeface="Deck-Medium"/>
                <a:cs typeface="Deck-Medium"/>
              </a:defRPr>
            </a:pPr>
            <a:r>
              <a:rPr sz="2625">
                <a:solidFill>
                  <a:srgbClr val="9BDAB6"/>
                </a:solidFill>
                <a:latin typeface="Deck-Medium"/>
                <a:ea typeface="Deck-Medium"/>
                <a:cs typeface="Deck-Medium"/>
              </a:rPr>
              <a:t>Partnership outlook</a:t>
            </a:r>
          </a:p>
        </p:txBody>
      </p:sp>
      <p:sp>
        <p:nvSpPr>
          <p:cNvPr id="8" name="extension-text-146">
            <a:extLst xmlns:a="http://schemas.openxmlformats.org/drawingml/2006/main">
              <a:ext uri="{FF2B5EF4-FFF2-40B4-BE49-F238E27FC236}">
                <a16:creationId xmlns:a16="http://schemas.microsoft.com/office/drawing/2014/main" id="{06031BBD-9238-4757-AF49-F95515F12255}"/>
              </a:ext>
            </a:extLst>
          </p:cNvPr>
          <p:cNvSpPr>
            <a:spLocks xmlns:a="http://schemas.openxmlformats.org/drawingml/2006/main" noGrp="1"/>
          </p:cNvSpPr>
          <p:nvPr/>
        </p:nvSpPr>
        <p:spPr>
          <a:xfrm xmlns:a="http://schemas.openxmlformats.org/drawingml/2006/main">
            <a:off x="6038850" y="7191375"/>
            <a:ext cx="112395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The team has high confidence in securing a WhiteCoat deal.</a:t>
            </a:r>
          </a:p>
        </p:txBody>
      </p:sp>
      <p:sp>
        <p:nvSpPr>
          <p:cNvPr id="9" name="extension-text-147">
            <a:extLst xmlns:a="http://schemas.openxmlformats.org/drawingml/2006/main">
              <a:ext uri="{FF2B5EF4-FFF2-40B4-BE49-F238E27FC236}">
                <a16:creationId xmlns:a16="http://schemas.microsoft.com/office/drawing/2014/main" id="{AA87D9C8-7776-43A7-BD17-E8A87F77EE93}"/>
              </a:ext>
            </a:extLst>
          </p:cNvPr>
          <p:cNvSpPr>
            <a:spLocks xmlns:a="http://schemas.openxmlformats.org/drawingml/2006/main" noGrp="1"/>
          </p:cNvSpPr>
          <p:nvPr/>
        </p:nvSpPr>
        <p:spPr>
          <a:xfrm xmlns:a="http://schemas.openxmlformats.org/drawingml/2006/main">
            <a:off x="6038850" y="7620000"/>
            <a:ext cx="112395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250">
                <a:solidFill>
                  <a:srgbClr val="FAF6F0"/>
                </a:solidFill>
                <a:latin typeface="Deck"/>
                <a:ea typeface="Deck"/>
                <a:cs typeface="Deck"/>
              </a:defRPr>
            </a:pPr>
            <a:r>
              <a:rPr sz="2250">
                <a:solidFill>
                  <a:srgbClr val="FAF6F0"/>
                </a:solidFill>
                <a:latin typeface="Deck"/>
                <a:ea typeface="Deck"/>
                <a:cs typeface="Deck"/>
              </a:rPr>
              <a:t>Commercial terms and integration scope remain to be agreed.</a:t>
            </a:r>
          </a:p>
        </p:txBody>
      </p:sp>
      <p:sp>
        <p:nvSpPr>
          <p:cNvPr id="10" name="extension-text-148">
            <a:extLst xmlns:a="http://schemas.openxmlformats.org/drawingml/2006/main">
              <a:ext uri="{FF2B5EF4-FFF2-40B4-BE49-F238E27FC236}">
                <a16:creationId xmlns:a16="http://schemas.microsoft.com/office/drawing/2014/main" id="{97013BA1-F306-43D3-AB62-72210756B200}"/>
              </a:ext>
            </a:extLst>
          </p:cNvPr>
          <p:cNvSpPr>
            <a:spLocks xmlns:a="http://schemas.openxmlformats.org/drawingml/2006/main" noGrp="1"/>
          </p:cNvSpPr>
          <p:nvPr/>
        </p:nvSpPr>
        <p:spPr>
          <a:xfrm xmlns:a="http://schemas.openxmlformats.org/drawingml/2006/main">
            <a:off x="1009650" y="8572500"/>
            <a:ext cx="46672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2325">
                <a:solidFill>
                  <a:srgbClr val="9BDAB6"/>
                </a:solidFill>
                <a:latin typeface="Deck-Medium"/>
                <a:ea typeface="Deck-Medium"/>
                <a:cs typeface="Deck-Medium"/>
              </a:defRPr>
            </a:pPr>
            <a:r>
              <a:rPr sz="2325">
                <a:solidFill>
                  <a:srgbClr val="9BDAB6"/>
                </a:solidFill>
                <a:latin typeface="Deck-Medium"/>
                <a:ea typeface="Deck-Medium"/>
                <a:cs typeface="Deck-Medium"/>
              </a:rPr>
              <a:t>Current demo</a:t>
            </a:r>
          </a:p>
        </p:txBody>
      </p:sp>
      <p:sp>
        <p:nvSpPr>
          <p:cNvPr id="11" name="extension-text-149">
            <a:extLst xmlns:a="http://schemas.openxmlformats.org/drawingml/2006/main">
              <a:ext uri="{FF2B5EF4-FFF2-40B4-BE49-F238E27FC236}">
                <a16:creationId xmlns:a16="http://schemas.microsoft.com/office/drawing/2014/main" id="{63BFD7D3-3973-44B9-AE9A-6B4690B6111C}"/>
              </a:ext>
            </a:extLst>
          </p:cNvPr>
          <p:cNvSpPr>
            <a:spLocks xmlns:a="http://schemas.openxmlformats.org/drawingml/2006/main" noGrp="1"/>
          </p:cNvSpPr>
          <p:nvPr/>
        </p:nvSpPr>
        <p:spPr>
          <a:xfrm xmlns:a="http://schemas.openxmlformats.org/drawingml/2006/main">
            <a:off x="6038850" y="8610600"/>
            <a:ext cx="11239500" cy="3169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950">
                <a:solidFill>
                  <a:srgbClr val="A8BCB0"/>
                </a:solidFill>
                <a:latin typeface="Deck"/>
                <a:ea typeface="Deck"/>
                <a:cs typeface="Deck"/>
              </a:defRPr>
            </a:pPr>
            <a:r>
              <a:rPr sz="1950">
                <a:solidFill>
                  <a:srgbClr val="A8BCB0"/>
                </a:solidFill>
                <a:latin typeface="Deck"/>
                <a:ea typeface="Deck"/>
                <a:cs typeface="Deck"/>
              </a:rPr>
              <a:t>Opens a WhiteCoat GP link. Partner booking and data transfer are proposed next steps.</a:t>
            </a:r>
          </a:p>
        </p:txBody>
      </p:sp>
      <p:sp>
        <p:nvSpPr>
          <p:cNvPr id="12" name="extension-text-150">
            <a:extLst xmlns:a="http://schemas.openxmlformats.org/drawingml/2006/main">
              <a:ext uri="{FF2B5EF4-FFF2-40B4-BE49-F238E27FC236}">
                <a16:creationId xmlns:a16="http://schemas.microsoft.com/office/drawing/2014/main" id="{2A54980F-52C6-4D9A-B104-000722B02564}"/>
              </a:ext>
            </a:extLst>
          </p:cNvPr>
          <p:cNvSpPr>
            <a:spLocks xmlns:a="http://schemas.openxmlformats.org/drawingml/2006/main" noGrp="1"/>
          </p:cNvSpPr>
          <p:nvPr/>
        </p:nvSpPr>
        <p:spPr>
          <a:xfrm xmlns:a="http://schemas.openxmlformats.org/drawingml/2006/main">
            <a:off x="990600" y="9696450"/>
            <a:ext cx="1571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Proposed partnership. WhiteCoat agreement is pending. The existing redirect does not book a consultation or send care records.</a:t>
            </a:r>
          </a:p>
        </p:txBody>
      </p:sp>
      <p:sp>
        <p:nvSpPr>
          <p:cNvPr id="13" name="extension-text-151">
            <a:extLst xmlns:a="http://schemas.openxmlformats.org/drawingml/2006/main">
              <a:ext uri="{FF2B5EF4-FFF2-40B4-BE49-F238E27FC236}">
                <a16:creationId xmlns:a16="http://schemas.microsoft.com/office/drawing/2014/main" id="{41D79D70-ABE0-46F3-A2B6-8DD87D92C5FD}"/>
              </a:ext>
            </a:extLst>
          </p:cNvPr>
          <p:cNvSpPr>
            <a:spLocks xmlns:a="http://schemas.openxmlformats.org/drawingml/2006/main" noGrp="1"/>
          </p:cNvSpPr>
          <p:nvPr/>
        </p:nvSpPr>
        <p:spPr>
          <a:xfrm xmlns:a="http://schemas.openxmlformats.org/drawingml/2006/main">
            <a:off x="17030700" y="9696450"/>
            <a:ext cx="47625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chorCtr="0">
            <a:noAutofit/>
          </a:bodyPr>
          <a:lstStyle xmlns:a="http://schemas.openxmlformats.org/drawingml/2006/main"/>
          <a:p xmlns:a="http://schemas.openxmlformats.org/drawingml/2006/main">
            <a:pPr algn="l">
              <a:defRPr sz="1350">
                <a:solidFill>
                  <a:srgbClr val="8FA697"/>
                </a:solidFill>
                <a:latin typeface="Deck"/>
                <a:ea typeface="Deck"/>
                <a:cs typeface="Deck"/>
              </a:defRPr>
            </a:pPr>
            <a:r>
              <a:rPr sz="1350">
                <a:solidFill>
                  <a:srgbClr val="8FA697"/>
                </a:solidFill>
                <a:latin typeface="Deck"/>
                <a:ea typeface="Deck"/>
                <a:cs typeface="Deck"/>
              </a:rPr>
              <a:t>45</a:t>
            </a:r>
          </a:p>
        </p:txBody>
      </p:sp>
    </p:spTree>
    <p:extLst>
      <p:ext uri="{BB962C8B-B14F-4D97-AF65-F5344CB8AC3E}">
        <p14:creationId xmlns:p14="http://schemas.microsoft.com/office/powerpoint/2010/main" val="1008249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45</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2026-10-09T02:06:39.3590000Z</dcterms:created>
  <dcterms:modified xsi:type="dcterms:W3CDTF">2026-10-09T02:06:39.3600000Z</dcterms:modified>
</coreProperties>
</file>