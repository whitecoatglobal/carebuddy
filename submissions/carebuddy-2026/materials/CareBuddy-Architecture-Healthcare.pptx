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6ec39355fe4c49" /><Relationship Type="http://schemas.openxmlformats.org/officeDocument/2006/relationships/extended-properties" Target="/docProps/app.xml" Id="R47ff9f39e8e342d7" /><Relationship Type="http://schemas.openxmlformats.org/officeDocument/2006/relationships/officeDocument" Target="/ppt/presentation.xml" Id="R8c9f179026f04afd" /></Relationships>
</file>

<file path=ppt/presentation.xml><?xml version="1.0" encoding="utf-8"?>
<p:presentation xmlns:p="http://schemas.openxmlformats.org/presentationml/2006/main">
  <p:sldMasterIdLst>
    <p:sldMasterId xmlns:r="http://schemas.openxmlformats.org/officeDocument/2006/relationships" id="2147483648" r:id="R5f12312439a649b1"/>
  </p:sldMasterIdLst>
  <p:notesMasterIdLst>
    <p:notesMasterId xmlns:r="http://schemas.openxmlformats.org/officeDocument/2006/relationships" r:id="R007ef4381ac24958"/>
  </p:notesMasterIdLst>
  <p:sldIdLst>
    <p:sldId xmlns:r="http://schemas.openxmlformats.org/officeDocument/2006/relationships" id="256" r:id="R9898a9bd95214953"/>
    <p:sldId xmlns:r="http://schemas.openxmlformats.org/officeDocument/2006/relationships" id="257" r:id="R34e6986adeb74354"/>
    <p:sldId xmlns:r="http://schemas.openxmlformats.org/officeDocument/2006/relationships" id="258" r:id="Rbaeba6f572e94ed6"/>
    <p:sldId xmlns:r="http://schemas.openxmlformats.org/officeDocument/2006/relationships" id="259" r:id="R498b10635fc3475a"/>
    <p:sldId xmlns:r="http://schemas.openxmlformats.org/officeDocument/2006/relationships" id="260" r:id="R21ffb07f6d9340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04b89aa0124208" /><Relationship Type="http://schemas.openxmlformats.org/officeDocument/2006/relationships/slideMaster" Target="/ppt/slideMasters/slideMaster1.xml" Id="R5f12312439a649b1" /><Relationship Type="http://schemas.openxmlformats.org/officeDocument/2006/relationships/notesMaster" Target="/ppt/notesMasters/notesMaster1.xml" Id="R007ef4381ac24958" /><Relationship Type="http://schemas.openxmlformats.org/officeDocument/2006/relationships/presProps" Target="/ppt/presProps.xml" Id="Rfce899a885924794" /><Relationship Type="http://schemas.openxmlformats.org/officeDocument/2006/relationships/tableStyles" Target="/ppt/tableStyles.xml" Id="R09215bf8f26b479a" /><Relationship Type="http://schemas.openxmlformats.org/officeDocument/2006/relationships/slide" Target="/ppt/slides/slide1.xml" Id="R9898a9bd95214953" /><Relationship Type="http://schemas.openxmlformats.org/officeDocument/2006/relationships/slide" Target="/ppt/slides/slide2.xml" Id="R34e6986adeb74354" /><Relationship Type="http://schemas.openxmlformats.org/officeDocument/2006/relationships/slide" Target="/ppt/slides/slide3.xml" Id="Rbaeba6f572e94ed6" /><Relationship Type="http://schemas.openxmlformats.org/officeDocument/2006/relationships/slide" Target="/ppt/slides/slide4.xml" Id="R498b10635fc3475a" /><Relationship Type="http://schemas.openxmlformats.org/officeDocument/2006/relationships/slide" Target="/ppt/slides/slide5.xml" Id="R21ffb07f6d9340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5d1a16aa5a46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03ceb0427743ce" /><Relationship Type="http://schemas.openxmlformats.org/officeDocument/2006/relationships/notesMaster" Target="/ppt/notesMasters/notesMaster1.xml" Id="Rc412e4b45c3244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4f86ad4d024c1c" /><Relationship Type="http://schemas.openxmlformats.org/officeDocument/2006/relationships/notesMaster" Target="/ppt/notesMasters/notesMaster1.xml" Id="R7be8a24ce61f44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29dbb736284212" /><Relationship Type="http://schemas.openxmlformats.org/officeDocument/2006/relationships/notesMaster" Target="/ppt/notesMasters/notesMaster1.xml" Id="R7cadec496f2849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bae3fb4ee84ca1" /><Relationship Type="http://schemas.openxmlformats.org/officeDocument/2006/relationships/notesMaster" Target="/ppt/notesMasters/notesMaster1.xml" Id="Re938a6165a5b40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47506628f942a6" /><Relationship Type="http://schemas.openxmlformats.org/officeDocument/2006/relationships/notesMaster" Target="/ppt/notesMasters/notesMaster1.xml" Id="R9123f97259f24f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Business model shown is the current care journey, not a contracted provider or insurer integration. WhiteCoat link: https://link.whitecoat.com.sg/dXEf/nnq8g6r9. The app does not transfer chat or reading payloads to that link. Family access is local care-space permission, not consent-verified patient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The private MCP client/server uses in-memory transport inside the Node backend. The LLM receives selected-person reminders, appointments and benefits, with recent conversation. It does not receive the frontend sleep dataset or health-card readings through this context. Health-reading alerts use a separate evaluator. Hosted on Tencent Cloud Ubuntu, Node/Express behind Nginx. SQLite is a prototype store, not a claim of distributed scaling. Weather API: https://api-open.data.gov.sg/v2/real-time/api/.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Prompt policy in buddyPrompt.ts. Tool schema whitelist in commands.ts. read_selected_care trims audit/browser identifiers and other profiles. Tools validate a clone before persistBuddy independently revalidates and commits. Clear supported chat requests authorise automatic saves without another confirmation step. The example was executed with a real TokenHub completion on 9 October 2026 and the updated Today UI was captured. Health advice is bounded to care organisation. No diagnosis, prescribing, dose changes or appointment booking tool is exposed.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MCP endpoint: https://carebuddy.life/api/integrations/mcp. A hashed credential grants read notifications and acknowledge delivery for explicitly selected visible profiles. Connections expire after 90 days and support revocation. Acknowledge does not complete reminders or mark in-app alerts read. Feed respects routine outcomes, snoozes and deletion. General adult health reference alerts and stale readings are not personalised diagnoses. Host support and cadence depend on the client. Official installation/scheduling references: https://developers.openai.com/plugins/build/plugins ; https://learn.chatgpt.com/docs/automations?surface=app ; https://support.claude.com/en/articles/13837440-use-plugins-in-claude ; https://support.claude.com/en/articles/13854387-schedule-recurring-tasks-in-claude-cowork ; https://code.claude.com/docs/en/scheduled-tasks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This slide is a trust-boundary and trade-off diagram. Browser identifiers are namespaces, not verified human authentication. Current profile permissions do not amount to consent-verified cross-account sharing. Real patient deployment, identity, longitudinal wearable data, scalability and clinical evaluation are proposed next work, not implemented claims. SQLite transactions and deterministic delivery IDs provide prototype reliability without claiming an always-on clinical monitoring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13167ab7f64d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517795fb9d432f" /><Relationship Type="http://schemas.openxmlformats.org/officeDocument/2006/relationships/slideLayout" Target="/ppt/slideLayouts/slideLayout1.xml" Id="R0f11adfac80247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1adfac80247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627a4c23f741a0" /><Relationship Type="http://schemas.openxmlformats.org/officeDocument/2006/relationships/notesSlide" Target="/ppt/notesSlides/notesSlide1.xml" Id="Rdcc48ae8ee5945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fbfcefca004a11" /><Relationship Type="http://schemas.openxmlformats.org/officeDocument/2006/relationships/notesSlide" Target="/ppt/notesSlides/notesSlide2.xml" Id="R723720c6a3d74b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5b8056e44d453f" /><Relationship Type="http://schemas.openxmlformats.org/officeDocument/2006/relationships/notesSlide" Target="/ppt/notesSlides/notesSlide3.xml" Id="R610eba10ed4746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1c31d0864e4e33" /><Relationship Type="http://schemas.openxmlformats.org/officeDocument/2006/relationships/notesSlide" Target="/ppt/notesSlides/notesSlide4.xml" Id="Rfeefd2d5a8a24e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9b3ea00d394ef1" /><Relationship Type="http://schemas.openxmlformats.org/officeDocument/2006/relationships/notesSlide" Target="/ppt/notesSlides/notesSlide5.xml" Id="Ra739c35c1cf94f5e" /></Relationships>
</file>

<file path=ppt/slides/slide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7" name=""/>
          <p:cNvCxnSpPr>
            <a:stCxn xmlns:a="http://schemas.openxmlformats.org/drawingml/2006/main" id="12" idx="2"/>
            <a:endCxn xmlns:a="http://schemas.openxmlformats.org/drawingml/2006/main" id="22" idx="0"/>
          </p:cNvCxnSpPr>
          <p:nvPr/>
        </p:nvCxnSpPr>
        <p:spPr>
          <a:xfrm xmlns:a="http://schemas.openxmlformats.org/drawingml/2006/main">
            <a:off x="10525125" y="3714750"/>
            <a:ext cx="0" cy="809625"/>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8" name=""/>
          <p:cNvCxnSpPr>
            <a:stCxn xmlns:a="http://schemas.openxmlformats.org/drawingml/2006/main" id="9" idx="3"/>
            <a:endCxn xmlns:a="http://schemas.openxmlformats.org/drawingml/2006/main" id="12" idx="1"/>
          </p:cNvCxnSpPr>
          <p:nvPr/>
        </p:nvCxnSpPr>
        <p:spPr>
          <a:xfrm xmlns:a="http://schemas.openxmlformats.org/drawingml/2006/main">
            <a:off x="8763000" y="2928938"/>
            <a:ext cx="571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5810250" y="2928938"/>
            <a:ext cx="571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2857500" y="2928938"/>
            <a:ext cx="571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sp>
        <p:nvSpPr>
          <p:cNvPr id="31" name="CareBuddy architecture">
            <a:extLst xmlns:a="http://schemas.openxmlformats.org/drawingml/2006/main">
              <a:ext uri="{FF2B5EF4-FFF2-40B4-BE49-F238E27FC236}">
                <a16:creationId xmlns:a16="http://schemas.microsoft.com/office/drawing/2014/main" id="{321F5784-12F7-43E8-9E31-D80CFA3CCF43}"/>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CareBuddy architecture</a:t>
            </a:r>
          </a:p>
        </p:txBody>
      </p:sp>
      <p:sp>
        <p:nvSpPr>
          <p:cNvPr id="2" name="Healthcare Track · Case Study 2: AI">
            <a:extLst xmlns:a="http://schemas.openxmlformats.org/drawingml/2006/main">
              <a:ext uri="{FF2B5EF4-FFF2-40B4-BE49-F238E27FC236}">
                <a16:creationId xmlns:a16="http://schemas.microsoft.com/office/drawing/2014/main" id="{3F08CFDD-BC4F-4457-A38E-562CFF881501}"/>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Healthcare Track · Case Study 2: AI Healthier Every Day</a:t>
            </a:r>
          </a:p>
        </p:txBody>
      </p:sp>
      <p:sp>
        <p:nvSpPr>
          <p:cNvPr id="3" name="People">
            <a:extLst xmlns:a="http://schemas.openxmlformats.org/drawingml/2006/main">
              <a:ext uri="{FF2B5EF4-FFF2-40B4-BE49-F238E27FC236}">
                <a16:creationId xmlns:a16="http://schemas.microsoft.com/office/drawing/2014/main" id="{E499A3FB-B721-49E9-85A8-E8FD9FA3ACE7}"/>
              </a:ext>
            </a:extLst>
          </p:cNvPr>
          <p:cNvSpPr>
            <a:spLocks xmlns:a="http://schemas.openxmlformats.org/drawingml/2006/main" noGrp="1"/>
          </p:cNvSpPr>
          <p:nvPr/>
        </p:nvSpPr>
        <p:spPr>
          <a:xfrm xmlns:a="http://schemas.openxmlformats.org/drawingml/2006/main">
            <a:off x="476250" y="2143125"/>
            <a:ext cx="2381250" cy="1571625"/>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4" name="People">
            <a:extLst xmlns:a="http://schemas.openxmlformats.org/drawingml/2006/main">
              <a:ext uri="{FF2B5EF4-FFF2-40B4-BE49-F238E27FC236}">
                <a16:creationId xmlns:a16="http://schemas.microsoft.com/office/drawing/2014/main" id="{5732D55C-7C2B-4C7C-B93F-CEFE5EAB4285}"/>
              </a:ext>
            </a:extLst>
          </p:cNvPr>
          <p:cNvSpPr>
            <a:spLocks xmlns:a="http://schemas.openxmlformats.org/drawingml/2006/main" noGrp="1"/>
          </p:cNvSpPr>
          <p:nvPr/>
        </p:nvSpPr>
        <p:spPr>
          <a:xfrm xmlns:a="http://schemas.openxmlformats.org/drawingml/2006/main">
            <a:off x="63817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People</a:t>
            </a:r>
          </a:p>
        </p:txBody>
      </p:sp>
      <p:sp>
        <p:nvSpPr>
          <p:cNvPr id="5" name="Adults and family&#10;caregivers">
            <a:extLst xmlns:a="http://schemas.openxmlformats.org/drawingml/2006/main">
              <a:ext uri="{FF2B5EF4-FFF2-40B4-BE49-F238E27FC236}">
                <a16:creationId xmlns:a16="http://schemas.microsoft.com/office/drawing/2014/main" id="{BC32AF5B-9827-454D-8B0A-7A4E5EA2277C}"/>
              </a:ext>
            </a:extLst>
          </p:cNvPr>
          <p:cNvSpPr>
            <a:spLocks xmlns:a="http://schemas.openxmlformats.org/drawingml/2006/main" noGrp="1"/>
          </p:cNvSpPr>
          <p:nvPr/>
        </p:nvSpPr>
        <p:spPr>
          <a:xfrm xmlns:a="http://schemas.openxmlformats.org/drawingml/2006/main">
            <a:off x="63817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Adults and family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caregivers</a:t>
            </a:r>
          </a:p>
        </p:txBody>
      </p:sp>
      <p:sp>
        <p:nvSpPr>
          <p:cNvPr id="6" name="Daily care view">
            <a:extLst xmlns:a="http://schemas.openxmlformats.org/drawingml/2006/main">
              <a:ext uri="{FF2B5EF4-FFF2-40B4-BE49-F238E27FC236}">
                <a16:creationId xmlns:a16="http://schemas.microsoft.com/office/drawing/2014/main" id="{2E3C180E-DFCF-417B-A59A-6D0EE366EC65}"/>
              </a:ext>
            </a:extLst>
          </p:cNvPr>
          <p:cNvSpPr>
            <a:spLocks xmlns:a="http://schemas.openxmlformats.org/drawingml/2006/main" noGrp="1"/>
          </p:cNvSpPr>
          <p:nvPr/>
        </p:nvSpPr>
        <p:spPr>
          <a:xfrm xmlns:a="http://schemas.openxmlformats.org/drawingml/2006/main">
            <a:off x="3429000" y="2143125"/>
            <a:ext cx="2381250" cy="1571625"/>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7" name="Daily care view">
            <a:extLst xmlns:a="http://schemas.openxmlformats.org/drawingml/2006/main">
              <a:ext uri="{FF2B5EF4-FFF2-40B4-BE49-F238E27FC236}">
                <a16:creationId xmlns:a16="http://schemas.microsoft.com/office/drawing/2014/main" id="{4ADCC157-0CF0-4A6C-80D4-475BFA1E7A66}"/>
              </a:ext>
            </a:extLst>
          </p:cNvPr>
          <p:cNvSpPr>
            <a:spLocks xmlns:a="http://schemas.openxmlformats.org/drawingml/2006/main" noGrp="1"/>
          </p:cNvSpPr>
          <p:nvPr/>
        </p:nvSpPr>
        <p:spPr>
          <a:xfrm xmlns:a="http://schemas.openxmlformats.org/drawingml/2006/main">
            <a:off x="359092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Daily care view</a:t>
            </a:r>
          </a:p>
        </p:txBody>
      </p:sp>
      <p:sp>
        <p:nvSpPr>
          <p:cNvPr id="8" name="Routines, readings&#10;and appointments">
            <a:extLst xmlns:a="http://schemas.openxmlformats.org/drawingml/2006/main">
              <a:ext uri="{FF2B5EF4-FFF2-40B4-BE49-F238E27FC236}">
                <a16:creationId xmlns:a16="http://schemas.microsoft.com/office/drawing/2014/main" id="{E90C12A7-B305-4714-8E96-3FB8DE922EE2}"/>
              </a:ext>
            </a:extLst>
          </p:cNvPr>
          <p:cNvSpPr>
            <a:spLocks xmlns:a="http://schemas.openxmlformats.org/drawingml/2006/main" noGrp="1"/>
          </p:cNvSpPr>
          <p:nvPr/>
        </p:nvSpPr>
        <p:spPr>
          <a:xfrm xmlns:a="http://schemas.openxmlformats.org/drawingml/2006/main">
            <a:off x="359092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Routines, readings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and appointments</a:t>
            </a:r>
          </a:p>
        </p:txBody>
      </p:sp>
      <p:sp>
        <p:nvSpPr>
          <p:cNvPr id="9" name="Buddy">
            <a:extLst xmlns:a="http://schemas.openxmlformats.org/drawingml/2006/main">
              <a:ext uri="{FF2B5EF4-FFF2-40B4-BE49-F238E27FC236}">
                <a16:creationId xmlns:a16="http://schemas.microsoft.com/office/drawing/2014/main" id="{75547140-3AFE-4F17-8192-D9805FAAEC8C}"/>
              </a:ext>
            </a:extLst>
          </p:cNvPr>
          <p:cNvSpPr>
            <a:spLocks xmlns:a="http://schemas.openxmlformats.org/drawingml/2006/main" noGrp="1"/>
          </p:cNvSpPr>
          <p:nvPr/>
        </p:nvSpPr>
        <p:spPr>
          <a:xfrm xmlns:a="http://schemas.openxmlformats.org/drawingml/2006/main">
            <a:off x="6381750" y="2143125"/>
            <a:ext cx="2381250" cy="1571625"/>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10" name="Buddy">
            <a:extLst xmlns:a="http://schemas.openxmlformats.org/drawingml/2006/main">
              <a:ext uri="{FF2B5EF4-FFF2-40B4-BE49-F238E27FC236}">
                <a16:creationId xmlns:a16="http://schemas.microsoft.com/office/drawing/2014/main" id="{69D9179B-6A42-4102-BD2B-C7560ACE1737}"/>
              </a:ext>
            </a:extLst>
          </p:cNvPr>
          <p:cNvSpPr>
            <a:spLocks xmlns:a="http://schemas.openxmlformats.org/drawingml/2006/main" noGrp="1"/>
          </p:cNvSpPr>
          <p:nvPr/>
        </p:nvSpPr>
        <p:spPr>
          <a:xfrm xmlns:a="http://schemas.openxmlformats.org/drawingml/2006/main">
            <a:off x="654367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Buddy</a:t>
            </a:r>
          </a:p>
        </p:txBody>
      </p:sp>
      <p:sp>
        <p:nvSpPr>
          <p:cNvPr id="11" name="Grounded answers&#10;and care changes">
            <a:extLst xmlns:a="http://schemas.openxmlformats.org/drawingml/2006/main">
              <a:ext uri="{FF2B5EF4-FFF2-40B4-BE49-F238E27FC236}">
                <a16:creationId xmlns:a16="http://schemas.microsoft.com/office/drawing/2014/main" id="{A2906B07-D706-430D-BA79-DFE44CF2919F}"/>
              </a:ext>
            </a:extLst>
          </p:cNvPr>
          <p:cNvSpPr>
            <a:spLocks xmlns:a="http://schemas.openxmlformats.org/drawingml/2006/main" noGrp="1"/>
          </p:cNvSpPr>
          <p:nvPr/>
        </p:nvSpPr>
        <p:spPr>
          <a:xfrm xmlns:a="http://schemas.openxmlformats.org/drawingml/2006/main">
            <a:off x="654367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Grounded answers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and care changes</a:t>
            </a:r>
          </a:p>
        </p:txBody>
      </p:sp>
      <p:sp>
        <p:nvSpPr>
          <p:cNvPr id="12" name="Next step">
            <a:extLst xmlns:a="http://schemas.openxmlformats.org/drawingml/2006/main">
              <a:ext uri="{FF2B5EF4-FFF2-40B4-BE49-F238E27FC236}">
                <a16:creationId xmlns:a16="http://schemas.microsoft.com/office/drawing/2014/main" id="{79DC5C0C-5DC0-45CF-B923-2C2BEFB6BF6B}"/>
              </a:ext>
            </a:extLst>
          </p:cNvPr>
          <p:cNvSpPr>
            <a:spLocks xmlns:a="http://schemas.openxmlformats.org/drawingml/2006/main" noGrp="1"/>
          </p:cNvSpPr>
          <p:nvPr/>
        </p:nvSpPr>
        <p:spPr>
          <a:xfrm xmlns:a="http://schemas.openxmlformats.org/drawingml/2006/main">
            <a:off x="9334500" y="2143125"/>
            <a:ext cx="2381250" cy="1571625"/>
          </a:xfrm>
          <a:prstGeom xmlns:a="http://schemas.openxmlformats.org/drawingml/2006/main" prst="rect">
            <a:avLst/>
          </a:prstGeom>
          <a:solidFill xmlns:a="http://schemas.openxmlformats.org/drawingml/2006/main">
            <a:srgbClr val="F3C9B8"/>
          </a:solidFill>
          <a:ln xmlns:a="http://schemas.openxmlformats.org/drawingml/2006/main" w="11906">
            <a:solidFill>
              <a:srgbClr val="4F7A66"/>
            </a:solidFill>
          </a:ln>
        </p:spPr>
      </p:sp>
      <p:sp>
        <p:nvSpPr>
          <p:cNvPr id="13" name="Next step">
            <a:extLst xmlns:a="http://schemas.openxmlformats.org/drawingml/2006/main">
              <a:ext uri="{FF2B5EF4-FFF2-40B4-BE49-F238E27FC236}">
                <a16:creationId xmlns:a16="http://schemas.microsoft.com/office/drawing/2014/main" id="{2C6689D9-C8E7-4FE8-A521-4BAE9A125C5A}"/>
              </a:ext>
            </a:extLst>
          </p:cNvPr>
          <p:cNvSpPr>
            <a:spLocks xmlns:a="http://schemas.openxmlformats.org/drawingml/2006/main" noGrp="1"/>
          </p:cNvSpPr>
          <p:nvPr/>
        </p:nvSpPr>
        <p:spPr>
          <a:xfrm xmlns:a="http://schemas.openxmlformats.org/drawingml/2006/main">
            <a:off x="949642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Next step</a:t>
            </a:r>
          </a:p>
        </p:txBody>
      </p:sp>
      <p:sp>
        <p:nvSpPr>
          <p:cNvPr id="14" name="A saved action or&#10;professional care">
            <a:extLst xmlns:a="http://schemas.openxmlformats.org/drawingml/2006/main">
              <a:ext uri="{FF2B5EF4-FFF2-40B4-BE49-F238E27FC236}">
                <a16:creationId xmlns:a16="http://schemas.microsoft.com/office/drawing/2014/main" id="{8055E1B2-9126-4FC2-A26E-096CA9B6F55A}"/>
              </a:ext>
            </a:extLst>
          </p:cNvPr>
          <p:cNvSpPr>
            <a:spLocks xmlns:a="http://schemas.openxmlformats.org/drawingml/2006/main" noGrp="1"/>
          </p:cNvSpPr>
          <p:nvPr/>
        </p:nvSpPr>
        <p:spPr>
          <a:xfrm xmlns:a="http://schemas.openxmlformats.org/drawingml/2006/main">
            <a:off x="949642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 saved action or</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professional care</a:t>
            </a:r>
          </a:p>
        </p:txBody>
      </p:sp>
      <p:sp>
        <p:nvSpPr>
          <p:cNvPr id="18" name="Me, Mom and Dad">
            <a:extLst xmlns:a="http://schemas.openxmlformats.org/drawingml/2006/main">
              <a:ext uri="{FF2B5EF4-FFF2-40B4-BE49-F238E27FC236}">
                <a16:creationId xmlns:a16="http://schemas.microsoft.com/office/drawing/2014/main" id="{B37A5DF0-5FD9-42EF-A8A8-8AC8FD2DEEDD}"/>
              </a:ext>
            </a:extLst>
          </p:cNvPr>
          <p:cNvSpPr>
            <a:spLocks xmlns:a="http://schemas.openxmlformats.org/drawingml/2006/main" noGrp="1"/>
          </p:cNvSpPr>
          <p:nvPr/>
        </p:nvSpPr>
        <p:spPr>
          <a:xfrm xmlns:a="http://schemas.openxmlformats.org/drawingml/2006/main">
            <a:off x="476250" y="43148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Me, Mom and Dad</a:t>
            </a:r>
          </a:p>
        </p:txBody>
      </p:sp>
      <p:sp>
        <p:nvSpPr>
          <p:cNvPr id="19" name="The selected person and&#10;view/manage">
            <a:extLst xmlns:a="http://schemas.openxmlformats.org/drawingml/2006/main">
              <a:ext uri="{FF2B5EF4-FFF2-40B4-BE49-F238E27FC236}">
                <a16:creationId xmlns:a16="http://schemas.microsoft.com/office/drawing/2014/main" id="{EAC5D588-B2BA-434D-B9F5-46AEF333CED5}"/>
              </a:ext>
            </a:extLst>
          </p:cNvPr>
          <p:cNvSpPr>
            <a:spLocks xmlns:a="http://schemas.openxmlformats.org/drawingml/2006/main" noGrp="1"/>
          </p:cNvSpPr>
          <p:nvPr/>
        </p:nvSpPr>
        <p:spPr>
          <a:xfrm xmlns:a="http://schemas.openxmlformats.org/drawingml/2006/main">
            <a:off x="476250" y="4800600"/>
            <a:ext cx="2571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The selected person and</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view/manage permission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shape each care action.</a:t>
            </a:r>
          </a:p>
        </p:txBody>
      </p:sp>
      <p:sp>
        <p:nvSpPr>
          <p:cNvPr id="20" name="Care records with context">
            <a:extLst xmlns:a="http://schemas.openxmlformats.org/drawingml/2006/main">
              <a:ext uri="{FF2B5EF4-FFF2-40B4-BE49-F238E27FC236}">
                <a16:creationId xmlns:a16="http://schemas.microsoft.com/office/drawing/2014/main" id="{96F56582-72E3-47A0-9276-D1857E68FB71}"/>
              </a:ext>
            </a:extLst>
          </p:cNvPr>
          <p:cNvSpPr>
            <a:spLocks xmlns:a="http://schemas.openxmlformats.org/drawingml/2006/main" noGrp="1"/>
          </p:cNvSpPr>
          <p:nvPr/>
        </p:nvSpPr>
        <p:spPr>
          <a:xfrm xmlns:a="http://schemas.openxmlformats.org/drawingml/2006/main">
            <a:off x="3429000" y="43148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Care records with context</a:t>
            </a:r>
          </a:p>
        </p:txBody>
      </p:sp>
      <p:sp>
        <p:nvSpPr>
          <p:cNvPr id="21" name="Saved receipts, appointment confirm">
            <a:extLst xmlns:a="http://schemas.openxmlformats.org/drawingml/2006/main">
              <a:ext uri="{FF2B5EF4-FFF2-40B4-BE49-F238E27FC236}">
                <a16:creationId xmlns:a16="http://schemas.microsoft.com/office/drawing/2014/main" id="{DF91C043-A319-4192-9198-788C97B6000A}"/>
              </a:ext>
            </a:extLst>
          </p:cNvPr>
          <p:cNvSpPr>
            <a:spLocks xmlns:a="http://schemas.openxmlformats.org/drawingml/2006/main" noGrp="1"/>
          </p:cNvSpPr>
          <p:nvPr/>
        </p:nvSpPr>
        <p:spPr>
          <a:xfrm xmlns:a="http://schemas.openxmlformats.org/drawingml/2006/main">
            <a:off x="3429000" y="48006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Saved receipts, appointment confirmation status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and benefit sources make the next step clear.</a:t>
            </a:r>
          </a:p>
        </p:txBody>
      </p:sp>
      <p:sp>
        <p:nvSpPr>
          <p:cNvPr id="22" name="WhiteCoat">
            <a:extLst xmlns:a="http://schemas.openxmlformats.org/drawingml/2006/main">
              <a:ext uri="{FF2B5EF4-FFF2-40B4-BE49-F238E27FC236}">
                <a16:creationId xmlns:a16="http://schemas.microsoft.com/office/drawing/2014/main" id="{35F77DD5-AF8B-4563-B185-900898646D17}"/>
              </a:ext>
            </a:extLst>
          </p:cNvPr>
          <p:cNvSpPr>
            <a:spLocks xmlns:a="http://schemas.openxmlformats.org/drawingml/2006/main" noGrp="1"/>
          </p:cNvSpPr>
          <p:nvPr/>
        </p:nvSpPr>
        <p:spPr>
          <a:xfrm xmlns:a="http://schemas.openxmlformats.org/drawingml/2006/main">
            <a:off x="9334500" y="4524375"/>
            <a:ext cx="2381250" cy="13335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23" name="WhiteCoat">
            <a:extLst xmlns:a="http://schemas.openxmlformats.org/drawingml/2006/main">
              <a:ext uri="{FF2B5EF4-FFF2-40B4-BE49-F238E27FC236}">
                <a16:creationId xmlns:a16="http://schemas.microsoft.com/office/drawing/2014/main" id="{0D39D815-4B4F-48EA-87EB-22FFFCE8569D}"/>
              </a:ext>
            </a:extLst>
          </p:cNvPr>
          <p:cNvSpPr>
            <a:spLocks xmlns:a="http://schemas.openxmlformats.org/drawingml/2006/main" noGrp="1"/>
          </p:cNvSpPr>
          <p:nvPr/>
        </p:nvSpPr>
        <p:spPr>
          <a:xfrm xmlns:a="http://schemas.openxmlformats.org/drawingml/2006/main">
            <a:off x="9496425" y="467677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WhiteCoat</a:t>
            </a:r>
          </a:p>
        </p:txBody>
      </p:sp>
      <p:sp>
        <p:nvSpPr>
          <p:cNvPr id="24" name="Opens GP link&#10;No booking">
            <a:extLst xmlns:a="http://schemas.openxmlformats.org/drawingml/2006/main">
              <a:ext uri="{FF2B5EF4-FFF2-40B4-BE49-F238E27FC236}">
                <a16:creationId xmlns:a16="http://schemas.microsoft.com/office/drawing/2014/main" id="{4C690CB7-A97F-41BB-88C4-D3460394A632}"/>
              </a:ext>
            </a:extLst>
          </p:cNvPr>
          <p:cNvSpPr>
            <a:spLocks xmlns:a="http://schemas.openxmlformats.org/drawingml/2006/main" noGrp="1"/>
          </p:cNvSpPr>
          <p:nvPr/>
        </p:nvSpPr>
        <p:spPr>
          <a:xfrm xmlns:a="http://schemas.openxmlformats.org/drawingml/2006/main">
            <a:off x="9496425" y="5191125"/>
            <a:ext cx="2057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Opens GP link</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No booking</a:t>
            </a:r>
          </a:p>
        </p:txBody>
      </p:sp>
      <p:sp>
        <p:nvSpPr>
          <p:cNvPr id="26" name="Fictional care records. Live weathe">
            <a:extLst xmlns:a="http://schemas.openxmlformats.org/drawingml/2006/main">
              <a:ext uri="{FF2B5EF4-FFF2-40B4-BE49-F238E27FC236}">
                <a16:creationId xmlns:a16="http://schemas.microsoft.com/office/drawing/2014/main" id="{3D004CD8-676E-438C-A2D5-D46C83FA8A21}"/>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Fictional care records. Live weather and validated AI actions in the prototype.</a:t>
            </a:r>
          </a:p>
        </p:txBody>
      </p:sp>
    </p:spTree>
    <p:extLst>
      <p:ext uri="{BB962C8B-B14F-4D97-AF65-F5344CB8AC3E}">
        <p14:creationId xmlns:p14="http://schemas.microsoft.com/office/powerpoint/2010/main" val="250637097"/>
      </p:ext>
    </p:extLst>
  </p:cSld>
</p:sld>
</file>

<file path=ppt/slides/slide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31" name=""/>
          <p:cNvCxnSpPr>
            <a:stCxn xmlns:a="http://schemas.openxmlformats.org/drawingml/2006/main" id="8" idx="2"/>
            <a:endCxn xmlns:a="http://schemas.openxmlformats.org/drawingml/2006/main" id="24" idx="0"/>
          </p:cNvCxnSpPr>
          <p:nvPr/>
        </p:nvCxnSpPr>
        <p:spPr>
          <a:xfrm xmlns:a="http://schemas.openxmlformats.org/drawingml/2006/main" flipH="1">
            <a:off x="1524000" y="3619500"/>
            <a:ext cx="3048000" cy="1019175"/>
          </a:xfrm>
          <a:prstGeom xmlns:a="http://schemas.openxmlformats.org/drawingml/2006/main" prst="bentConnector4">
            <a:avLst>
              <a:gd name="adj1" fmla="val 0"/>
              <a:gd name="adj2" fmla="val 50000"/>
            </a:avLst>
          </a:prstGeom>
          <a:ln xmlns:a="http://schemas.openxmlformats.org/drawingml/2006/main" w="22860">
            <a:solidFill>
              <a:srgbClr val="4F7A66"/>
            </a:solidFill>
            <a:prstDash val="solid"/>
            <a:headEnd type="triangle" w="med" len="med"/>
            <a:tailEnd type="triangle" w="med" len="med"/>
          </a:ln>
        </p:spPr>
      </p:cxnSp>
      <p:cxnSp>
        <p:nvCxnSpPr>
          <p:cNvPr id="32" name=""/>
          <p:cNvCxnSpPr>
            <a:stCxn xmlns:a="http://schemas.openxmlformats.org/drawingml/2006/main" id="8" idx="2"/>
            <a:endCxn xmlns:a="http://schemas.openxmlformats.org/drawingml/2006/main" id="20" idx="0"/>
          </p:cNvCxnSpPr>
          <p:nvPr/>
        </p:nvCxnSpPr>
        <p:spPr>
          <a:xfrm xmlns:a="http://schemas.openxmlformats.org/drawingml/2006/main">
            <a:off x="4572000" y="3619500"/>
            <a:ext cx="0" cy="1019175"/>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33" name=""/>
          <p:cNvCxnSpPr>
            <a:stCxn xmlns:a="http://schemas.openxmlformats.org/drawingml/2006/main" id="11" idx="3"/>
            <a:endCxn xmlns:a="http://schemas.openxmlformats.org/drawingml/2006/main" id="14" idx="1"/>
          </p:cNvCxnSpPr>
          <p:nvPr/>
        </p:nvCxnSpPr>
        <p:spPr>
          <a:xfrm xmlns:a="http://schemas.openxmlformats.org/drawingml/2006/main">
            <a:off x="8763000" y="2881313"/>
            <a:ext cx="76200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5715000" y="2881313"/>
            <a:ext cx="76200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2667000" y="2881313"/>
            <a:ext cx="76200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sp>
        <p:nvSpPr>
          <p:cNvPr id="36" name="System architecture">
            <a:extLst xmlns:a="http://schemas.openxmlformats.org/drawingml/2006/main">
              <a:ext uri="{FF2B5EF4-FFF2-40B4-BE49-F238E27FC236}">
                <a16:creationId xmlns:a16="http://schemas.microsoft.com/office/drawing/2014/main" id="{2DFD1BC7-111E-4002-92F7-850184B8AC1B}"/>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System architecture</a:t>
            </a:r>
          </a:p>
        </p:txBody>
      </p:sp>
      <p:sp>
        <p:nvSpPr>
          <p:cNvPr id="2" name="The server owns care state and keep">
            <a:extLst xmlns:a="http://schemas.openxmlformats.org/drawingml/2006/main">
              <a:ext uri="{FF2B5EF4-FFF2-40B4-BE49-F238E27FC236}">
                <a16:creationId xmlns:a16="http://schemas.microsoft.com/office/drawing/2014/main" id="{131D8357-CA3C-423A-A69F-047FB0B824BB}"/>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The server owns care state and keeps AI credentials out of the browser</a:t>
            </a:r>
          </a:p>
        </p:txBody>
      </p:sp>
      <p:sp>
        <p:nvSpPr>
          <p:cNvPr id="3" name="Server application trust boundary">
            <a:extLst xmlns:a="http://schemas.openxmlformats.org/drawingml/2006/main">
              <a:ext uri="{FF2B5EF4-FFF2-40B4-BE49-F238E27FC236}">
                <a16:creationId xmlns:a16="http://schemas.microsoft.com/office/drawing/2014/main" id="{93C14384-FAA5-45AD-AF8C-F55CF9C04F34}"/>
              </a:ext>
            </a:extLst>
          </p:cNvPr>
          <p:cNvSpPr>
            <a:spLocks xmlns:a="http://schemas.openxmlformats.org/drawingml/2006/main" noGrp="1"/>
          </p:cNvSpPr>
          <p:nvPr/>
        </p:nvSpPr>
        <p:spPr>
          <a:xfrm xmlns:a="http://schemas.openxmlformats.org/drawingml/2006/main">
            <a:off x="3190875" y="1990725"/>
            <a:ext cx="5810250" cy="4286250"/>
          </a:xfrm>
          <a:prstGeom xmlns:a="http://schemas.openxmlformats.org/drawingml/2006/main" prst="rect">
            <a:avLst/>
          </a:prstGeom>
          <a:noFill xmlns:a="http://schemas.openxmlformats.org/drawingml/2006/main"/>
          <a:ln xmlns:a="http://schemas.openxmlformats.org/drawingml/2006/main" w="14288">
            <a:solidFill>
              <a:srgbClr val="4F7A66"/>
            </a:solidFill>
            <a:prstDash val="dash"/>
          </a:ln>
        </p:spPr>
      </p:sp>
      <p:sp>
        <p:nvSpPr>
          <p:cNvPr id="4" name="Server application boundary">
            <a:extLst xmlns:a="http://schemas.openxmlformats.org/drawingml/2006/main">
              <a:ext uri="{FF2B5EF4-FFF2-40B4-BE49-F238E27FC236}">
                <a16:creationId xmlns:a16="http://schemas.microsoft.com/office/drawing/2014/main" id="{C4937974-90DD-4497-A5C9-11DD5433476B}"/>
              </a:ext>
            </a:extLst>
          </p:cNvPr>
          <p:cNvSpPr>
            <a:spLocks xmlns:a="http://schemas.openxmlformats.org/drawingml/2006/main" noGrp="1"/>
          </p:cNvSpPr>
          <p:nvPr/>
        </p:nvSpPr>
        <p:spPr>
          <a:xfrm xmlns:a="http://schemas.openxmlformats.org/drawingml/2006/main">
            <a:off x="3333750" y="1657350"/>
            <a:ext cx="557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4F7A66"/>
                </a:solidFill>
                <a:latin typeface="DM Sans"/>
                <a:ea typeface="DM Sans"/>
                <a:cs typeface="DM Sans"/>
              </a:defRPr>
            </a:pPr>
            <a:r>
              <a:rPr sz="1725" b="0">
                <a:solidFill>
                  <a:srgbClr val="4F7A66"/>
                </a:solidFill>
                <a:latin typeface="DM Sans"/>
                <a:ea typeface="DM Sans"/>
                <a:cs typeface="DM Sans"/>
              </a:rPr>
              <a:t>Server application boundary</a:t>
            </a:r>
          </a:p>
        </p:txBody>
      </p:sp>
      <p:sp>
        <p:nvSpPr>
          <p:cNvPr id="5" name="React PWA">
            <a:extLst xmlns:a="http://schemas.openxmlformats.org/drawingml/2006/main">
              <a:ext uri="{FF2B5EF4-FFF2-40B4-BE49-F238E27FC236}">
                <a16:creationId xmlns:a16="http://schemas.microsoft.com/office/drawing/2014/main" id="{5B68D347-7177-4953-A5D9-0CED55F9DD5C}"/>
              </a:ext>
            </a:extLst>
          </p:cNvPr>
          <p:cNvSpPr>
            <a:spLocks xmlns:a="http://schemas.openxmlformats.org/drawingml/2006/main" noGrp="1"/>
          </p:cNvSpPr>
          <p:nvPr/>
        </p:nvSpPr>
        <p:spPr>
          <a:xfrm xmlns:a="http://schemas.openxmlformats.org/drawingml/2006/main">
            <a:off x="381000" y="2143125"/>
            <a:ext cx="2286000" cy="1476375"/>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6" name="React PWA">
            <a:extLst xmlns:a="http://schemas.openxmlformats.org/drawingml/2006/main">
              <a:ext uri="{FF2B5EF4-FFF2-40B4-BE49-F238E27FC236}">
                <a16:creationId xmlns:a16="http://schemas.microsoft.com/office/drawing/2014/main" id="{2327F486-B71D-45A1-81C1-1FE40B5FE56E}"/>
              </a:ext>
            </a:extLst>
          </p:cNvPr>
          <p:cNvSpPr>
            <a:spLocks xmlns:a="http://schemas.openxmlformats.org/drawingml/2006/main" noGrp="1"/>
          </p:cNvSpPr>
          <p:nvPr/>
        </p:nvSpPr>
        <p:spPr>
          <a:xfrm xmlns:a="http://schemas.openxmlformats.org/drawingml/2006/main">
            <a:off x="542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React PWA</a:t>
            </a:r>
          </a:p>
        </p:txBody>
      </p:sp>
      <p:sp>
        <p:nvSpPr>
          <p:cNvPr id="7" name="Care screens&#10;Browser API">
            <a:extLst xmlns:a="http://schemas.openxmlformats.org/drawingml/2006/main">
              <a:ext uri="{FF2B5EF4-FFF2-40B4-BE49-F238E27FC236}">
                <a16:creationId xmlns:a16="http://schemas.microsoft.com/office/drawing/2014/main" id="{E65A3F4F-4B76-48A3-A70D-449BA0B57F40}"/>
              </a:ext>
            </a:extLst>
          </p:cNvPr>
          <p:cNvSpPr>
            <a:spLocks xmlns:a="http://schemas.openxmlformats.org/drawingml/2006/main" noGrp="1"/>
          </p:cNvSpPr>
          <p:nvPr/>
        </p:nvSpPr>
        <p:spPr>
          <a:xfrm xmlns:a="http://schemas.openxmlformats.org/drawingml/2006/main">
            <a:off x="542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screens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Browser API</a:t>
            </a:r>
          </a:p>
        </p:txBody>
      </p:sp>
      <p:sp>
        <p:nvSpPr>
          <p:cNvPr id="8" name="Express API">
            <a:extLst xmlns:a="http://schemas.openxmlformats.org/drawingml/2006/main">
              <a:ext uri="{FF2B5EF4-FFF2-40B4-BE49-F238E27FC236}">
                <a16:creationId xmlns:a16="http://schemas.microsoft.com/office/drawing/2014/main" id="{9984F184-F7D8-4CEC-AEFE-5A072DE00923}"/>
              </a:ext>
            </a:extLst>
          </p:cNvPr>
          <p:cNvSpPr>
            <a:spLocks xmlns:a="http://schemas.openxmlformats.org/drawingml/2006/main" noGrp="1"/>
          </p:cNvSpPr>
          <p:nvPr/>
        </p:nvSpPr>
        <p:spPr>
          <a:xfrm xmlns:a="http://schemas.openxmlformats.org/drawingml/2006/main">
            <a:off x="3429000" y="2143125"/>
            <a:ext cx="2286000" cy="1476375"/>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9" name="Express API">
            <a:extLst xmlns:a="http://schemas.openxmlformats.org/drawingml/2006/main">
              <a:ext uri="{FF2B5EF4-FFF2-40B4-BE49-F238E27FC236}">
                <a16:creationId xmlns:a16="http://schemas.microsoft.com/office/drawing/2014/main" id="{23B20CAF-0ED7-4E5C-BAFD-D17852F14B12}"/>
              </a:ext>
            </a:extLst>
          </p:cNvPr>
          <p:cNvSpPr>
            <a:spLocks xmlns:a="http://schemas.openxmlformats.org/drawingml/2006/main" noGrp="1"/>
          </p:cNvSpPr>
          <p:nvPr/>
        </p:nvSpPr>
        <p:spPr>
          <a:xfrm xmlns:a="http://schemas.openxmlformats.org/drawingml/2006/main">
            <a:off x="3590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Express API</a:t>
            </a:r>
          </a:p>
        </p:txBody>
      </p:sp>
      <p:sp>
        <p:nvSpPr>
          <p:cNvPr id="10" name="HTTPS / Nginx&#10;Owned care state">
            <a:extLst xmlns:a="http://schemas.openxmlformats.org/drawingml/2006/main">
              <a:ext uri="{FF2B5EF4-FFF2-40B4-BE49-F238E27FC236}">
                <a16:creationId xmlns:a16="http://schemas.microsoft.com/office/drawing/2014/main" id="{C098CE98-14E7-40B6-849D-42CE4F2F314D}"/>
              </a:ext>
            </a:extLst>
          </p:cNvPr>
          <p:cNvSpPr>
            <a:spLocks xmlns:a="http://schemas.openxmlformats.org/drawingml/2006/main" noGrp="1"/>
          </p:cNvSpPr>
          <p:nvPr/>
        </p:nvSpPr>
        <p:spPr>
          <a:xfrm xmlns:a="http://schemas.openxmlformats.org/drawingml/2006/main">
            <a:off x="3590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HTTPS / Nginx</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Owned care state</a:t>
            </a:r>
          </a:p>
        </p:txBody>
      </p:sp>
      <p:sp>
        <p:nvSpPr>
          <p:cNvPr id="11" name="Private MCP">
            <a:extLst xmlns:a="http://schemas.openxmlformats.org/drawingml/2006/main">
              <a:ext uri="{FF2B5EF4-FFF2-40B4-BE49-F238E27FC236}">
                <a16:creationId xmlns:a16="http://schemas.microsoft.com/office/drawing/2014/main" id="{A0740353-8701-4DDE-8B5F-419A89E98F21}"/>
              </a:ext>
            </a:extLst>
          </p:cNvPr>
          <p:cNvSpPr>
            <a:spLocks xmlns:a="http://schemas.openxmlformats.org/drawingml/2006/main" noGrp="1"/>
          </p:cNvSpPr>
          <p:nvPr/>
        </p:nvSpPr>
        <p:spPr>
          <a:xfrm xmlns:a="http://schemas.openxmlformats.org/drawingml/2006/main">
            <a:off x="6477000" y="2143125"/>
            <a:ext cx="2286000" cy="1476375"/>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12" name="Private MCP">
            <a:extLst xmlns:a="http://schemas.openxmlformats.org/drawingml/2006/main">
              <a:ext uri="{FF2B5EF4-FFF2-40B4-BE49-F238E27FC236}">
                <a16:creationId xmlns:a16="http://schemas.microsoft.com/office/drawing/2014/main" id="{A1C70549-6DB2-4358-913F-667363774941}"/>
              </a:ext>
            </a:extLst>
          </p:cNvPr>
          <p:cNvSpPr>
            <a:spLocks xmlns:a="http://schemas.openxmlformats.org/drawingml/2006/main" noGrp="1"/>
          </p:cNvSpPr>
          <p:nvPr/>
        </p:nvSpPr>
        <p:spPr>
          <a:xfrm xmlns:a="http://schemas.openxmlformats.org/drawingml/2006/main">
            <a:off x="6638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Private MCP</a:t>
            </a:r>
          </a:p>
        </p:txBody>
      </p:sp>
      <p:sp>
        <p:nvSpPr>
          <p:cNvPr id="13" name="Selected records&#10;Allowed tools">
            <a:extLst xmlns:a="http://schemas.openxmlformats.org/drawingml/2006/main">
              <a:ext uri="{FF2B5EF4-FFF2-40B4-BE49-F238E27FC236}">
                <a16:creationId xmlns:a16="http://schemas.microsoft.com/office/drawing/2014/main" id="{266286BD-49B1-41F9-8502-B5313CAC7F76}"/>
              </a:ext>
            </a:extLst>
          </p:cNvPr>
          <p:cNvSpPr>
            <a:spLocks xmlns:a="http://schemas.openxmlformats.org/drawingml/2006/main" noGrp="1"/>
          </p:cNvSpPr>
          <p:nvPr/>
        </p:nvSpPr>
        <p:spPr>
          <a:xfrm xmlns:a="http://schemas.openxmlformats.org/drawingml/2006/main">
            <a:off x="6638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Selected records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Allowed tools</a:t>
            </a:r>
          </a:p>
        </p:txBody>
      </p:sp>
      <p:sp>
        <p:nvSpPr>
          <p:cNvPr id="14" name="TokenHub">
            <a:extLst xmlns:a="http://schemas.openxmlformats.org/drawingml/2006/main">
              <a:ext uri="{FF2B5EF4-FFF2-40B4-BE49-F238E27FC236}">
                <a16:creationId xmlns:a16="http://schemas.microsoft.com/office/drawing/2014/main" id="{0D24AE64-674E-4ADB-9859-B1A151443063}"/>
              </a:ext>
            </a:extLst>
          </p:cNvPr>
          <p:cNvSpPr>
            <a:spLocks xmlns:a="http://schemas.openxmlformats.org/drawingml/2006/main" noGrp="1"/>
          </p:cNvSpPr>
          <p:nvPr/>
        </p:nvSpPr>
        <p:spPr>
          <a:xfrm xmlns:a="http://schemas.openxmlformats.org/drawingml/2006/main">
            <a:off x="9525000" y="2143125"/>
            <a:ext cx="2286000" cy="1476375"/>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15" name="TokenHub">
            <a:extLst xmlns:a="http://schemas.openxmlformats.org/drawingml/2006/main">
              <a:ext uri="{FF2B5EF4-FFF2-40B4-BE49-F238E27FC236}">
                <a16:creationId xmlns:a16="http://schemas.microsoft.com/office/drawing/2014/main" id="{177B886C-5597-4D7C-96F0-CF2A14EEEB28}"/>
              </a:ext>
            </a:extLst>
          </p:cNvPr>
          <p:cNvSpPr>
            <a:spLocks xmlns:a="http://schemas.openxmlformats.org/drawingml/2006/main" noGrp="1"/>
          </p:cNvSpPr>
          <p:nvPr/>
        </p:nvSpPr>
        <p:spPr>
          <a:xfrm xmlns:a="http://schemas.openxmlformats.org/drawingml/2006/main">
            <a:off x="9686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TokenHub</a:t>
            </a:r>
          </a:p>
        </p:txBody>
      </p:sp>
      <p:sp>
        <p:nvSpPr>
          <p:cNvPr id="16" name="Tencent Cloud AI&#10;Reply + tools">
            <a:extLst xmlns:a="http://schemas.openxmlformats.org/drawingml/2006/main">
              <a:ext uri="{FF2B5EF4-FFF2-40B4-BE49-F238E27FC236}">
                <a16:creationId xmlns:a16="http://schemas.microsoft.com/office/drawing/2014/main" id="{D07CC364-5124-4E10-BD6F-F2307701BC71}"/>
              </a:ext>
            </a:extLst>
          </p:cNvPr>
          <p:cNvSpPr>
            <a:spLocks xmlns:a="http://schemas.openxmlformats.org/drawingml/2006/main" noGrp="1"/>
          </p:cNvSpPr>
          <p:nvPr/>
        </p:nvSpPr>
        <p:spPr>
          <a:xfrm xmlns:a="http://schemas.openxmlformats.org/drawingml/2006/main">
            <a:off x="9686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Tencent Cloud AI</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Reply + tools</a:t>
            </a:r>
          </a:p>
        </p:txBody>
      </p:sp>
      <p:sp>
        <p:nvSpPr>
          <p:cNvPr id="20" name="SQLite">
            <a:extLst xmlns:a="http://schemas.openxmlformats.org/drawingml/2006/main">
              <a:ext uri="{FF2B5EF4-FFF2-40B4-BE49-F238E27FC236}">
                <a16:creationId xmlns:a16="http://schemas.microsoft.com/office/drawing/2014/main" id="{706CBEBD-2EFC-471B-8400-3AC1F46BCB38}"/>
              </a:ext>
            </a:extLst>
          </p:cNvPr>
          <p:cNvSpPr>
            <a:spLocks xmlns:a="http://schemas.openxmlformats.org/drawingml/2006/main" noGrp="1"/>
          </p:cNvSpPr>
          <p:nvPr/>
        </p:nvSpPr>
        <p:spPr>
          <a:xfrm xmlns:a="http://schemas.openxmlformats.org/drawingml/2006/main">
            <a:off x="3429000" y="4638675"/>
            <a:ext cx="2286000" cy="142875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21" name="SQLite">
            <a:extLst xmlns:a="http://schemas.openxmlformats.org/drawingml/2006/main">
              <a:ext uri="{FF2B5EF4-FFF2-40B4-BE49-F238E27FC236}">
                <a16:creationId xmlns:a16="http://schemas.microsoft.com/office/drawing/2014/main" id="{F2B50AB4-ADA8-477E-8F86-0FBC8DD3D0DC}"/>
              </a:ext>
            </a:extLst>
          </p:cNvPr>
          <p:cNvSpPr>
            <a:spLocks xmlns:a="http://schemas.openxmlformats.org/drawingml/2006/main" noGrp="1"/>
          </p:cNvSpPr>
          <p:nvPr/>
        </p:nvSpPr>
        <p:spPr>
          <a:xfrm xmlns:a="http://schemas.openxmlformats.org/drawingml/2006/main">
            <a:off x="3590925" y="479107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SQLite</a:t>
            </a:r>
          </a:p>
        </p:txBody>
      </p:sp>
      <p:sp>
        <p:nvSpPr>
          <p:cNvPr id="22" name="Care + receipts&#10;Vitals + deliveries">
            <a:extLst xmlns:a="http://schemas.openxmlformats.org/drawingml/2006/main">
              <a:ext uri="{FF2B5EF4-FFF2-40B4-BE49-F238E27FC236}">
                <a16:creationId xmlns:a16="http://schemas.microsoft.com/office/drawing/2014/main" id="{CDE4F4CE-B878-4C8A-A8EB-ED50C1858AA1}"/>
              </a:ext>
            </a:extLst>
          </p:cNvPr>
          <p:cNvSpPr>
            <a:spLocks xmlns:a="http://schemas.openxmlformats.org/drawingml/2006/main" noGrp="1"/>
          </p:cNvSpPr>
          <p:nvPr/>
        </p:nvSpPr>
        <p:spPr>
          <a:xfrm xmlns:a="http://schemas.openxmlformats.org/drawingml/2006/main">
            <a:off x="3590925" y="5305425"/>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 receipts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Vitals + deliveries</a:t>
            </a:r>
          </a:p>
        </p:txBody>
      </p:sp>
      <p:sp>
        <p:nvSpPr>
          <p:cNvPr id="24" name="data.gov.sg">
            <a:extLst xmlns:a="http://schemas.openxmlformats.org/drawingml/2006/main">
              <a:ext uri="{FF2B5EF4-FFF2-40B4-BE49-F238E27FC236}">
                <a16:creationId xmlns:a16="http://schemas.microsoft.com/office/drawing/2014/main" id="{972C4041-9991-4358-A600-C92FB97BFE39}"/>
              </a:ext>
            </a:extLst>
          </p:cNvPr>
          <p:cNvSpPr>
            <a:spLocks xmlns:a="http://schemas.openxmlformats.org/drawingml/2006/main" noGrp="1"/>
          </p:cNvSpPr>
          <p:nvPr/>
        </p:nvSpPr>
        <p:spPr>
          <a:xfrm xmlns:a="http://schemas.openxmlformats.org/drawingml/2006/main">
            <a:off x="381000" y="4638675"/>
            <a:ext cx="2286000" cy="142875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25" name="data.gov.sg">
            <a:extLst xmlns:a="http://schemas.openxmlformats.org/drawingml/2006/main">
              <a:ext uri="{FF2B5EF4-FFF2-40B4-BE49-F238E27FC236}">
                <a16:creationId xmlns:a16="http://schemas.microsoft.com/office/drawing/2014/main" id="{1A9EF90B-F3A7-4556-ACB3-F4298C1A4341}"/>
              </a:ext>
            </a:extLst>
          </p:cNvPr>
          <p:cNvSpPr>
            <a:spLocks xmlns:a="http://schemas.openxmlformats.org/drawingml/2006/main" noGrp="1"/>
          </p:cNvSpPr>
          <p:nvPr/>
        </p:nvSpPr>
        <p:spPr>
          <a:xfrm xmlns:a="http://schemas.openxmlformats.org/drawingml/2006/main">
            <a:off x="542925" y="479107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data.gov.sg</a:t>
            </a:r>
          </a:p>
        </p:txBody>
      </p:sp>
      <p:sp>
        <p:nvSpPr>
          <p:cNvPr id="26" name="NEA / MSS feeds&#10;Cached weather">
            <a:extLst xmlns:a="http://schemas.openxmlformats.org/drawingml/2006/main">
              <a:ext uri="{FF2B5EF4-FFF2-40B4-BE49-F238E27FC236}">
                <a16:creationId xmlns:a16="http://schemas.microsoft.com/office/drawing/2014/main" id="{A53E05F9-299A-4A3D-A2D8-762BBB5E09DC}"/>
              </a:ext>
            </a:extLst>
          </p:cNvPr>
          <p:cNvSpPr>
            <a:spLocks xmlns:a="http://schemas.openxmlformats.org/drawingml/2006/main" noGrp="1"/>
          </p:cNvSpPr>
          <p:nvPr/>
        </p:nvSpPr>
        <p:spPr>
          <a:xfrm xmlns:a="http://schemas.openxmlformats.org/drawingml/2006/main">
            <a:off x="542925" y="5305425"/>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NEA / MSS feeds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Cached weather</a:t>
            </a:r>
          </a:p>
        </p:txBody>
      </p:sp>
      <p:sp>
        <p:nvSpPr>
          <p:cNvPr id="28" name="Shared domain">
            <a:extLst xmlns:a="http://schemas.openxmlformats.org/drawingml/2006/main">
              <a:ext uri="{FF2B5EF4-FFF2-40B4-BE49-F238E27FC236}">
                <a16:creationId xmlns:a16="http://schemas.microsoft.com/office/drawing/2014/main" id="{CB04A8F4-F300-43FB-9D1E-05214CA63B42}"/>
              </a:ext>
            </a:extLst>
          </p:cNvPr>
          <p:cNvSpPr>
            <a:spLocks xmlns:a="http://schemas.openxmlformats.org/drawingml/2006/main" noGrp="1"/>
          </p:cNvSpPr>
          <p:nvPr/>
        </p:nvSpPr>
        <p:spPr>
          <a:xfrm xmlns:a="http://schemas.openxmlformats.org/drawingml/2006/main">
            <a:off x="6477000" y="4638675"/>
            <a:ext cx="2286000" cy="142875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29" name="Shared domain">
            <a:extLst xmlns:a="http://schemas.openxmlformats.org/drawingml/2006/main">
              <a:ext uri="{FF2B5EF4-FFF2-40B4-BE49-F238E27FC236}">
                <a16:creationId xmlns:a16="http://schemas.microsoft.com/office/drawing/2014/main" id="{EDD91B8A-DEF9-426A-A7BC-86A3BCD4E7D6}"/>
              </a:ext>
            </a:extLst>
          </p:cNvPr>
          <p:cNvSpPr>
            <a:spLocks xmlns:a="http://schemas.openxmlformats.org/drawingml/2006/main" noGrp="1"/>
          </p:cNvSpPr>
          <p:nvPr/>
        </p:nvSpPr>
        <p:spPr>
          <a:xfrm xmlns:a="http://schemas.openxmlformats.org/drawingml/2006/main">
            <a:off x="6638925" y="479107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Shared domain</a:t>
            </a:r>
          </a:p>
        </p:txBody>
      </p:sp>
      <p:sp>
        <p:nvSpPr>
          <p:cNvPr id="30" name="Typed commands&#10;Validation rules">
            <a:extLst xmlns:a="http://schemas.openxmlformats.org/drawingml/2006/main">
              <a:ext uri="{FF2B5EF4-FFF2-40B4-BE49-F238E27FC236}">
                <a16:creationId xmlns:a16="http://schemas.microsoft.com/office/drawing/2014/main" id="{4E97EBFF-E606-42B8-8756-A9226AC86875}"/>
              </a:ext>
            </a:extLst>
          </p:cNvPr>
          <p:cNvSpPr>
            <a:spLocks xmlns:a="http://schemas.openxmlformats.org/drawingml/2006/main" noGrp="1"/>
          </p:cNvSpPr>
          <p:nvPr/>
        </p:nvSpPr>
        <p:spPr>
          <a:xfrm xmlns:a="http://schemas.openxmlformats.org/drawingml/2006/main">
            <a:off x="6638925" y="5305425"/>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Typed commands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Validation rules</a:t>
            </a:r>
          </a:p>
        </p:txBody>
      </p:sp>
    </p:spTree>
    <p:extLst>
      <p:ext uri="{BB962C8B-B14F-4D97-AF65-F5344CB8AC3E}">
        <p14:creationId xmlns:p14="http://schemas.microsoft.com/office/powerpoint/2010/main" val="557325197"/>
      </p:ext>
    </p:extLst>
  </p:cSld>
</p:sld>
</file>

<file path=ppt/slides/slide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5" name=""/>
          <p:cNvCxnSpPr>
            <a:stCxn xmlns:a="http://schemas.openxmlformats.org/drawingml/2006/main" id="14" idx="1"/>
            <a:endCxn xmlns:a="http://schemas.openxmlformats.org/drawingml/2006/main" id="17" idx="3"/>
          </p:cNvCxnSpPr>
          <p:nvPr/>
        </p:nvCxnSpPr>
        <p:spPr>
          <a:xfrm xmlns:a="http://schemas.openxmlformats.org/drawingml/2006/main" flipH="1">
            <a:off x="7524750" y="5253038"/>
            <a:ext cx="1333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6" name=""/>
          <p:cNvCxnSpPr>
            <a:stCxn xmlns:a="http://schemas.openxmlformats.org/drawingml/2006/main" id="9" idx="2"/>
            <a:endCxn xmlns:a="http://schemas.openxmlformats.org/drawingml/2006/main" id="14" idx="0"/>
          </p:cNvCxnSpPr>
          <p:nvPr/>
        </p:nvCxnSpPr>
        <p:spPr>
          <a:xfrm xmlns:a="http://schemas.openxmlformats.org/drawingml/2006/main">
            <a:off x="10287000" y="3790950"/>
            <a:ext cx="0" cy="809625"/>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7" name=""/>
          <p:cNvCxnSpPr>
            <a:stCxn xmlns:a="http://schemas.openxmlformats.org/drawingml/2006/main" id="6" idx="3"/>
            <a:endCxn xmlns:a="http://schemas.openxmlformats.org/drawingml/2006/main" id="9" idx="1"/>
          </p:cNvCxnSpPr>
          <p:nvPr/>
        </p:nvCxnSpPr>
        <p:spPr>
          <a:xfrm xmlns:a="http://schemas.openxmlformats.org/drawingml/2006/main">
            <a:off x="7524750" y="2914650"/>
            <a:ext cx="1333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3333750" y="2914650"/>
            <a:ext cx="1333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sp>
        <p:nvSpPr>
          <p:cNvPr id="29" name="Prompt design and saved actions">
            <a:extLst xmlns:a="http://schemas.openxmlformats.org/drawingml/2006/main">
              <a:ext uri="{FF2B5EF4-FFF2-40B4-BE49-F238E27FC236}">
                <a16:creationId xmlns:a16="http://schemas.microsoft.com/office/drawing/2014/main" id="{C9A13C23-09B3-4CAA-B84D-0A7E324ED065}"/>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Prompt design and saved actions</a:t>
            </a:r>
          </a:p>
        </p:txBody>
      </p:sp>
      <p:sp>
        <p:nvSpPr>
          <p:cNvPr id="2" name="Example: “Change my wind-down remin">
            <a:extLst xmlns:a="http://schemas.openxmlformats.org/drawingml/2006/main">
              <a:ext uri="{FF2B5EF4-FFF2-40B4-BE49-F238E27FC236}">
                <a16:creationId xmlns:a16="http://schemas.microsoft.com/office/drawing/2014/main" id="{0DDE97C1-8F53-40A0-B889-2304CD0CB26C}"/>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Example: “Change my wind-down reminder to 9pm daily”</a:t>
            </a:r>
          </a:p>
        </p:txBody>
      </p:sp>
      <p:sp>
        <p:nvSpPr>
          <p:cNvPr id="3" name="Prompt inputs">
            <a:extLst xmlns:a="http://schemas.openxmlformats.org/drawingml/2006/main">
              <a:ext uri="{FF2B5EF4-FFF2-40B4-BE49-F238E27FC236}">
                <a16:creationId xmlns:a16="http://schemas.microsoft.com/office/drawing/2014/main" id="{F0DE7E21-110B-4F78-AC7A-1F54B2278F59}"/>
              </a:ext>
            </a:extLst>
          </p:cNvPr>
          <p:cNvSpPr>
            <a:spLocks xmlns:a="http://schemas.openxmlformats.org/drawingml/2006/main" noGrp="1"/>
          </p:cNvSpPr>
          <p:nvPr/>
        </p:nvSpPr>
        <p:spPr>
          <a:xfrm xmlns:a="http://schemas.openxmlformats.org/drawingml/2006/main">
            <a:off x="476250" y="2038350"/>
            <a:ext cx="2857500" cy="1752600"/>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4" name="Prompt inputs">
            <a:extLst xmlns:a="http://schemas.openxmlformats.org/drawingml/2006/main">
              <a:ext uri="{FF2B5EF4-FFF2-40B4-BE49-F238E27FC236}">
                <a16:creationId xmlns:a16="http://schemas.microsoft.com/office/drawing/2014/main" id="{0DE20E74-5F73-46A9-A680-E56D43F4C292}"/>
              </a:ext>
            </a:extLst>
          </p:cNvPr>
          <p:cNvSpPr>
            <a:spLocks xmlns:a="http://schemas.openxmlformats.org/drawingml/2006/main" noGrp="1"/>
          </p:cNvSpPr>
          <p:nvPr/>
        </p:nvSpPr>
        <p:spPr>
          <a:xfrm xmlns:a="http://schemas.openxmlformats.org/drawingml/2006/main">
            <a:off x="638175" y="2190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Prompt inputs</a:t>
            </a:r>
          </a:p>
        </p:txBody>
      </p:sp>
      <p:sp>
        <p:nvSpPr>
          <p:cNvPr id="5" name="System rules + request&#10;Selected car">
            <a:extLst xmlns:a="http://schemas.openxmlformats.org/drawingml/2006/main">
              <a:ext uri="{FF2B5EF4-FFF2-40B4-BE49-F238E27FC236}">
                <a16:creationId xmlns:a16="http://schemas.microsoft.com/office/drawing/2014/main" id="{D767B56E-9F77-4D8A-92E4-18168D95C7D6}"/>
              </a:ext>
            </a:extLst>
          </p:cNvPr>
          <p:cNvSpPr>
            <a:spLocks xmlns:a="http://schemas.openxmlformats.org/drawingml/2006/main" noGrp="1"/>
          </p:cNvSpPr>
          <p:nvPr/>
        </p:nvSpPr>
        <p:spPr>
          <a:xfrm xmlns:a="http://schemas.openxmlformats.org/drawingml/2006/main">
            <a:off x="638175" y="2705100"/>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System rules + request</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Selected care + history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Allowed tool schemas</a:t>
            </a:r>
          </a:p>
        </p:txBody>
      </p:sp>
      <p:sp>
        <p:nvSpPr>
          <p:cNvPr id="6" name="TokenHub inference">
            <a:extLst xmlns:a="http://schemas.openxmlformats.org/drawingml/2006/main">
              <a:ext uri="{FF2B5EF4-FFF2-40B4-BE49-F238E27FC236}">
                <a16:creationId xmlns:a16="http://schemas.microsoft.com/office/drawing/2014/main" id="{44101D3D-C862-425F-819E-641CE6075D4D}"/>
              </a:ext>
            </a:extLst>
          </p:cNvPr>
          <p:cNvSpPr>
            <a:spLocks xmlns:a="http://schemas.openxmlformats.org/drawingml/2006/main" noGrp="1"/>
          </p:cNvSpPr>
          <p:nvPr/>
        </p:nvSpPr>
        <p:spPr>
          <a:xfrm xmlns:a="http://schemas.openxmlformats.org/drawingml/2006/main">
            <a:off x="4667250" y="2038350"/>
            <a:ext cx="2857500" cy="17526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7" name="TokenHub inference">
            <a:extLst xmlns:a="http://schemas.openxmlformats.org/drawingml/2006/main">
              <a:ext uri="{FF2B5EF4-FFF2-40B4-BE49-F238E27FC236}">
                <a16:creationId xmlns:a16="http://schemas.microsoft.com/office/drawing/2014/main" id="{C4AF12EC-8EE9-4600-9025-4B1A72313097}"/>
              </a:ext>
            </a:extLst>
          </p:cNvPr>
          <p:cNvSpPr>
            <a:spLocks xmlns:a="http://schemas.openxmlformats.org/drawingml/2006/main" noGrp="1"/>
          </p:cNvSpPr>
          <p:nvPr/>
        </p:nvSpPr>
        <p:spPr>
          <a:xfrm xmlns:a="http://schemas.openxmlformats.org/drawingml/2006/main">
            <a:off x="4829175" y="2190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TokenHub inference</a:t>
            </a:r>
          </a:p>
        </p:txBody>
      </p:sp>
      <p:sp>
        <p:nvSpPr>
          <p:cNvPr id="8" name="Grounded reply or&#10;a typed tool call">
            <a:extLst xmlns:a="http://schemas.openxmlformats.org/drawingml/2006/main">
              <a:ext uri="{FF2B5EF4-FFF2-40B4-BE49-F238E27FC236}">
                <a16:creationId xmlns:a16="http://schemas.microsoft.com/office/drawing/2014/main" id="{0BBDC75E-0900-4972-A222-B780765B6840}"/>
              </a:ext>
            </a:extLst>
          </p:cNvPr>
          <p:cNvSpPr>
            <a:spLocks xmlns:a="http://schemas.openxmlformats.org/drawingml/2006/main" noGrp="1"/>
          </p:cNvSpPr>
          <p:nvPr/>
        </p:nvSpPr>
        <p:spPr>
          <a:xfrm xmlns:a="http://schemas.openxmlformats.org/drawingml/2006/main">
            <a:off x="4829175" y="2705100"/>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Grounded reply or</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 typed tool call</a:t>
            </a:r>
          </a:p>
        </p:txBody>
      </p:sp>
      <p:sp>
        <p:nvSpPr>
          <p:cNvPr id="9" name="Server validation">
            <a:extLst xmlns:a="http://schemas.openxmlformats.org/drawingml/2006/main">
              <a:ext uri="{FF2B5EF4-FFF2-40B4-BE49-F238E27FC236}">
                <a16:creationId xmlns:a16="http://schemas.microsoft.com/office/drawing/2014/main" id="{B1AF4765-8808-4DF6-B340-78813356511B}"/>
              </a:ext>
            </a:extLst>
          </p:cNvPr>
          <p:cNvSpPr>
            <a:spLocks xmlns:a="http://schemas.openxmlformats.org/drawingml/2006/main" noGrp="1"/>
          </p:cNvSpPr>
          <p:nvPr/>
        </p:nvSpPr>
        <p:spPr>
          <a:xfrm xmlns:a="http://schemas.openxmlformats.org/drawingml/2006/main">
            <a:off x="8858250" y="2038350"/>
            <a:ext cx="2857500" cy="1752600"/>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10" name="Server validation">
            <a:extLst xmlns:a="http://schemas.openxmlformats.org/drawingml/2006/main">
              <a:ext uri="{FF2B5EF4-FFF2-40B4-BE49-F238E27FC236}">
                <a16:creationId xmlns:a16="http://schemas.microsoft.com/office/drawing/2014/main" id="{1A1D091C-7FEB-4E67-BA6C-7D8880FD4ED6}"/>
              </a:ext>
            </a:extLst>
          </p:cNvPr>
          <p:cNvSpPr>
            <a:spLocks xmlns:a="http://schemas.openxmlformats.org/drawingml/2006/main" noGrp="1"/>
          </p:cNvSpPr>
          <p:nvPr/>
        </p:nvSpPr>
        <p:spPr>
          <a:xfrm xmlns:a="http://schemas.openxmlformats.org/drawingml/2006/main">
            <a:off x="9020175" y="2190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Server validation</a:t>
            </a:r>
          </a:p>
        </p:txBody>
      </p:sp>
      <p:sp>
        <p:nvSpPr>
          <p:cNvPr id="11" name="Profile access&#10;Schedule + revision&#10;">
            <a:extLst xmlns:a="http://schemas.openxmlformats.org/drawingml/2006/main">
              <a:ext uri="{FF2B5EF4-FFF2-40B4-BE49-F238E27FC236}">
                <a16:creationId xmlns:a16="http://schemas.microsoft.com/office/drawing/2014/main" id="{5E8504D9-9C7F-4B60-9F8A-D33B7770E1C1}"/>
              </a:ext>
            </a:extLst>
          </p:cNvPr>
          <p:cNvSpPr>
            <a:spLocks xmlns:a="http://schemas.openxmlformats.org/drawingml/2006/main" noGrp="1"/>
          </p:cNvSpPr>
          <p:nvPr/>
        </p:nvSpPr>
        <p:spPr>
          <a:xfrm xmlns:a="http://schemas.openxmlformats.org/drawingml/2006/main">
            <a:off x="9020175" y="2705100"/>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Profile access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Schedule + revision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Allowed command</a:t>
            </a:r>
          </a:p>
        </p:txBody>
      </p:sp>
      <p:sp>
        <p:nvSpPr>
          <p:cNvPr id="14" name="SQLite transaction">
            <a:extLst xmlns:a="http://schemas.openxmlformats.org/drawingml/2006/main">
              <a:ext uri="{FF2B5EF4-FFF2-40B4-BE49-F238E27FC236}">
                <a16:creationId xmlns:a16="http://schemas.microsoft.com/office/drawing/2014/main" id="{29EB16FE-164D-43E4-A32D-3A398521B38C}"/>
              </a:ext>
            </a:extLst>
          </p:cNvPr>
          <p:cNvSpPr>
            <a:spLocks xmlns:a="http://schemas.openxmlformats.org/drawingml/2006/main" noGrp="1"/>
          </p:cNvSpPr>
          <p:nvPr/>
        </p:nvSpPr>
        <p:spPr>
          <a:xfrm xmlns:a="http://schemas.openxmlformats.org/drawingml/2006/main">
            <a:off x="8858250" y="4600575"/>
            <a:ext cx="2857500" cy="1304925"/>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15" name="SQLite transaction">
            <a:extLst xmlns:a="http://schemas.openxmlformats.org/drawingml/2006/main">
              <a:ext uri="{FF2B5EF4-FFF2-40B4-BE49-F238E27FC236}">
                <a16:creationId xmlns:a16="http://schemas.microsoft.com/office/drawing/2014/main" id="{A4C937D8-4ED0-458C-B9F2-0C83F019FF82}"/>
              </a:ext>
            </a:extLst>
          </p:cNvPr>
          <p:cNvSpPr>
            <a:spLocks xmlns:a="http://schemas.openxmlformats.org/drawingml/2006/main" noGrp="1"/>
          </p:cNvSpPr>
          <p:nvPr/>
        </p:nvSpPr>
        <p:spPr>
          <a:xfrm xmlns:a="http://schemas.openxmlformats.org/drawingml/2006/main">
            <a:off x="9020175" y="4752975"/>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SQLite transaction</a:t>
            </a:r>
          </a:p>
        </p:txBody>
      </p:sp>
      <p:sp>
        <p:nvSpPr>
          <p:cNvPr id="16" name="Care change + chat&#10;Receipt + replay">
            <a:extLst xmlns:a="http://schemas.openxmlformats.org/drawingml/2006/main">
              <a:ext uri="{FF2B5EF4-FFF2-40B4-BE49-F238E27FC236}">
                <a16:creationId xmlns:a16="http://schemas.microsoft.com/office/drawing/2014/main" id="{E00C6476-55A8-4DF8-9CF9-EC1F04C4127A}"/>
              </a:ext>
            </a:extLst>
          </p:cNvPr>
          <p:cNvSpPr>
            <a:spLocks xmlns:a="http://schemas.openxmlformats.org/drawingml/2006/main" noGrp="1"/>
          </p:cNvSpPr>
          <p:nvPr/>
        </p:nvSpPr>
        <p:spPr>
          <a:xfrm xmlns:a="http://schemas.openxmlformats.org/drawingml/2006/main">
            <a:off x="9020175" y="5267325"/>
            <a:ext cx="2533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change + chat</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Receipt + replay record</a:t>
            </a:r>
          </a:p>
        </p:txBody>
      </p:sp>
      <p:sp>
        <p:nvSpPr>
          <p:cNvPr id="17" name="Authoritative result">
            <a:extLst xmlns:a="http://schemas.openxmlformats.org/drawingml/2006/main">
              <a:ext uri="{FF2B5EF4-FFF2-40B4-BE49-F238E27FC236}">
                <a16:creationId xmlns:a16="http://schemas.microsoft.com/office/drawing/2014/main" id="{837AEC6E-3EE8-4458-8989-8962BC20D472}"/>
              </a:ext>
            </a:extLst>
          </p:cNvPr>
          <p:cNvSpPr>
            <a:spLocks xmlns:a="http://schemas.openxmlformats.org/drawingml/2006/main" noGrp="1"/>
          </p:cNvSpPr>
          <p:nvPr/>
        </p:nvSpPr>
        <p:spPr>
          <a:xfrm xmlns:a="http://schemas.openxmlformats.org/drawingml/2006/main">
            <a:off x="4667250" y="4600575"/>
            <a:ext cx="2857500" cy="1304925"/>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18" name="Authoritative result">
            <a:extLst xmlns:a="http://schemas.openxmlformats.org/drawingml/2006/main">
              <a:ext uri="{FF2B5EF4-FFF2-40B4-BE49-F238E27FC236}">
                <a16:creationId xmlns:a16="http://schemas.microsoft.com/office/drawing/2014/main" id="{5E983E78-30FF-40A6-9526-BFA5149AB212}"/>
              </a:ext>
            </a:extLst>
          </p:cNvPr>
          <p:cNvSpPr>
            <a:spLocks xmlns:a="http://schemas.openxmlformats.org/drawingml/2006/main" noGrp="1"/>
          </p:cNvSpPr>
          <p:nvPr/>
        </p:nvSpPr>
        <p:spPr>
          <a:xfrm xmlns:a="http://schemas.openxmlformats.org/drawingml/2006/main">
            <a:off x="4829175" y="4752975"/>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Authoritative result</a:t>
            </a:r>
          </a:p>
        </p:txBody>
      </p:sp>
      <p:sp>
        <p:nvSpPr>
          <p:cNvPr id="19" name="Saved receipt in Buddy&#10;Updated Toda">
            <a:extLst xmlns:a="http://schemas.openxmlformats.org/drawingml/2006/main">
              <a:ext uri="{FF2B5EF4-FFF2-40B4-BE49-F238E27FC236}">
                <a16:creationId xmlns:a16="http://schemas.microsoft.com/office/drawing/2014/main" id="{60B1B776-497B-41F6-A547-F947A7D10EB4}"/>
              </a:ext>
            </a:extLst>
          </p:cNvPr>
          <p:cNvSpPr>
            <a:spLocks xmlns:a="http://schemas.openxmlformats.org/drawingml/2006/main" noGrp="1"/>
          </p:cNvSpPr>
          <p:nvPr/>
        </p:nvSpPr>
        <p:spPr>
          <a:xfrm xmlns:a="http://schemas.openxmlformats.org/drawingml/2006/main">
            <a:off x="4829175" y="5267325"/>
            <a:ext cx="2533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Saved receipt in Buddy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Updated Today record</a:t>
            </a:r>
          </a:p>
        </p:txBody>
      </p:sp>
      <p:sp>
        <p:nvSpPr>
          <p:cNvPr id="22" name="The model proposes">
            <a:extLst xmlns:a="http://schemas.openxmlformats.org/drawingml/2006/main">
              <a:ext uri="{FF2B5EF4-FFF2-40B4-BE49-F238E27FC236}">
                <a16:creationId xmlns:a16="http://schemas.microsoft.com/office/drawing/2014/main" id="{2FA48264-8B97-443F-993B-85016B45A4BF}"/>
              </a:ext>
            </a:extLst>
          </p:cNvPr>
          <p:cNvSpPr>
            <a:spLocks xmlns:a="http://schemas.openxmlformats.org/drawingml/2006/main" noGrp="1"/>
          </p:cNvSpPr>
          <p:nvPr/>
        </p:nvSpPr>
        <p:spPr>
          <a:xfrm xmlns:a="http://schemas.openxmlformats.org/drawingml/2006/main">
            <a:off x="476250" y="45053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The model proposes</a:t>
            </a:r>
          </a:p>
        </p:txBody>
      </p:sp>
      <p:sp>
        <p:nvSpPr>
          <p:cNvPr id="23" name="Records are untrusted data.&#10;Missing">
            <a:extLst xmlns:a="http://schemas.openxmlformats.org/drawingml/2006/main">
              <a:ext uri="{FF2B5EF4-FFF2-40B4-BE49-F238E27FC236}">
                <a16:creationId xmlns:a16="http://schemas.microsoft.com/office/drawing/2014/main" id="{5405AB18-EFBA-49EA-80A8-758D8549C0E5}"/>
              </a:ext>
            </a:extLst>
          </p:cNvPr>
          <p:cNvSpPr>
            <a:spLocks xmlns:a="http://schemas.openxmlformats.org/drawingml/2006/main" noGrp="1"/>
          </p:cNvSpPr>
          <p:nvPr/>
        </p:nvSpPr>
        <p:spPr>
          <a:xfrm xmlns:a="http://schemas.openxmlformats.org/drawingml/2006/main">
            <a:off x="476250" y="5019675"/>
            <a:ext cx="34766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Records are untrusted data.</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Missing fields need clarification.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Medication instructions stay fixed.</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No arbitrary database write tool.</a:t>
            </a:r>
          </a:p>
        </p:txBody>
      </p:sp>
      <p:sp>
        <p:nvSpPr>
          <p:cNvPr id="24" name="An informational reply cannot prove">
            <a:extLst xmlns:a="http://schemas.openxmlformats.org/drawingml/2006/main">
              <a:ext uri="{FF2B5EF4-FFF2-40B4-BE49-F238E27FC236}">
                <a16:creationId xmlns:a16="http://schemas.microsoft.com/office/drawing/2014/main" id="{E56CC2EC-2FBA-4730-9431-04801102B293}"/>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 informational reply cannot prove a save. The receipt comes from a committed transaction.</a:t>
            </a:r>
          </a:p>
        </p:txBody>
      </p:sp>
    </p:spTree>
    <p:extLst>
      <p:ext uri="{BB962C8B-B14F-4D97-AF65-F5344CB8AC3E}">
        <p14:creationId xmlns:p14="http://schemas.microsoft.com/office/powerpoint/2010/main" val="1068125216"/>
      </p:ext>
    </p:extLst>
  </p:cSld>
</p:sld>
</file>

<file path=ppt/slides/slide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1" name=""/>
          <p:cNvCxnSpPr>
            <a:stCxn xmlns:a="http://schemas.openxmlformats.org/drawingml/2006/main" id="9" idx="2"/>
            <a:endCxn xmlns:a="http://schemas.openxmlformats.org/drawingml/2006/main" id="14" idx="0"/>
          </p:cNvCxnSpPr>
          <p:nvPr/>
        </p:nvCxnSpPr>
        <p:spPr>
          <a:xfrm xmlns:a="http://schemas.openxmlformats.org/drawingml/2006/main">
            <a:off x="10287000" y="3619500"/>
            <a:ext cx="0" cy="102870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7620000" y="2857500"/>
            <a:ext cx="123825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3429000" y="2857500"/>
            <a:ext cx="123825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sp>
        <p:nvSpPr>
          <p:cNvPr id="24" name="Assistant notification architecture">
            <a:extLst xmlns:a="http://schemas.openxmlformats.org/drawingml/2006/main">
              <a:ext uri="{FF2B5EF4-FFF2-40B4-BE49-F238E27FC236}">
                <a16:creationId xmlns:a16="http://schemas.microsoft.com/office/drawing/2014/main" id="{8D701F89-EB4F-4B1D-BAB2-553CA2340D09}"/>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Assistant notification architecture</a:t>
            </a:r>
          </a:p>
        </p:txBody>
      </p:sp>
      <p:sp>
        <p:nvSpPr>
          <p:cNvPr id="2" name="A personal plugin reads chosen prof">
            <a:extLst xmlns:a="http://schemas.openxmlformats.org/drawingml/2006/main">
              <a:ext uri="{FF2B5EF4-FFF2-40B4-BE49-F238E27FC236}">
                <a16:creationId xmlns:a16="http://schemas.microsoft.com/office/drawing/2014/main" id="{BC26BCF4-FE84-458F-81B7-DF6B719050DA}"/>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A personal plugin reads chosen profiles after the user enables host scheduling</a:t>
            </a:r>
          </a:p>
        </p:txBody>
      </p:sp>
      <p:sp>
        <p:nvSpPr>
          <p:cNvPr id="3" name="Codex or Claude">
            <a:extLst xmlns:a="http://schemas.openxmlformats.org/drawingml/2006/main">
              <a:ext uri="{FF2B5EF4-FFF2-40B4-BE49-F238E27FC236}">
                <a16:creationId xmlns:a16="http://schemas.microsoft.com/office/drawing/2014/main" id="{DE9B6DC7-2E13-404F-8C20-CAC9C94A078E}"/>
              </a:ext>
            </a:extLst>
          </p:cNvPr>
          <p:cNvSpPr>
            <a:spLocks xmlns:a="http://schemas.openxmlformats.org/drawingml/2006/main" noGrp="1"/>
          </p:cNvSpPr>
          <p:nvPr/>
        </p:nvSpPr>
        <p:spPr>
          <a:xfrm xmlns:a="http://schemas.openxmlformats.org/drawingml/2006/main">
            <a:off x="476250" y="2095500"/>
            <a:ext cx="2952750" cy="1524000"/>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4" name="Codex or Claude">
            <a:extLst xmlns:a="http://schemas.openxmlformats.org/drawingml/2006/main">
              <a:ext uri="{FF2B5EF4-FFF2-40B4-BE49-F238E27FC236}">
                <a16:creationId xmlns:a16="http://schemas.microsoft.com/office/drawing/2014/main" id="{672A7F93-1C79-479F-9D0A-000765BBC9AC}"/>
              </a:ext>
            </a:extLst>
          </p:cNvPr>
          <p:cNvSpPr>
            <a:spLocks xmlns:a="http://schemas.openxmlformats.org/drawingml/2006/main" noGrp="1"/>
          </p:cNvSpPr>
          <p:nvPr/>
        </p:nvSpPr>
        <p:spPr>
          <a:xfrm xmlns:a="http://schemas.openxmlformats.org/drawingml/2006/main">
            <a:off x="638175" y="2247900"/>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Codex or Claude</a:t>
            </a:r>
          </a:p>
        </p:txBody>
      </p:sp>
      <p:sp>
        <p:nvSpPr>
          <p:cNvPr id="5" name="Care-monitor skill&#10;Host scheduler">
            <a:extLst xmlns:a="http://schemas.openxmlformats.org/drawingml/2006/main">
              <a:ext uri="{FF2B5EF4-FFF2-40B4-BE49-F238E27FC236}">
                <a16:creationId xmlns:a16="http://schemas.microsoft.com/office/drawing/2014/main" id="{011112BB-29A9-48C3-8D90-CF6991097F5E}"/>
              </a:ext>
            </a:extLst>
          </p:cNvPr>
          <p:cNvSpPr>
            <a:spLocks xmlns:a="http://schemas.openxmlformats.org/drawingml/2006/main" noGrp="1"/>
          </p:cNvSpPr>
          <p:nvPr/>
        </p:nvSpPr>
        <p:spPr>
          <a:xfrm xmlns:a="http://schemas.openxmlformats.org/drawingml/2006/main">
            <a:off x="638175" y="2762250"/>
            <a:ext cx="2628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Care-monitor skill</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Host scheduler</a:t>
            </a:r>
          </a:p>
        </p:txBody>
      </p:sp>
      <p:sp>
        <p:nvSpPr>
          <p:cNvPr id="6" name="Scoped public MCP">
            <a:extLst xmlns:a="http://schemas.openxmlformats.org/drawingml/2006/main">
              <a:ext uri="{FF2B5EF4-FFF2-40B4-BE49-F238E27FC236}">
                <a16:creationId xmlns:a16="http://schemas.microsoft.com/office/drawing/2014/main" id="{8BA8CFAD-16E8-4E03-A046-B89A60DF54CF}"/>
              </a:ext>
            </a:extLst>
          </p:cNvPr>
          <p:cNvSpPr>
            <a:spLocks xmlns:a="http://schemas.openxmlformats.org/drawingml/2006/main" noGrp="1"/>
          </p:cNvSpPr>
          <p:nvPr/>
        </p:nvSpPr>
        <p:spPr>
          <a:xfrm xmlns:a="http://schemas.openxmlformats.org/drawingml/2006/main">
            <a:off x="4667250" y="2095500"/>
            <a:ext cx="2952750" cy="1524000"/>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7" name="Scoped public MCP">
            <a:extLst xmlns:a="http://schemas.openxmlformats.org/drawingml/2006/main">
              <a:ext uri="{FF2B5EF4-FFF2-40B4-BE49-F238E27FC236}">
                <a16:creationId xmlns:a16="http://schemas.microsoft.com/office/drawing/2014/main" id="{E45962CA-301B-4A9A-96ED-905004A7669A}"/>
              </a:ext>
            </a:extLst>
          </p:cNvPr>
          <p:cNvSpPr>
            <a:spLocks xmlns:a="http://schemas.openxmlformats.org/drawingml/2006/main" noGrp="1"/>
          </p:cNvSpPr>
          <p:nvPr/>
        </p:nvSpPr>
        <p:spPr>
          <a:xfrm xmlns:a="http://schemas.openxmlformats.org/drawingml/2006/main">
            <a:off x="4829175" y="2247900"/>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Scoped public MCP</a:t>
            </a:r>
          </a:p>
        </p:txBody>
      </p:sp>
      <p:sp>
        <p:nvSpPr>
          <p:cNvPr id="8" name="Read notifications&#10;Expiry + revocat">
            <a:extLst xmlns:a="http://schemas.openxmlformats.org/drawingml/2006/main">
              <a:ext uri="{FF2B5EF4-FFF2-40B4-BE49-F238E27FC236}">
                <a16:creationId xmlns:a16="http://schemas.microsoft.com/office/drawing/2014/main" id="{8399F031-BF7E-4B88-B0DA-38EDFDD2D012}"/>
              </a:ext>
            </a:extLst>
          </p:cNvPr>
          <p:cNvSpPr>
            <a:spLocks xmlns:a="http://schemas.openxmlformats.org/drawingml/2006/main" noGrp="1"/>
          </p:cNvSpPr>
          <p:nvPr/>
        </p:nvSpPr>
        <p:spPr>
          <a:xfrm xmlns:a="http://schemas.openxmlformats.org/drawingml/2006/main">
            <a:off x="4829175" y="2762250"/>
            <a:ext cx="2628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Read notifications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Expiry + revocation</a:t>
            </a:r>
          </a:p>
        </p:txBody>
      </p:sp>
      <p:sp>
        <p:nvSpPr>
          <p:cNvPr id="9" name="Alert evaluator">
            <a:extLst xmlns:a="http://schemas.openxmlformats.org/drawingml/2006/main">
              <a:ext uri="{FF2B5EF4-FFF2-40B4-BE49-F238E27FC236}">
                <a16:creationId xmlns:a16="http://schemas.microsoft.com/office/drawing/2014/main" id="{80791F75-84F6-465A-8C37-ABFB23B594A6}"/>
              </a:ext>
            </a:extLst>
          </p:cNvPr>
          <p:cNvSpPr>
            <a:spLocks xmlns:a="http://schemas.openxmlformats.org/drawingml/2006/main" noGrp="1"/>
          </p:cNvSpPr>
          <p:nvPr/>
        </p:nvSpPr>
        <p:spPr>
          <a:xfrm xmlns:a="http://schemas.openxmlformats.org/drawingml/2006/main">
            <a:off x="8858250" y="2095500"/>
            <a:ext cx="2857500" cy="15240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10" name="Alert evaluator">
            <a:extLst xmlns:a="http://schemas.openxmlformats.org/drawingml/2006/main">
              <a:ext uri="{FF2B5EF4-FFF2-40B4-BE49-F238E27FC236}">
                <a16:creationId xmlns:a16="http://schemas.microsoft.com/office/drawing/2014/main" id="{E03C1E0C-715E-4866-BCC0-C13B6B67A8A5}"/>
              </a:ext>
            </a:extLst>
          </p:cNvPr>
          <p:cNvSpPr>
            <a:spLocks xmlns:a="http://schemas.openxmlformats.org/drawingml/2006/main" noGrp="1"/>
          </p:cNvSpPr>
          <p:nvPr/>
        </p:nvSpPr>
        <p:spPr>
          <a:xfrm xmlns:a="http://schemas.openxmlformats.org/drawingml/2006/main">
            <a:off x="9020175" y="224790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Alert evaluator</a:t>
            </a:r>
          </a:p>
        </p:txBody>
      </p:sp>
      <p:sp>
        <p:nvSpPr>
          <p:cNvPr id="11" name="Due care + visits&#10;Opted-in readings">
            <a:extLst xmlns:a="http://schemas.openxmlformats.org/drawingml/2006/main">
              <a:ext uri="{FF2B5EF4-FFF2-40B4-BE49-F238E27FC236}">
                <a16:creationId xmlns:a16="http://schemas.microsoft.com/office/drawing/2014/main" id="{D0A1DE5B-9EB9-4063-87AC-08C514AA81C6}"/>
              </a:ext>
            </a:extLst>
          </p:cNvPr>
          <p:cNvSpPr>
            <a:spLocks xmlns:a="http://schemas.openxmlformats.org/drawingml/2006/main" noGrp="1"/>
          </p:cNvSpPr>
          <p:nvPr/>
        </p:nvSpPr>
        <p:spPr>
          <a:xfrm xmlns:a="http://schemas.openxmlformats.org/drawingml/2006/main">
            <a:off x="9020175" y="2762250"/>
            <a:ext cx="2533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Due care + visits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Opted-in readings</a:t>
            </a:r>
          </a:p>
        </p:txBody>
      </p:sp>
      <p:sp>
        <p:nvSpPr>
          <p:cNvPr id="14" name="SQLite">
            <a:extLst xmlns:a="http://schemas.openxmlformats.org/drawingml/2006/main">
              <a:ext uri="{FF2B5EF4-FFF2-40B4-BE49-F238E27FC236}">
                <a16:creationId xmlns:a16="http://schemas.microsoft.com/office/drawing/2014/main" id="{D4D05FCE-E462-4E59-B6CB-4855825526CD}"/>
              </a:ext>
            </a:extLst>
          </p:cNvPr>
          <p:cNvSpPr>
            <a:spLocks xmlns:a="http://schemas.openxmlformats.org/drawingml/2006/main" noGrp="1"/>
          </p:cNvSpPr>
          <p:nvPr/>
        </p:nvSpPr>
        <p:spPr>
          <a:xfrm xmlns:a="http://schemas.openxmlformats.org/drawingml/2006/main">
            <a:off x="8858250" y="4648200"/>
            <a:ext cx="2857500" cy="135255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15" name="SQLite">
            <a:extLst xmlns:a="http://schemas.openxmlformats.org/drawingml/2006/main">
              <a:ext uri="{FF2B5EF4-FFF2-40B4-BE49-F238E27FC236}">
                <a16:creationId xmlns:a16="http://schemas.microsoft.com/office/drawing/2014/main" id="{13B06141-3AAB-49A5-8C6E-7B4AB60A092F}"/>
              </a:ext>
            </a:extLst>
          </p:cNvPr>
          <p:cNvSpPr>
            <a:spLocks xmlns:a="http://schemas.openxmlformats.org/drawingml/2006/main" noGrp="1"/>
          </p:cNvSpPr>
          <p:nvPr/>
        </p:nvSpPr>
        <p:spPr>
          <a:xfrm xmlns:a="http://schemas.openxmlformats.org/drawingml/2006/main">
            <a:off x="9020175" y="480060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SQLite</a:t>
            </a:r>
          </a:p>
        </p:txBody>
      </p:sp>
      <p:sp>
        <p:nvSpPr>
          <p:cNvPr id="16" name="Saved care and vitals&#10;Connection de">
            <a:extLst xmlns:a="http://schemas.openxmlformats.org/drawingml/2006/main">
              <a:ext uri="{FF2B5EF4-FFF2-40B4-BE49-F238E27FC236}">
                <a16:creationId xmlns:a16="http://schemas.microsoft.com/office/drawing/2014/main" id="{E8265CC7-21B4-4F15-A9A0-D50F3A241CE4}"/>
              </a:ext>
            </a:extLst>
          </p:cNvPr>
          <p:cNvSpPr>
            <a:spLocks xmlns:a="http://schemas.openxmlformats.org/drawingml/2006/main" noGrp="1"/>
          </p:cNvSpPr>
          <p:nvPr/>
        </p:nvSpPr>
        <p:spPr>
          <a:xfrm xmlns:a="http://schemas.openxmlformats.org/drawingml/2006/main">
            <a:off x="9020175" y="5314950"/>
            <a:ext cx="2533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Saved care and vitals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Connection delivery IDs</a:t>
            </a:r>
          </a:p>
        </p:txBody>
      </p:sp>
      <p:sp>
        <p:nvSpPr>
          <p:cNvPr id="18" name="Read care, acknowledge delivery">
            <a:extLst xmlns:a="http://schemas.openxmlformats.org/drawingml/2006/main">
              <a:ext uri="{FF2B5EF4-FFF2-40B4-BE49-F238E27FC236}">
                <a16:creationId xmlns:a16="http://schemas.microsoft.com/office/drawing/2014/main" id="{F0B02FF3-6FAF-40F6-A47D-EE7D4E8EE122}"/>
              </a:ext>
            </a:extLst>
          </p:cNvPr>
          <p:cNvSpPr>
            <a:spLocks xmlns:a="http://schemas.openxmlformats.org/drawingml/2006/main" noGrp="1"/>
          </p:cNvSpPr>
          <p:nvPr/>
        </p:nvSpPr>
        <p:spPr>
          <a:xfrm xmlns:a="http://schemas.openxmlformats.org/drawingml/2006/main">
            <a:off x="476250" y="4429125"/>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Read care, acknowledge delivery</a:t>
            </a:r>
          </a:p>
        </p:txBody>
      </p:sp>
      <p:sp>
        <p:nvSpPr>
          <p:cNvPr id="19" name="Selected profiles only. The exporte">
            <a:extLst xmlns:a="http://schemas.openxmlformats.org/drawingml/2006/main">
              <a:ext uri="{FF2B5EF4-FFF2-40B4-BE49-F238E27FC236}">
                <a16:creationId xmlns:a16="http://schemas.microsoft.com/office/drawing/2014/main" id="{4991751C-56DD-4907-9645-6DA952EC4F36}"/>
              </a:ext>
            </a:extLst>
          </p:cNvPr>
          <p:cNvSpPr>
            <a:spLocks xmlns:a="http://schemas.openxmlformats.org/drawingml/2006/main" noGrp="1"/>
          </p:cNvSpPr>
          <p:nvPr/>
        </p:nvSpPr>
        <p:spPr>
          <a:xfrm xmlns:a="http://schemas.openxmlformats.org/drawingml/2006/main">
            <a:off x="476250" y="4972050"/>
            <a:ext cx="74771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Selected profiles only. The exported token can be revoked.</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Acknowledgement records delivery without changing care.</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No repeated unchanged alert after successful delivery.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Installation alone does not start background checks.</a:t>
            </a:r>
          </a:p>
        </p:txBody>
      </p:sp>
      <p:sp>
        <p:nvSpPr>
          <p:cNvPr id="20" name="Alerts use stored readings, includi">
            <a:extLst xmlns:a="http://schemas.openxmlformats.org/drawingml/2006/main">
              <a:ext uri="{FF2B5EF4-FFF2-40B4-BE49-F238E27FC236}">
                <a16:creationId xmlns:a16="http://schemas.microsoft.com/office/drawing/2014/main" id="{0182B633-B1A5-46CE-930D-D85314F212AA}"/>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Alerts use stored readings, including labelled demo data. Polling is not emergency monitoring.</a:t>
            </a:r>
          </a:p>
        </p:txBody>
      </p:sp>
    </p:spTree>
    <p:extLst>
      <p:ext uri="{BB962C8B-B14F-4D97-AF65-F5344CB8AC3E}">
        <p14:creationId xmlns:p14="http://schemas.microsoft.com/office/powerpoint/2010/main" val="7966269"/>
      </p:ext>
    </p:extLst>
  </p:cSld>
</p:sld>
</file>

<file path=ppt/slides/slide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9" name="Trust boundaries and trade-offs">
            <a:extLst xmlns:a="http://schemas.openxmlformats.org/drawingml/2006/main">
              <a:ext uri="{FF2B5EF4-FFF2-40B4-BE49-F238E27FC236}">
                <a16:creationId xmlns:a16="http://schemas.microsoft.com/office/drawing/2014/main" id="{DE43B878-86AC-4C67-AFEA-6FC30CC420CC}"/>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Trust boundaries and trade-offs</a:t>
            </a:r>
          </a:p>
        </p:txBody>
      </p:sp>
      <p:sp>
        <p:nvSpPr>
          <p:cNvPr id="2" name="The prototype separates generated l">
            <a:extLst xmlns:a="http://schemas.openxmlformats.org/drawingml/2006/main">
              <a:ext uri="{FF2B5EF4-FFF2-40B4-BE49-F238E27FC236}">
                <a16:creationId xmlns:a16="http://schemas.microsoft.com/office/drawing/2014/main" id="{2FDC5AFA-1404-4171-B12F-44CBFA367E91}"/>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The prototype separates generated language from authority to change care</a:t>
            </a:r>
          </a:p>
        </p:txBody>
      </p:sp>
      <p:sp>
        <p:nvSpPr>
          <p:cNvPr id="3" name="Browser boundary">
            <a:extLst xmlns:a="http://schemas.openxmlformats.org/drawingml/2006/main">
              <a:ext uri="{FF2B5EF4-FFF2-40B4-BE49-F238E27FC236}">
                <a16:creationId xmlns:a16="http://schemas.microsoft.com/office/drawing/2014/main" id="{2E2C5179-39A7-47D8-9271-FE9FDF0B4ACF}"/>
              </a:ext>
            </a:extLst>
          </p:cNvPr>
          <p:cNvSpPr>
            <a:spLocks xmlns:a="http://schemas.openxmlformats.org/drawingml/2006/main" noGrp="1"/>
          </p:cNvSpPr>
          <p:nvPr/>
        </p:nvSpPr>
        <p:spPr>
          <a:xfrm xmlns:a="http://schemas.openxmlformats.org/drawingml/2006/main">
            <a:off x="476250" y="2066925"/>
            <a:ext cx="3333750" cy="140970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4" name="Browser boundary">
            <a:extLst xmlns:a="http://schemas.openxmlformats.org/drawingml/2006/main">
              <a:ext uri="{FF2B5EF4-FFF2-40B4-BE49-F238E27FC236}">
                <a16:creationId xmlns:a16="http://schemas.microsoft.com/office/drawing/2014/main" id="{26A611F2-0115-4DD8-AA43-A912A8920AED}"/>
              </a:ext>
            </a:extLst>
          </p:cNvPr>
          <p:cNvSpPr>
            <a:spLocks xmlns:a="http://schemas.openxmlformats.org/drawingml/2006/main" noGrp="1"/>
          </p:cNvSpPr>
          <p:nvPr/>
        </p:nvSpPr>
        <p:spPr>
          <a:xfrm xmlns:a="http://schemas.openxmlformats.org/drawingml/2006/main">
            <a:off x="638175" y="221932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Browser boundary</a:t>
            </a:r>
          </a:p>
        </p:txBody>
      </p:sp>
      <p:sp>
        <p:nvSpPr>
          <p:cNvPr id="5" name="Browser namespace&#10;View/manage check">
            <a:extLst xmlns:a="http://schemas.openxmlformats.org/drawingml/2006/main">
              <a:ext uri="{FF2B5EF4-FFF2-40B4-BE49-F238E27FC236}">
                <a16:creationId xmlns:a16="http://schemas.microsoft.com/office/drawing/2014/main" id="{2E5DBD17-6494-41D5-AAC2-2CB4C77B44C6}"/>
              </a:ext>
            </a:extLst>
          </p:cNvPr>
          <p:cNvSpPr>
            <a:spLocks xmlns:a="http://schemas.openxmlformats.org/drawingml/2006/main" noGrp="1"/>
          </p:cNvSpPr>
          <p:nvPr/>
        </p:nvSpPr>
        <p:spPr>
          <a:xfrm xmlns:a="http://schemas.openxmlformats.org/drawingml/2006/main">
            <a:off x="638175" y="273367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Browser namespace</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View/manage checks</a:t>
            </a:r>
          </a:p>
        </p:txBody>
      </p:sp>
      <p:sp>
        <p:nvSpPr>
          <p:cNvPr id="6" name="AI boundary">
            <a:extLst xmlns:a="http://schemas.openxmlformats.org/drawingml/2006/main">
              <a:ext uri="{FF2B5EF4-FFF2-40B4-BE49-F238E27FC236}">
                <a16:creationId xmlns:a16="http://schemas.microsoft.com/office/drawing/2014/main" id="{F60265A0-4012-42F7-A4A3-CF643F2E040C}"/>
              </a:ext>
            </a:extLst>
          </p:cNvPr>
          <p:cNvSpPr>
            <a:spLocks xmlns:a="http://schemas.openxmlformats.org/drawingml/2006/main" noGrp="1"/>
          </p:cNvSpPr>
          <p:nvPr/>
        </p:nvSpPr>
        <p:spPr>
          <a:xfrm xmlns:a="http://schemas.openxmlformats.org/drawingml/2006/main">
            <a:off x="4429125" y="2066925"/>
            <a:ext cx="3333750" cy="1409700"/>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7" name="AI boundary">
            <a:extLst xmlns:a="http://schemas.openxmlformats.org/drawingml/2006/main">
              <a:ext uri="{FF2B5EF4-FFF2-40B4-BE49-F238E27FC236}">
                <a16:creationId xmlns:a16="http://schemas.microsoft.com/office/drawing/2014/main" id="{CF06B959-01C6-4E87-A2BC-5D81F0061383}"/>
              </a:ext>
            </a:extLst>
          </p:cNvPr>
          <p:cNvSpPr>
            <a:spLocks xmlns:a="http://schemas.openxmlformats.org/drawingml/2006/main" noGrp="1"/>
          </p:cNvSpPr>
          <p:nvPr/>
        </p:nvSpPr>
        <p:spPr>
          <a:xfrm xmlns:a="http://schemas.openxmlformats.org/drawingml/2006/main">
            <a:off x="4591050" y="221932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AI boundary</a:t>
            </a:r>
          </a:p>
        </p:txBody>
      </p:sp>
      <p:sp>
        <p:nvSpPr>
          <p:cNvPr id="8" name="Untrusted record data&#10;Validated too">
            <a:extLst xmlns:a="http://schemas.openxmlformats.org/drawingml/2006/main">
              <a:ext uri="{FF2B5EF4-FFF2-40B4-BE49-F238E27FC236}">
                <a16:creationId xmlns:a16="http://schemas.microsoft.com/office/drawing/2014/main" id="{597837FE-D322-46C9-B46C-71D8B5EA47C1}"/>
              </a:ext>
            </a:extLst>
          </p:cNvPr>
          <p:cNvSpPr>
            <a:spLocks xmlns:a="http://schemas.openxmlformats.org/drawingml/2006/main" noGrp="1"/>
          </p:cNvSpPr>
          <p:nvPr/>
        </p:nvSpPr>
        <p:spPr>
          <a:xfrm xmlns:a="http://schemas.openxmlformats.org/drawingml/2006/main">
            <a:off x="4591050" y="273367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Untrusted record data</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Validated tool calls</a:t>
            </a:r>
          </a:p>
        </p:txBody>
      </p:sp>
      <p:sp>
        <p:nvSpPr>
          <p:cNvPr id="9" name="External boundary">
            <a:extLst xmlns:a="http://schemas.openxmlformats.org/drawingml/2006/main">
              <a:ext uri="{FF2B5EF4-FFF2-40B4-BE49-F238E27FC236}">
                <a16:creationId xmlns:a16="http://schemas.microsoft.com/office/drawing/2014/main" id="{37B252D3-E98D-4AEF-A3AC-43AACE01B2E6}"/>
              </a:ext>
            </a:extLst>
          </p:cNvPr>
          <p:cNvSpPr>
            <a:spLocks xmlns:a="http://schemas.openxmlformats.org/drawingml/2006/main" noGrp="1"/>
          </p:cNvSpPr>
          <p:nvPr/>
        </p:nvSpPr>
        <p:spPr>
          <a:xfrm xmlns:a="http://schemas.openxmlformats.org/drawingml/2006/main">
            <a:off x="8382000" y="2066925"/>
            <a:ext cx="3333750" cy="14097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10" name="External boundary">
            <a:extLst xmlns:a="http://schemas.openxmlformats.org/drawingml/2006/main">
              <a:ext uri="{FF2B5EF4-FFF2-40B4-BE49-F238E27FC236}">
                <a16:creationId xmlns:a16="http://schemas.microsoft.com/office/drawing/2014/main" id="{4EA8477F-A2DC-4FFF-B522-F7CB9763614A}"/>
              </a:ext>
            </a:extLst>
          </p:cNvPr>
          <p:cNvSpPr>
            <a:spLocks xmlns:a="http://schemas.openxmlformats.org/drawingml/2006/main" noGrp="1"/>
          </p:cNvSpPr>
          <p:nvPr/>
        </p:nvSpPr>
        <p:spPr>
          <a:xfrm xmlns:a="http://schemas.openxmlformats.org/drawingml/2006/main">
            <a:off x="8543925" y="221932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External boundary</a:t>
            </a:r>
          </a:p>
        </p:txBody>
      </p:sp>
      <p:sp>
        <p:nvSpPr>
          <p:cNvPr id="11" name="Scoped export token&#10;GP link handoff">
            <a:extLst xmlns:a="http://schemas.openxmlformats.org/drawingml/2006/main">
              <a:ext uri="{FF2B5EF4-FFF2-40B4-BE49-F238E27FC236}">
                <a16:creationId xmlns:a16="http://schemas.microsoft.com/office/drawing/2014/main" id="{D1A6C6A8-5FCC-4761-9FB3-9BC130F0C31B}"/>
              </a:ext>
            </a:extLst>
          </p:cNvPr>
          <p:cNvSpPr>
            <a:spLocks xmlns:a="http://schemas.openxmlformats.org/drawingml/2006/main" noGrp="1"/>
          </p:cNvSpPr>
          <p:nvPr/>
        </p:nvSpPr>
        <p:spPr>
          <a:xfrm xmlns:a="http://schemas.openxmlformats.org/drawingml/2006/main">
            <a:off x="8543925" y="273367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Scoped export token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GP link handoff</a:t>
            </a:r>
          </a:p>
        </p:txBody>
      </p:sp>
      <p:sp>
        <p:nvSpPr>
          <p:cNvPr id="12" name="Current prototype">
            <a:extLst xmlns:a="http://schemas.openxmlformats.org/drawingml/2006/main">
              <a:ext uri="{FF2B5EF4-FFF2-40B4-BE49-F238E27FC236}">
                <a16:creationId xmlns:a16="http://schemas.microsoft.com/office/drawing/2014/main" id="{C70360AA-BB62-4F54-A9F3-6A9C9D212224}"/>
              </a:ext>
            </a:extLst>
          </p:cNvPr>
          <p:cNvSpPr>
            <a:spLocks xmlns:a="http://schemas.openxmlformats.org/drawingml/2006/main" noGrp="1"/>
          </p:cNvSpPr>
          <p:nvPr/>
        </p:nvSpPr>
        <p:spPr>
          <a:xfrm xmlns:a="http://schemas.openxmlformats.org/drawingml/2006/main">
            <a:off x="476250" y="4152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3A3745"/>
                </a:solidFill>
                <a:latin typeface="Fraunces"/>
                <a:ea typeface="Fraunces"/>
                <a:cs typeface="Fraunces"/>
              </a:defRPr>
            </a:pPr>
            <a:r>
              <a:rPr sz="2250" b="0">
                <a:solidFill>
                  <a:srgbClr val="3A3745"/>
                </a:solidFill>
                <a:latin typeface="Fraunces"/>
                <a:ea typeface="Fraunces"/>
                <a:cs typeface="Fraunces"/>
              </a:rPr>
              <a:t>Current prototype</a:t>
            </a:r>
          </a:p>
        </p:txBody>
      </p:sp>
      <p:sp>
        <p:nvSpPr>
          <p:cNvPr id="13" name="No-login demo care spaces&#10;SQLite on">
            <a:extLst xmlns:a="http://schemas.openxmlformats.org/drawingml/2006/main">
              <a:ext uri="{FF2B5EF4-FFF2-40B4-BE49-F238E27FC236}">
                <a16:creationId xmlns:a16="http://schemas.microsoft.com/office/drawing/2014/main" id="{36AC74B8-8963-48FF-993E-97FB8EB8EA6D}"/>
              </a:ext>
            </a:extLst>
          </p:cNvPr>
          <p:cNvSpPr>
            <a:spLocks xmlns:a="http://schemas.openxmlformats.org/drawingml/2006/main" noGrp="1"/>
          </p:cNvSpPr>
          <p:nvPr/>
        </p:nvSpPr>
        <p:spPr>
          <a:xfrm xmlns:a="http://schemas.openxmlformats.org/drawingml/2006/main">
            <a:off x="476250" y="4752975"/>
            <a:ext cx="3333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No-login demo care spaces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SQLite on one server</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Fixed sleep content</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Seeded health readings</a:t>
            </a:r>
          </a:p>
        </p:txBody>
      </p:sp>
      <p:sp>
        <p:nvSpPr>
          <p:cNvPr id="14" name="Design trade-off">
            <a:extLst xmlns:a="http://schemas.openxmlformats.org/drawingml/2006/main">
              <a:ext uri="{FF2B5EF4-FFF2-40B4-BE49-F238E27FC236}">
                <a16:creationId xmlns:a16="http://schemas.microsoft.com/office/drawing/2014/main" id="{35C5F837-7892-46DC-845C-2263DD5233A8}"/>
              </a:ext>
            </a:extLst>
          </p:cNvPr>
          <p:cNvSpPr>
            <a:spLocks xmlns:a="http://schemas.openxmlformats.org/drawingml/2006/main" noGrp="1"/>
          </p:cNvSpPr>
          <p:nvPr/>
        </p:nvSpPr>
        <p:spPr>
          <a:xfrm xmlns:a="http://schemas.openxmlformats.org/drawingml/2006/main">
            <a:off x="4429125" y="4152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3A3745"/>
                </a:solidFill>
                <a:latin typeface="Fraunces"/>
                <a:ea typeface="Fraunces"/>
                <a:cs typeface="Fraunces"/>
              </a:defRPr>
            </a:pPr>
            <a:r>
              <a:rPr sz="2250" b="0">
                <a:solidFill>
                  <a:srgbClr val="3A3745"/>
                </a:solidFill>
                <a:latin typeface="Fraunces"/>
                <a:ea typeface="Fraunces"/>
                <a:cs typeface="Fraunces"/>
              </a:rPr>
              <a:t>Design trade-off</a:t>
            </a:r>
          </a:p>
        </p:txBody>
      </p:sp>
      <p:sp>
        <p:nvSpPr>
          <p:cNvPr id="15" name="Fast setup and review&#10;Auditable sav">
            <a:extLst xmlns:a="http://schemas.openxmlformats.org/drawingml/2006/main">
              <a:ext uri="{FF2B5EF4-FFF2-40B4-BE49-F238E27FC236}">
                <a16:creationId xmlns:a16="http://schemas.microsoft.com/office/drawing/2014/main" id="{358FA4BE-CC71-4898-B1FE-CADFB12F7280}"/>
              </a:ext>
            </a:extLst>
          </p:cNvPr>
          <p:cNvSpPr>
            <a:spLocks xmlns:a="http://schemas.openxmlformats.org/drawingml/2006/main" noGrp="1"/>
          </p:cNvSpPr>
          <p:nvPr/>
        </p:nvSpPr>
        <p:spPr>
          <a:xfrm xmlns:a="http://schemas.openxmlformats.org/drawingml/2006/main">
            <a:off x="4429125" y="4752975"/>
            <a:ext cx="3333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Fast setup and review</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Auditable saved actions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Separate deterministic alerts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No clinical outcome claim</a:t>
            </a:r>
          </a:p>
        </p:txBody>
      </p:sp>
      <p:sp>
        <p:nvSpPr>
          <p:cNvPr id="16" name="Before patient use">
            <a:extLst xmlns:a="http://schemas.openxmlformats.org/drawingml/2006/main">
              <a:ext uri="{FF2B5EF4-FFF2-40B4-BE49-F238E27FC236}">
                <a16:creationId xmlns:a16="http://schemas.microsoft.com/office/drawing/2014/main" id="{52FCED4D-A022-4332-BE3D-B2F3E890F334}"/>
              </a:ext>
            </a:extLst>
          </p:cNvPr>
          <p:cNvSpPr>
            <a:spLocks xmlns:a="http://schemas.openxmlformats.org/drawingml/2006/main" noGrp="1"/>
          </p:cNvSpPr>
          <p:nvPr/>
        </p:nvSpPr>
        <p:spPr>
          <a:xfrm xmlns:a="http://schemas.openxmlformats.org/drawingml/2006/main">
            <a:off x="8382000" y="4152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3A3745"/>
                </a:solidFill>
                <a:latin typeface="Fraunces"/>
                <a:ea typeface="Fraunces"/>
                <a:cs typeface="Fraunces"/>
              </a:defRPr>
            </a:pPr>
            <a:r>
              <a:rPr sz="2250" b="0">
                <a:solidFill>
                  <a:srgbClr val="3A3745"/>
                </a:solidFill>
                <a:latin typeface="Fraunces"/>
                <a:ea typeface="Fraunces"/>
                <a:cs typeface="Fraunces"/>
              </a:rPr>
              <a:t>Before patient use</a:t>
            </a:r>
          </a:p>
        </p:txBody>
      </p:sp>
      <p:sp>
        <p:nvSpPr>
          <p:cNvPr id="17" name="Verified identity and consent&#10;Real ">
            <a:extLst xmlns:a="http://schemas.openxmlformats.org/drawingml/2006/main">
              <a:ext uri="{FF2B5EF4-FFF2-40B4-BE49-F238E27FC236}">
                <a16:creationId xmlns:a16="http://schemas.microsoft.com/office/drawing/2014/main" id="{9A03D0D2-BA48-4BF3-8650-AB7DF73D92C7}"/>
              </a:ext>
            </a:extLst>
          </p:cNvPr>
          <p:cNvSpPr>
            <a:spLocks xmlns:a="http://schemas.openxmlformats.org/drawingml/2006/main" noGrp="1"/>
          </p:cNvSpPr>
          <p:nvPr/>
        </p:nvSpPr>
        <p:spPr>
          <a:xfrm xmlns:a="http://schemas.openxmlformats.org/drawingml/2006/main">
            <a:off x="8382000" y="4752975"/>
            <a:ext cx="3333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Verified identity and consent</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Real device integrations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Durable hosted scheduling</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Clinical and user evaluation</a:t>
            </a:r>
          </a:p>
        </p:txBody>
      </p:sp>
      <p:sp>
        <p:nvSpPr>
          <p:cNvPr id="18" name="CareBuddy supports everyday care o">
            <a:extLst xmlns:a="http://schemas.openxmlformats.org/drawingml/2006/main">
              <a:ext uri="{FF2B5EF4-FFF2-40B4-BE49-F238E27FC236}">
                <a16:creationId xmlns:a16="http://schemas.microsoft.com/office/drawing/2014/main" id="{BEC752EF-C8D3-4CD0-B88A-95F2E502BE94}"/>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CareBuddy supports everyday care organisation. Clinicians retain clinical decisions.</a:t>
            </a:r>
          </a:p>
        </p:txBody>
      </p:sp>
    </p:spTree>
    <p:extLst>
      <p:ext uri="{BB962C8B-B14F-4D97-AF65-F5344CB8AC3E}">
        <p14:creationId xmlns:p14="http://schemas.microsoft.com/office/powerpoint/2010/main" val="17027759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2026-10-09T02:39:03.5980000Z</dcterms:created>
  <dcterms:modified xsi:type="dcterms:W3CDTF">2026-10-09T02:39:03.5980000Z</dcterms:modified>
</coreProperties>
</file>